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351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 —  TEMA 1: INTRODUCCIÓN A LA NUBE PÚBLICA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contacto profesional con AWS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 — Introducción a la nube pública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cliente de la nube a quien la pone en marcha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1: Primer contacto profesional con AWS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7373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26187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Llevas años usando la nube sin pensarlo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1072591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vez que abres el correo, ves una serie o guardas una foto en el móvil, hay máquinas de otra empresa haciendo el trabajo por ti.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91672" cy="137160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3218688"/>
            <a:ext cx="105430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cambia el punto de vista
</a:t>
            </a:r>
            <a:endParaRPr lang="en-US" sz="2000" dirty="0"/>
          </a:p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ahora has sido cliente de la nube; a partir de esta sesión eres tú quien la pone en marcha para otra persona.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91672" cy="13716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31520" y="478231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 hoy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1520" y="5330952"/>
            <a:ext cx="1072591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Moverte por AWS por primera vez y terminar con algo tuyo publicado en internet, con dirección propia: el sitio estático de un taller de bicicletas de barrio, alojado directamente en AWS.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servicio: cuánto delegas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1: Primer contacto profesional con AWS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exactamente lo que se ha delegado en otro? No es binario: hay grados, y cada grado tiene un nombre.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2377440"/>
        </p:xfrm>
        <a:graphic>
          <a:graphicData uri="http://schemas.openxmlformats.org/drawingml/2006/table">
            <a:tbl>
              <a:tblPr/>
              <a:tblGrid>
                <a:gridCol w="1441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1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Gestiona el proveedor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Gestionas tú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Todo: edificio, hardware, red, SO, app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servidor propio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Hardware, red, centro de datos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SO, software y sus actualizaciones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VM alquilada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SO y entorno de ejecución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tu código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Subes tu app y arranca sola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Todo, incluida la app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Nada — solo la usas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617720"/>
            <a:ext cx="2464308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94360" y="4663440"/>
            <a:ext cx="23728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Local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gestionas todo tú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967228" y="46177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24428" y="4617720"/>
            <a:ext cx="2464308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3470148" y="4663440"/>
            <a:ext cx="23728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IaaS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proveedor pone el hardware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43016" y="46177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300216" y="4617720"/>
            <a:ext cx="2464308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6345936" y="4663440"/>
            <a:ext cx="23728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PaaS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SO y entorno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718804" y="46177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176004" y="4617720"/>
            <a:ext cx="2464308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9221724" y="4663440"/>
            <a:ext cx="23728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SaaS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ya terminada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izquierda a derecha delegas cada vez más y controlas cada vez menos. SaaS es el extremo del que partías como usuario.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problema, cuatro formas de resolverlo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1: Primer contacto profesional con AWS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6400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Imagina que necesitas una base de datos para un proyecto.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601468" cy="2103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23271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2357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 un servidor, instalas PostgreSQL, y si se cae un disco, lo cambias tú.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78708" y="2011680"/>
            <a:ext cx="2601468" cy="2103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515868" y="2103120"/>
            <a:ext cx="23271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1588" y="2697480"/>
            <a:ext cx="22357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Alquilas una VM y haces lo mismo, pero el hardware ya no es tuyo.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08776" y="2011680"/>
            <a:ext cx="2601468" cy="210312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45936" y="2103120"/>
            <a:ext cx="23271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91656" y="2697480"/>
            <a:ext cx="22357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Contratas una base de datos ya gestionada — no instalas nada, solo te conectas.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38844" y="2011680"/>
            <a:ext cx="2601468" cy="2103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176004" y="2103120"/>
            <a:ext cx="23271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21724" y="2697480"/>
            <a:ext cx="22357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Usas una app que ya incluye su propia base de datos por dentro, sin verla nunca.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91672" cy="12801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31520" y="450799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control, menos trabajo operativo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31520" y="5056632"/>
            <a:ext cx="107259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equilibrio entre control y comodidad es la primera idea que vas a manejar todo el módulo.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subir en la escalera (y no solo «comodidad»)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1: Primer contacto profesional con AWS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extremo on-premise tiene problemas concretos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14344" cy="17373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240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31485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quieres más, compras hardware y esperas semanas.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7304" y="1554480"/>
            <a:ext cx="3514344" cy="17373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474464" y="1645920"/>
            <a:ext cx="3240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Picos de demanda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0184" y="2331720"/>
            <a:ext cx="31485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 de más para un pico deja hardware a medio usar el resto del año.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5968" y="1554480"/>
            <a:ext cx="3514344" cy="17373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63128" y="1645920"/>
            <a:ext cx="3240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geográfico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08848" y="2331720"/>
            <a:ext cx="31485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Llegar a otro continente son meses de obra, no una tarde.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1091672" cy="105156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31520" y="359359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nube resuelve las tres a la vez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31520" y="4142232"/>
            <a:ext cx="10725912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lista en minutos, pagas solo lo que usas, despliegas en otra región sin construir nada.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11091672" cy="12801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22960" y="484632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tienda que compra servidores propios para el pico de Navidad los tiene sobredimensionados once meses. En la nube, escala esas semanas y baja después, pagando solo por lo que usa de verdad. Lo construirás en el Tema 4.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despliegue: de quién es la infraestructura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1: Primer contacto profesional con AWS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7772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Distinta de «cuánto delegas»: esta pregunta es de quién es esa infraestructura y quién más la usa a la vez que tú.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2743200"/>
        </p:xfrm>
        <a:graphic>
          <a:graphicData uri="http://schemas.openxmlformats.org/drawingml/2006/table">
            <a:tbl>
              <a:tblPr/>
              <a:tblGrid>
                <a:gridCol w="2440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Infraestructura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la comparte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Nube pública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un proveedor externo (AWS, Azure, GCP...)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 de clientes, aislados entre sí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Nube privada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Dedicada a una sola organización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Nadie más — es exclusiva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Nube híbrida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Combinación de las dos anteriores, conectadas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 de la parte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Multi-nube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Varios proveedores públicos a la vez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proveedor por separado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029200"/>
            <a:ext cx="11091672" cy="109728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822960" y="5138928"/>
            <a:ext cx="1054303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módulo es de nube pública
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—como Azure o Google Cloud— es un proveedor de nube pública: el modelo de despliegue en el que vas a trabajar todo el curso, dentro de tu Learner Lab.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una empresa elige cada modelo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1: Primer contacto profesional con AWS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9659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26187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Híbrida: un banco con datos regulados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10725912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 una nube privada para esa parte concreta y usa nube pública para todo lo demás (su web corporativa). Ambas existen a la vez y se comunican entre sí — eso es lo que la hace híbrida.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1091672" cy="196596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1520" y="341071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Multi-nube: no depender de un solo proveedor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959352"/>
            <a:ext cx="10725912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Despliega la misma app en AWS y en otro proveedor, cada uno por su cuenta. En la híbrida las dos partes trabajan juntas; en multi-nube, cada proveedor es independiente y ni siquiera sabe que el otro existe.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servicios por categorías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1: Primer contacto profesional con AWS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7772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ofrece varios cientos de servicios, pero casi todos encajan en un puñado de categorías: ese mapa mental te sirve el resto del curso.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3968496"/>
        </p:xfrm>
        <a:graphic>
          <a:graphicData uri="http://schemas.openxmlformats.org/drawingml/2006/table">
            <a:tbl>
              <a:tblPr/>
              <a:tblGrid>
                <a:gridCol w="288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6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Categoría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 sirve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Ejemplos en el módulo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💻 Cómputo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Ejecutar código: VMs, contenedores, funciones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EC2 (T2), Lambda (T6), ECS (T6)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🗄️ Almacenamiento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Guardar ficheros, discos y copias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 (hoy), EBS (T3)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🗃️ Bases de datos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estructurados, gestionados por AWS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RDS (T3)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🌐 Redes y contenido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Conectar todo, y acercarlo al usuario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VPC (T2), CloudFront, Route 53 (T4)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🔐 Seguridad e identidad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puede hacer qué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IAM (hoy y T5)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📊 Gestión y gobierno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Vigilar, medir y controlar el gasto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CloudWatch (T5), Budgets (hoy)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usas hoy: S3 e IAM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1: Primer contacto profesional con AWS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4173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21615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S3: objetos dentro de un bucket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1764792"/>
            <a:ext cx="1072591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fichero que subes es un objeto; los objetos se agrupan en un bucket, un contenedor con nombre único en todo AWS. IAM, de forma indirecta: el rol que ya tienes decide qué puedes hacer en el resto de servicios.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piezas de S3 que vas a activar hoy, paso a paso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3514344" cy="20116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3240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Bloqueo de acceso público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31485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defecto bloquea todo acceso externo. Lo desactivas tú, a propósito.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37304" y="3154680"/>
            <a:ext cx="3514344" cy="20116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474464" y="3246120"/>
            <a:ext cx="3240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bucket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20184" y="3977640"/>
            <a:ext cx="31485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JSON: quién puede hacer qué sobre los objetos del bucket.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5968" y="3154680"/>
            <a:ext cx="3514344" cy="20116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263128" y="3246120"/>
            <a:ext cx="3240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Alojamiento web estático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08848" y="3977640"/>
            <a:ext cx="31485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Convierte el bucket en algo que responde como un servidor web.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te basta con seguir los pasos de la actividad — volverás a S3 con calma en el Tema 3.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Regiones, zonas de disponibilidad y ubicaciones de borde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1: Primer contacto profesional con AWS</a:t>
            </a:r>
            <a:endParaRPr lang="en-US" sz="1100" dirty="0"/>
          </a:p>
        </p:txBody>
      </p:sp>
      <p:pic>
        <p:nvPicPr>
          <p:cNvPr id="5" name="Image 0" descr="C:/Users/Aitor/Documents/apuntes-profe/introduccion-nube/docs/tema1/img/diagrama_infraestructura_glob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68580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143000"/>
            <a:ext cx="3959352" cy="15087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863840" y="1216152"/>
            <a:ext cx="3593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63840" y="1581912"/>
            <a:ext cx="359359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geográfica grande, independiente. Trabajarás siempre en la misma.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680960" y="2788920"/>
            <a:ext cx="3959352" cy="15087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863840" y="2862072"/>
            <a:ext cx="3593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de disponibilidad (AZ)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63840" y="3364992"/>
            <a:ext cx="359359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centros de datos separados, conectados por fibra. Si uno cae, los demás siguen.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80960" y="4434840"/>
            <a:ext cx="3959352" cy="15087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7863840" y="4507992"/>
            <a:ext cx="3593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de borde (Edge)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863840" y="5010912"/>
            <a:ext cx="359359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más, cerca del usuario final: una copia en caché para no viajar hasta la región.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80960" y="6035040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bucket que vas a crear hoy vive en una región concreta, y su URL depende de esa región.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responsabilidad compartida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1: Primer contacto profesional con AWS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8229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algo falla, ¿de quién es la culpa? La seguridad y el correcto funcionamiento se reparten entre AWS y tú, y la frontera depende del servicio.</a:t>
            </a:r>
            <a:endParaRPr lang="en-US" sz="1700" dirty="0"/>
          </a:p>
        </p:txBody>
      </p:sp>
      <p:pic>
        <p:nvPicPr>
          <p:cNvPr id="7" name="Image 0" descr="C:/Users/Aitor/Documents/apuntes-profe/introduccion-nube/docs/tema1/img/diagrama_responsabilidad_comparti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5212080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35040" y="2103120"/>
            <a:ext cx="5605272" cy="16002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217920" y="2176272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AWS: seguridad de la nube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0" y="2633472"/>
            <a:ext cx="523951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Centros de datos, hardware físico, red global, virtualización.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0" y="3840480"/>
            <a:ext cx="5605272" cy="17373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217920" y="3913632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Tuya: seguridad en la nube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17920" y="4370832"/>
            <a:ext cx="523951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datos, tu configuración, tus permisos, tu código. Nunca deja de ser tuya.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incidentes, ¿de quién es la culpa?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1: Primer contacto profesional con AWS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749808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13232" y="1307592"/>
            <a:ext cx="512064" cy="512064"/>
          </a:xfrm>
          <a:prstGeom prst="ellips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13232" y="13075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1188720"/>
            <a:ext cx="88971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bucket queda accesible públicamente por un permiso mal puesto.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05872" y="1344168"/>
            <a:ext cx="1051560" cy="438912"/>
          </a:xfrm>
          <a:prstGeom prst="round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0405872" y="1344168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066544"/>
            <a:ext cx="11091672" cy="749808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713232" y="2185416"/>
            <a:ext cx="512064" cy="512064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13232" y="21854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2066544"/>
            <a:ext cx="88971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centro de datos entero se cae por un corte eléctrico regional.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405872" y="2221992"/>
            <a:ext cx="1051560" cy="438912"/>
          </a:xfrm>
          <a:prstGeom prst="round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0405872" y="2221992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AWS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944368"/>
            <a:ext cx="11091672" cy="749808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713232" y="3063240"/>
            <a:ext cx="512064" cy="512064"/>
          </a:xfrm>
          <a:prstGeom prst="ellips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13232" y="30632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17320" y="2944368"/>
            <a:ext cx="88971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aplicación no aplica un parche de seguridad conocido desde hace meses.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405872" y="3099816"/>
            <a:ext cx="1051560" cy="438912"/>
          </a:xfrm>
          <a:prstGeom prst="round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0405872" y="3099816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822192"/>
            <a:ext cx="11091672" cy="749808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713232" y="3941064"/>
            <a:ext cx="512064" cy="512064"/>
          </a:xfrm>
          <a:prstGeom prst="ellips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713232" y="39410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17320" y="3822192"/>
            <a:ext cx="88971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credencial se filtra porque estaba escrita en un repositorio público.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405872" y="3977640"/>
            <a:ext cx="1051560" cy="438912"/>
          </a:xfrm>
          <a:prstGeom prst="round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10405872" y="3977640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700016"/>
            <a:ext cx="11091672" cy="749808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713232" y="4818888"/>
            <a:ext cx="512064" cy="512064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13232" y="4818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417320" y="4700016"/>
            <a:ext cx="88971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disco físico falla y AWS lo replica automáticamente por SLA.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405872" y="4855464"/>
            <a:ext cx="1051560" cy="438912"/>
          </a:xfrm>
          <a:prstGeom prst="round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10405872" y="4855464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AWS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5577840"/>
            <a:ext cx="11091672" cy="749808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713232" y="5696712"/>
            <a:ext cx="512064" cy="512064"/>
          </a:xfrm>
          <a:prstGeom prst="ellips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713232" y="56967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417320" y="5577840"/>
            <a:ext cx="88971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cuenta se compromete porque su contraseña era 123456.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405872" y="5733288"/>
            <a:ext cx="1051560" cy="438912"/>
          </a:xfrm>
          <a:prstGeom prst="round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10405872" y="5733288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frente a CLI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1: Primer contacto profesional con AWS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8229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formas de decirle a AWS lo que quieres: no son independientes — son dos caras de la misma API. Todo lo que haces clicando existe también como comando.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1673" cy="2377440"/>
        </p:xfrm>
        <a:graphic>
          <a:graphicData uri="http://schemas.openxmlformats.org/drawingml/2006/table">
            <a:tbl>
              <a:tblPr/>
              <a:tblGrid>
                <a:gridCol w="288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3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3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Curva de aprendizaje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Baja: ves las opciones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Más alta: hay que conocer el comando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Repetible / documentable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de forma nativa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Sí: se guarda, versiona y repite igual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Ideal para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Explorar, primeras veces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Automatizar, repetir, integrar en scripts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526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identidad, con un único comando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4892040"/>
            <a:ext cx="11091672" cy="9144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548640" y="4892040"/>
            <a:ext cx="731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22960" y="4983480"/>
            <a:ext cx="106344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aws sts get-caller-identity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Arn: arn:aws:sts::123456789012:assumed-role/voclabs/usuario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Funcionamiento y límites del Learner Lab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1: Primer contacto profesional con AWS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3291840"/>
        </p:xfrm>
        <a:graphic>
          <a:graphicData uri="http://schemas.openxmlformats.org/drawingml/2006/table">
            <a:tbl>
              <a:tblPr/>
              <a:tblGrid>
                <a:gridCol w="354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Regla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significa en la práctica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Sesión de 4 horas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llegar a cero, el laboratorio se apaga solo.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Crédito finito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se agota, pides un laboratorio nuevo — y empieza vacío.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usuarios ni roles propios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rol es preasignado; si un comando falla por permisos, no es «algo que has roto».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Regiones y servicios restringidos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todo está disponible: compruébalo antes de usar un servicio nuevo.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77640"/>
            <a:ext cx="11091672" cy="137160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4087368"/>
            <a:ext cx="105430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Apagar antes de salir no es opcional
</a:t>
            </a:r>
            <a:endParaRPr lang="en-US" sz="2000" dirty="0"/>
          </a:p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recurso encendido «sin querer» sigue gastando crédito de fondo. El ritual de apagado de los últimos 5 minutos es la norma más importante del módulo.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1: Primer contacto profesional con AWS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54396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31520" y="153162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5316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234440"/>
            <a:ext cx="43113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nube va de menos a más gestionado: on-premise → IaaS → PaaS → SaaS. Más arriba, menos control, menos trabajo operativo.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85916" y="1234440"/>
            <a:ext cx="5454396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368796" y="153162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368796" y="15316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46036" y="1234440"/>
            <a:ext cx="43113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servicio (cuánto delegas) y modelo de despliegue (pública, privada, híbrida, multi-nube) son dos preguntas distintas.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5454396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31520" y="294894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1520" y="29489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2651760"/>
            <a:ext cx="43113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nube cambia inversión inicial por pago por uso, y meses de espera por minutos de aprovisionamiento.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85916" y="2651760"/>
            <a:ext cx="5454396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368796" y="294894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368796" y="29489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46036" y="2651760"/>
            <a:ext cx="43113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Región → zona de disponibilidad → ubicación de borde: la base de la alta disponibilidad del Tema 4.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5454396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31520" y="436626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31520" y="43662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08760" y="4069080"/>
            <a:ext cx="43113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 compartida: AWS responde de la infraestructura física, tú de tus datos, configuración y credenciales.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85916" y="4069080"/>
            <a:ext cx="5454396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368796" y="436626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368796" y="43662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46036" y="4069080"/>
            <a:ext cx="43113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y CLI son dos caras de la misma API: consola para explorar, CLI para repetir y automatizar.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5454396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731520" y="578358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31520" y="57835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508760" y="5486400"/>
            <a:ext cx="43113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Learner Lab hay un rol preasignado (assumed-role), verificable con aws sts get-caller-identity.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185916" y="5486400"/>
            <a:ext cx="5454396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6368796" y="578358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368796" y="57835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146036" y="5486400"/>
            <a:ext cx="43113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de 4 horas y crédito finito sin recarga: de ahí el ritual de apagar y anotar el gasto al final.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1966</Words>
  <Application>Microsoft Office PowerPoint</Application>
  <PresentationFormat>Panorámica</PresentationFormat>
  <Paragraphs>233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Primer contacto profesional con AWS</dc:title>
  <dc:subject>PptxGenJS Presentation</dc:subject>
  <dc:creator>Introducción a la Nube Pública</dc:creator>
  <cp:lastModifiedBy>VENTURA EDO, AITOR</cp:lastModifiedBy>
  <cp:revision>1</cp:revision>
  <dcterms:created xsi:type="dcterms:W3CDTF">2026-09-22T17:52:06Z</dcterms:created>
  <dcterms:modified xsi:type="dcterms:W3CDTF">2026-09-22T17:53:16Z</dcterms:modified>
</cp:coreProperties>
</file>