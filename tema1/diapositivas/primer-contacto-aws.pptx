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3672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CA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 —  TEMA 1: INTRODUCCIÓN A LA NUBE PÚBLICA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contacto profesional con AWS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1 — Introducción a la nube pública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cliente de la nube a quien la pone en marcha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109167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Llevas años usando la nube sin pensarlo: cada vez que abres el correo, ves una serie o guardas una foto en el móvil, hay máquinas de otra empresa haciendo el trabajo por ti. Lo que cambia hoy es el punto de vista — hasta ahora has sido cliente de la nube; a partir de esta sesión eres tú quien la pone en marcha para otra persona.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4343400"/>
            <a:ext cx="11091672" cy="14630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443484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 a moverte por AWS por primera vez, entender qué tipo de servicio estás usando en cada momento, y terminar la sesión con algo tuyo publicado en internet: el sitio estático de un taller de bicicletas de barrio.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servicio: cuánto delegas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alguien dice «esto está en la nube», ¿qué es exactamente lo que se ha delegado en otro? No es una pregunta binaria — hay grados, y cada grado tiene un nombre.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3886200"/>
        </p:xfrm>
        <a:graphic>
          <a:graphicData uri="http://schemas.openxmlformats.org/drawingml/2006/table">
            <a:tbl>
              <a:tblPr/>
              <a:tblGrid>
                <a:gridCol w="1774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49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93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gestiona el proveedor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gestionas tú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(on-premise)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Todo: edificio, hardware, red, SO, aplicación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servidor propio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IaaS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Hardware, red, centro de datos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SO, software y sus actualizaciones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máquina virtual alquilada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PaaS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Hardware + SO + entorno de ejecución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tu código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lugar donde subes tu app y arranca sola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SaaS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Todo, incluida la aplicación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Nada — solo la usas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Gmail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arriba abajo delegas cada vez más, y controlas cada vez menos. SaaS es el extremo del que partías como usuario.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escalera de menos a más gestionado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464308" cy="173736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237286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On-premise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gestionas todo tú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967228" y="1737360"/>
            <a:ext cx="502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24428" y="1737360"/>
            <a:ext cx="2464308" cy="173736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3470148" y="1783080"/>
            <a:ext cx="237286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IaaS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proveedor pone el hardware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843016" y="1737360"/>
            <a:ext cx="502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300216" y="1737360"/>
            <a:ext cx="2464308" cy="173736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6345936" y="1783080"/>
            <a:ext cx="237286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PaaS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proveedor pone SO y entorno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718804" y="1737360"/>
            <a:ext cx="502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9176004" y="1737360"/>
            <a:ext cx="2464308" cy="173736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9221724" y="1783080"/>
            <a:ext cx="237286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usas la aplicación ya terminada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11091672" cy="155448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822960" y="4023360"/>
            <a:ext cx="10543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servicios de AWS del módulo se reparten por toda la escalera: una máquina virtual (EC2) es IaaS, una base de datos gestionada (RDS) es PaaS, una función sin servidor que administrar (Lambda) empuja aún más hacia el extremo gestionado.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problema, cuatro formas de resolverlo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Imagina que necesitas una base de datos para un proyecto: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1109167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On-premise: compras un servidor, instalas PostgreSQL, y si se cae un disco duro, lo cambias tú.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IaaS: alquilas una máquina virtual y haces exactamente lo mismo, pero el hardware ya no es tuyo.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PaaS: contratas una base de datos ya gestionada (Tema 3) — no instalas nada, solo te conectas.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SaaS: usarías directamente una aplicación que ya incluye su propia base de datos por dentro.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Cuanto más subes en esta escalera, menos controlas — pero también menos trabajo operativo cargas encima.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subir en la escalera (y no solo «comodidad»)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1091672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Capacidad: </a:t>
            </a:r>
            <a:endParaRPr lang="en-US" sz="2000" dirty="0"/>
          </a:p>
          <a:p>
            <a:pPr marL="0" lvl="1" indent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quieres más, tienes que comprar hardware y esperar semanas a que llegue.</a:t>
            </a:r>
            <a:endParaRPr lang="en-US" sz="20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Picos de demanda: </a:t>
            </a:r>
            <a:endParaRPr lang="en-US" sz="2000" dirty="0"/>
          </a:p>
          <a:p>
            <a:pPr marL="0" lvl="1" indent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compras de más para cubrir un pico puntual, ese hardware queda a medio usar el resto del año.</a:t>
            </a:r>
            <a:endParaRPr lang="en-US" sz="20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 geográfico: </a:t>
            </a:r>
            <a:endParaRPr lang="en-US" sz="2000" dirty="0"/>
          </a:p>
          <a:p>
            <a:pPr marL="0" lvl="1" indent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un centro de datos en otro continente son meses de obra, no una decisión de una tarde.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5212080"/>
            <a:ext cx="11091672" cy="9601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5303520"/>
            <a:ext cx="105430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nube resuelve las tres cosas a la vez: pides capacidad y la tienes lista en minutos, pagas solo la que usas, y despliegas en otra región sin construir nada.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despliegue: de quién es la infraestructura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1" cy="3657600"/>
        </p:xfrm>
        <a:graphic>
          <a:graphicData uri="http://schemas.openxmlformats.org/drawingml/2006/table">
            <a:tbl>
              <a:tblPr/>
              <a:tblGrid>
                <a:gridCol w="22183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912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20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 de despliegue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Infraestructura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la comparte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Nube pública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un proveedor externo (AWS, Azure, Google Cloud...)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Miles de clientes distintos, aislados entre sí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Nube privada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Dedicada a una sola organización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Nadie más — es exclusiva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Nube híbrida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Combinación de las dos anteriores, conectadas entre sí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Depende de la parte: pública o privada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Multi-nube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Varios proveedores públicos a la vez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proveedor por separado, sin depender de uno solo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91672" cy="9144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822960" y="5212080"/>
            <a:ext cx="10543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módulo se llama Introducción a la Nube Pública por algo: AWS es un proveedor de nube pública, y ese es el modelo de despliegue en el que vas a trabajar todo el curso.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una empresa elige cada modelo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18288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banco con datos que una ley obliga a mantener bajo su propio control monta una nube privada para esa parte concreta, y usa nube pública para todo lo demás. Ambas infraestructuras se comunican entre sí — eso es lo que hace que sea una nube híbrida, no el simple hecho de usar dos sitios distintos.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11091672" cy="18288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402336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empresa que no quiere depender de un único proveedor despliega la misma aplicación en AWS y en otro proveedor, cada uno funcionando por su cuenta: eso es multi-nube — a diferencia de la híbrida, cada proveedor es independiente y ni siquiera tiene por qué saber que el otro existe.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de servicios por categorías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1672" cy="4160520"/>
        </p:xfrm>
        <a:graphic>
          <a:graphicData uri="http://schemas.openxmlformats.org/drawingml/2006/table">
            <a:tbl>
              <a:tblPr/>
              <a:tblGrid>
                <a:gridCol w="2883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6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11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Categoría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 qué sirve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Ejemplos en el módulo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Cómputo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Ejecutar código: VMs, contenedores, funciones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EC2 (T2), Lambda (T6), ECS (T6)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Almacenamiento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Guardar ficheros, discos y copias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S3 (hoy), EBS (T3)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Bases de datos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estructurados, gestionados por el proveedor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RDS (T3)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 y entrega de contenido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Conectar todo lo anterior, y acercarlo al usuario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 (T2), CloudFront, Route 53 (T4)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Seguridad, identidad y cumplimiento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puede hacer qué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IAM (hoy y T5)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y gobierno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Vigilar, medir y controlar el gasto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CloudWatch (T5), Budgets (hoy)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4406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hace falta memorizar el catálogo entero: cuando aparezca un servicio nuevo, ubícalo primero en una de estas seis categorías.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usas hoy: S3 e IAM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S3, cada fichero que subes es un objeto, y los objetos se agrupan dentro de un bucket — un contenedor con un nombre único en todo AWS, algo así como una carpeta de primer nivel que puede quedar privada, o servir contenido web público.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Bloqueo de acceso público: </a:t>
            </a:r>
            <a:endParaRPr lang="en-US" sz="2000" dirty="0"/>
          </a:p>
          <a:p>
            <a:pPr marL="0" lvl="1" indent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defecto bloquea cualquier acceso desde fuera de tu cuenta — para servir web tienes que desactivarlo tú, a propósito.</a:t>
            </a:r>
            <a:endParaRPr lang="en-US" sz="20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 de bucket: </a:t>
            </a:r>
            <a:endParaRPr lang="en-US" sz="2000" dirty="0"/>
          </a:p>
          <a:p>
            <a:pPr marL="0" lvl="1" indent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JSON que dice quién puede hacer qué sobre los objetos del bucket.</a:t>
            </a:r>
            <a:endParaRPr lang="en-US" sz="20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Alojamiento de sitio web estático: </a:t>
            </a:r>
            <a:endParaRPr lang="en-US" sz="2000" dirty="0"/>
          </a:p>
          <a:p>
            <a:pPr marL="0" lvl="1" indent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convierte un bucket normal en algo que responde como un servidor web.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Regiones, zonas de disponibilidad y ubicaciones de borde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3192936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Región: </a:t>
            </a:r>
            <a:endParaRPr lang="en-US" sz="1700" dirty="0"/>
          </a:p>
          <a:p>
            <a:pPr marL="0" lvl="1" indent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 geográfica grande e independiente. Trabajas siempre en la misma, la que indique el Learner Lab.</a:t>
            </a:r>
            <a:endParaRPr lang="en-US" sz="17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 de disponibilidad (AZ): </a:t>
            </a:r>
            <a:endParaRPr lang="en-US" sz="1700" dirty="0"/>
          </a:p>
          <a:p>
            <a:pPr marL="0" lvl="1" indent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varios centros de datos separados dentro de una región, conectados por fibra de baja latencia.</a:t>
            </a:r>
            <a:endParaRPr lang="en-US" sz="17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Ubicación de borde: </a:t>
            </a:r>
            <a:endParaRPr lang="en-US" sz="1700" dirty="0"/>
          </a:p>
          <a:p>
            <a:pPr marL="0" lvl="1" indent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puntos numerosos que acercan contenido en caché al usuario final.</a:t>
            </a:r>
            <a:endParaRPr lang="en-US" sz="1700" dirty="0"/>
          </a:p>
        </p:txBody>
      </p:sp>
      <p:pic>
        <p:nvPicPr>
          <p:cNvPr id="6" name="Image 0" descr="C:/Users/Aitor/Documents/apuntes-profe/introduccion-nube/docs/tema1/img/diagrama_infraestructura_glob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1576" y="1097280"/>
            <a:ext cx="7966663" cy="531110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responsabilidad compartida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algo falla, ¿de quién es la culpa? La seguridad y el correcto funcionamiento se reparten entre AWS y tú, y la frontera exacta depende del servicio.</a:t>
            </a:r>
            <a:endParaRPr lang="en-US" sz="1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91672" cy="3017520"/>
        </p:xfrm>
        <a:graphic>
          <a:graphicData uri="http://schemas.openxmlformats.org/drawingml/2006/table">
            <a:tbl>
              <a:tblPr/>
              <a:tblGrid>
                <a:gridCol w="1774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585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85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 — seguridad de la nube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Tú — seguridad en la nube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cubre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Centros de datos, hardware, red global, virtualización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Tus datos, tu configuración, tus permisos, tu código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 un disco no falle sin redundancia, que el hipervisor esté parcheado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 tu bucket no sea público por error, que tus credenciales no acaben en un repositorio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4406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Cuanto más gestionado es un servicio (IaaS→PaaS→SaaS), menos responsabilidad operativa cargas tú.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bucket abierto no es un fallo de AWS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pic>
        <p:nvPicPr>
          <p:cNvPr id="5" name="Image 0" descr="C:/Users/Aitor/Documents/apuntes-profe/introduccion-nube/docs/tema1/img/diagrama_responsabilidad_compart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5536" y="1280160"/>
            <a:ext cx="589788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configuración de acceso a tus propios datos nunca deja de ser tuya, sea cual sea el servicio.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incidentes, ¿de quién es la culpa?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1672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bucket de almacenamiento queda accesible públicamente por un permiso mal puesto.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centro de datos entero se cae por un corte eléctrico regional.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aplicación no aplica un parche de seguridad conocido desde hace meses.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credencial de acceso se filtra por estar escrita en un repositorio público.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disco físico del proveedor falla sin que existiera redundancia suficiente.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cuenta se compromete porque su contraseña era 123456.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4663440"/>
            <a:ext cx="11091672" cy="82296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475488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 a repartir estos seis incidentes de verdad, con justificación, en la Parte B de la Actividad 1.1.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Consola frente a CLI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3474720"/>
        </p:xfrm>
        <a:graphic>
          <a:graphicData uri="http://schemas.openxmlformats.org/drawingml/2006/table">
            <a:tbl>
              <a:tblPr/>
              <a:tblGrid>
                <a:gridCol w="310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3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30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Consola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Curva de aprendizaje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Baja: ves las opciones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Más alta: hay que conocer sintaxis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Repetible / documentable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 forma nativa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Sí: se guarda, versiona y repite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Ideal para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Explorar, primeras veces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Automatizar, integrar en scripts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983480"/>
            <a:ext cx="11091672" cy="109728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son dos herramientas independientes: son dos caras de la misma API. La consola enseña qué opciones existen la primera vez; la CLI automatiza en cuanto quieras repetir.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primera llamada a la API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25603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3152" cy="256032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481328"/>
            <a:ext cx="10588752" cy="2340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aws sts get-caller-identity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"UserId": "AROAEXAMPLE:usuario",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"Account": "123456789012",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"Arn": "arn:aws:sts::123456789012:assumed-role/voclabs/usuario"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4251960"/>
            <a:ext cx="11091672" cy="14630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822960" y="434340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campo Arn no dice que seas un usuario normal — dice assumed-role, un rol asumido. En el Learner Lab no hay usuarios ni roles que tú crees: hay uno ya preparado de antemano.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Funcionamiento y límites del Learner Lab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1672" cy="5257800"/>
        </p:xfrm>
        <a:graphic>
          <a:graphicData uri="http://schemas.openxmlformats.org/drawingml/2006/table">
            <a:tbl>
              <a:tblPr/>
              <a:tblGrid>
                <a:gridCol w="3549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23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Regla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significa en la práctica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Sesión de 4 horas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 llegar a cero, el laboratorio se apaga solo. Toda práctica arranca y termina en una sesión.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Crédito finito por alumno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recarga automática. Si se agota, el laboratorio nuevo empieza vacío.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usuarios ni roles propios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rol es preasignado. Un fallo de permisos casi nunca es «algo que has roto».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Regiones y servicios restringidos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todo lo de AWS está disponible en el laboratorio.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Apagar antes de salir no es opcional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1672" cy="2926080"/>
          </a:xfrm>
          <a:prstGeom prst="roundRect">
            <a:avLst/>
          </a:prstGeom>
          <a:solidFill>
            <a:srgbClr val="FFF8E1"/>
          </a:solidFill>
          <a:ln w="28575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395728"/>
            <a:ext cx="10543032" cy="2706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El ritual de los últimos cinco minutos
</a:t>
            </a:r>
            <a:endParaRPr lang="en-US" sz="2400" dirty="0"/>
          </a:p>
          <a:p>
            <a:pPr marL="0" indent="0">
              <a:buNone/>
            </a:pPr>
            <a:r>
              <a:rPr lang="en-US" sz="2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recurso que dejas encendido «sin querer» sigue gastando crédito de fondo hasta la semana que viene. Revisar el gasto, apagar lo que no haga falta y anotar el recurso más caro es la norma más importante del módulo — la vas a repetir después de cada actividad práctica.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1672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nube se mueve en una escalera de menos a más gestionado: on-premise → IaaS → PaaS → SaaS.</a:t>
            </a:r>
            <a:endParaRPr lang="en-US" sz="2200" dirty="0"/>
          </a:p>
          <a:p>
            <a:pPr marL="190500" indent="-1905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servicio (cuánto delegas) y modelo de despliegue (quién comparte la infraestructura) son preguntas distintas. AWS es nube pública.</a:t>
            </a:r>
            <a:endParaRPr lang="en-US" sz="2200" dirty="0"/>
          </a:p>
          <a:p>
            <a:pPr marL="190500" indent="-1905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Frente a un sistema tradicional, la nube cambia inversión inicial por pago por uso, y meses de espera por minutos de aprovisionamiento.</a:t>
            </a:r>
            <a:endParaRPr lang="en-US" sz="2200" dirty="0"/>
          </a:p>
          <a:p>
            <a:pPr marL="190500" indent="-1905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servicios de AWS se agrupan en un puñado de categorías: cómputo, almacenamiento, bases de datos, redes, seguridad, gestión.</a:t>
            </a:r>
            <a:endParaRPr lang="en-US" sz="2200" dirty="0"/>
          </a:p>
          <a:p>
            <a:pPr marL="190500" indent="-1905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Región → zona de disponibilidad → ubicación de borde: la base de la alta disponibilidad del Tema 4.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 (cont.)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109167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responsabilidad compartida: AWS responde de la infraestructura física; tú, de tus datos, configuración y credenciales.</a:t>
            </a:r>
            <a:endParaRPr lang="en-US" sz="2200" dirty="0"/>
          </a:p>
          <a:p>
            <a:pPr marL="190500" indent="-1905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Consola y CLI son dos caras de la misma API: la consola para explorar, la CLI para repetir y automatizar.</a:t>
            </a:r>
            <a:endParaRPr lang="en-US" sz="2200" dirty="0"/>
          </a:p>
          <a:p>
            <a:pPr marL="190500" indent="-1905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Learner Lab no hay usuarios ni roles que tú crees — hay un rol preasignado (assumed-role), verificable con aws sts get-caller-identity.</a:t>
            </a:r>
            <a:endParaRPr lang="en-US" sz="2200" dirty="0"/>
          </a:p>
          <a:p>
            <a:pPr marL="190500" indent="-1905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Learner Lab tiene sesión de 4 horas y crédito finito por alumno — de ahí nace el ritual de apagar al final de cada sesión.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2280</Words>
  <Application>Microsoft Office PowerPoint</Application>
  <PresentationFormat>Panorámica</PresentationFormat>
  <Paragraphs>222</Paragraphs>
  <Slides>20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3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Primer contacto profesional con AWS</dc:title>
  <dc:subject>PptxGenJS Presentation</dc:subject>
  <dc:creator>Introducción a la Nube Pública</dc:creator>
  <cp:lastModifiedBy>VENTURA EDO, AITOR</cp:lastModifiedBy>
  <cp:revision>2</cp:revision>
  <dcterms:created xsi:type="dcterms:W3CDTF">2026-09-06T15:58:39Z</dcterms:created>
  <dcterms:modified xsi:type="dcterms:W3CDTF">2026-09-06T16:07:42Z</dcterms:modified>
</cp:coreProperties>
</file>