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4184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C5CAE9"/>
                </a:solidFill>
                <a:latin typeface="Arial" pitchFamily="34" charset="0"/>
                <a:ea typeface="Arial" pitchFamily="34" charset="-122"/>
                <a:cs typeface="Arial" pitchFamily="34" charset="-120"/>
              </a:rPr>
              <a:t>INTRODUCCIÓN A LA NUBE PÚBLICA  —  TEMA 6: AUTOMATIZACIÓN Y MODELOS DE EJECUCIÓN</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200" b="1" dirty="0">
                <a:solidFill>
                  <a:srgbClr val="FFFFFF"/>
                </a:solidFill>
                <a:latin typeface="Arial" pitchFamily="34" charset="0"/>
                <a:ea typeface="Arial" pitchFamily="34" charset="-122"/>
                <a:cs typeface="Arial" pitchFamily="34" charset="-120"/>
              </a:rPr>
              <a:t>Contenedores gestionados</a:t>
            </a:r>
            <a:endParaRPr lang="en-US" sz="42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Tema 6 — Automatización y modelos de ejecución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peldaño intermedio de la escalera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sp>
        <p:nvSpPr>
          <p:cNvPr id="5" name="Shape 3"/>
          <p:cNvSpPr/>
          <p:nvPr/>
        </p:nvSpPr>
        <p:spPr>
          <a:xfrm>
            <a:off x="548640" y="1188720"/>
            <a:ext cx="11091672" cy="1280160"/>
          </a:xfrm>
          <a:prstGeom prst="roundRect">
            <a:avLst/>
          </a:prstGeom>
          <a:solidFill>
            <a:srgbClr val="FFF8E1"/>
          </a:solidFill>
          <a:ln w="19050">
            <a:solidFill>
              <a:srgbClr val="FFA000"/>
            </a:solidFill>
            <a:prstDash val="solid"/>
          </a:ln>
        </p:spPr>
        <p:txBody>
          <a:bodyPr/>
          <a:lstStyle/>
          <a:p>
            <a:endParaRPr lang="es-ES"/>
          </a:p>
        </p:txBody>
      </p:sp>
      <p:sp>
        <p:nvSpPr>
          <p:cNvPr id="6" name="Text 4"/>
          <p:cNvSpPr/>
          <p:nvPr/>
        </p:nvSpPr>
        <p:spPr>
          <a:xfrm>
            <a:off x="822960" y="1280160"/>
            <a:ext cx="10543032" cy="10972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Ya sabes ejecutar una aplicación como instancia (Tema 2) y como función (la sesión pasada). Hoy la ejecutas como contenedor sin montar ningún servidor que lo aloje: un servicio gestionado decide dónde vive, lo mantiene en marcha y lo sustituye si falla.</a:t>
            </a:r>
            <a:endParaRPr lang="en-US" sz="1900" dirty="0"/>
          </a:p>
        </p:txBody>
      </p:sp>
      <p:sp>
        <p:nvSpPr>
          <p:cNvPr id="7" name="Shape 5"/>
          <p:cNvSpPr/>
          <p:nvPr/>
        </p:nvSpPr>
        <p:spPr>
          <a:xfrm>
            <a:off x="548640" y="2743200"/>
            <a:ext cx="3361944" cy="1280160"/>
          </a:xfrm>
          <a:prstGeom prst="roundRect">
            <a:avLst/>
          </a:prstGeom>
          <a:solidFill>
            <a:srgbClr val="E8EAF6"/>
          </a:solidFill>
          <a:ln w="15875">
            <a:solidFill>
              <a:srgbClr val="3949AB"/>
            </a:solidFill>
            <a:prstDash val="solid"/>
          </a:ln>
        </p:spPr>
        <p:txBody>
          <a:bodyPr/>
          <a:lstStyle/>
          <a:p>
            <a:endParaRPr lang="es-ES"/>
          </a:p>
        </p:txBody>
      </p:sp>
      <p:sp>
        <p:nvSpPr>
          <p:cNvPr id="8" name="Text 6"/>
          <p:cNvSpPr/>
          <p:nvPr/>
        </p:nvSpPr>
        <p:spPr>
          <a:xfrm>
            <a:off x="621792" y="2788920"/>
            <a:ext cx="3215640" cy="1188720"/>
          </a:xfrm>
          <a:prstGeom prst="rect">
            <a:avLst/>
          </a:prstGeom>
          <a:noFill/>
          <a:ln/>
        </p:spPr>
        <p:txBody>
          <a:bodyPr wrap="square" rtlCol="0" anchor="ctr"/>
          <a:lstStyle/>
          <a:p>
            <a:pPr marL="0" indent="0" algn="ctr">
              <a:buNone/>
            </a:pPr>
            <a:r>
              <a:rPr lang="en-US" sz="1700" dirty="0">
                <a:solidFill>
                  <a:srgbClr val="212121"/>
                </a:solidFill>
                <a:latin typeface="Arial" pitchFamily="34" charset="0"/>
                <a:ea typeface="Arial" pitchFamily="34" charset="-122"/>
                <a:cs typeface="Arial" pitchFamily="34" charset="-120"/>
              </a:rPr>
              <a:t>🖥️ Instancia</a:t>
            </a:r>
            <a:endParaRPr lang="en-US" sz="1700" dirty="0"/>
          </a:p>
          <a:p>
            <a:pPr marL="0" indent="0" algn="ctr">
              <a:buNone/>
            </a:pPr>
            <a:r>
              <a:rPr lang="en-US" sz="1700" dirty="0">
                <a:solidFill>
                  <a:srgbClr val="212121"/>
                </a:solidFill>
                <a:latin typeface="Arial" pitchFamily="34" charset="0"/>
                <a:ea typeface="Arial" pitchFamily="34" charset="-122"/>
                <a:cs typeface="Arial" pitchFamily="34" charset="-120"/>
              </a:rPr>
              <a:t>gestionas el sistema entero</a:t>
            </a:r>
            <a:endParaRPr lang="en-US" sz="1700" dirty="0"/>
          </a:p>
        </p:txBody>
      </p:sp>
      <p:sp>
        <p:nvSpPr>
          <p:cNvPr id="9" name="Text 7"/>
          <p:cNvSpPr/>
          <p:nvPr/>
        </p:nvSpPr>
        <p:spPr>
          <a:xfrm>
            <a:off x="3910584" y="2743200"/>
            <a:ext cx="502920" cy="1280160"/>
          </a:xfrm>
          <a:prstGeom prst="rect">
            <a:avLst/>
          </a:prstGeom>
          <a:noFill/>
          <a:ln/>
        </p:spPr>
        <p:txBody>
          <a:bodyPr wrap="square" rtlCol="0" anchor="ctr"/>
          <a:lstStyle/>
          <a:p>
            <a:pPr marL="0" indent="0" algn="ctr">
              <a:buNone/>
            </a:pPr>
            <a:r>
              <a:rPr lang="en-US" sz="2600" b="1" dirty="0">
                <a:solidFill>
                  <a:srgbClr val="3949AB"/>
                </a:solidFill>
                <a:latin typeface="Arial" pitchFamily="34" charset="0"/>
                <a:ea typeface="Arial" pitchFamily="34" charset="-122"/>
                <a:cs typeface="Arial" pitchFamily="34" charset="-120"/>
              </a:rPr>
              <a:t>→</a:t>
            </a:r>
            <a:endParaRPr lang="en-US" sz="2600" dirty="0"/>
          </a:p>
        </p:txBody>
      </p:sp>
      <p:sp>
        <p:nvSpPr>
          <p:cNvPr id="10" name="Shape 8"/>
          <p:cNvSpPr/>
          <p:nvPr/>
        </p:nvSpPr>
        <p:spPr>
          <a:xfrm>
            <a:off x="4413504" y="2743200"/>
            <a:ext cx="3361944" cy="1280160"/>
          </a:xfrm>
          <a:prstGeom prst="roundRect">
            <a:avLst/>
          </a:prstGeom>
          <a:solidFill>
            <a:srgbClr val="E8EAF6"/>
          </a:solidFill>
          <a:ln w="15875">
            <a:solidFill>
              <a:srgbClr val="3949AB"/>
            </a:solidFill>
            <a:prstDash val="solid"/>
          </a:ln>
        </p:spPr>
        <p:txBody>
          <a:bodyPr/>
          <a:lstStyle/>
          <a:p>
            <a:endParaRPr lang="es-ES"/>
          </a:p>
        </p:txBody>
      </p:sp>
      <p:sp>
        <p:nvSpPr>
          <p:cNvPr id="11" name="Text 9"/>
          <p:cNvSpPr/>
          <p:nvPr/>
        </p:nvSpPr>
        <p:spPr>
          <a:xfrm>
            <a:off x="4486656" y="2788920"/>
            <a:ext cx="3215640" cy="1188720"/>
          </a:xfrm>
          <a:prstGeom prst="rect">
            <a:avLst/>
          </a:prstGeom>
          <a:noFill/>
          <a:ln/>
        </p:spPr>
        <p:txBody>
          <a:bodyPr wrap="square" rtlCol="0" anchor="ctr"/>
          <a:lstStyle/>
          <a:p>
            <a:pPr marL="0" indent="0" algn="ctr">
              <a:buNone/>
            </a:pPr>
            <a:r>
              <a:rPr lang="en-US" sz="1700" dirty="0">
                <a:solidFill>
                  <a:srgbClr val="212121"/>
                </a:solidFill>
                <a:latin typeface="Arial" pitchFamily="34" charset="0"/>
                <a:ea typeface="Arial" pitchFamily="34" charset="-122"/>
                <a:cs typeface="Arial" pitchFamily="34" charset="-120"/>
              </a:rPr>
              <a:t>📦 Contenedor gestionado</a:t>
            </a:r>
            <a:endParaRPr lang="en-US" sz="1700" dirty="0"/>
          </a:p>
          <a:p>
            <a:pPr marL="0" indent="0" algn="ctr">
              <a:buNone/>
            </a:pPr>
            <a:r>
              <a:rPr lang="en-US" sz="1700" dirty="0">
                <a:solidFill>
                  <a:srgbClr val="212121"/>
                </a:solidFill>
                <a:latin typeface="Arial" pitchFamily="34" charset="0"/>
                <a:ea typeface="Arial" pitchFamily="34" charset="-122"/>
                <a:cs typeface="Arial" pitchFamily="34" charset="-120"/>
              </a:rPr>
              <a:t>tú empaquetas la app</a:t>
            </a:r>
            <a:endParaRPr lang="en-US" sz="1700" dirty="0"/>
          </a:p>
        </p:txBody>
      </p:sp>
      <p:sp>
        <p:nvSpPr>
          <p:cNvPr id="12" name="Text 10"/>
          <p:cNvSpPr/>
          <p:nvPr/>
        </p:nvSpPr>
        <p:spPr>
          <a:xfrm>
            <a:off x="7775448" y="2743200"/>
            <a:ext cx="502920" cy="1280160"/>
          </a:xfrm>
          <a:prstGeom prst="rect">
            <a:avLst/>
          </a:prstGeom>
          <a:noFill/>
          <a:ln/>
        </p:spPr>
        <p:txBody>
          <a:bodyPr wrap="square" rtlCol="0" anchor="ctr"/>
          <a:lstStyle/>
          <a:p>
            <a:pPr marL="0" indent="0" algn="ctr">
              <a:buNone/>
            </a:pPr>
            <a:r>
              <a:rPr lang="en-US" sz="2600" b="1" dirty="0">
                <a:solidFill>
                  <a:srgbClr val="3949AB"/>
                </a:solidFill>
                <a:latin typeface="Arial" pitchFamily="34" charset="0"/>
                <a:ea typeface="Arial" pitchFamily="34" charset="-122"/>
                <a:cs typeface="Arial" pitchFamily="34" charset="-120"/>
              </a:rPr>
              <a:t>→</a:t>
            </a:r>
            <a:endParaRPr lang="en-US" sz="2600" dirty="0"/>
          </a:p>
        </p:txBody>
      </p:sp>
      <p:sp>
        <p:nvSpPr>
          <p:cNvPr id="13" name="Shape 11"/>
          <p:cNvSpPr/>
          <p:nvPr/>
        </p:nvSpPr>
        <p:spPr>
          <a:xfrm>
            <a:off x="8278368" y="2743200"/>
            <a:ext cx="3361944" cy="1280160"/>
          </a:xfrm>
          <a:prstGeom prst="roundRect">
            <a:avLst/>
          </a:prstGeom>
          <a:solidFill>
            <a:srgbClr val="E8EAF6"/>
          </a:solidFill>
          <a:ln w="15875">
            <a:solidFill>
              <a:srgbClr val="3949AB"/>
            </a:solidFill>
            <a:prstDash val="solid"/>
          </a:ln>
        </p:spPr>
        <p:txBody>
          <a:bodyPr/>
          <a:lstStyle/>
          <a:p>
            <a:endParaRPr lang="es-ES"/>
          </a:p>
        </p:txBody>
      </p:sp>
      <p:sp>
        <p:nvSpPr>
          <p:cNvPr id="14" name="Text 12"/>
          <p:cNvSpPr/>
          <p:nvPr/>
        </p:nvSpPr>
        <p:spPr>
          <a:xfrm>
            <a:off x="8351520" y="2788920"/>
            <a:ext cx="3215640" cy="1188720"/>
          </a:xfrm>
          <a:prstGeom prst="rect">
            <a:avLst/>
          </a:prstGeom>
          <a:noFill/>
          <a:ln/>
        </p:spPr>
        <p:txBody>
          <a:bodyPr wrap="square" rtlCol="0" anchor="ctr"/>
          <a:lstStyle/>
          <a:p>
            <a:pPr marL="0" indent="0" algn="ctr">
              <a:buNone/>
            </a:pPr>
            <a:r>
              <a:rPr lang="en-US" sz="1700" dirty="0">
                <a:solidFill>
                  <a:srgbClr val="212121"/>
                </a:solidFill>
                <a:latin typeface="Arial" pitchFamily="34" charset="0"/>
                <a:ea typeface="Arial" pitchFamily="34" charset="-122"/>
                <a:cs typeface="Arial" pitchFamily="34" charset="-120"/>
              </a:rPr>
              <a:t>⚡ Función</a:t>
            </a:r>
            <a:endParaRPr lang="en-US" sz="1700" dirty="0"/>
          </a:p>
          <a:p>
            <a:pPr marL="0" indent="0" algn="ctr">
              <a:buNone/>
            </a:pPr>
            <a:r>
              <a:rPr lang="en-US" sz="1700" dirty="0">
                <a:solidFill>
                  <a:srgbClr val="212121"/>
                </a:solidFill>
                <a:latin typeface="Arial" pitchFamily="34" charset="0"/>
                <a:ea typeface="Arial" pitchFamily="34" charset="-122"/>
                <a:cs typeface="Arial" pitchFamily="34" charset="-120"/>
              </a:rPr>
              <a:t>solo tu código</a:t>
            </a:r>
            <a:endParaRPr lang="en-US" sz="1700" dirty="0"/>
          </a:p>
        </p:txBody>
      </p:sp>
      <p:sp>
        <p:nvSpPr>
          <p:cNvPr id="15" name="Shape 13"/>
          <p:cNvSpPr/>
          <p:nvPr/>
        </p:nvSpPr>
        <p:spPr>
          <a:xfrm>
            <a:off x="548640" y="4343400"/>
            <a:ext cx="11091672" cy="1508760"/>
          </a:xfrm>
          <a:prstGeom prst="roundRect">
            <a:avLst/>
          </a:prstGeom>
          <a:solidFill>
            <a:srgbClr val="E8EAF6"/>
          </a:solidFill>
          <a:ln w="15875">
            <a:solidFill>
              <a:srgbClr val="3949AB"/>
            </a:solidFill>
            <a:prstDash val="solid"/>
          </a:ln>
        </p:spPr>
        <p:txBody>
          <a:bodyPr/>
          <a:lstStyle/>
          <a:p>
            <a:endParaRPr lang="es-ES"/>
          </a:p>
        </p:txBody>
      </p:sp>
      <p:sp>
        <p:nvSpPr>
          <p:cNvPr id="16" name="Text 14"/>
          <p:cNvSpPr/>
          <p:nvPr/>
        </p:nvSpPr>
        <p:spPr>
          <a:xfrm>
            <a:off x="731520" y="4416552"/>
            <a:ext cx="10725912" cy="548640"/>
          </a:xfrm>
          <a:prstGeom prst="rect">
            <a:avLst/>
          </a:prstGeom>
          <a:noFill/>
          <a:ln/>
        </p:spPr>
        <p:txBody>
          <a:bodyPr wrap="square" rtlCol="0" anchor="ctr"/>
          <a:lstStyle/>
          <a:p>
            <a:pPr marL="0" indent="0">
              <a:buNone/>
            </a:pPr>
            <a:r>
              <a:rPr lang="en-US" sz="2000" b="1" dirty="0">
                <a:solidFill>
                  <a:srgbClr val="1A237E"/>
                </a:solidFill>
                <a:latin typeface="Arial" pitchFamily="34" charset="0"/>
                <a:ea typeface="Arial" pitchFamily="34" charset="-122"/>
                <a:cs typeface="Arial" pitchFamily="34" charset="-120"/>
              </a:rPr>
              <a:t>Tú empaquetas, AWS se ocupa de las máquinas</a:t>
            </a:r>
            <a:endParaRPr lang="en-US" sz="2000" dirty="0"/>
          </a:p>
        </p:txBody>
      </p:sp>
      <p:sp>
        <p:nvSpPr>
          <p:cNvPr id="17" name="Text 15"/>
          <p:cNvSpPr/>
          <p:nvPr/>
        </p:nvSpPr>
        <p:spPr>
          <a:xfrm>
            <a:off x="731520" y="4965192"/>
            <a:ext cx="10725912" cy="813816"/>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El código de la aplicación de hoy ya viene con su Dockerfile (la receta para construir la imagen); este módulo no cubre cómo se escribe uno desde cero, solo cómo se construye a partir de una receta dada y se ejecuta de forma gestionada.</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es un contenedor y qué problema resuelve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sp>
        <p:nvSpPr>
          <p:cNvPr id="5" name="Shape 3"/>
          <p:cNvSpPr/>
          <p:nvPr/>
        </p:nvSpPr>
        <p:spPr>
          <a:xfrm>
            <a:off x="548640" y="1188720"/>
            <a:ext cx="11091672" cy="1371600"/>
          </a:xfrm>
          <a:prstGeom prst="roundRect">
            <a:avLst/>
          </a:prstGeom>
          <a:solidFill>
            <a:srgbClr val="FFF8E1"/>
          </a:solidFill>
          <a:ln w="19050">
            <a:solidFill>
              <a:srgbClr val="FFA000"/>
            </a:solidFill>
            <a:prstDash val="solid"/>
          </a:ln>
        </p:spPr>
        <p:txBody>
          <a:bodyPr/>
          <a:lstStyle/>
          <a:p>
            <a:endParaRPr lang="es-ES"/>
          </a:p>
        </p:txBody>
      </p:sp>
      <p:sp>
        <p:nvSpPr>
          <p:cNvPr id="6" name="Text 4"/>
          <p:cNvSpPr/>
          <p:nvPr/>
        </p:nvSpPr>
        <p:spPr>
          <a:xfrm>
            <a:off x="822960" y="1280160"/>
            <a:ext cx="10543032" cy="118872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Cuando montaste Escaparate en una instancia (Actividad 3.2), tuviste que instalar Java, configurar variables y arrancar la aplicación a mano. Si mañana necesitas otra instancia igual, lo repites, o recurres a una AMI (Tema 2).</a:t>
            </a:r>
            <a:endParaRPr lang="en-US" sz="1900" dirty="0"/>
          </a:p>
        </p:txBody>
      </p:sp>
      <p:sp>
        <p:nvSpPr>
          <p:cNvPr id="7" name="Shape 5"/>
          <p:cNvSpPr/>
          <p:nvPr/>
        </p:nvSpPr>
        <p:spPr>
          <a:xfrm>
            <a:off x="548640" y="2880360"/>
            <a:ext cx="11091672" cy="1554480"/>
          </a:xfrm>
          <a:prstGeom prst="roundRect">
            <a:avLst/>
          </a:prstGeom>
          <a:solidFill>
            <a:srgbClr val="E8EAF6"/>
          </a:solidFill>
          <a:ln w="15875">
            <a:solidFill>
              <a:srgbClr val="3949AB"/>
            </a:solidFill>
            <a:prstDash val="solid"/>
          </a:ln>
        </p:spPr>
        <p:txBody>
          <a:bodyPr/>
          <a:lstStyle/>
          <a:p>
            <a:endParaRPr lang="es-ES"/>
          </a:p>
        </p:txBody>
      </p:sp>
      <p:sp>
        <p:nvSpPr>
          <p:cNvPr id="8" name="Text 6"/>
          <p:cNvSpPr/>
          <p:nvPr/>
        </p:nvSpPr>
        <p:spPr>
          <a:xfrm>
            <a:off x="731520" y="2953512"/>
            <a:ext cx="10725912" cy="548640"/>
          </a:xfrm>
          <a:prstGeom prst="rect">
            <a:avLst/>
          </a:prstGeom>
          <a:noFill/>
          <a:ln/>
        </p:spPr>
        <p:txBody>
          <a:bodyPr wrap="square" rtlCol="0" anchor="ctr"/>
          <a:lstStyle/>
          <a:p>
            <a:pPr marL="0" indent="0">
              <a:buNone/>
            </a:pPr>
            <a:r>
              <a:rPr lang="en-US" sz="2000" b="1" dirty="0">
                <a:solidFill>
                  <a:srgbClr val="1A237E"/>
                </a:solidFill>
                <a:latin typeface="Arial" pitchFamily="34" charset="0"/>
                <a:ea typeface="Arial" pitchFamily="34" charset="-122"/>
                <a:cs typeface="Arial" pitchFamily="34" charset="-120"/>
              </a:rPr>
              <a:t>Un contenedor resuelve el mismo problema a otra escala</a:t>
            </a:r>
            <a:endParaRPr lang="en-US" sz="2000" dirty="0"/>
          </a:p>
        </p:txBody>
      </p:sp>
      <p:sp>
        <p:nvSpPr>
          <p:cNvPr id="9" name="Text 7"/>
          <p:cNvSpPr/>
          <p:nvPr/>
        </p:nvSpPr>
        <p:spPr>
          <a:xfrm>
            <a:off x="731520" y="3502152"/>
            <a:ext cx="10725912" cy="859536"/>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Empaqueta la aplicación junto con todo lo que necesita para correr (el lenguaje, las librerías, la configuración base) en un paquete que se ejecuta igual en tu portátil, en una instancia o en un servicio gestionado.</a:t>
            </a:r>
            <a:endParaRPr lang="en-US" sz="1700" dirty="0"/>
          </a:p>
        </p:txBody>
      </p:sp>
      <p:sp>
        <p:nvSpPr>
          <p:cNvPr id="10" name="Shape 8"/>
          <p:cNvSpPr/>
          <p:nvPr/>
        </p:nvSpPr>
        <p:spPr>
          <a:xfrm>
            <a:off x="548640" y="4754879"/>
            <a:ext cx="11091672" cy="1477969"/>
          </a:xfrm>
          <a:prstGeom prst="roundRect">
            <a:avLst/>
          </a:prstGeom>
          <a:solidFill>
            <a:srgbClr val="FFF8E1"/>
          </a:solidFill>
          <a:ln w="28575">
            <a:solidFill>
              <a:srgbClr val="FFA000"/>
            </a:solidFill>
            <a:prstDash val="solid"/>
          </a:ln>
        </p:spPr>
        <p:txBody>
          <a:bodyPr/>
          <a:lstStyle/>
          <a:p>
            <a:endParaRPr lang="es-ES"/>
          </a:p>
        </p:txBody>
      </p:sp>
      <p:sp>
        <p:nvSpPr>
          <p:cNvPr id="11" name="Text 9"/>
          <p:cNvSpPr/>
          <p:nvPr/>
        </p:nvSpPr>
        <p:spPr>
          <a:xfrm>
            <a:off x="822960" y="4864608"/>
            <a:ext cx="10543032" cy="1014984"/>
          </a:xfrm>
          <a:prstGeom prst="rect">
            <a:avLst/>
          </a:prstGeom>
          <a:noFill/>
          <a:ln/>
        </p:spPr>
        <p:txBody>
          <a:bodyPr wrap="square" rtlCol="0" anchor="t"/>
          <a:lstStyle/>
          <a:p>
            <a:pPr marL="0" indent="0">
              <a:buNone/>
            </a:pPr>
            <a:r>
              <a:rPr lang="en-US" sz="1800" b="1" dirty="0">
                <a:solidFill>
                  <a:srgbClr val="1A237E"/>
                </a:solidFill>
                <a:latin typeface="Arial" pitchFamily="34" charset="0"/>
                <a:ea typeface="Arial" pitchFamily="34" charset="-122"/>
                <a:cs typeface="Arial" pitchFamily="34" charset="-120"/>
              </a:rPr>
              <a:t>Imagen y contenedor
</a:t>
            </a:r>
            <a:endParaRPr lang="en-US" sz="1800" dirty="0"/>
          </a:p>
          <a:p>
            <a:pPr marL="0" indent="0">
              <a:buNone/>
            </a:pPr>
            <a:r>
              <a:rPr lang="en-US" sz="1700" dirty="0">
                <a:solidFill>
                  <a:srgbClr val="212121"/>
                </a:solidFill>
                <a:latin typeface="Arial" pitchFamily="34" charset="0"/>
                <a:ea typeface="Arial" pitchFamily="34" charset="-122"/>
                <a:cs typeface="Arial" pitchFamily="34" charset="-120"/>
              </a:rPr>
              <a:t>La pieza que se construye una vez se llama imagen, y cada copia en ejecución es un contenedor. Es la misma relación que ya conoces entre una AMI y las instancias que lanzas a partir de ella.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es un contenedor y qué problema resuelve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3730752"/>
        </p:xfrm>
        <a:graphic>
          <a:graphicData uri="http://schemas.openxmlformats.org/drawingml/2006/table">
            <a:tbl>
              <a:tblPr/>
              <a:tblGrid>
                <a:gridCol w="2440168">
                  <a:extLst>
                    <a:ext uri="{9D8B030D-6E8A-4147-A177-3AD203B41FA5}">
                      <a16:colId xmlns:a16="http://schemas.microsoft.com/office/drawing/2014/main" val="20000"/>
                    </a:ext>
                  </a:extLst>
                </a:gridCol>
                <a:gridCol w="4436669">
                  <a:extLst>
                    <a:ext uri="{9D8B030D-6E8A-4147-A177-3AD203B41FA5}">
                      <a16:colId xmlns:a16="http://schemas.microsoft.com/office/drawing/2014/main" val="20001"/>
                    </a:ext>
                  </a:extLst>
                </a:gridCol>
                <a:gridCol w="4214835">
                  <a:extLst>
                    <a:ext uri="{9D8B030D-6E8A-4147-A177-3AD203B41FA5}">
                      <a16:colId xmlns:a16="http://schemas.microsoft.com/office/drawing/2014/main" val="20002"/>
                    </a:ext>
                  </a:extLst>
                </a:gridCol>
              </a:tblGrid>
              <a:tr h="621792">
                <a:tc>
                  <a:txBody>
                    <a:bodyPr/>
                    <a:lstStyle/>
                    <a:p>
                      <a:pPr marL="0" indent="0" algn="ctr">
                        <a:buNone/>
                      </a:pP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Instancia (máquina virtual)</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Contenedor</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extLst>
                  <a:ext uri="{0D108BD9-81ED-4DB2-BD59-A6C34878D82A}">
                    <a16:rowId xmlns:a16="http://schemas.microsoft.com/office/drawing/2014/main" val="10000"/>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Qué lleva dentro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Un sistema operativo completo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Solo la aplicación y sus librerías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Tamaño típico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Varios GB</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Decenas o cientos de MB</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Arranque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Minutos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Segundos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Aislamiento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Muy fuerte: cada instancia tiene su propio sistema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Más ligero: comparten el núcleo del sistema que los ejecuta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Se construye a partir de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Una AMI</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Una imagen, descrita en un Dockerfile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5074920"/>
            <a:ext cx="11091672" cy="1051560"/>
          </a:xfrm>
          <a:prstGeom prst="roundRect">
            <a:avLst/>
          </a:prstGeom>
          <a:solidFill>
            <a:srgbClr val="FFF8E1"/>
          </a:solidFill>
          <a:ln w="19050">
            <a:solidFill>
              <a:srgbClr val="FFA000"/>
            </a:solidFill>
            <a:prstDash val="solid"/>
          </a:ln>
        </p:spPr>
        <p:txBody>
          <a:bodyPr/>
          <a:lstStyle/>
          <a:p>
            <a:endParaRPr lang="es-ES"/>
          </a:p>
        </p:txBody>
      </p:sp>
      <p:sp>
        <p:nvSpPr>
          <p:cNvPr id="7" name="Text 4"/>
          <p:cNvSpPr/>
          <p:nvPr/>
        </p:nvSpPr>
        <p:spPr>
          <a:xfrm>
            <a:off x="822960" y="5166360"/>
            <a:ext cx="10543032" cy="868680"/>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Un contenedor marítimo se llena en la fábrica y se mueve en barco, tren o camión sin abrirlo, porque todos tienen las mismas medidas. Con los contenedores de software ocurre igual: lo que has empaquetado se ejecuta en cualquier sitio que sepa manejar contenedores, sin tocar su interior.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Las piezas del servicio: registro, tarea, clúster y servicio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3429000"/>
        </p:xfrm>
        <a:graphic>
          <a:graphicData uri="http://schemas.openxmlformats.org/drawingml/2006/table">
            <a:tbl>
              <a:tblPr/>
              <a:tblGrid>
                <a:gridCol w="2662001">
                  <a:extLst>
                    <a:ext uri="{9D8B030D-6E8A-4147-A177-3AD203B41FA5}">
                      <a16:colId xmlns:a16="http://schemas.microsoft.com/office/drawing/2014/main" val="20000"/>
                    </a:ext>
                  </a:extLst>
                </a:gridCol>
                <a:gridCol w="4880336">
                  <a:extLst>
                    <a:ext uri="{9D8B030D-6E8A-4147-A177-3AD203B41FA5}">
                      <a16:colId xmlns:a16="http://schemas.microsoft.com/office/drawing/2014/main" val="20001"/>
                    </a:ext>
                  </a:extLst>
                </a:gridCol>
                <a:gridCol w="3549335">
                  <a:extLst>
                    <a:ext uri="{9D8B030D-6E8A-4147-A177-3AD203B41FA5}">
                      <a16:colId xmlns:a16="http://schemas.microsoft.com/office/drawing/2014/main" val="20002"/>
                    </a:ext>
                  </a:extLst>
                </a:gridCol>
              </a:tblGrid>
              <a:tr h="685800">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Pieza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Qué es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Lo que ya conoces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extLst>
                  <a:ext uri="{0D108BD9-81ED-4DB2-BD59-A6C34878D82A}">
                    <a16:rowId xmlns:a16="http://schemas.microsoft.com/office/drawing/2014/main" val="10000"/>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Registro de imágenes (ECR)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Donde se guardan las imágenes, listas para desplegar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Como las AMI guardadas en tu cuenta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Definición de tarea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La receta: qué imagen, cuánta CPU y memoria, qué puerto, qué variables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La plantilla de lanzamiento del Tema 2</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Clúster (ECS)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El espacio lógico donde viven tus servicios; por sí solo no ejecuta nada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Como una VPC: agrupa recursos, pero no hace nada por sí misma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Servicio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Mantiene un número de tareas en marcha y repone las que fallan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El grupo de escalado automático del Tema 4</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5" name="Shape 3"/>
          <p:cNvSpPr/>
          <p:nvPr/>
        </p:nvSpPr>
        <p:spPr>
          <a:xfrm>
            <a:off x="548640" y="4846320"/>
            <a:ext cx="11091672" cy="1371600"/>
          </a:xfrm>
          <a:prstGeom prst="roundRect">
            <a:avLst/>
          </a:prstGeom>
          <a:solidFill>
            <a:srgbClr val="FFF8E1"/>
          </a:solidFill>
          <a:ln w="19050">
            <a:solidFill>
              <a:srgbClr val="FFA000"/>
            </a:solidFill>
            <a:prstDash val="solid"/>
          </a:ln>
        </p:spPr>
        <p:txBody>
          <a:bodyPr/>
          <a:lstStyle/>
          <a:p>
            <a:endParaRPr lang="es-ES"/>
          </a:p>
        </p:txBody>
      </p:sp>
      <p:sp>
        <p:nvSpPr>
          <p:cNvPr id="7" name="Text 4"/>
          <p:cNvSpPr/>
          <p:nvPr/>
        </p:nvSpPr>
        <p:spPr>
          <a:xfrm>
            <a:off x="822960" y="4937760"/>
            <a:ext cx="10543032" cy="1188720"/>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Una tarea es una copia en ejecución de la definición de tarea. El servicio no arranca contenedores sueltos: arranca tareas, siguiendo siempre la misma receta, y las repone si una falla.</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Las piezas del servicio: registro, tarea, clúster y servicio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pic>
        <p:nvPicPr>
          <p:cNvPr id="5" name="Image 0" descr="C:/Users/Aitor/Documents/apuntes-profe/introduccion-nube/docs/tema6/img/diagrama_piezas_ecs.png"/>
          <p:cNvPicPr>
            <a:picLocks noChangeAspect="1"/>
          </p:cNvPicPr>
          <p:nvPr/>
        </p:nvPicPr>
        <p:blipFill>
          <a:blip r:embed="rId3"/>
          <a:stretch>
            <a:fillRect/>
          </a:stretch>
        </p:blipFill>
        <p:spPr>
          <a:xfrm>
            <a:off x="2089199" y="1143000"/>
            <a:ext cx="8010553" cy="4480560"/>
          </a:xfrm>
          <a:prstGeom prst="rect">
            <a:avLst/>
          </a:prstGeom>
        </p:spPr>
      </p:pic>
      <p:sp>
        <p:nvSpPr>
          <p:cNvPr id="6" name="Text 3"/>
          <p:cNvSpPr/>
          <p:nvPr/>
        </p:nvSpPr>
        <p:spPr>
          <a:xfrm>
            <a:off x="548640" y="5806440"/>
            <a:ext cx="11091672" cy="548640"/>
          </a:xfrm>
          <a:prstGeom prst="rect">
            <a:avLst/>
          </a:prstGeom>
          <a:noFill/>
          <a:ln/>
        </p:spPr>
        <p:txBody>
          <a:bodyPr wrap="square" rtlCol="0" anchor="t"/>
          <a:lstStyle/>
          <a:p>
            <a:pPr marL="0" indent="0" algn="ctr">
              <a:buNone/>
            </a:pPr>
            <a:r>
              <a:rPr lang="en-US" sz="1500" dirty="0">
                <a:solidFill>
                  <a:srgbClr val="757575"/>
                </a:solidFill>
                <a:latin typeface="Arial" pitchFamily="34" charset="0"/>
                <a:ea typeface="Arial" pitchFamily="34" charset="-122"/>
                <a:cs typeface="Arial" pitchFamily="34" charset="-120"/>
              </a:rPr>
              <a:t>Léelo en dos pasadas: arriba, del registro a la definición de tarea (flechas discontinuas, describen sin ejecutar); abajo, del servicio a cada tarea, quién la arranca y la mantiene.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Tres decisiones de la definición de tarea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marL="0" indent="0">
              <a:buNone/>
            </a:pPr>
            <a:r>
              <a:rPr lang="en-US" sz="1500" b="1" dirty="0">
                <a:solidFill>
                  <a:srgbClr val="3949AB"/>
                </a:solidFill>
                <a:latin typeface="Arial" pitchFamily="34" charset="0"/>
                <a:ea typeface="Arial" pitchFamily="34" charset="-122"/>
                <a:cs typeface="Arial" pitchFamily="34" charset="-120"/>
              </a:rPr>
              <a:t>Fragmento real, abreviado — el que rellenas en la Actividad 6.3</a:t>
            </a:r>
            <a:endParaRPr lang="en-US" sz="1500" dirty="0"/>
          </a:p>
        </p:txBody>
      </p:sp>
      <p:sp>
        <p:nvSpPr>
          <p:cNvPr id="6" name="Shape 4"/>
          <p:cNvSpPr/>
          <p:nvPr/>
        </p:nvSpPr>
        <p:spPr>
          <a:xfrm>
            <a:off x="548640" y="1554480"/>
            <a:ext cx="6309360" cy="35661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554480"/>
            <a:ext cx="73152" cy="3566160"/>
          </a:xfrm>
          <a:prstGeom prst="rect">
            <a:avLst/>
          </a:prstGeom>
          <a:solidFill>
            <a:srgbClr val="FFA000"/>
          </a:solidFill>
          <a:ln w="12700">
            <a:solidFill>
              <a:srgbClr val="FFA000"/>
            </a:solidFill>
            <a:prstDash val="solid"/>
          </a:ln>
        </p:spPr>
        <p:txBody>
          <a:bodyPr/>
          <a:lstStyle/>
          <a:p>
            <a:endParaRPr lang="es-ES"/>
          </a:p>
        </p:txBody>
      </p:sp>
      <p:sp>
        <p:nvSpPr>
          <p:cNvPr id="8" name="Text 6"/>
          <p:cNvSpPr/>
          <p:nvPr/>
        </p:nvSpPr>
        <p:spPr>
          <a:xfrm>
            <a:off x="822960" y="1645920"/>
            <a:ext cx="5852160" cy="3383280"/>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"cpu": "512",              // media vCPU</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"memory": "1024",           // 1 GB en total</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"containerDefinitions":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"image": "…/escaparate:1.0",</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"portMappings":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{"containerPort": 8080}</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"environment":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{"name": "APP_STORAGE_TYPE",</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"value": "s3"}</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p:txBody>
      </p:sp>
      <p:sp>
        <p:nvSpPr>
          <p:cNvPr id="9" name="Shape 7"/>
          <p:cNvSpPr/>
          <p:nvPr/>
        </p:nvSpPr>
        <p:spPr>
          <a:xfrm>
            <a:off x="7132320" y="1554480"/>
            <a:ext cx="4507992" cy="1600200"/>
          </a:xfrm>
          <a:prstGeom prst="roundRect">
            <a:avLst/>
          </a:prstGeom>
          <a:solidFill>
            <a:srgbClr val="E8EAF6"/>
          </a:solidFill>
          <a:ln w="15875">
            <a:solidFill>
              <a:srgbClr val="3949AB"/>
            </a:solidFill>
            <a:prstDash val="solid"/>
          </a:ln>
        </p:spPr>
        <p:txBody>
          <a:bodyPr/>
          <a:lstStyle/>
          <a:p>
            <a:endParaRPr lang="es-ES"/>
          </a:p>
        </p:txBody>
      </p:sp>
      <p:sp>
        <p:nvSpPr>
          <p:cNvPr id="10" name="Text 8"/>
          <p:cNvSpPr/>
          <p:nvPr/>
        </p:nvSpPr>
        <p:spPr>
          <a:xfrm>
            <a:off x="7315200" y="1627632"/>
            <a:ext cx="4142232" cy="548640"/>
          </a:xfrm>
          <a:prstGeom prst="rect">
            <a:avLst/>
          </a:prstGeom>
          <a:noFill/>
          <a:ln/>
        </p:spPr>
        <p:txBody>
          <a:bodyPr wrap="square" rtlCol="0" anchor="ctr"/>
          <a:lstStyle/>
          <a:p>
            <a:pPr marL="0" indent="0">
              <a:buNone/>
            </a:pPr>
            <a:r>
              <a:rPr lang="en-US" sz="1800" b="1" dirty="0">
                <a:solidFill>
                  <a:srgbClr val="1A237E"/>
                </a:solidFill>
                <a:latin typeface="Arial" pitchFamily="34" charset="0"/>
                <a:ea typeface="Arial" pitchFamily="34" charset="-122"/>
                <a:cs typeface="Arial" pitchFamily="34" charset="-120"/>
              </a:rPr>
              <a:t>1. Tamaño</a:t>
            </a:r>
            <a:endParaRPr lang="en-US" sz="1800" dirty="0"/>
          </a:p>
        </p:txBody>
      </p:sp>
      <p:sp>
        <p:nvSpPr>
          <p:cNvPr id="11" name="Text 9"/>
          <p:cNvSpPr/>
          <p:nvPr/>
        </p:nvSpPr>
        <p:spPr>
          <a:xfrm>
            <a:off x="7315200" y="2176272"/>
            <a:ext cx="4142232" cy="905256"/>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Cuánta CPU y memoria lleva la tarea entera — reparte entre todos sus contenedores.</a:t>
            </a:r>
            <a:endParaRPr lang="en-US" sz="1500" dirty="0"/>
          </a:p>
        </p:txBody>
      </p:sp>
      <p:sp>
        <p:nvSpPr>
          <p:cNvPr id="12" name="Shape 10"/>
          <p:cNvSpPr/>
          <p:nvPr/>
        </p:nvSpPr>
        <p:spPr>
          <a:xfrm>
            <a:off x="7132320" y="3291840"/>
            <a:ext cx="4507992" cy="1737360"/>
          </a:xfrm>
          <a:prstGeom prst="roundRect">
            <a:avLst/>
          </a:prstGeom>
          <a:solidFill>
            <a:srgbClr val="E8EAF6"/>
          </a:solidFill>
          <a:ln w="15875">
            <a:solidFill>
              <a:srgbClr val="3949AB"/>
            </a:solidFill>
            <a:prstDash val="solid"/>
          </a:ln>
        </p:spPr>
        <p:txBody>
          <a:bodyPr/>
          <a:lstStyle/>
          <a:p>
            <a:endParaRPr lang="es-ES"/>
          </a:p>
        </p:txBody>
      </p:sp>
      <p:sp>
        <p:nvSpPr>
          <p:cNvPr id="13" name="Text 11"/>
          <p:cNvSpPr/>
          <p:nvPr/>
        </p:nvSpPr>
        <p:spPr>
          <a:xfrm>
            <a:off x="7315200" y="3364992"/>
            <a:ext cx="4142232" cy="548640"/>
          </a:xfrm>
          <a:prstGeom prst="rect">
            <a:avLst/>
          </a:prstGeom>
          <a:noFill/>
          <a:ln/>
        </p:spPr>
        <p:txBody>
          <a:bodyPr wrap="square" rtlCol="0" anchor="ctr"/>
          <a:lstStyle/>
          <a:p>
            <a:pPr marL="0" indent="0">
              <a:buNone/>
            </a:pPr>
            <a:r>
              <a:rPr lang="en-US" sz="1800" b="1" dirty="0">
                <a:solidFill>
                  <a:srgbClr val="1A237E"/>
                </a:solidFill>
                <a:latin typeface="Arial" pitchFamily="34" charset="0"/>
                <a:ea typeface="Arial" pitchFamily="34" charset="-122"/>
                <a:cs typeface="Arial" pitchFamily="34" charset="-120"/>
              </a:rPr>
              <a:t>2. Imagen y puerto</a:t>
            </a:r>
            <a:endParaRPr lang="en-US" sz="1800" dirty="0"/>
          </a:p>
        </p:txBody>
      </p:sp>
      <p:sp>
        <p:nvSpPr>
          <p:cNvPr id="14" name="Text 12"/>
          <p:cNvSpPr/>
          <p:nvPr/>
        </p:nvSpPr>
        <p:spPr>
          <a:xfrm>
            <a:off x="7315200" y="3913632"/>
            <a:ext cx="4142232" cy="1042416"/>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Qué imagen del registro se ejecuta, y en qué puerto escucha dentro del contenedor.</a:t>
            </a:r>
            <a:endParaRPr lang="en-US" sz="1500" dirty="0"/>
          </a:p>
        </p:txBody>
      </p:sp>
      <p:sp>
        <p:nvSpPr>
          <p:cNvPr id="15" name="Shape 13"/>
          <p:cNvSpPr/>
          <p:nvPr/>
        </p:nvSpPr>
        <p:spPr>
          <a:xfrm>
            <a:off x="7132320" y="5166360"/>
            <a:ext cx="4507992" cy="1143000"/>
          </a:xfrm>
          <a:prstGeom prst="roundRect">
            <a:avLst/>
          </a:prstGeom>
          <a:solidFill>
            <a:srgbClr val="FFF8E1"/>
          </a:solidFill>
          <a:ln w="25400">
            <a:solidFill>
              <a:srgbClr val="FFA000"/>
            </a:solidFill>
            <a:prstDash val="solid"/>
          </a:ln>
        </p:spPr>
        <p:txBody>
          <a:bodyPr/>
          <a:lstStyle/>
          <a:p>
            <a:endParaRPr lang="es-ES"/>
          </a:p>
        </p:txBody>
      </p:sp>
      <p:sp>
        <p:nvSpPr>
          <p:cNvPr id="16" name="Text 14"/>
          <p:cNvSpPr/>
          <p:nvPr/>
        </p:nvSpPr>
        <p:spPr>
          <a:xfrm>
            <a:off x="7315200" y="5239512"/>
            <a:ext cx="4142232" cy="548640"/>
          </a:xfrm>
          <a:prstGeom prst="rect">
            <a:avLst/>
          </a:prstGeom>
          <a:noFill/>
          <a:ln/>
        </p:spPr>
        <p:txBody>
          <a:bodyPr wrap="square" rtlCol="0" anchor="ctr"/>
          <a:lstStyle/>
          <a:p>
            <a:pPr marL="0" indent="0">
              <a:buNone/>
            </a:pPr>
            <a:r>
              <a:rPr lang="en-US" sz="1800" b="1" dirty="0">
                <a:solidFill>
                  <a:srgbClr val="1A237E"/>
                </a:solidFill>
                <a:latin typeface="Arial" pitchFamily="34" charset="0"/>
                <a:ea typeface="Arial" pitchFamily="34" charset="-122"/>
                <a:cs typeface="Arial" pitchFamily="34" charset="-120"/>
              </a:rPr>
              <a:t>3. Variables</a:t>
            </a:r>
            <a:endParaRPr lang="en-US" sz="1800" dirty="0"/>
          </a:p>
        </p:txBody>
      </p:sp>
      <p:sp>
        <p:nvSpPr>
          <p:cNvPr id="17" name="Text 15"/>
          <p:cNvSpPr/>
          <p:nvPr/>
        </p:nvSpPr>
        <p:spPr>
          <a:xfrm>
            <a:off x="7315200" y="5788152"/>
            <a:ext cx="4142232" cy="219456"/>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Configuración que entra sin tocar la imagen.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Ejecutar contenedores sin servidores que administrar</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sp>
        <p:nvSpPr>
          <p:cNvPr id="5" name="Shape 3"/>
          <p:cNvSpPr/>
          <p:nvPr/>
        </p:nvSpPr>
        <p:spPr>
          <a:xfrm>
            <a:off x="548640" y="1188720"/>
            <a:ext cx="11091672" cy="868680"/>
          </a:xfrm>
          <a:prstGeom prst="roundRect">
            <a:avLst/>
          </a:prstGeom>
          <a:solidFill>
            <a:srgbClr val="FFF8E1"/>
          </a:solidFill>
          <a:ln w="19050">
            <a:solidFill>
              <a:srgbClr val="FFA000"/>
            </a:solidFill>
            <a:prstDash val="solid"/>
          </a:ln>
        </p:spPr>
        <p:txBody>
          <a:bodyPr/>
          <a:lstStyle/>
          <a:p>
            <a:endParaRPr lang="es-ES"/>
          </a:p>
        </p:txBody>
      </p:sp>
      <p:sp>
        <p:nvSpPr>
          <p:cNvPr id="6" name="Text 4"/>
          <p:cNvSpPr/>
          <p:nvPr/>
        </p:nvSpPr>
        <p:spPr>
          <a:xfrm>
            <a:off x="822960" y="1280160"/>
            <a:ext cx="10543032" cy="68580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Un clúster no ejecuta las tareas por sí mismo: necesita algo donde ponerlas, y eso se elige al crear el clúster. Hay dos formas.</a:t>
            </a:r>
            <a:endParaRPr lang="en-US" sz="1900" dirty="0"/>
          </a:p>
        </p:txBody>
      </p:sp>
      <p:sp>
        <p:nvSpPr>
          <p:cNvPr id="7" name="Shape 5"/>
          <p:cNvSpPr/>
          <p:nvPr/>
        </p:nvSpPr>
        <p:spPr>
          <a:xfrm>
            <a:off x="548640" y="2286000"/>
            <a:ext cx="5385816" cy="2103120"/>
          </a:xfrm>
          <a:prstGeom prst="roundRect">
            <a:avLst/>
          </a:prstGeom>
          <a:solidFill>
            <a:srgbClr val="E8EAF6"/>
          </a:solidFill>
          <a:ln w="15875">
            <a:solidFill>
              <a:srgbClr val="3949AB"/>
            </a:solidFill>
            <a:prstDash val="solid"/>
          </a:ln>
        </p:spPr>
        <p:txBody>
          <a:bodyPr/>
          <a:lstStyle/>
          <a:p>
            <a:endParaRPr lang="es-ES"/>
          </a:p>
        </p:txBody>
      </p:sp>
      <p:sp>
        <p:nvSpPr>
          <p:cNvPr id="8" name="Text 6"/>
          <p:cNvSpPr/>
          <p:nvPr/>
        </p:nvSpPr>
        <p:spPr>
          <a:xfrm>
            <a:off x="685800" y="2377440"/>
            <a:ext cx="5111496" cy="685800"/>
          </a:xfrm>
          <a:prstGeom prst="rect">
            <a:avLst/>
          </a:prstGeom>
          <a:noFill/>
          <a:ln/>
        </p:spPr>
        <p:txBody>
          <a:bodyPr wrap="square" rtlCol="0" anchor="ctr"/>
          <a:lstStyle/>
          <a:p>
            <a:pPr marL="0" indent="0" algn="ctr">
              <a:buNone/>
            </a:pPr>
            <a:r>
              <a:rPr lang="en-US" sz="1900" b="1" dirty="0">
                <a:solidFill>
                  <a:srgbClr val="1A237E"/>
                </a:solidFill>
                <a:latin typeface="Arial" pitchFamily="34" charset="0"/>
                <a:ea typeface="Arial" pitchFamily="34" charset="-122"/>
                <a:cs typeface="Arial" pitchFamily="34" charset="-120"/>
              </a:rPr>
              <a:t>Instancias propias</a:t>
            </a:r>
            <a:endParaRPr lang="en-US" sz="1900" dirty="0"/>
          </a:p>
          <a:p>
            <a:pPr marL="0" indent="0" algn="ctr">
              <a:buNone/>
            </a:pPr>
            <a:r>
              <a:rPr lang="en-US" sz="1900" b="1" dirty="0">
                <a:solidFill>
                  <a:srgbClr val="1A237E"/>
                </a:solidFill>
                <a:latin typeface="Arial" pitchFamily="34" charset="0"/>
                <a:ea typeface="Arial" pitchFamily="34" charset="-122"/>
                <a:cs typeface="Arial" pitchFamily="34" charset="-120"/>
              </a:rPr>
              <a:t>(tipo de lanzamiento EC2)</a:t>
            </a:r>
            <a:endParaRPr lang="en-US" sz="1900" dirty="0"/>
          </a:p>
        </p:txBody>
      </p:sp>
      <p:sp>
        <p:nvSpPr>
          <p:cNvPr id="9" name="Text 7"/>
          <p:cNvSpPr/>
          <p:nvPr/>
        </p:nvSpPr>
        <p:spPr>
          <a:xfrm>
            <a:off x="731520" y="3108960"/>
            <a:ext cx="5020056" cy="1188720"/>
          </a:xfrm>
          <a:prstGeom prst="rect">
            <a:avLst/>
          </a:prstGeom>
          <a:noFill/>
          <a:ln/>
        </p:spPr>
        <p:txBody>
          <a:bodyPr wrap="square" rtlCol="0" anchor="t"/>
          <a:lstStyle/>
          <a:p>
            <a:pPr marL="0" indent="0" algn="ctr">
              <a:buNone/>
            </a:pPr>
            <a:r>
              <a:rPr lang="en-US" sz="1600" dirty="0">
                <a:solidFill>
                  <a:srgbClr val="212121"/>
                </a:solidFill>
                <a:latin typeface="Arial" pitchFamily="34" charset="0"/>
                <a:ea typeface="Arial" pitchFamily="34" charset="-122"/>
                <a:cs typeface="Arial" pitchFamily="34" charset="-120"/>
              </a:rPr>
              <a:t>Tú sigues eligiendo el tipo de instancia y el grupo de escalado que las repone, igual que en el Tema 4 — cada instancia aloja una o varias tareas.</a:t>
            </a:r>
            <a:endParaRPr lang="en-US" sz="1600" dirty="0"/>
          </a:p>
        </p:txBody>
      </p:sp>
      <p:sp>
        <p:nvSpPr>
          <p:cNvPr id="10" name="Shape 8"/>
          <p:cNvSpPr/>
          <p:nvPr/>
        </p:nvSpPr>
        <p:spPr>
          <a:xfrm>
            <a:off x="6254496" y="2286000"/>
            <a:ext cx="5385816" cy="2103120"/>
          </a:xfrm>
          <a:prstGeom prst="roundRect">
            <a:avLst/>
          </a:prstGeom>
          <a:solidFill>
            <a:srgbClr val="FFF8E1"/>
          </a:solidFill>
          <a:ln w="25400">
            <a:solidFill>
              <a:srgbClr val="FFA000"/>
            </a:solidFill>
            <a:prstDash val="solid"/>
          </a:ln>
        </p:spPr>
        <p:txBody>
          <a:bodyPr/>
          <a:lstStyle/>
          <a:p>
            <a:endParaRPr lang="es-ES"/>
          </a:p>
        </p:txBody>
      </p:sp>
      <p:sp>
        <p:nvSpPr>
          <p:cNvPr id="11" name="Text 9"/>
          <p:cNvSpPr/>
          <p:nvPr/>
        </p:nvSpPr>
        <p:spPr>
          <a:xfrm>
            <a:off x="6391656" y="2377440"/>
            <a:ext cx="5111496" cy="685800"/>
          </a:xfrm>
          <a:prstGeom prst="rect">
            <a:avLst/>
          </a:prstGeom>
          <a:noFill/>
          <a:ln/>
        </p:spPr>
        <p:txBody>
          <a:bodyPr wrap="square" rtlCol="0" anchor="ctr"/>
          <a:lstStyle/>
          <a:p>
            <a:pPr marL="0" indent="0" algn="ctr">
              <a:buNone/>
            </a:pPr>
            <a:r>
              <a:rPr lang="en-US" sz="1900" b="1" dirty="0">
                <a:solidFill>
                  <a:srgbClr val="1A237E"/>
                </a:solidFill>
                <a:latin typeface="Arial" pitchFamily="34" charset="0"/>
                <a:ea typeface="Arial" pitchFamily="34" charset="-122"/>
                <a:cs typeface="Arial" pitchFamily="34" charset="-120"/>
              </a:rPr>
              <a:t>Fargate</a:t>
            </a:r>
            <a:endParaRPr lang="en-US" sz="1900" dirty="0"/>
          </a:p>
          <a:p>
            <a:pPr marL="0" indent="0" algn="ctr">
              <a:buNone/>
            </a:pPr>
            <a:r>
              <a:rPr lang="en-US" sz="1900" b="1" dirty="0">
                <a:solidFill>
                  <a:srgbClr val="1A237E"/>
                </a:solidFill>
                <a:latin typeface="Arial" pitchFamily="34" charset="0"/>
                <a:ea typeface="Arial" pitchFamily="34" charset="-122"/>
                <a:cs typeface="Arial" pitchFamily="34" charset="-120"/>
              </a:rPr>
              <a:t>la modalidad gestionada</a:t>
            </a:r>
            <a:endParaRPr lang="en-US" sz="1900" dirty="0"/>
          </a:p>
        </p:txBody>
      </p:sp>
      <p:sp>
        <p:nvSpPr>
          <p:cNvPr id="12" name="Text 10"/>
          <p:cNvSpPr/>
          <p:nvPr/>
        </p:nvSpPr>
        <p:spPr>
          <a:xfrm>
            <a:off x="6437376" y="3108960"/>
            <a:ext cx="5020056" cy="1188720"/>
          </a:xfrm>
          <a:prstGeom prst="rect">
            <a:avLst/>
          </a:prstGeom>
          <a:noFill/>
          <a:ln/>
        </p:spPr>
        <p:txBody>
          <a:bodyPr wrap="square" rtlCol="0" anchor="t"/>
          <a:lstStyle/>
          <a:p>
            <a:pPr marL="0" indent="0" algn="ctr">
              <a:buNone/>
            </a:pPr>
            <a:r>
              <a:rPr lang="en-US" sz="1600" dirty="0">
                <a:solidFill>
                  <a:srgbClr val="212121"/>
                </a:solidFill>
                <a:latin typeface="Arial" pitchFamily="34" charset="0"/>
                <a:ea typeface="Arial" pitchFamily="34" charset="-122"/>
                <a:cs typeface="Arial" pitchFamily="34" charset="-120"/>
              </a:rPr>
              <a:t>Le dices a AWS cuánta CPU y memoria necesita cada tarea, y AWS busca dónde ejecutarla: no hay ninguna instancia que veas ni administres.</a:t>
            </a:r>
            <a:endParaRPr lang="en-US" sz="1600" dirty="0"/>
          </a:p>
        </p:txBody>
      </p:sp>
      <p:sp>
        <p:nvSpPr>
          <p:cNvPr id="13" name="Shape 11"/>
          <p:cNvSpPr/>
          <p:nvPr/>
        </p:nvSpPr>
        <p:spPr>
          <a:xfrm>
            <a:off x="548640" y="4663440"/>
            <a:ext cx="11091672" cy="1364136"/>
          </a:xfrm>
          <a:prstGeom prst="roundRect">
            <a:avLst/>
          </a:prstGeom>
          <a:solidFill>
            <a:srgbClr val="FFF8E1"/>
          </a:solidFill>
          <a:ln w="28575">
            <a:solidFill>
              <a:srgbClr val="FFA000"/>
            </a:solidFill>
            <a:prstDash val="solid"/>
          </a:ln>
        </p:spPr>
        <p:txBody>
          <a:bodyPr/>
          <a:lstStyle/>
          <a:p>
            <a:endParaRPr lang="es-ES"/>
          </a:p>
        </p:txBody>
      </p:sp>
      <p:sp>
        <p:nvSpPr>
          <p:cNvPr id="14" name="Text 12"/>
          <p:cNvSpPr/>
          <p:nvPr/>
        </p:nvSpPr>
        <p:spPr>
          <a:xfrm>
            <a:off x="822960" y="4773168"/>
            <a:ext cx="10543032" cy="1014984"/>
          </a:xfrm>
          <a:prstGeom prst="rect">
            <a:avLst/>
          </a:prstGeom>
          <a:noFill/>
          <a:ln/>
        </p:spPr>
        <p:txBody>
          <a:bodyPr wrap="square" rtlCol="0" anchor="t"/>
          <a:lstStyle/>
          <a:p>
            <a:pPr marL="0" indent="0">
              <a:buNone/>
            </a:pPr>
            <a:r>
              <a:rPr lang="en-US" sz="1800" b="1" dirty="0">
                <a:solidFill>
                  <a:srgbClr val="1A237E"/>
                </a:solidFill>
                <a:latin typeface="Arial" pitchFamily="34" charset="0"/>
                <a:ea typeface="Arial" pitchFamily="34" charset="-122"/>
                <a:cs typeface="Arial" pitchFamily="34" charset="-120"/>
              </a:rPr>
              <a:t>La usas hoy en la Actividad 6.3
</a:t>
            </a:r>
            <a:endParaRPr lang="en-US" sz="1800" dirty="0"/>
          </a:p>
          <a:p>
            <a:pPr marL="0" indent="0">
              <a:buNone/>
            </a:pPr>
            <a:r>
              <a:rPr lang="en-US" sz="1700" dirty="0">
                <a:solidFill>
                  <a:srgbClr val="212121"/>
                </a:solidFill>
                <a:latin typeface="Arial" pitchFamily="34" charset="0"/>
                <a:ea typeface="Arial" pitchFamily="34" charset="-122"/>
                <a:cs typeface="Arial" pitchFamily="34" charset="-120"/>
              </a:rPr>
              <a:t>Es exactamente lo que viste en «Quién se encarga de cada capa» en la sesión anterior, aplicado a contenedores en vez de a funciones.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Ejecutar contenedores sin servidores que administrar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3657600"/>
        </p:xfrm>
        <a:graphic>
          <a:graphicData uri="http://schemas.openxmlformats.org/drawingml/2006/table">
            <a:tbl>
              <a:tblPr/>
              <a:tblGrid>
                <a:gridCol w="3327502">
                  <a:extLst>
                    <a:ext uri="{9D8B030D-6E8A-4147-A177-3AD203B41FA5}">
                      <a16:colId xmlns:a16="http://schemas.microsoft.com/office/drawing/2014/main" val="20000"/>
                    </a:ext>
                  </a:extLst>
                </a:gridCol>
                <a:gridCol w="3882085">
                  <a:extLst>
                    <a:ext uri="{9D8B030D-6E8A-4147-A177-3AD203B41FA5}">
                      <a16:colId xmlns:a16="http://schemas.microsoft.com/office/drawing/2014/main" val="20001"/>
                    </a:ext>
                  </a:extLst>
                </a:gridCol>
                <a:gridCol w="3882085">
                  <a:extLst>
                    <a:ext uri="{9D8B030D-6E8A-4147-A177-3AD203B41FA5}">
                      <a16:colId xmlns:a16="http://schemas.microsoft.com/office/drawing/2014/main" val="20002"/>
                    </a:ext>
                  </a:extLst>
                </a:gridCol>
              </a:tblGrid>
              <a:tr h="731520">
                <a:tc>
                  <a:txBody>
                    <a:bodyPr/>
                    <a:lstStyle/>
                    <a:p>
                      <a:pPr marL="0" indent="0" algn="ctr">
                        <a:buNone/>
                      </a:pP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Contenedores sobre instancias propias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Contenedores en Fargate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extLst>
                  <a:ext uri="{0D108BD9-81ED-4DB2-BD59-A6C34878D82A}">
                    <a16:rowId xmlns:a16="http://schemas.microsoft.com/office/drawing/2014/main" val="10000"/>
                  </a:ext>
                </a:extLst>
              </a:tr>
              <a:tr h="731520">
                <a:tc>
                  <a:txBody>
                    <a:bodyPr/>
                    <a:lstStyle/>
                    <a:p>
                      <a:pPr marL="0" indent="0">
                        <a:buNone/>
                      </a:pPr>
                      <a:r>
                        <a:rPr lang="en-US" sz="1500" b="1" dirty="0">
                          <a:solidFill>
                            <a:srgbClr val="212121"/>
                          </a:solidFill>
                          <a:latin typeface="Arial" pitchFamily="34" charset="0"/>
                          <a:ea typeface="Arial" pitchFamily="34" charset="-122"/>
                          <a:cs typeface="Arial" pitchFamily="34" charset="-120"/>
                        </a:rPr>
                        <a:t>Eliges el tipo de instancia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Sí</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No: declaras CPU y memoria de la tarea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500" b="1" dirty="0">
                          <a:solidFill>
                            <a:srgbClr val="212121"/>
                          </a:solidFill>
                          <a:latin typeface="Arial" pitchFamily="34" charset="0"/>
                          <a:ea typeface="Arial" pitchFamily="34" charset="-122"/>
                          <a:cs typeface="Arial" pitchFamily="34" charset="-120"/>
                        </a:rPr>
                        <a:t>Aplicas parches al sistema del servidor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Sí</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31520">
                <a:tc>
                  <a:txBody>
                    <a:bodyPr/>
                    <a:lstStyle/>
                    <a:p>
                      <a:pPr marL="0" indent="0">
                        <a:buNone/>
                      </a:pPr>
                      <a:r>
                        <a:rPr lang="en-US" sz="1500" b="1" dirty="0">
                          <a:solidFill>
                            <a:srgbClr val="212121"/>
                          </a:solidFill>
                          <a:latin typeface="Arial" pitchFamily="34" charset="0"/>
                          <a:ea typeface="Arial" pitchFamily="34" charset="-122"/>
                          <a:cs typeface="Arial" pitchFamily="34" charset="-120"/>
                        </a:rPr>
                        <a:t>Añades capacidad cuando faltan recursos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Tú</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AWS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500" b="1" dirty="0">
                          <a:solidFill>
                            <a:srgbClr val="212121"/>
                          </a:solidFill>
                          <a:latin typeface="Arial" pitchFamily="34" charset="0"/>
                          <a:ea typeface="Arial" pitchFamily="34" charset="-122"/>
                          <a:cs typeface="Arial" pitchFamily="34" charset="-120"/>
                        </a:rPr>
                        <a:t>Pagas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Las instancias, estén llenas o vacías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Solo lo que piden las tareas mientras están en marcha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5120640"/>
            <a:ext cx="11091672" cy="1097280"/>
          </a:xfrm>
          <a:prstGeom prst="roundRect">
            <a:avLst/>
          </a:prstGeom>
          <a:solidFill>
            <a:srgbClr val="FFF8E1"/>
          </a:solidFill>
          <a:ln w="19050">
            <a:solidFill>
              <a:srgbClr val="FFA000"/>
            </a:solidFill>
            <a:prstDash val="solid"/>
          </a:ln>
        </p:spPr>
        <p:txBody>
          <a:bodyPr/>
          <a:lstStyle/>
          <a:p>
            <a:endParaRPr lang="es-ES"/>
          </a:p>
        </p:txBody>
      </p:sp>
      <p:sp>
        <p:nvSpPr>
          <p:cNvPr id="7" name="Text 4"/>
          <p:cNvSpPr/>
          <p:nvPr/>
        </p:nvSpPr>
        <p:spPr>
          <a:xfrm>
            <a:off x="822960" y="5212080"/>
            <a:ext cx="10543032" cy="914400"/>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Lo que desaparece de tu responsabilidad es el servidor. Lo que sigue siendo tuyo es el contenido de la imagen: si el sistema base o una librería tiene una vulnerabilidad, Fargate no la arregla, tienes que construir una imagen nueva.</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Ejecutar contenedores sin servidores que administrar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sp>
        <p:nvSpPr>
          <p:cNvPr id="5" name="Shape 3"/>
          <p:cNvSpPr/>
          <p:nvPr/>
        </p:nvSpPr>
        <p:spPr>
          <a:xfrm>
            <a:off x="548640" y="1188719"/>
            <a:ext cx="11091672" cy="1899713"/>
          </a:xfrm>
          <a:prstGeom prst="roundRect">
            <a:avLst/>
          </a:prstGeom>
          <a:solidFill>
            <a:srgbClr val="E8EAF6"/>
          </a:solidFill>
          <a:ln w="15875">
            <a:solidFill>
              <a:srgbClr val="3949AB"/>
            </a:solidFill>
            <a:prstDash val="solid"/>
          </a:ln>
        </p:spPr>
        <p:txBody>
          <a:bodyPr/>
          <a:lstStyle/>
          <a:p>
            <a:endParaRPr lang="es-ES"/>
          </a:p>
        </p:txBody>
      </p:sp>
      <p:sp>
        <p:nvSpPr>
          <p:cNvPr id="6" name="Text 4"/>
          <p:cNvSpPr/>
          <p:nvPr/>
        </p:nvSpPr>
        <p:spPr>
          <a:xfrm>
            <a:off x="731520" y="1261872"/>
            <a:ext cx="10725912" cy="548640"/>
          </a:xfrm>
          <a:prstGeom prst="rect">
            <a:avLst/>
          </a:prstGeom>
          <a:noFill/>
          <a:ln/>
        </p:spPr>
        <p:txBody>
          <a:bodyPr wrap="square" rtlCol="0" anchor="ctr"/>
          <a:lstStyle/>
          <a:p>
            <a:pPr marL="0" indent="0">
              <a:buNone/>
            </a:pPr>
            <a:r>
              <a:rPr lang="en-US" sz="2000" b="1" dirty="0">
                <a:solidFill>
                  <a:srgbClr val="1A237E"/>
                </a:solidFill>
                <a:latin typeface="Arial" pitchFamily="34" charset="0"/>
                <a:ea typeface="Arial" pitchFamily="34" charset="-122"/>
                <a:cs typeface="Arial" pitchFamily="34" charset="-120"/>
              </a:rPr>
              <a:t>Red de la tarea</a:t>
            </a:r>
            <a:endParaRPr lang="en-US" sz="2000" dirty="0"/>
          </a:p>
        </p:txBody>
      </p:sp>
      <p:sp>
        <p:nvSpPr>
          <p:cNvPr id="7" name="Text 5"/>
          <p:cNvSpPr/>
          <p:nvPr/>
        </p:nvSpPr>
        <p:spPr>
          <a:xfrm>
            <a:off x="731520" y="1810512"/>
            <a:ext cx="10725912" cy="950976"/>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Cada tarea de Fargate recibe su propia interfaz de red con su propia dirección IP, dentro de la subred que indiques, y el grupo de seguridad se aplica a la tarea, no a un servidor. El balanceador reparte el tráfico directamente entre las direcciones de las tareas, pero solo puede alcanzar las que están en zonas de disponibilidad donde él tiene subred: una tarea en otra zona queda como «no en uso».</a:t>
            </a:r>
            <a:endParaRPr lang="en-US" sz="1700" dirty="0"/>
          </a:p>
        </p:txBody>
      </p:sp>
      <p:sp>
        <p:nvSpPr>
          <p:cNvPr id="8" name="Shape 6"/>
          <p:cNvSpPr/>
          <p:nvPr/>
        </p:nvSpPr>
        <p:spPr>
          <a:xfrm>
            <a:off x="548640" y="3567094"/>
            <a:ext cx="11091672" cy="2331720"/>
          </a:xfrm>
          <a:prstGeom prst="roundRect">
            <a:avLst/>
          </a:prstGeom>
          <a:solidFill>
            <a:srgbClr val="FFF8E1"/>
          </a:solidFill>
          <a:ln w="28575">
            <a:solidFill>
              <a:srgbClr val="FFA000"/>
            </a:solidFill>
            <a:prstDash val="solid"/>
          </a:ln>
        </p:spPr>
        <p:txBody>
          <a:bodyPr/>
          <a:lstStyle/>
          <a:p>
            <a:endParaRPr lang="es-ES"/>
          </a:p>
        </p:txBody>
      </p:sp>
      <p:sp>
        <p:nvSpPr>
          <p:cNvPr id="9" name="Text 7"/>
          <p:cNvSpPr/>
          <p:nvPr/>
        </p:nvSpPr>
        <p:spPr>
          <a:xfrm>
            <a:off x="822960" y="3676822"/>
            <a:ext cx="10543032" cy="2112264"/>
          </a:xfrm>
          <a:prstGeom prst="rect">
            <a:avLst/>
          </a:prstGeom>
          <a:noFill/>
          <a:ln/>
        </p:spPr>
        <p:txBody>
          <a:bodyPr wrap="square" rtlCol="0" anchor="t"/>
          <a:lstStyle/>
          <a:p>
            <a:pPr marL="0" indent="0">
              <a:buNone/>
            </a:pPr>
            <a:r>
              <a:rPr lang="en-US" sz="1800" b="1" dirty="0">
                <a:solidFill>
                  <a:srgbClr val="1A237E"/>
                </a:solidFill>
                <a:latin typeface="Arial" pitchFamily="34" charset="0"/>
                <a:ea typeface="Arial" pitchFamily="34" charset="-122"/>
                <a:cs typeface="Arial" pitchFamily="34" charset="-120"/>
              </a:rPr>
              <a:t>Cuánto cuesta una tarea de Fargate
</a:t>
            </a:r>
            <a:endParaRPr lang="en-US" sz="1800" dirty="0"/>
          </a:p>
          <a:p>
            <a:pPr marL="0" indent="0">
              <a:buNone/>
            </a:pPr>
            <a:r>
              <a:rPr lang="en-US" sz="1700" dirty="0">
                <a:solidFill>
                  <a:srgbClr val="212121"/>
                </a:solidFill>
                <a:latin typeface="Arial" pitchFamily="34" charset="0"/>
                <a:ea typeface="Arial" pitchFamily="34" charset="-122"/>
                <a:cs typeface="Arial" pitchFamily="34" charset="-120"/>
              </a:rPr>
              <a:t>En US East, 0,04048 $ por vCPU/hora y 0,004445 $ por GB de memoria/hora. Una tarea de 0,5 vCPU y 1 GB cuesta unos 18,02 $ al mes encendida siempre — más que una t3.small (15,18 $), que ofrece más capacidad por el mismo precio. No ahorras dinero por defecto: pagas un poco más por unidad de capacidad a cambio de olvidarte de los servidores.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Escalado y actualización sin cortar el servicio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sp>
        <p:nvSpPr>
          <p:cNvPr id="5" name="Shape 3"/>
          <p:cNvSpPr/>
          <p:nvPr/>
        </p:nvSpPr>
        <p:spPr>
          <a:xfrm>
            <a:off x="548640" y="1188720"/>
            <a:ext cx="11091672" cy="1554480"/>
          </a:xfrm>
          <a:prstGeom prst="roundRect">
            <a:avLst/>
          </a:prstGeom>
          <a:solidFill>
            <a:srgbClr val="FFF8E1"/>
          </a:solidFill>
          <a:ln w="19050">
            <a:solidFill>
              <a:srgbClr val="FFA000"/>
            </a:solidFill>
            <a:prstDash val="solid"/>
          </a:ln>
        </p:spPr>
        <p:txBody>
          <a:bodyPr/>
          <a:lstStyle/>
          <a:p>
            <a:endParaRPr lang="es-ES"/>
          </a:p>
        </p:txBody>
      </p:sp>
      <p:sp>
        <p:nvSpPr>
          <p:cNvPr id="6" name="Text 4"/>
          <p:cNvSpPr/>
          <p:nvPr/>
        </p:nvSpPr>
        <p:spPr>
          <a:xfrm>
            <a:off x="822960" y="1280160"/>
            <a:ext cx="10543032" cy="137160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El servicio mantiene el número deseado de tareas. Si una tarea deja de responder al balanceador (su comprobación de salud falla), el servicio la retira y arranca otra; para el usuario no cambia nada. Para escalar basta con cambiar ese número, a mano o con una regla automática, igual que hacías con el grupo de escalado en la 4.1.</a:t>
            </a:r>
            <a:endParaRPr lang="en-US" sz="1800" dirty="0"/>
          </a:p>
        </p:txBody>
      </p:sp>
      <p:sp>
        <p:nvSpPr>
          <p:cNvPr id="7" name="Shape 5"/>
          <p:cNvSpPr/>
          <p:nvPr/>
        </p:nvSpPr>
        <p:spPr>
          <a:xfrm>
            <a:off x="548640" y="3017520"/>
            <a:ext cx="11091672" cy="1920240"/>
          </a:xfrm>
          <a:prstGeom prst="roundRect">
            <a:avLst/>
          </a:prstGeom>
          <a:solidFill>
            <a:srgbClr val="E8EAF6"/>
          </a:solidFill>
          <a:ln w="15875">
            <a:solidFill>
              <a:srgbClr val="3949AB"/>
            </a:solidFill>
            <a:prstDash val="solid"/>
          </a:ln>
        </p:spPr>
        <p:txBody>
          <a:bodyPr/>
          <a:lstStyle/>
          <a:p>
            <a:endParaRPr lang="es-ES"/>
          </a:p>
        </p:txBody>
      </p:sp>
      <p:sp>
        <p:nvSpPr>
          <p:cNvPr id="8" name="Text 6"/>
          <p:cNvSpPr/>
          <p:nvPr/>
        </p:nvSpPr>
        <p:spPr>
          <a:xfrm>
            <a:off x="731520" y="3090672"/>
            <a:ext cx="10725912" cy="548640"/>
          </a:xfrm>
          <a:prstGeom prst="rect">
            <a:avLst/>
          </a:prstGeom>
          <a:noFill/>
          <a:ln/>
        </p:spPr>
        <p:txBody>
          <a:bodyPr wrap="square" rtlCol="0" anchor="ctr"/>
          <a:lstStyle/>
          <a:p>
            <a:pPr marL="0" indent="0">
              <a:buNone/>
            </a:pPr>
            <a:r>
              <a:rPr lang="en-US" sz="2000" b="1" dirty="0">
                <a:solidFill>
                  <a:srgbClr val="1A237E"/>
                </a:solidFill>
                <a:latin typeface="Arial" pitchFamily="34" charset="0"/>
                <a:ea typeface="Arial" pitchFamily="34" charset="-122"/>
                <a:cs typeface="Arial" pitchFamily="34" charset="-120"/>
              </a:rPr>
              <a:t>La actualización de versión usa el mismo mecanismo</a:t>
            </a:r>
            <a:endParaRPr lang="en-US" sz="2000" dirty="0"/>
          </a:p>
        </p:txBody>
      </p:sp>
      <p:sp>
        <p:nvSpPr>
          <p:cNvPr id="9" name="Text 7"/>
          <p:cNvSpPr/>
          <p:nvPr/>
        </p:nvSpPr>
        <p:spPr>
          <a:xfrm>
            <a:off x="731520" y="3639312"/>
            <a:ext cx="10725912" cy="1225296"/>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Por defecto, el servicio permite hasta el doble de tareas durante el cambio: lanza las nuevas antes de retirar las viejas. Una tarea nueva no recibe tráfico hasta superar varias comprobaciones de salud seguidas (algo más de un minuto), y por eso una actualización lleva unos minutos aunque cada tarea arranque en menos de uno.</a:t>
            </a:r>
            <a:endParaRPr lang="en-US" sz="1700" dirty="0"/>
          </a:p>
        </p:txBody>
      </p:sp>
      <p:sp>
        <p:nvSpPr>
          <p:cNvPr id="10" name="Shape 8"/>
          <p:cNvSpPr/>
          <p:nvPr/>
        </p:nvSpPr>
        <p:spPr>
          <a:xfrm>
            <a:off x="548640" y="5212080"/>
            <a:ext cx="11091672" cy="1261872"/>
          </a:xfrm>
          <a:prstGeom prst="roundRect">
            <a:avLst/>
          </a:prstGeom>
          <a:solidFill>
            <a:srgbClr val="FFF8E1"/>
          </a:solidFill>
          <a:ln w="28575">
            <a:solidFill>
              <a:srgbClr val="FFA000"/>
            </a:solidFill>
            <a:prstDash val="solid"/>
          </a:ln>
        </p:spPr>
        <p:txBody>
          <a:bodyPr/>
          <a:lstStyle/>
          <a:p>
            <a:endParaRPr lang="es-ES"/>
          </a:p>
        </p:txBody>
      </p:sp>
      <p:sp>
        <p:nvSpPr>
          <p:cNvPr id="11" name="Text 9"/>
          <p:cNvSpPr/>
          <p:nvPr/>
        </p:nvSpPr>
        <p:spPr>
          <a:xfrm>
            <a:off x="822960" y="5321808"/>
            <a:ext cx="10543032" cy="832104"/>
          </a:xfrm>
          <a:prstGeom prst="rect">
            <a:avLst/>
          </a:prstGeom>
          <a:noFill/>
          <a:ln/>
        </p:spPr>
        <p:txBody>
          <a:bodyPr wrap="square" rtlCol="0" anchor="t"/>
          <a:lstStyle/>
          <a:p>
            <a:pPr marL="0" indent="0">
              <a:buNone/>
            </a:pPr>
            <a:r>
              <a:rPr lang="en-US" sz="1700" b="1" dirty="0">
                <a:solidFill>
                  <a:srgbClr val="1A237E"/>
                </a:solidFill>
                <a:latin typeface="Arial" pitchFamily="34" charset="0"/>
                <a:ea typeface="Arial" pitchFamily="34" charset="-122"/>
                <a:cs typeface="Arial" pitchFamily="34" charset="-120"/>
              </a:rPr>
              <a:t>Si las tareas nuevas no llegan a estar saludables
</a:t>
            </a:r>
            <a:endParaRPr lang="en-US" sz="1700" dirty="0"/>
          </a:p>
          <a:p>
            <a:pPr marL="0" indent="0">
              <a:buNone/>
            </a:pPr>
            <a:r>
              <a:rPr lang="en-US" sz="1600" dirty="0">
                <a:solidFill>
                  <a:srgbClr val="212121"/>
                </a:solidFill>
                <a:latin typeface="Arial" pitchFamily="34" charset="0"/>
                <a:ea typeface="Arial" pitchFamily="34" charset="-122"/>
                <a:cs typeface="Arial" pitchFamily="34" charset="-120"/>
              </a:rPr>
              <a:t>El servicio no retira las antiguas: la v1 sigue atendiendo, y con reversión automática (circuit breaker) el despliegue fallido se deshace solo.</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Escalado y actualización sin cortar el servicio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pic>
        <p:nvPicPr>
          <p:cNvPr id="5" name="Image 0" descr="C:/Users/Aitor/Documents/apuntes-profe/introduccion-nube/docs/tema6/img/diagrama_actualizacion_sin_corte.png"/>
          <p:cNvPicPr>
            <a:picLocks noChangeAspect="1"/>
          </p:cNvPicPr>
          <p:nvPr/>
        </p:nvPicPr>
        <p:blipFill>
          <a:blip r:embed="rId3"/>
          <a:stretch>
            <a:fillRect/>
          </a:stretch>
        </p:blipFill>
        <p:spPr>
          <a:xfrm>
            <a:off x="2035065" y="1097280"/>
            <a:ext cx="8118823" cy="4572000"/>
          </a:xfrm>
          <a:prstGeom prst="rect">
            <a:avLst/>
          </a:prstGeom>
        </p:spPr>
      </p:pic>
      <p:sp>
        <p:nvSpPr>
          <p:cNvPr id="6" name="Text 3"/>
          <p:cNvSpPr/>
          <p:nvPr/>
        </p:nvSpPr>
        <p:spPr>
          <a:xfrm>
            <a:off x="548640" y="5806440"/>
            <a:ext cx="11091672" cy="502920"/>
          </a:xfrm>
          <a:prstGeom prst="rect">
            <a:avLst/>
          </a:prstGeom>
          <a:noFill/>
          <a:ln/>
        </p:spPr>
        <p:txBody>
          <a:bodyPr wrap="square" rtlCol="0" anchor="t"/>
          <a:lstStyle/>
          <a:p>
            <a:pPr marL="0" indent="0" algn="ctr">
              <a:buNone/>
            </a:pPr>
            <a:r>
              <a:rPr lang="en-US" sz="1400" dirty="0">
                <a:solidFill>
                  <a:srgbClr val="757575"/>
                </a:solidFill>
                <a:latin typeface="Arial" pitchFamily="34" charset="0"/>
                <a:ea typeface="Arial" pitchFamily="34" charset="-122"/>
                <a:cs typeface="Arial" pitchFamily="34" charset="-120"/>
              </a:rPr>
              <a:t>El mismo principio de alta disponibilidad del Tema 4 (nunca depender de una sola pieza) se aplica ahora al propio proceso de desplegar. En la 6.3 pasas de la v1 a la v2 con la aplicación respondiendo todo el tiempo.</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Las tareas son desechables: dónde vive lo que importa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sp>
        <p:nvSpPr>
          <p:cNvPr id="5" name="Shape 3"/>
          <p:cNvSpPr/>
          <p:nvPr/>
        </p:nvSpPr>
        <p:spPr>
          <a:xfrm>
            <a:off x="548640" y="1188720"/>
            <a:ext cx="11091672" cy="1371600"/>
          </a:xfrm>
          <a:prstGeom prst="roundRect">
            <a:avLst/>
          </a:prstGeom>
          <a:solidFill>
            <a:srgbClr val="FFF8E1"/>
          </a:solidFill>
          <a:ln w="19050">
            <a:solidFill>
              <a:srgbClr val="FFA000"/>
            </a:solidFill>
            <a:prstDash val="solid"/>
          </a:ln>
        </p:spPr>
        <p:txBody>
          <a:bodyPr/>
          <a:lstStyle/>
          <a:p>
            <a:endParaRPr lang="es-ES"/>
          </a:p>
        </p:txBody>
      </p:sp>
      <p:sp>
        <p:nvSpPr>
          <p:cNvPr id="6" name="Text 4"/>
          <p:cNvSpPr/>
          <p:nvPr/>
        </p:nvSpPr>
        <p:spPr>
          <a:xfrm>
            <a:off x="822960" y="1280160"/>
            <a:ext cx="10543032" cy="118872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Una tarea puede reemplazarse en cualquier momento (por un fallo, una actualización o un cambio de escala), y lo que haya guardado en su disco desaparece con ella. Es el mismo problema que viste en la 4.1 con las imágenes de producto en cada instancia. Por eso una aplicación en contenedores guarda lo importante fuera.</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91672" cy="3200400"/>
        </p:xfrm>
        <a:graphic>
          <a:graphicData uri="http://schemas.openxmlformats.org/drawingml/2006/table">
            <a:tbl>
              <a:tblPr/>
              <a:tblGrid>
                <a:gridCol w="2883835">
                  <a:extLst>
                    <a:ext uri="{9D8B030D-6E8A-4147-A177-3AD203B41FA5}">
                      <a16:colId xmlns:a16="http://schemas.microsoft.com/office/drawing/2014/main" val="20000"/>
                    </a:ext>
                  </a:extLst>
                </a:gridCol>
                <a:gridCol w="4436669">
                  <a:extLst>
                    <a:ext uri="{9D8B030D-6E8A-4147-A177-3AD203B41FA5}">
                      <a16:colId xmlns:a16="http://schemas.microsoft.com/office/drawing/2014/main" val="20001"/>
                    </a:ext>
                  </a:extLst>
                </a:gridCol>
                <a:gridCol w="3771168">
                  <a:extLst>
                    <a:ext uri="{9D8B030D-6E8A-4147-A177-3AD203B41FA5}">
                      <a16:colId xmlns:a16="http://schemas.microsoft.com/office/drawing/2014/main" val="20002"/>
                    </a:ext>
                  </a:extLst>
                </a:gridCol>
              </a:tblGrid>
              <a:tr h="640080">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Qué</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Dónde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En Escaparate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Datos de la aplicación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Una base de datos gestionada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RDS (Actividad 3.2)</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Ficheros que suben los usuarios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 almacén de objetos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S3 (Actividad 5.2)</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Configuración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Variables de la definición de tarea, no dentro de la imagen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DB_HOST, APP_STORAGE_S3_BUCKET...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Permisos para hablar con AWS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rol de la tarea, no claves dentro de la imagen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rol del Learner Lab, como en la 5.2</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Comparación de las tres formas de ejecutar la misma aplicación</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sp>
        <p:nvSpPr>
          <p:cNvPr id="5" name="Shape 3"/>
          <p:cNvSpPr/>
          <p:nvPr/>
        </p:nvSpPr>
        <p:spPr>
          <a:xfrm>
            <a:off x="548640" y="1188720"/>
            <a:ext cx="11091672" cy="1051560"/>
          </a:xfrm>
          <a:prstGeom prst="roundRect">
            <a:avLst/>
          </a:prstGeom>
          <a:solidFill>
            <a:srgbClr val="FFF8E1"/>
          </a:solidFill>
          <a:ln w="19050">
            <a:solidFill>
              <a:srgbClr val="FFA000"/>
            </a:solidFill>
            <a:prstDash val="solid"/>
          </a:ln>
        </p:spPr>
        <p:txBody>
          <a:bodyPr/>
          <a:lstStyle/>
          <a:p>
            <a:endParaRPr lang="es-ES"/>
          </a:p>
        </p:txBody>
      </p:sp>
      <p:sp>
        <p:nvSpPr>
          <p:cNvPr id="6" name="Text 4"/>
          <p:cNvSpPr/>
          <p:nvPr/>
        </p:nvSpPr>
        <p:spPr>
          <a:xfrm>
            <a:off x="822960" y="1280160"/>
            <a:ext cx="10543032" cy="86868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Has visto tres formas de ejecutar una aplicación: como instancia (Tema 2), como función (la sesión pasada) y ahora como contenedor gestionado. Ninguna sustituye del todo a las otras: cada una resuelve mejor un tipo de carga.</a:t>
            </a:r>
            <a:endParaRPr lang="en-US" sz="1800" dirty="0"/>
          </a:p>
        </p:txBody>
      </p:sp>
      <p:pic>
        <p:nvPicPr>
          <p:cNvPr id="7" name="Image 0" descr="C:/Users/Aitor/Documents/apuntes-profe/introduccion-nube/docs/tema6/img/diagrama_escalera_responsabilidad.png"/>
          <p:cNvPicPr>
            <a:picLocks noChangeAspect="1"/>
          </p:cNvPicPr>
          <p:nvPr/>
        </p:nvPicPr>
        <p:blipFill>
          <a:blip r:embed="rId3"/>
          <a:stretch>
            <a:fillRect/>
          </a:stretch>
        </p:blipFill>
        <p:spPr>
          <a:xfrm>
            <a:off x="2763767" y="2423160"/>
            <a:ext cx="6661419" cy="3749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Comparación de las tres formas de ejecutar la misma aplicación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3950208"/>
        </p:xfrm>
        <a:graphic>
          <a:graphicData uri="http://schemas.openxmlformats.org/drawingml/2006/table">
            <a:tbl>
              <a:tblPr/>
              <a:tblGrid>
                <a:gridCol w="2662001">
                  <a:extLst>
                    <a:ext uri="{9D8B030D-6E8A-4147-A177-3AD203B41FA5}">
                      <a16:colId xmlns:a16="http://schemas.microsoft.com/office/drawing/2014/main" val="20000"/>
                    </a:ext>
                  </a:extLst>
                </a:gridCol>
                <a:gridCol w="2772918">
                  <a:extLst>
                    <a:ext uri="{9D8B030D-6E8A-4147-A177-3AD203B41FA5}">
                      <a16:colId xmlns:a16="http://schemas.microsoft.com/office/drawing/2014/main" val="20001"/>
                    </a:ext>
                  </a:extLst>
                </a:gridCol>
                <a:gridCol w="3105668">
                  <a:extLst>
                    <a:ext uri="{9D8B030D-6E8A-4147-A177-3AD203B41FA5}">
                      <a16:colId xmlns:a16="http://schemas.microsoft.com/office/drawing/2014/main" val="20002"/>
                    </a:ext>
                  </a:extLst>
                </a:gridCol>
                <a:gridCol w="2551085">
                  <a:extLst>
                    <a:ext uri="{9D8B030D-6E8A-4147-A177-3AD203B41FA5}">
                      <a16:colId xmlns:a16="http://schemas.microsoft.com/office/drawing/2014/main" val="20003"/>
                    </a:ext>
                  </a:extLst>
                </a:gridCol>
              </a:tblGrid>
              <a:tr h="658368">
                <a:tc>
                  <a:txBody>
                    <a:bodyPr/>
                    <a:lstStyle/>
                    <a:p>
                      <a:pPr marL="0" indent="0" algn="ctr">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Instancia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Contenedor gestionado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Función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extLst>
                  <a:ext uri="{0D108BD9-81ED-4DB2-BD59-A6C34878D82A}">
                    <a16:rowId xmlns:a16="http://schemas.microsoft.com/office/drawing/2014/main" val="10000"/>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Qué gestionas tú</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El sistema operativo entero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La imagen y la definición de tarea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Solo tu código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Arranque (orden de magnitud)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Uno o dos minutos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Decenas de segundos a un par de minutos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Cientos de ms, con arranque en frío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Facturación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Por tiempo encendida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Por tarea y segundo en marcha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Por invocación y GB-segundo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Coste base de referencia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15,18 $/mes (t3.small)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18,02 $/mes (0,5 vCPU, 1 GB)</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0 $ sin tráfico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Encaja mejor con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Cargas estables y control fino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Aplicaciones completas y portátiles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Tareas puntuales por eventos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5349240"/>
            <a:ext cx="11091672" cy="914400"/>
          </a:xfrm>
          <a:prstGeom prst="roundRect">
            <a:avLst/>
          </a:prstGeom>
          <a:solidFill>
            <a:srgbClr val="FFF8E1"/>
          </a:solidFill>
          <a:ln w="19050">
            <a:solidFill>
              <a:srgbClr val="FFA000"/>
            </a:solidFill>
            <a:prstDash val="solid"/>
          </a:ln>
        </p:spPr>
        <p:txBody>
          <a:bodyPr/>
          <a:lstStyle/>
          <a:p>
            <a:endParaRPr lang="es-ES"/>
          </a:p>
        </p:txBody>
      </p:sp>
      <p:sp>
        <p:nvSpPr>
          <p:cNvPr id="7" name="Text 4"/>
          <p:cNvSpPr/>
          <p:nvPr/>
        </p:nvSpPr>
        <p:spPr>
          <a:xfrm>
            <a:off x="822960" y="5440680"/>
            <a:ext cx="10543032" cy="73152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Vas a construir tú mismo una tabla así, con datos medidos, en la Actividad 6.3: tiempo de despliegue, coste estimado, esfuerzo operativo y cuándo elegirías cada una.</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Ideas clave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6: Contenedores gestionados</a:t>
            </a:r>
            <a:endParaRPr lang="en-US" sz="1100" dirty="0"/>
          </a:p>
        </p:txBody>
      </p:sp>
      <p:sp>
        <p:nvSpPr>
          <p:cNvPr id="5" name="Shape 3"/>
          <p:cNvSpPr/>
          <p:nvPr/>
        </p:nvSpPr>
        <p:spPr>
          <a:xfrm>
            <a:off x="548640" y="1188720"/>
            <a:ext cx="5431536" cy="1325880"/>
          </a:xfrm>
          <a:prstGeom prst="roundRect">
            <a:avLst/>
          </a:prstGeom>
          <a:solidFill>
            <a:srgbClr val="E8EAF6"/>
          </a:solidFill>
          <a:ln w="15875">
            <a:solidFill>
              <a:srgbClr val="3949AB"/>
            </a:solidFill>
            <a:prstDash val="solid"/>
          </a:ln>
        </p:spPr>
        <p:txBody>
          <a:bodyPr/>
          <a:lstStyle/>
          <a:p>
            <a:endParaRPr lang="es-ES"/>
          </a:p>
        </p:txBody>
      </p:sp>
      <p:sp>
        <p:nvSpPr>
          <p:cNvPr id="6" name="Shape 4"/>
          <p:cNvSpPr/>
          <p:nvPr/>
        </p:nvSpPr>
        <p:spPr>
          <a:xfrm>
            <a:off x="731520" y="1531620"/>
            <a:ext cx="640080" cy="640080"/>
          </a:xfrm>
          <a:prstGeom prst="ellipse">
            <a:avLst/>
          </a:prstGeom>
          <a:solidFill>
            <a:srgbClr val="3949AB"/>
          </a:solidFill>
          <a:ln w="12700">
            <a:solidFill>
              <a:srgbClr val="3949AB"/>
            </a:solidFill>
            <a:prstDash val="solid"/>
          </a:ln>
        </p:spPr>
        <p:txBody>
          <a:bodyPr/>
          <a:lstStyle/>
          <a:p>
            <a:endParaRPr lang="es-ES"/>
          </a:p>
        </p:txBody>
      </p:sp>
      <p:sp>
        <p:nvSpPr>
          <p:cNvPr id="7" name="Text 5"/>
          <p:cNvSpPr/>
          <p:nvPr/>
        </p:nvSpPr>
        <p:spPr>
          <a:xfrm>
            <a:off x="731520" y="1531620"/>
            <a:ext cx="640080" cy="64008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8" name="Text 6"/>
          <p:cNvSpPr/>
          <p:nvPr/>
        </p:nvSpPr>
        <p:spPr>
          <a:xfrm>
            <a:off x="1508760" y="1188720"/>
            <a:ext cx="4288536" cy="1325880"/>
          </a:xfrm>
          <a:prstGeom prst="rect">
            <a:avLst/>
          </a:prstGeom>
          <a:noFill/>
          <a:ln/>
        </p:spPr>
        <p:txBody>
          <a:bodyPr wrap="square" rtlCol="0" anchor="ctr"/>
          <a:lstStyle/>
          <a:p>
            <a:pPr marL="0" indent="0">
              <a:buNone/>
            </a:pPr>
            <a:r>
              <a:rPr lang="en-US" sz="1550" dirty="0">
                <a:solidFill>
                  <a:srgbClr val="212121"/>
                </a:solidFill>
                <a:latin typeface="Arial" pitchFamily="34" charset="0"/>
                <a:ea typeface="Arial" pitchFamily="34" charset="-122"/>
                <a:cs typeface="Arial" pitchFamily="34" charset="-120"/>
              </a:rPr>
              <a:t>Un contenedor empaqueta la aplicación con lo que necesita para correr y se ejecuta igual en cualquier sitio. La imagen es a un contenedor lo que una AMI a una instancia.</a:t>
            </a:r>
            <a:endParaRPr lang="en-US" sz="1550" dirty="0"/>
          </a:p>
        </p:txBody>
      </p:sp>
      <p:sp>
        <p:nvSpPr>
          <p:cNvPr id="9" name="Shape 7"/>
          <p:cNvSpPr/>
          <p:nvPr/>
        </p:nvSpPr>
        <p:spPr>
          <a:xfrm>
            <a:off x="6208776" y="1188720"/>
            <a:ext cx="5431536" cy="1325880"/>
          </a:xfrm>
          <a:prstGeom prst="roundRect">
            <a:avLst/>
          </a:prstGeom>
          <a:solidFill>
            <a:srgbClr val="E8EAF6"/>
          </a:solidFill>
          <a:ln w="15875">
            <a:solidFill>
              <a:srgbClr val="3949AB"/>
            </a:solidFill>
            <a:prstDash val="solid"/>
          </a:ln>
        </p:spPr>
        <p:txBody>
          <a:bodyPr/>
          <a:lstStyle/>
          <a:p>
            <a:endParaRPr lang="es-ES"/>
          </a:p>
        </p:txBody>
      </p:sp>
      <p:sp>
        <p:nvSpPr>
          <p:cNvPr id="10" name="Shape 8"/>
          <p:cNvSpPr/>
          <p:nvPr/>
        </p:nvSpPr>
        <p:spPr>
          <a:xfrm>
            <a:off x="6391656" y="1531620"/>
            <a:ext cx="640080" cy="640080"/>
          </a:xfrm>
          <a:prstGeom prst="ellipse">
            <a:avLst/>
          </a:prstGeom>
          <a:solidFill>
            <a:srgbClr val="3949AB"/>
          </a:solidFill>
          <a:ln w="12700">
            <a:solidFill>
              <a:srgbClr val="3949AB"/>
            </a:solidFill>
            <a:prstDash val="solid"/>
          </a:ln>
        </p:spPr>
        <p:txBody>
          <a:bodyPr/>
          <a:lstStyle/>
          <a:p>
            <a:endParaRPr lang="es-ES"/>
          </a:p>
        </p:txBody>
      </p:sp>
      <p:sp>
        <p:nvSpPr>
          <p:cNvPr id="11" name="Text 9"/>
          <p:cNvSpPr/>
          <p:nvPr/>
        </p:nvSpPr>
        <p:spPr>
          <a:xfrm>
            <a:off x="6391656" y="1531620"/>
            <a:ext cx="640080" cy="64008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7168896" y="1188720"/>
            <a:ext cx="4288536" cy="1325880"/>
          </a:xfrm>
          <a:prstGeom prst="rect">
            <a:avLst/>
          </a:prstGeom>
          <a:noFill/>
          <a:ln/>
        </p:spPr>
        <p:txBody>
          <a:bodyPr wrap="square" rtlCol="0" anchor="ctr"/>
          <a:lstStyle/>
          <a:p>
            <a:pPr marL="0" indent="0">
              <a:buNone/>
            </a:pPr>
            <a:r>
              <a:rPr lang="en-US" sz="1550" dirty="0">
                <a:solidFill>
                  <a:srgbClr val="212121"/>
                </a:solidFill>
                <a:latin typeface="Arial" pitchFamily="34" charset="0"/>
                <a:ea typeface="Arial" pitchFamily="34" charset="-122"/>
                <a:cs typeface="Arial" pitchFamily="34" charset="-120"/>
              </a:rPr>
              <a:t>Un registro (ECR) guarda las imágenes; una definición de tarea es la receta; un clúster es el espacio lógico; un servicio mantiene N tareas en marcha.</a:t>
            </a:r>
            <a:endParaRPr lang="en-US" sz="1550" dirty="0"/>
          </a:p>
        </p:txBody>
      </p:sp>
      <p:sp>
        <p:nvSpPr>
          <p:cNvPr id="13" name="Shape 11"/>
          <p:cNvSpPr/>
          <p:nvPr/>
        </p:nvSpPr>
        <p:spPr>
          <a:xfrm>
            <a:off x="548640" y="2743200"/>
            <a:ext cx="5431536" cy="1325880"/>
          </a:xfrm>
          <a:prstGeom prst="roundRect">
            <a:avLst/>
          </a:prstGeom>
          <a:solidFill>
            <a:srgbClr val="E8EAF6"/>
          </a:solidFill>
          <a:ln w="15875">
            <a:solidFill>
              <a:srgbClr val="3949AB"/>
            </a:solidFill>
            <a:prstDash val="solid"/>
          </a:ln>
        </p:spPr>
        <p:txBody>
          <a:bodyPr/>
          <a:lstStyle/>
          <a:p>
            <a:endParaRPr lang="es-ES"/>
          </a:p>
        </p:txBody>
      </p:sp>
      <p:sp>
        <p:nvSpPr>
          <p:cNvPr id="14" name="Shape 12"/>
          <p:cNvSpPr/>
          <p:nvPr/>
        </p:nvSpPr>
        <p:spPr>
          <a:xfrm>
            <a:off x="731520" y="3086100"/>
            <a:ext cx="640080" cy="640080"/>
          </a:xfrm>
          <a:prstGeom prst="ellipse">
            <a:avLst/>
          </a:prstGeom>
          <a:solidFill>
            <a:srgbClr val="3949AB"/>
          </a:solidFill>
          <a:ln w="12700">
            <a:solidFill>
              <a:srgbClr val="3949AB"/>
            </a:solidFill>
            <a:prstDash val="solid"/>
          </a:ln>
        </p:spPr>
        <p:txBody>
          <a:bodyPr/>
          <a:lstStyle/>
          <a:p>
            <a:endParaRPr lang="es-ES"/>
          </a:p>
        </p:txBody>
      </p:sp>
      <p:sp>
        <p:nvSpPr>
          <p:cNvPr id="15" name="Text 13"/>
          <p:cNvSpPr/>
          <p:nvPr/>
        </p:nvSpPr>
        <p:spPr>
          <a:xfrm>
            <a:off x="731520" y="3086100"/>
            <a:ext cx="640080" cy="64008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6" name="Text 14"/>
          <p:cNvSpPr/>
          <p:nvPr/>
        </p:nvSpPr>
        <p:spPr>
          <a:xfrm>
            <a:off x="1508760" y="2743200"/>
            <a:ext cx="4288536" cy="1325880"/>
          </a:xfrm>
          <a:prstGeom prst="rect">
            <a:avLst/>
          </a:prstGeom>
          <a:noFill/>
          <a:ln/>
        </p:spPr>
        <p:txBody>
          <a:bodyPr wrap="square" rtlCol="0" anchor="ctr"/>
          <a:lstStyle/>
          <a:p>
            <a:pPr marL="0" indent="0">
              <a:buNone/>
            </a:pPr>
            <a:r>
              <a:rPr lang="en-US" sz="1550" dirty="0">
                <a:solidFill>
                  <a:srgbClr val="212121"/>
                </a:solidFill>
                <a:latin typeface="Arial" pitchFamily="34" charset="0"/>
                <a:ea typeface="Arial" pitchFamily="34" charset="-122"/>
                <a:cs typeface="Arial" pitchFamily="34" charset="-120"/>
              </a:rPr>
              <a:t>Con Fargate desaparece el servidor de tu responsabilidad, pero el contenido de la imagen sigue siendo tuyo. No es más barato por defecto.</a:t>
            </a:r>
            <a:endParaRPr lang="en-US" sz="1550" dirty="0"/>
          </a:p>
        </p:txBody>
      </p:sp>
      <p:sp>
        <p:nvSpPr>
          <p:cNvPr id="17" name="Shape 15"/>
          <p:cNvSpPr/>
          <p:nvPr/>
        </p:nvSpPr>
        <p:spPr>
          <a:xfrm>
            <a:off x="6208776" y="2743200"/>
            <a:ext cx="5431536" cy="1325880"/>
          </a:xfrm>
          <a:prstGeom prst="roundRect">
            <a:avLst/>
          </a:prstGeom>
          <a:solidFill>
            <a:srgbClr val="E8EAF6"/>
          </a:solidFill>
          <a:ln w="15875">
            <a:solidFill>
              <a:srgbClr val="3949AB"/>
            </a:solidFill>
            <a:prstDash val="solid"/>
          </a:ln>
        </p:spPr>
        <p:txBody>
          <a:bodyPr/>
          <a:lstStyle/>
          <a:p>
            <a:endParaRPr lang="es-ES"/>
          </a:p>
        </p:txBody>
      </p:sp>
      <p:sp>
        <p:nvSpPr>
          <p:cNvPr id="18" name="Shape 16"/>
          <p:cNvSpPr/>
          <p:nvPr/>
        </p:nvSpPr>
        <p:spPr>
          <a:xfrm>
            <a:off x="6391656" y="3086100"/>
            <a:ext cx="640080" cy="640080"/>
          </a:xfrm>
          <a:prstGeom prst="ellipse">
            <a:avLst/>
          </a:prstGeom>
          <a:solidFill>
            <a:srgbClr val="3949AB"/>
          </a:solidFill>
          <a:ln w="12700">
            <a:solidFill>
              <a:srgbClr val="3949AB"/>
            </a:solidFill>
            <a:prstDash val="solid"/>
          </a:ln>
        </p:spPr>
        <p:txBody>
          <a:bodyPr/>
          <a:lstStyle/>
          <a:p>
            <a:endParaRPr lang="es-ES"/>
          </a:p>
        </p:txBody>
      </p:sp>
      <p:sp>
        <p:nvSpPr>
          <p:cNvPr id="19" name="Text 17"/>
          <p:cNvSpPr/>
          <p:nvPr/>
        </p:nvSpPr>
        <p:spPr>
          <a:xfrm>
            <a:off x="6391656" y="3086100"/>
            <a:ext cx="640080" cy="64008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0" name="Text 18"/>
          <p:cNvSpPr/>
          <p:nvPr/>
        </p:nvSpPr>
        <p:spPr>
          <a:xfrm>
            <a:off x="7168896" y="2743200"/>
            <a:ext cx="4288536" cy="1325880"/>
          </a:xfrm>
          <a:prstGeom prst="rect">
            <a:avLst/>
          </a:prstGeom>
          <a:noFill/>
          <a:ln/>
        </p:spPr>
        <p:txBody>
          <a:bodyPr wrap="square" rtlCol="0" anchor="ctr"/>
          <a:lstStyle/>
          <a:p>
            <a:pPr marL="0" indent="0">
              <a:buNone/>
            </a:pPr>
            <a:r>
              <a:rPr lang="en-US" sz="1550" dirty="0">
                <a:solidFill>
                  <a:srgbClr val="212121"/>
                </a:solidFill>
                <a:latin typeface="Arial" pitchFamily="34" charset="0"/>
                <a:ea typeface="Arial" pitchFamily="34" charset="-122"/>
                <a:cs typeface="Arial" pitchFamily="34" charset="-120"/>
              </a:rPr>
              <a:t>Para actualizar, el servicio lanza las tareas de la versión nueva antes de retirar las antiguas, y si las nuevas no están saludables no retira nada.</a:t>
            </a:r>
            <a:endParaRPr lang="en-US" sz="1550" dirty="0"/>
          </a:p>
        </p:txBody>
      </p:sp>
      <p:sp>
        <p:nvSpPr>
          <p:cNvPr id="21" name="Shape 19"/>
          <p:cNvSpPr/>
          <p:nvPr/>
        </p:nvSpPr>
        <p:spPr>
          <a:xfrm>
            <a:off x="548640" y="4297680"/>
            <a:ext cx="5431536" cy="1325880"/>
          </a:xfrm>
          <a:prstGeom prst="roundRect">
            <a:avLst/>
          </a:prstGeom>
          <a:solidFill>
            <a:srgbClr val="E8EAF6"/>
          </a:solidFill>
          <a:ln w="15875">
            <a:solidFill>
              <a:srgbClr val="3949AB"/>
            </a:solidFill>
            <a:prstDash val="solid"/>
          </a:ln>
        </p:spPr>
        <p:txBody>
          <a:bodyPr/>
          <a:lstStyle/>
          <a:p>
            <a:endParaRPr lang="es-ES"/>
          </a:p>
        </p:txBody>
      </p:sp>
      <p:sp>
        <p:nvSpPr>
          <p:cNvPr id="22" name="Shape 20"/>
          <p:cNvSpPr/>
          <p:nvPr/>
        </p:nvSpPr>
        <p:spPr>
          <a:xfrm>
            <a:off x="731520" y="4640580"/>
            <a:ext cx="640080" cy="640080"/>
          </a:xfrm>
          <a:prstGeom prst="ellipse">
            <a:avLst/>
          </a:prstGeom>
          <a:solidFill>
            <a:srgbClr val="3949AB"/>
          </a:solidFill>
          <a:ln w="12700">
            <a:solidFill>
              <a:srgbClr val="3949AB"/>
            </a:solidFill>
            <a:prstDash val="solid"/>
          </a:ln>
        </p:spPr>
        <p:txBody>
          <a:bodyPr/>
          <a:lstStyle/>
          <a:p>
            <a:endParaRPr lang="es-ES"/>
          </a:p>
        </p:txBody>
      </p:sp>
      <p:sp>
        <p:nvSpPr>
          <p:cNvPr id="23" name="Text 21"/>
          <p:cNvSpPr/>
          <p:nvPr/>
        </p:nvSpPr>
        <p:spPr>
          <a:xfrm>
            <a:off x="731520" y="4640580"/>
            <a:ext cx="640080" cy="64008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4" name="Text 22"/>
          <p:cNvSpPr/>
          <p:nvPr/>
        </p:nvSpPr>
        <p:spPr>
          <a:xfrm>
            <a:off x="1508760" y="4297680"/>
            <a:ext cx="4288536" cy="1325880"/>
          </a:xfrm>
          <a:prstGeom prst="rect">
            <a:avLst/>
          </a:prstGeom>
          <a:noFill/>
          <a:ln/>
        </p:spPr>
        <p:txBody>
          <a:bodyPr wrap="square" rtlCol="0" anchor="ctr"/>
          <a:lstStyle/>
          <a:p>
            <a:pPr marL="0" indent="0">
              <a:buNone/>
            </a:pPr>
            <a:r>
              <a:rPr lang="en-US" sz="1550" dirty="0">
                <a:solidFill>
                  <a:srgbClr val="212121"/>
                </a:solidFill>
                <a:latin typeface="Arial" pitchFamily="34" charset="0"/>
                <a:ea typeface="Arial" pitchFamily="34" charset="-122"/>
                <a:cs typeface="Arial" pitchFamily="34" charset="-120"/>
              </a:rPr>
              <a:t>Las tareas son desechables: los datos, los ficheros y los permisos viven fuera de la imagen (base de datos, S3, roles).</a:t>
            </a:r>
            <a:endParaRPr lang="en-US" sz="1550" dirty="0"/>
          </a:p>
        </p:txBody>
      </p:sp>
      <p:sp>
        <p:nvSpPr>
          <p:cNvPr id="25" name="Shape 23"/>
          <p:cNvSpPr/>
          <p:nvPr/>
        </p:nvSpPr>
        <p:spPr>
          <a:xfrm>
            <a:off x="6208776" y="4297680"/>
            <a:ext cx="5431536" cy="1325880"/>
          </a:xfrm>
          <a:prstGeom prst="roundRect">
            <a:avLst/>
          </a:prstGeom>
          <a:solidFill>
            <a:srgbClr val="E8EAF6"/>
          </a:solidFill>
          <a:ln w="15875">
            <a:solidFill>
              <a:srgbClr val="3949AB"/>
            </a:solidFill>
            <a:prstDash val="solid"/>
          </a:ln>
        </p:spPr>
        <p:txBody>
          <a:bodyPr/>
          <a:lstStyle/>
          <a:p>
            <a:endParaRPr lang="es-ES"/>
          </a:p>
        </p:txBody>
      </p:sp>
      <p:sp>
        <p:nvSpPr>
          <p:cNvPr id="26" name="Shape 24"/>
          <p:cNvSpPr/>
          <p:nvPr/>
        </p:nvSpPr>
        <p:spPr>
          <a:xfrm>
            <a:off x="6391656" y="4640580"/>
            <a:ext cx="640080" cy="640080"/>
          </a:xfrm>
          <a:prstGeom prst="ellipse">
            <a:avLst/>
          </a:prstGeom>
          <a:solidFill>
            <a:srgbClr val="3949AB"/>
          </a:solidFill>
          <a:ln w="12700">
            <a:solidFill>
              <a:srgbClr val="3949AB"/>
            </a:solidFill>
            <a:prstDash val="solid"/>
          </a:ln>
        </p:spPr>
        <p:txBody>
          <a:bodyPr/>
          <a:lstStyle/>
          <a:p>
            <a:endParaRPr lang="es-ES"/>
          </a:p>
        </p:txBody>
      </p:sp>
      <p:sp>
        <p:nvSpPr>
          <p:cNvPr id="27" name="Text 25"/>
          <p:cNvSpPr/>
          <p:nvPr/>
        </p:nvSpPr>
        <p:spPr>
          <a:xfrm>
            <a:off x="6391656" y="4640580"/>
            <a:ext cx="640080" cy="64008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6</a:t>
            </a:r>
            <a:endParaRPr lang="en-US" sz="2200" dirty="0"/>
          </a:p>
        </p:txBody>
      </p:sp>
      <p:sp>
        <p:nvSpPr>
          <p:cNvPr id="28" name="Text 26"/>
          <p:cNvSpPr/>
          <p:nvPr/>
        </p:nvSpPr>
        <p:spPr>
          <a:xfrm>
            <a:off x="7168896" y="4297680"/>
            <a:ext cx="4288536" cy="1325880"/>
          </a:xfrm>
          <a:prstGeom prst="rect">
            <a:avLst/>
          </a:prstGeom>
          <a:noFill/>
          <a:ln/>
        </p:spPr>
        <p:txBody>
          <a:bodyPr wrap="square" rtlCol="0" anchor="ctr"/>
          <a:lstStyle/>
          <a:p>
            <a:pPr marL="0" indent="0">
              <a:buNone/>
            </a:pPr>
            <a:r>
              <a:rPr lang="en-US" sz="1550" dirty="0">
                <a:solidFill>
                  <a:srgbClr val="212121"/>
                </a:solidFill>
                <a:latin typeface="Arial" pitchFamily="34" charset="0"/>
                <a:ea typeface="Arial" pitchFamily="34" charset="-122"/>
                <a:cs typeface="Arial" pitchFamily="34" charset="-120"/>
              </a:rPr>
              <a:t>Instancia, contenedor gestionado y función no son sustitutos entre sí: la elección se apoya en datos de arranque, coste y esfuerzo.</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2168</Words>
  <Application>Microsoft Office PowerPoint</Application>
  <PresentationFormat>Panorámica</PresentationFormat>
  <Paragraphs>208</Paragraphs>
  <Slides>16</Slides>
  <Notes>16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vt:i4>
      </vt:variant>
    </vt:vector>
  </HeadingPairs>
  <TitlesOfParts>
    <vt:vector size="19"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Contenedores gestionados</dc:title>
  <dc:subject>PptxGenJS Presentation</dc:subject>
  <dc:creator>Introducción a la Nube Pública</dc:creator>
  <cp:lastModifiedBy>VENTURA EDO, AITOR</cp:lastModifiedBy>
  <cp:revision>2</cp:revision>
  <dcterms:created xsi:type="dcterms:W3CDTF">2026-09-28T18:00:32Z</dcterms:created>
  <dcterms:modified xsi:type="dcterms:W3CDTF">2026-09-28T18:41:56Z</dcterms:modified>
</cp:coreProperties>
</file>