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7E"/>
        </a:solidFill>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indent="0" marL="0">
              <a:buNone/>
            </a:pPr>
            <a:r>
              <a:rPr lang="en-US" sz="1400" dirty="0">
                <a:solidFill>
                  <a:srgbClr val="C5CAE9"/>
                </a:solidFill>
                <a:latin typeface="Arial" pitchFamily="34" charset="0"/>
                <a:ea typeface="Arial" pitchFamily="34" charset="-122"/>
                <a:cs typeface="Arial" pitchFamily="34" charset="-120"/>
              </a:rPr>
              <a:t>INTRODUCCIÓN A LA NUBE PÚBLICA  —  TEMA 7: ARQUITECTURA BIEN DISEÑADA</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algn="l" indent="0" marL="0">
              <a:buNone/>
            </a:pPr>
            <a:r>
              <a:rPr lang="en-US" sz="4200" b="1" dirty="0">
                <a:solidFill>
                  <a:srgbClr val="FFFFFF"/>
                </a:solidFill>
                <a:latin typeface="Arial" pitchFamily="34" charset="0"/>
                <a:ea typeface="Arial" pitchFamily="34" charset="-122"/>
                <a:cs typeface="Arial" pitchFamily="34" charset="-120"/>
              </a:rPr>
              <a:t>Well-Architected: los seis pilares</a:t>
            </a:r>
            <a:endParaRPr lang="en-US" sz="4200" dirty="0"/>
          </a:p>
        </p:txBody>
      </p:sp>
      <p:sp>
        <p:nvSpPr>
          <p:cNvPr id="4" name="Shape 2"/>
          <p:cNvSpPr/>
          <p:nvPr/>
        </p:nvSpPr>
        <p:spPr>
          <a:xfrm>
            <a:off x="0" y="5120640"/>
            <a:ext cx="12188952" cy="914400"/>
          </a:xfrm>
          <a:prstGeom prst="rect">
            <a:avLst/>
          </a:prstGeom>
          <a:solidFill>
            <a:srgbClr val="FFA000"/>
          </a:solidFill>
          <a:ln w="12700">
            <a:solidFill>
              <a:srgbClr val="FFA000"/>
            </a:solidFill>
            <a:prstDash val="solid"/>
          </a:ln>
        </p:spPr>
      </p:sp>
      <p:sp>
        <p:nvSpPr>
          <p:cNvPr id="5" name="Text 3"/>
          <p:cNvSpPr/>
          <p:nvPr/>
        </p:nvSpPr>
        <p:spPr>
          <a:xfrm>
            <a:off x="548640" y="5120640"/>
            <a:ext cx="11091672" cy="914400"/>
          </a:xfrm>
          <a:prstGeom prst="rect">
            <a:avLst/>
          </a:prstGeom>
          <a:noFill/>
          <a:ln/>
        </p:spPr>
        <p:txBody>
          <a:bodyPr wrap="square" rtlCol="0" anchor="ctr"/>
          <a:lstStyle/>
          <a:p>
            <a:pPr indent="0" marL="0">
              <a:buNone/>
            </a:pPr>
            <a:r>
              <a:rPr lang="en-US" sz="2000" i="1" dirty="0">
                <a:solidFill>
                  <a:srgbClr val="FFFFFF"/>
                </a:solidFill>
                <a:latin typeface="Arial" pitchFamily="34" charset="0"/>
                <a:ea typeface="Arial" pitchFamily="34" charset="-122"/>
                <a:cs typeface="Arial" pitchFamily="34" charset="-120"/>
              </a:rPr>
              <a:t>Tema 7 — Arquitectura bien diseñada</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Mirar el conjunto, no solo las piezas</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7: Well-Architected</a:t>
            </a:r>
            <a:endParaRPr lang="en-US" sz="1100" dirty="0"/>
          </a:p>
        </p:txBody>
      </p:sp>
      <p:sp>
        <p:nvSpPr>
          <p:cNvPr id="5" name="Shape 3"/>
          <p:cNvSpPr/>
          <p:nvPr/>
        </p:nvSpPr>
        <p:spPr>
          <a:xfrm>
            <a:off x="548640" y="1188720"/>
            <a:ext cx="11091672" cy="1097280"/>
          </a:xfrm>
          <a:prstGeom prst="roundRect">
            <a:avLst/>
          </a:prstGeom>
          <a:solidFill>
            <a:srgbClr val="FFF8E1"/>
          </a:solidFill>
          <a:ln w="19050">
            <a:solidFill>
              <a:srgbClr val="FFA000"/>
            </a:solidFill>
            <a:prstDash val="solid"/>
          </a:ln>
        </p:spPr>
      </p:sp>
      <p:sp>
        <p:nvSpPr>
          <p:cNvPr id="6" name="Text 4"/>
          <p:cNvSpPr/>
          <p:nvPr/>
        </p:nvSpPr>
        <p:spPr>
          <a:xfrm>
            <a:off x="822960" y="1280160"/>
            <a:ext cx="10543032" cy="914400"/>
          </a:xfrm>
          <a:prstGeom prst="rect">
            <a:avLst/>
          </a:prstGeom>
          <a:noFill/>
          <a:ln/>
        </p:spPr>
        <p:txBody>
          <a:bodyPr wrap="square" rtlCol="0" anchor="ctr"/>
          <a:lstStyle/>
          <a:p>
            <a:pPr indent="0" marL="0">
              <a:buNone/>
            </a:pPr>
            <a:r>
              <a:rPr lang="en-US" sz="1900" dirty="0">
                <a:solidFill>
                  <a:srgbClr val="212121"/>
                </a:solidFill>
                <a:latin typeface="Arial" pitchFamily="34" charset="0"/>
                <a:ea typeface="Arial" pitchFamily="34" charset="-122"/>
                <a:cs typeface="Arial" pitchFamily="34" charset="-120"/>
              </a:rPr>
              <a:t>Cada sesión del módulo ha resuelto un problema concreto de Escaparate. Las decisiones se han tomado de una en una y nadie ha mirado el conjunto.</a:t>
            </a:r>
            <a:endParaRPr lang="en-US" sz="1900" dirty="0"/>
          </a:p>
        </p:txBody>
      </p:sp>
      <p:sp>
        <p:nvSpPr>
          <p:cNvPr id="7" name="Shape 5"/>
          <p:cNvSpPr/>
          <p:nvPr/>
        </p:nvSpPr>
        <p:spPr>
          <a:xfrm>
            <a:off x="548640" y="2560320"/>
            <a:ext cx="1998878" cy="1188720"/>
          </a:xfrm>
          <a:prstGeom prst="roundRect">
            <a:avLst/>
          </a:prstGeom>
          <a:solidFill>
            <a:srgbClr val="E8EAF6"/>
          </a:solidFill>
          <a:ln w="15875">
            <a:solidFill>
              <a:srgbClr val="3949AB"/>
            </a:solidFill>
            <a:prstDash val="solid"/>
          </a:ln>
        </p:spPr>
      </p:sp>
      <p:sp>
        <p:nvSpPr>
          <p:cNvPr id="8" name="Text 6"/>
          <p:cNvSpPr/>
          <p:nvPr/>
        </p:nvSpPr>
        <p:spPr>
          <a:xfrm>
            <a:off x="621792" y="2606040"/>
            <a:ext cx="1852574" cy="1097280"/>
          </a:xfrm>
          <a:prstGeom prst="rect">
            <a:avLst/>
          </a:prstGeom>
          <a:noFill/>
          <a:ln/>
        </p:spPr>
        <p:txBody>
          <a:bodyPr wrap="square" rtlCol="0" anchor="ctr"/>
          <a:lstStyle/>
          <a:p>
            <a:pPr algn="ctr" indent="0" marL="0">
              <a:buNone/>
            </a:pPr>
            <a:r>
              <a:rPr lang="en-US" sz="1500" dirty="0">
                <a:solidFill>
                  <a:srgbClr val="212121"/>
                </a:solidFill>
                <a:latin typeface="Arial" pitchFamily="34" charset="0"/>
                <a:ea typeface="Arial" pitchFamily="34" charset="-122"/>
                <a:cs typeface="Arial" pitchFamily="34" charset="-120"/>
              </a:rPr>
              <a:t>📍 Dónde vive</a:t>
            </a:r>
            <a:endParaRPr lang="en-US" sz="1500" dirty="0"/>
          </a:p>
        </p:txBody>
      </p:sp>
      <p:sp>
        <p:nvSpPr>
          <p:cNvPr id="9" name="Shape 7"/>
          <p:cNvSpPr/>
          <p:nvPr/>
        </p:nvSpPr>
        <p:spPr>
          <a:xfrm>
            <a:off x="2821838" y="2560320"/>
            <a:ext cx="1998878" cy="1188720"/>
          </a:xfrm>
          <a:prstGeom prst="roundRect">
            <a:avLst/>
          </a:prstGeom>
          <a:solidFill>
            <a:srgbClr val="E8EAF6"/>
          </a:solidFill>
          <a:ln w="15875">
            <a:solidFill>
              <a:srgbClr val="3949AB"/>
            </a:solidFill>
            <a:prstDash val="solid"/>
          </a:ln>
        </p:spPr>
      </p:sp>
      <p:sp>
        <p:nvSpPr>
          <p:cNvPr id="10" name="Text 8"/>
          <p:cNvSpPr/>
          <p:nvPr/>
        </p:nvSpPr>
        <p:spPr>
          <a:xfrm>
            <a:off x="2894990" y="2606040"/>
            <a:ext cx="1852574" cy="1097280"/>
          </a:xfrm>
          <a:prstGeom prst="rect">
            <a:avLst/>
          </a:prstGeom>
          <a:noFill/>
          <a:ln/>
        </p:spPr>
        <p:txBody>
          <a:bodyPr wrap="square" rtlCol="0" anchor="ctr"/>
          <a:lstStyle/>
          <a:p>
            <a:pPr algn="ctr" indent="0" marL="0">
              <a:buNone/>
            </a:pPr>
            <a:r>
              <a:rPr lang="en-US" sz="1500" dirty="0">
                <a:solidFill>
                  <a:srgbClr val="212121"/>
                </a:solidFill>
                <a:latin typeface="Arial" pitchFamily="34" charset="0"/>
                <a:ea typeface="Arial" pitchFamily="34" charset="-122"/>
                <a:cs typeface="Arial" pitchFamily="34" charset="-120"/>
              </a:rPr>
              <a:t>🚪 Quién puede llegar a él</a:t>
            </a:r>
            <a:endParaRPr lang="en-US" sz="1500" dirty="0"/>
          </a:p>
        </p:txBody>
      </p:sp>
      <p:sp>
        <p:nvSpPr>
          <p:cNvPr id="11" name="Shape 9"/>
          <p:cNvSpPr/>
          <p:nvPr/>
        </p:nvSpPr>
        <p:spPr>
          <a:xfrm>
            <a:off x="5095037" y="2560320"/>
            <a:ext cx="1998878" cy="1188720"/>
          </a:xfrm>
          <a:prstGeom prst="roundRect">
            <a:avLst/>
          </a:prstGeom>
          <a:solidFill>
            <a:srgbClr val="E8EAF6"/>
          </a:solidFill>
          <a:ln w="15875">
            <a:solidFill>
              <a:srgbClr val="3949AB"/>
            </a:solidFill>
            <a:prstDash val="solid"/>
          </a:ln>
        </p:spPr>
      </p:sp>
      <p:sp>
        <p:nvSpPr>
          <p:cNvPr id="12" name="Text 10"/>
          <p:cNvSpPr/>
          <p:nvPr/>
        </p:nvSpPr>
        <p:spPr>
          <a:xfrm>
            <a:off x="5168189" y="2606040"/>
            <a:ext cx="1852574" cy="1097280"/>
          </a:xfrm>
          <a:prstGeom prst="rect">
            <a:avLst/>
          </a:prstGeom>
          <a:noFill/>
          <a:ln/>
        </p:spPr>
        <p:txBody>
          <a:bodyPr wrap="square" rtlCol="0" anchor="ctr"/>
          <a:lstStyle/>
          <a:p>
            <a:pPr algn="ctr" indent="0" marL="0">
              <a:buNone/>
            </a:pPr>
            <a:r>
              <a:rPr lang="en-US" sz="1500" dirty="0">
                <a:solidFill>
                  <a:srgbClr val="212121"/>
                </a:solidFill>
                <a:latin typeface="Arial" pitchFamily="34" charset="0"/>
                <a:ea typeface="Arial" pitchFamily="34" charset="-122"/>
                <a:cs typeface="Arial" pitchFamily="34" charset="-120"/>
              </a:rPr>
              <a:t>💥 Qué pasa cuando algo falla</a:t>
            </a:r>
            <a:endParaRPr lang="en-US" sz="1500" dirty="0"/>
          </a:p>
        </p:txBody>
      </p:sp>
      <p:sp>
        <p:nvSpPr>
          <p:cNvPr id="13" name="Shape 11"/>
          <p:cNvSpPr/>
          <p:nvPr/>
        </p:nvSpPr>
        <p:spPr>
          <a:xfrm>
            <a:off x="7368235" y="2560320"/>
            <a:ext cx="1998878" cy="1188720"/>
          </a:xfrm>
          <a:prstGeom prst="roundRect">
            <a:avLst/>
          </a:prstGeom>
          <a:solidFill>
            <a:srgbClr val="E8EAF6"/>
          </a:solidFill>
          <a:ln w="15875">
            <a:solidFill>
              <a:srgbClr val="3949AB"/>
            </a:solidFill>
            <a:prstDash val="solid"/>
          </a:ln>
        </p:spPr>
      </p:sp>
      <p:sp>
        <p:nvSpPr>
          <p:cNvPr id="14" name="Text 12"/>
          <p:cNvSpPr/>
          <p:nvPr/>
        </p:nvSpPr>
        <p:spPr>
          <a:xfrm>
            <a:off x="7441387" y="2606040"/>
            <a:ext cx="1852574" cy="1097280"/>
          </a:xfrm>
          <a:prstGeom prst="rect">
            <a:avLst/>
          </a:prstGeom>
          <a:noFill/>
          <a:ln/>
        </p:spPr>
        <p:txBody>
          <a:bodyPr wrap="square" rtlCol="0" anchor="ctr"/>
          <a:lstStyle/>
          <a:p>
            <a:pPr algn="ctr" indent="0" marL="0">
              <a:buNone/>
            </a:pPr>
            <a:r>
              <a:rPr lang="en-US" sz="1500" dirty="0">
                <a:solidFill>
                  <a:srgbClr val="212121"/>
                </a:solidFill>
                <a:latin typeface="Arial" pitchFamily="34" charset="0"/>
                <a:ea typeface="Arial" pitchFamily="34" charset="-122"/>
                <a:cs typeface="Arial" pitchFamily="34" charset="-120"/>
              </a:rPr>
              <a:t>💰 Cuánto cuesta</a:t>
            </a:r>
            <a:endParaRPr lang="en-US" sz="1500" dirty="0"/>
          </a:p>
        </p:txBody>
      </p:sp>
      <p:sp>
        <p:nvSpPr>
          <p:cNvPr id="15" name="Shape 13"/>
          <p:cNvSpPr/>
          <p:nvPr/>
        </p:nvSpPr>
        <p:spPr>
          <a:xfrm>
            <a:off x="9641434" y="2560320"/>
            <a:ext cx="1998878" cy="1188720"/>
          </a:xfrm>
          <a:prstGeom prst="roundRect">
            <a:avLst/>
          </a:prstGeom>
          <a:solidFill>
            <a:srgbClr val="E8EAF6"/>
          </a:solidFill>
          <a:ln w="15875">
            <a:solidFill>
              <a:srgbClr val="3949AB"/>
            </a:solidFill>
            <a:prstDash val="solid"/>
          </a:ln>
        </p:spPr>
      </p:sp>
      <p:sp>
        <p:nvSpPr>
          <p:cNvPr id="16" name="Text 14"/>
          <p:cNvSpPr/>
          <p:nvPr/>
        </p:nvSpPr>
        <p:spPr>
          <a:xfrm>
            <a:off x="9714586" y="2606040"/>
            <a:ext cx="1852574" cy="1097280"/>
          </a:xfrm>
          <a:prstGeom prst="rect">
            <a:avLst/>
          </a:prstGeom>
          <a:noFill/>
          <a:ln/>
        </p:spPr>
        <p:txBody>
          <a:bodyPr wrap="square" rtlCol="0" anchor="ctr"/>
          <a:lstStyle/>
          <a:p>
            <a:pPr algn="ctr" indent="0" marL="0">
              <a:buNone/>
            </a:pPr>
            <a:r>
              <a:rPr lang="en-US" sz="1500" dirty="0">
                <a:solidFill>
                  <a:srgbClr val="212121"/>
                </a:solidFill>
                <a:latin typeface="Arial" pitchFamily="34" charset="0"/>
                <a:ea typeface="Arial" pitchFamily="34" charset="-122"/>
                <a:cs typeface="Arial" pitchFamily="34" charset="-120"/>
              </a:rPr>
              <a:t>🔁 Cómo se reconstruye</a:t>
            </a:r>
            <a:endParaRPr lang="en-US" sz="1500" dirty="0"/>
          </a:p>
        </p:txBody>
      </p:sp>
      <p:sp>
        <p:nvSpPr>
          <p:cNvPr id="17" name="Shape 15"/>
          <p:cNvSpPr/>
          <p:nvPr/>
        </p:nvSpPr>
        <p:spPr>
          <a:xfrm>
            <a:off x="548640" y="4023360"/>
            <a:ext cx="11091672" cy="1691640"/>
          </a:xfrm>
          <a:prstGeom prst="roundRect">
            <a:avLst/>
          </a:prstGeom>
          <a:solidFill>
            <a:srgbClr val="E8EAF6"/>
          </a:solidFill>
          <a:ln w="15875">
            <a:solidFill>
              <a:srgbClr val="3949AB"/>
            </a:solidFill>
            <a:prstDash val="solid"/>
          </a:ln>
        </p:spPr>
      </p:sp>
      <p:sp>
        <p:nvSpPr>
          <p:cNvPr id="18" name="Text 16"/>
          <p:cNvSpPr/>
          <p:nvPr/>
        </p:nvSpPr>
        <p:spPr>
          <a:xfrm>
            <a:off x="731520" y="4096512"/>
            <a:ext cx="10725912" cy="548640"/>
          </a:xfrm>
          <a:prstGeom prst="rect">
            <a:avLst/>
          </a:prstGeom>
          <a:noFill/>
          <a:ln/>
        </p:spPr>
        <p:txBody>
          <a:bodyPr wrap="square" rtlCol="0" anchor="ctr"/>
          <a:lstStyle/>
          <a:p>
            <a:pPr indent="0" marL="0">
              <a:buNone/>
            </a:pPr>
            <a:r>
              <a:rPr lang="en-US" sz="2100" b="1" dirty="0">
                <a:solidFill>
                  <a:srgbClr val="1A237E"/>
                </a:solidFill>
                <a:latin typeface="Arial" pitchFamily="34" charset="0"/>
                <a:ea typeface="Arial" pitchFamily="34" charset="-122"/>
                <a:cs typeface="Arial" pitchFamily="34" charset="-120"/>
              </a:rPr>
              <a:t>Hoy: la arquitectura entera, con un marco profesional</a:t>
            </a:r>
            <a:endParaRPr lang="en-US" sz="2100" dirty="0"/>
          </a:p>
        </p:txBody>
      </p:sp>
      <p:sp>
        <p:nvSpPr>
          <p:cNvPr id="19" name="Text 17"/>
          <p:cNvSpPr/>
          <p:nvPr/>
        </p:nvSpPr>
        <p:spPr>
          <a:xfrm>
            <a:off x="731520" y="4645152"/>
            <a:ext cx="10725912" cy="996696"/>
          </a:xfrm>
          <a:prstGeom prst="rect">
            <a:avLst/>
          </a:prstGeom>
          <a:noFill/>
          <a:ln/>
        </p:spPr>
        <p:txBody>
          <a:bodyPr wrap="square" rtlCol="0" anchor="t"/>
          <a:lstStyle/>
          <a:p>
            <a:pPr indent="0" marL="0">
              <a:buNone/>
            </a:pPr>
            <a:r>
              <a:rPr lang="en-US" sz="1800" dirty="0">
                <a:solidFill>
                  <a:srgbClr val="212121"/>
                </a:solidFill>
                <a:latin typeface="Arial" pitchFamily="34" charset="0"/>
                <a:ea typeface="Arial" pitchFamily="34" charset="-122"/>
                <a:cs typeface="Arial" pitchFamily="34" charset="-120"/>
              </a:rPr>
              <a:t>Revisas la arquitectura de Escaparate, tal como quedó al terminar la Actividad 5.2, con el marco que usan los equipos de arquitectura para decidir si un sistema está bien construido, no solo si funciona.</a:t>
            </a:r>
            <a:endParaRPr lang="en-US" sz="1800" dirty="0"/>
          </a:p>
        </p:txBody>
      </p:sp>
      <p:sp>
        <p:nvSpPr>
          <p:cNvPr id="20" name="Text 18"/>
          <p:cNvSpPr/>
          <p:nvPr/>
        </p:nvSpPr>
        <p:spPr>
          <a:xfrm>
            <a:off x="548640" y="5852160"/>
            <a:ext cx="11091672" cy="502920"/>
          </a:xfrm>
          <a:prstGeom prst="rect">
            <a:avLst/>
          </a:prstGeom>
          <a:noFill/>
          <a:ln/>
        </p:spPr>
        <p:txBody>
          <a:bodyPr wrap="square" rtlCol="0" anchor="t"/>
          <a:lstStyle/>
          <a:p>
            <a:pPr algn="ctr" indent="0" marL="0">
              <a:buNone/>
            </a:pPr>
            <a:r>
              <a:rPr lang="en-US" sz="1500" dirty="0">
                <a:solidFill>
                  <a:srgbClr val="757575"/>
                </a:solidFill>
                <a:latin typeface="Arial" pitchFamily="34" charset="0"/>
                <a:ea typeface="Arial" pitchFamily="34" charset="-122"/>
                <a:cs typeface="Arial" pitchFamily="34" charset="-120"/>
              </a:rPr>
              <a:t>No abres AWS ni despliegas nada: partes de una ficha con todos los componentes de Escaparate y trabajas sobre el papel.</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Funcionar no es lo mismo que estar bien construido</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7: Well-Architected</a:t>
            </a:r>
            <a:endParaRPr lang="en-US" sz="1100" dirty="0"/>
          </a:p>
        </p:txBody>
      </p:sp>
      <p:sp>
        <p:nvSpPr>
          <p:cNvPr id="5" name="Shape 3"/>
          <p:cNvSpPr/>
          <p:nvPr/>
        </p:nvSpPr>
        <p:spPr>
          <a:xfrm>
            <a:off x="548640" y="1188720"/>
            <a:ext cx="11091672" cy="1188720"/>
          </a:xfrm>
          <a:prstGeom prst="roundRect">
            <a:avLst/>
          </a:prstGeom>
          <a:solidFill>
            <a:srgbClr val="FFF8E1"/>
          </a:solidFill>
          <a:ln w="19050">
            <a:solidFill>
              <a:srgbClr val="FFA000"/>
            </a:solidFill>
            <a:prstDash val="solid"/>
          </a:ln>
        </p:spPr>
      </p:sp>
      <p:sp>
        <p:nvSpPr>
          <p:cNvPr id="6" name="Text 4"/>
          <p:cNvSpPr/>
          <p:nvPr/>
        </p:nvSpPr>
        <p:spPr>
          <a:xfrm>
            <a:off x="822960" y="1280160"/>
            <a:ext cx="10543032" cy="1005840"/>
          </a:xfrm>
          <a:prstGeom prst="rect">
            <a:avLst/>
          </a:prstGeom>
          <a:noFill/>
          <a:ln/>
        </p:spPr>
        <p:txBody>
          <a:bodyPr wrap="square" rtlCol="0" anchor="ctr"/>
          <a:lstStyle/>
          <a:p>
            <a:pPr indent="0" marL="0">
              <a:buNone/>
            </a:pPr>
            <a:r>
              <a:rPr lang="en-US" sz="1800" dirty="0">
                <a:solidFill>
                  <a:srgbClr val="212121"/>
                </a:solidFill>
                <a:latin typeface="Arial" pitchFamily="34" charset="0"/>
                <a:ea typeface="Arial" pitchFamily="34" charset="-122"/>
                <a:cs typeface="Arial" pitchFamily="34" charset="-120"/>
              </a:rPr>
              <a:t>Un catálogo puede cargar sus productos sin un solo error y, a la vez, esconder estos tres problemas. Nada de eso se nota mientras todo va bien: se nota el día que algo falla.</a:t>
            </a:r>
            <a:endParaRPr lang="en-US" sz="1800" dirty="0"/>
          </a:p>
        </p:txBody>
      </p:sp>
      <p:sp>
        <p:nvSpPr>
          <p:cNvPr id="7" name="Shape 5"/>
          <p:cNvSpPr/>
          <p:nvPr/>
        </p:nvSpPr>
        <p:spPr>
          <a:xfrm>
            <a:off x="548640" y="2697480"/>
            <a:ext cx="3514344" cy="1600200"/>
          </a:xfrm>
          <a:prstGeom prst="roundRect">
            <a:avLst/>
          </a:prstGeom>
          <a:solidFill>
            <a:srgbClr val="E8EAF6"/>
          </a:solidFill>
          <a:ln w="15875">
            <a:solidFill>
              <a:srgbClr val="3949AB"/>
            </a:solidFill>
            <a:prstDash val="solid"/>
          </a:ln>
        </p:spPr>
      </p:sp>
      <p:sp>
        <p:nvSpPr>
          <p:cNvPr id="8" name="Text 6"/>
          <p:cNvSpPr/>
          <p:nvPr/>
        </p:nvSpPr>
        <p:spPr>
          <a:xfrm>
            <a:off x="685800" y="2788920"/>
            <a:ext cx="3240024" cy="548640"/>
          </a:xfrm>
          <a:prstGeom prst="rect">
            <a:avLst/>
          </a:prstGeom>
          <a:noFill/>
          <a:ln/>
        </p:spPr>
        <p:txBody>
          <a:bodyPr wrap="square" rtlCol="0" anchor="ctr"/>
          <a:lstStyle/>
          <a:p>
            <a:pPr algn="ctr" indent="0" marL="0">
              <a:buNone/>
            </a:pPr>
            <a:r>
              <a:rPr lang="en-US" sz="2000" b="1" dirty="0">
                <a:solidFill>
                  <a:srgbClr val="1A237E"/>
                </a:solidFill>
                <a:latin typeface="Arial" pitchFamily="34" charset="0"/>
                <a:ea typeface="Arial" pitchFamily="34" charset="-122"/>
                <a:cs typeface="Arial" pitchFamily="34" charset="-120"/>
              </a:rPr>
              <a:t>🗄️ Una sola zona</a:t>
            </a:r>
            <a:endParaRPr lang="en-US" sz="2000" dirty="0"/>
          </a:p>
        </p:txBody>
      </p:sp>
      <p:sp>
        <p:nvSpPr>
          <p:cNvPr id="9" name="Text 7"/>
          <p:cNvSpPr/>
          <p:nvPr/>
        </p:nvSpPr>
        <p:spPr>
          <a:xfrm>
            <a:off x="731520" y="3383280"/>
            <a:ext cx="3148584" cy="822960"/>
          </a:xfrm>
          <a:prstGeom prst="rect">
            <a:avLst/>
          </a:prstGeom>
          <a:noFill/>
          <a:ln/>
        </p:spPr>
        <p:txBody>
          <a:bodyPr wrap="square" rtlCol="0" anchor="t"/>
          <a:lstStyle/>
          <a:p>
            <a:pPr algn="ctr" indent="0" marL="0">
              <a:buNone/>
            </a:pPr>
            <a:r>
              <a:rPr lang="en-US" sz="1600" dirty="0">
                <a:solidFill>
                  <a:srgbClr val="212121"/>
                </a:solidFill>
                <a:latin typeface="Arial" pitchFamily="34" charset="0"/>
                <a:ea typeface="Arial" pitchFamily="34" charset="-122"/>
                <a:cs typeface="Arial" pitchFamily="34" charset="-120"/>
              </a:rPr>
              <a:t>La base de datos vive en una única zona de disponibilidad.</a:t>
            </a:r>
            <a:endParaRPr lang="en-US" sz="1600" dirty="0"/>
          </a:p>
        </p:txBody>
      </p:sp>
      <p:sp>
        <p:nvSpPr>
          <p:cNvPr id="10" name="Shape 8"/>
          <p:cNvSpPr/>
          <p:nvPr/>
        </p:nvSpPr>
        <p:spPr>
          <a:xfrm>
            <a:off x="4337304" y="2697480"/>
            <a:ext cx="3514344" cy="1600200"/>
          </a:xfrm>
          <a:prstGeom prst="roundRect">
            <a:avLst/>
          </a:prstGeom>
          <a:solidFill>
            <a:srgbClr val="E8EAF6"/>
          </a:solidFill>
          <a:ln w="15875">
            <a:solidFill>
              <a:srgbClr val="3949AB"/>
            </a:solidFill>
            <a:prstDash val="solid"/>
          </a:ln>
        </p:spPr>
      </p:sp>
      <p:sp>
        <p:nvSpPr>
          <p:cNvPr id="11" name="Text 9"/>
          <p:cNvSpPr/>
          <p:nvPr/>
        </p:nvSpPr>
        <p:spPr>
          <a:xfrm>
            <a:off x="4474464" y="2788920"/>
            <a:ext cx="3240024" cy="548640"/>
          </a:xfrm>
          <a:prstGeom prst="rect">
            <a:avLst/>
          </a:prstGeom>
          <a:noFill/>
          <a:ln/>
        </p:spPr>
        <p:txBody>
          <a:bodyPr wrap="square" rtlCol="0" anchor="ctr"/>
          <a:lstStyle/>
          <a:p>
            <a:pPr algn="ctr" indent="0" marL="0">
              <a:buNone/>
            </a:pPr>
            <a:r>
              <a:rPr lang="en-US" sz="2000" b="1" dirty="0">
                <a:solidFill>
                  <a:srgbClr val="1A237E"/>
                </a:solidFill>
                <a:latin typeface="Arial" pitchFamily="34" charset="0"/>
                <a:ea typeface="Arial" pitchFamily="34" charset="-122"/>
                <a:cs typeface="Arial" pitchFamily="34" charset="-120"/>
              </a:rPr>
              <a:t>🔓 Puerto abierto</a:t>
            </a:r>
            <a:endParaRPr lang="en-US" sz="2000" dirty="0"/>
          </a:p>
        </p:txBody>
      </p:sp>
      <p:sp>
        <p:nvSpPr>
          <p:cNvPr id="12" name="Text 10"/>
          <p:cNvSpPr/>
          <p:nvPr/>
        </p:nvSpPr>
        <p:spPr>
          <a:xfrm>
            <a:off x="4520184" y="3383280"/>
            <a:ext cx="3148584" cy="822960"/>
          </a:xfrm>
          <a:prstGeom prst="rect">
            <a:avLst/>
          </a:prstGeom>
          <a:noFill/>
          <a:ln/>
        </p:spPr>
        <p:txBody>
          <a:bodyPr wrap="square" rtlCol="0" anchor="t"/>
          <a:lstStyle/>
          <a:p>
            <a:pPr algn="ctr" indent="0" marL="0">
              <a:buNone/>
            </a:pPr>
            <a:r>
              <a:rPr lang="en-US" sz="1600" dirty="0">
                <a:solidFill>
                  <a:srgbClr val="212121"/>
                </a:solidFill>
                <a:latin typeface="Arial" pitchFamily="34" charset="0"/>
                <a:ea typeface="Arial" pitchFamily="34" charset="-122"/>
                <a:cs typeface="Arial" pitchFamily="34" charset="-120"/>
              </a:rPr>
              <a:t>Un puerto de administración abierto a todo internet.</a:t>
            </a:r>
            <a:endParaRPr lang="en-US" sz="1600" dirty="0"/>
          </a:p>
        </p:txBody>
      </p:sp>
      <p:sp>
        <p:nvSpPr>
          <p:cNvPr id="13" name="Shape 11"/>
          <p:cNvSpPr/>
          <p:nvPr/>
        </p:nvSpPr>
        <p:spPr>
          <a:xfrm>
            <a:off x="8125968" y="2697480"/>
            <a:ext cx="3514344" cy="1600200"/>
          </a:xfrm>
          <a:prstGeom prst="roundRect">
            <a:avLst/>
          </a:prstGeom>
          <a:solidFill>
            <a:srgbClr val="FFF8E1"/>
          </a:solidFill>
          <a:ln w="25400">
            <a:solidFill>
              <a:srgbClr val="FFA000"/>
            </a:solidFill>
            <a:prstDash val="solid"/>
          </a:ln>
        </p:spPr>
      </p:sp>
      <p:sp>
        <p:nvSpPr>
          <p:cNvPr id="14" name="Text 12"/>
          <p:cNvSpPr/>
          <p:nvPr/>
        </p:nvSpPr>
        <p:spPr>
          <a:xfrm>
            <a:off x="8263128" y="2788920"/>
            <a:ext cx="3240024" cy="548640"/>
          </a:xfrm>
          <a:prstGeom prst="rect">
            <a:avLst/>
          </a:prstGeom>
          <a:noFill/>
          <a:ln/>
        </p:spPr>
        <p:txBody>
          <a:bodyPr wrap="square" rtlCol="0" anchor="ctr"/>
          <a:lstStyle/>
          <a:p>
            <a:pPr algn="ctr" indent="0" marL="0">
              <a:buNone/>
            </a:pPr>
            <a:r>
              <a:rPr lang="en-US" sz="2000" b="1" dirty="0">
                <a:solidFill>
                  <a:srgbClr val="1A237E"/>
                </a:solidFill>
                <a:latin typeface="Arial" pitchFamily="34" charset="0"/>
                <a:ea typeface="Arial" pitchFamily="34" charset="-122"/>
                <a:cs typeface="Arial" pitchFamily="34" charset="-120"/>
              </a:rPr>
              <a:t>🔕 Sin avisos</a:t>
            </a:r>
            <a:endParaRPr lang="en-US" sz="2000" dirty="0"/>
          </a:p>
        </p:txBody>
      </p:sp>
      <p:sp>
        <p:nvSpPr>
          <p:cNvPr id="15" name="Text 13"/>
          <p:cNvSpPr/>
          <p:nvPr/>
        </p:nvSpPr>
        <p:spPr>
          <a:xfrm>
            <a:off x="8308848" y="3383280"/>
            <a:ext cx="3148584" cy="822960"/>
          </a:xfrm>
          <a:prstGeom prst="rect">
            <a:avLst/>
          </a:prstGeom>
          <a:noFill/>
          <a:ln/>
        </p:spPr>
        <p:txBody>
          <a:bodyPr wrap="square" rtlCol="0" anchor="t"/>
          <a:lstStyle/>
          <a:p>
            <a:pPr algn="ctr" indent="0" marL="0">
              <a:buNone/>
            </a:pPr>
            <a:r>
              <a:rPr lang="en-US" sz="1600" dirty="0">
                <a:solidFill>
                  <a:srgbClr val="212121"/>
                </a:solidFill>
                <a:latin typeface="Arial" pitchFamily="34" charset="0"/>
                <a:ea typeface="Arial" pitchFamily="34" charset="-122"/>
                <a:cs typeface="Arial" pitchFamily="34" charset="-120"/>
              </a:rPr>
              <a:t>Alarmas que nadie recibe.</a:t>
            </a:r>
            <a:endParaRPr lang="en-US" sz="1600" dirty="0"/>
          </a:p>
        </p:txBody>
      </p:sp>
      <p:sp>
        <p:nvSpPr>
          <p:cNvPr id="16" name="Shape 14"/>
          <p:cNvSpPr/>
          <p:nvPr/>
        </p:nvSpPr>
        <p:spPr>
          <a:xfrm>
            <a:off x="548640" y="4572000"/>
            <a:ext cx="11091672" cy="1508760"/>
          </a:xfrm>
          <a:prstGeom prst="roundRect">
            <a:avLst/>
          </a:prstGeom>
          <a:solidFill>
            <a:srgbClr val="E8EAF6"/>
          </a:solidFill>
          <a:ln w="15875">
            <a:solidFill>
              <a:srgbClr val="3949AB"/>
            </a:solidFill>
            <a:prstDash val="solid"/>
          </a:ln>
        </p:spPr>
      </p:sp>
      <p:sp>
        <p:nvSpPr>
          <p:cNvPr id="17" name="Text 15"/>
          <p:cNvSpPr/>
          <p:nvPr/>
        </p:nvSpPr>
        <p:spPr>
          <a:xfrm>
            <a:off x="731520" y="4645152"/>
            <a:ext cx="10725912" cy="548640"/>
          </a:xfrm>
          <a:prstGeom prst="rect">
            <a:avLst/>
          </a:prstGeom>
          <a:noFill/>
          <a:ln/>
        </p:spPr>
        <p:txBody>
          <a:bodyPr wrap="square" rtlCol="0" anchor="ctr"/>
          <a:lstStyle/>
          <a:p>
            <a:pPr indent="0" marL="0">
              <a:buNone/>
            </a:pPr>
            <a:r>
              <a:rPr lang="en-US" sz="2100" b="1" dirty="0">
                <a:solidFill>
                  <a:srgbClr val="1A237E"/>
                </a:solidFill>
                <a:latin typeface="Arial" pitchFamily="34" charset="0"/>
                <a:ea typeface="Arial" pitchFamily="34" charset="-122"/>
                <a:cs typeface="Arial" pitchFamily="34" charset="-120"/>
              </a:rPr>
              <a:t>Auditoría de arquitectura</a:t>
            </a:r>
            <a:endParaRPr lang="en-US" sz="2100" dirty="0"/>
          </a:p>
        </p:txBody>
      </p:sp>
      <p:sp>
        <p:nvSpPr>
          <p:cNvPr id="18" name="Text 16"/>
          <p:cNvSpPr/>
          <p:nvPr/>
        </p:nvSpPr>
        <p:spPr>
          <a:xfrm>
            <a:off x="731520" y="5193792"/>
            <a:ext cx="10725912" cy="813816"/>
          </a:xfrm>
          <a:prstGeom prst="rect">
            <a:avLst/>
          </a:prstGeom>
          <a:noFill/>
          <a:ln/>
        </p:spPr>
        <p:txBody>
          <a:bodyPr wrap="square" rtlCol="0" anchor="t"/>
          <a:lstStyle/>
          <a:p>
            <a:pPr indent="0" marL="0">
              <a:buNone/>
            </a:pPr>
            <a:r>
              <a:rPr lang="en-US" sz="1800" dirty="0">
                <a:solidFill>
                  <a:srgbClr val="212121"/>
                </a:solidFill>
                <a:latin typeface="Arial" pitchFamily="34" charset="0"/>
                <a:ea typeface="Arial" pitchFamily="34" charset="-122"/>
                <a:cs typeface="Arial" pitchFamily="34" charset="-120"/>
              </a:rPr>
              <a:t>Recorrer un sistema con una lista fija de preguntas, para no depender de que se te ocurra qué mirar.</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El marco Well-Architected: seis pilares</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7: Well-Architected</a:t>
            </a:r>
            <a:endParaRPr lang="en-US" sz="1100" dirty="0"/>
          </a:p>
        </p:txBody>
      </p:sp>
      <p:sp>
        <p:nvSpPr>
          <p:cNvPr id="5" name="Shape 3"/>
          <p:cNvSpPr/>
          <p:nvPr/>
        </p:nvSpPr>
        <p:spPr>
          <a:xfrm>
            <a:off x="548640" y="1143000"/>
            <a:ext cx="11091672" cy="1325880"/>
          </a:xfrm>
          <a:prstGeom prst="roundRect">
            <a:avLst/>
          </a:prstGeom>
          <a:solidFill>
            <a:srgbClr val="FFF8E1"/>
          </a:solidFill>
          <a:ln w="19050">
            <a:solidFill>
              <a:srgbClr val="FFA000"/>
            </a:solidFill>
            <a:prstDash val="solid"/>
          </a:ln>
        </p:spPr>
      </p:sp>
      <p:sp>
        <p:nvSpPr>
          <p:cNvPr id="6" name="Text 4"/>
          <p:cNvSpPr/>
          <p:nvPr/>
        </p:nvSpPr>
        <p:spPr>
          <a:xfrm>
            <a:off x="822960" y="1234440"/>
            <a:ext cx="10543032" cy="1143000"/>
          </a:xfrm>
          <a:prstGeom prst="rect">
            <a:avLst/>
          </a:prstGeom>
          <a:noFill/>
          <a:ln/>
        </p:spPr>
        <p:txBody>
          <a:bodyPr wrap="square" rtlCol="0" anchor="ctr"/>
          <a:lstStyle/>
          <a:p>
            <a:pPr indent="0" marL="0">
              <a:buNone/>
            </a:pPr>
            <a:r>
              <a:rPr lang="en-US" sz="1700" dirty="0">
                <a:solidFill>
                  <a:srgbClr val="212121"/>
                </a:solidFill>
                <a:latin typeface="Arial" pitchFamily="34" charset="0"/>
                <a:ea typeface="Arial" pitchFamily="34" charset="-122"/>
                <a:cs typeface="Arial" pitchFamily="34" charset="-120"/>
              </a:rPr>
              <a:t>La lista más usada es el marco Well-Architected de AWS: buenas prácticas recogidas de las revisiones de miles de sistemas reales y organizadas en seis pilares —seis ángulos desde los que se mira cualquier arquitectura—, cada uno con su pregunta.</a:t>
            </a:r>
            <a:endParaRPr lang="en-US" sz="1700" dirty="0"/>
          </a:p>
        </p:txBody>
      </p:sp>
      <p:sp>
        <p:nvSpPr>
          <p:cNvPr id="7" name="Shape 5"/>
          <p:cNvSpPr/>
          <p:nvPr/>
        </p:nvSpPr>
        <p:spPr>
          <a:xfrm>
            <a:off x="548640" y="2697480"/>
            <a:ext cx="3544824" cy="1691640"/>
          </a:xfrm>
          <a:prstGeom prst="roundRect">
            <a:avLst/>
          </a:prstGeom>
          <a:solidFill>
            <a:srgbClr val="E8EAF6"/>
          </a:solidFill>
          <a:ln w="15875">
            <a:solidFill>
              <a:srgbClr val="3949AB"/>
            </a:solidFill>
            <a:prstDash val="solid"/>
          </a:ln>
        </p:spPr>
      </p:sp>
      <p:sp>
        <p:nvSpPr>
          <p:cNvPr id="8" name="Text 6"/>
          <p:cNvSpPr/>
          <p:nvPr/>
        </p:nvSpPr>
        <p:spPr>
          <a:xfrm>
            <a:off x="731520" y="2770632"/>
            <a:ext cx="3179064" cy="640080"/>
          </a:xfrm>
          <a:prstGeom prst="rect">
            <a:avLst/>
          </a:prstGeom>
          <a:noFill/>
          <a:ln/>
        </p:spPr>
        <p:txBody>
          <a:bodyPr wrap="square" rtlCol="0" anchor="ctr"/>
          <a:lstStyle/>
          <a:p>
            <a:pPr indent="0" marL="0">
              <a:buNone/>
            </a:pPr>
            <a:r>
              <a:rPr lang="en-US" sz="1800" b="1" dirty="0">
                <a:solidFill>
                  <a:srgbClr val="1A237E"/>
                </a:solidFill>
                <a:latin typeface="Arial" pitchFamily="34" charset="0"/>
                <a:ea typeface="Arial" pitchFamily="34" charset="-122"/>
                <a:cs typeface="Arial" pitchFamily="34" charset="-120"/>
              </a:rPr>
              <a:t>⚙️ Excelencia operativa</a:t>
            </a:r>
            <a:endParaRPr lang="en-US" sz="1800" dirty="0"/>
          </a:p>
        </p:txBody>
      </p:sp>
      <p:sp>
        <p:nvSpPr>
          <p:cNvPr id="9" name="Text 7"/>
          <p:cNvSpPr/>
          <p:nvPr/>
        </p:nvSpPr>
        <p:spPr>
          <a:xfrm>
            <a:off x="731520" y="3410712"/>
            <a:ext cx="3179064" cy="905256"/>
          </a:xfrm>
          <a:prstGeom prst="rect">
            <a:avLst/>
          </a:prstGeom>
          <a:noFill/>
          <a:ln/>
        </p:spPr>
        <p:txBody>
          <a:bodyPr wrap="square" rtlCol="0" anchor="t"/>
          <a:lstStyle/>
          <a:p>
            <a:pPr indent="0" marL="0">
              <a:buNone/>
            </a:pPr>
            <a:r>
              <a:rPr lang="en-US" sz="1600" dirty="0">
                <a:solidFill>
                  <a:srgbClr val="212121"/>
                </a:solidFill>
                <a:latin typeface="Arial" pitchFamily="34" charset="0"/>
                <a:ea typeface="Arial" pitchFamily="34" charset="-122"/>
                <a:cs typeface="Arial" pitchFamily="34" charset="-120"/>
              </a:rPr>
              <a:t>¿Puedes ver lo que pasa y mejorar el sistema con confianza?</a:t>
            </a:r>
            <a:endParaRPr lang="en-US" sz="1600" dirty="0"/>
          </a:p>
        </p:txBody>
      </p:sp>
      <p:sp>
        <p:nvSpPr>
          <p:cNvPr id="10" name="Shape 8"/>
          <p:cNvSpPr/>
          <p:nvPr/>
        </p:nvSpPr>
        <p:spPr>
          <a:xfrm>
            <a:off x="4322064" y="2697480"/>
            <a:ext cx="3544824" cy="1691640"/>
          </a:xfrm>
          <a:prstGeom prst="roundRect">
            <a:avLst/>
          </a:prstGeom>
          <a:solidFill>
            <a:srgbClr val="E8EAF6"/>
          </a:solidFill>
          <a:ln w="15875">
            <a:solidFill>
              <a:srgbClr val="3949AB"/>
            </a:solidFill>
            <a:prstDash val="solid"/>
          </a:ln>
        </p:spPr>
      </p:sp>
      <p:sp>
        <p:nvSpPr>
          <p:cNvPr id="11" name="Text 9"/>
          <p:cNvSpPr/>
          <p:nvPr/>
        </p:nvSpPr>
        <p:spPr>
          <a:xfrm>
            <a:off x="4504944" y="2770632"/>
            <a:ext cx="3179064" cy="640080"/>
          </a:xfrm>
          <a:prstGeom prst="rect">
            <a:avLst/>
          </a:prstGeom>
          <a:noFill/>
          <a:ln/>
        </p:spPr>
        <p:txBody>
          <a:bodyPr wrap="square" rtlCol="0" anchor="ctr"/>
          <a:lstStyle/>
          <a:p>
            <a:pPr indent="0" marL="0">
              <a:buNone/>
            </a:pPr>
            <a:r>
              <a:rPr lang="en-US" sz="1800" b="1" dirty="0">
                <a:solidFill>
                  <a:srgbClr val="1A237E"/>
                </a:solidFill>
                <a:latin typeface="Arial" pitchFamily="34" charset="0"/>
                <a:ea typeface="Arial" pitchFamily="34" charset="-122"/>
                <a:cs typeface="Arial" pitchFamily="34" charset="-120"/>
              </a:rPr>
              <a:t>🔒 Seguridad</a:t>
            </a:r>
            <a:endParaRPr lang="en-US" sz="1800" dirty="0"/>
          </a:p>
        </p:txBody>
      </p:sp>
      <p:sp>
        <p:nvSpPr>
          <p:cNvPr id="12" name="Text 10"/>
          <p:cNvSpPr/>
          <p:nvPr/>
        </p:nvSpPr>
        <p:spPr>
          <a:xfrm>
            <a:off x="4504944" y="3410712"/>
            <a:ext cx="3179064" cy="905256"/>
          </a:xfrm>
          <a:prstGeom prst="rect">
            <a:avLst/>
          </a:prstGeom>
          <a:noFill/>
          <a:ln/>
        </p:spPr>
        <p:txBody>
          <a:bodyPr wrap="square" rtlCol="0" anchor="t"/>
          <a:lstStyle/>
          <a:p>
            <a:pPr indent="0" marL="0">
              <a:buNone/>
            </a:pPr>
            <a:r>
              <a:rPr lang="en-US" sz="1600" dirty="0">
                <a:solidFill>
                  <a:srgbClr val="212121"/>
                </a:solidFill>
                <a:latin typeface="Arial" pitchFamily="34" charset="0"/>
                <a:ea typeface="Arial" pitchFamily="34" charset="-122"/>
                <a:cs typeface="Arial" pitchFamily="34" charset="-120"/>
              </a:rPr>
              <a:t>¿Están protegidos los datos y los accesos?</a:t>
            </a:r>
            <a:endParaRPr lang="en-US" sz="1600" dirty="0"/>
          </a:p>
        </p:txBody>
      </p:sp>
      <p:sp>
        <p:nvSpPr>
          <p:cNvPr id="13" name="Shape 11"/>
          <p:cNvSpPr/>
          <p:nvPr/>
        </p:nvSpPr>
        <p:spPr>
          <a:xfrm>
            <a:off x="8095488" y="2697480"/>
            <a:ext cx="3544824" cy="1691640"/>
          </a:xfrm>
          <a:prstGeom prst="roundRect">
            <a:avLst/>
          </a:prstGeom>
          <a:solidFill>
            <a:srgbClr val="E8EAF6"/>
          </a:solidFill>
          <a:ln w="15875">
            <a:solidFill>
              <a:srgbClr val="3949AB"/>
            </a:solidFill>
            <a:prstDash val="solid"/>
          </a:ln>
        </p:spPr>
      </p:sp>
      <p:sp>
        <p:nvSpPr>
          <p:cNvPr id="14" name="Text 12"/>
          <p:cNvSpPr/>
          <p:nvPr/>
        </p:nvSpPr>
        <p:spPr>
          <a:xfrm>
            <a:off x="8278368" y="2770632"/>
            <a:ext cx="3179064" cy="640080"/>
          </a:xfrm>
          <a:prstGeom prst="rect">
            <a:avLst/>
          </a:prstGeom>
          <a:noFill/>
          <a:ln/>
        </p:spPr>
        <p:txBody>
          <a:bodyPr wrap="square" rtlCol="0" anchor="ctr"/>
          <a:lstStyle/>
          <a:p>
            <a:pPr indent="0" marL="0">
              <a:buNone/>
            </a:pPr>
            <a:r>
              <a:rPr lang="en-US" sz="1800" b="1" dirty="0">
                <a:solidFill>
                  <a:srgbClr val="1A237E"/>
                </a:solidFill>
                <a:latin typeface="Arial" pitchFamily="34" charset="0"/>
                <a:ea typeface="Arial" pitchFamily="34" charset="-122"/>
                <a:cs typeface="Arial" pitchFamily="34" charset="-120"/>
              </a:rPr>
              <a:t>🛟 Fiabilidad</a:t>
            </a:r>
            <a:endParaRPr lang="en-US" sz="1800" dirty="0"/>
          </a:p>
        </p:txBody>
      </p:sp>
      <p:sp>
        <p:nvSpPr>
          <p:cNvPr id="15" name="Text 13"/>
          <p:cNvSpPr/>
          <p:nvPr/>
        </p:nvSpPr>
        <p:spPr>
          <a:xfrm>
            <a:off x="8278368" y="3410712"/>
            <a:ext cx="3179064" cy="905256"/>
          </a:xfrm>
          <a:prstGeom prst="rect">
            <a:avLst/>
          </a:prstGeom>
          <a:noFill/>
          <a:ln/>
        </p:spPr>
        <p:txBody>
          <a:bodyPr wrap="square" rtlCol="0" anchor="t"/>
          <a:lstStyle/>
          <a:p>
            <a:pPr indent="0" marL="0">
              <a:buNone/>
            </a:pPr>
            <a:r>
              <a:rPr lang="en-US" sz="1600" dirty="0">
                <a:solidFill>
                  <a:srgbClr val="212121"/>
                </a:solidFill>
                <a:latin typeface="Arial" pitchFamily="34" charset="0"/>
                <a:ea typeface="Arial" pitchFamily="34" charset="-122"/>
                <a:cs typeface="Arial" pitchFamily="34" charset="-120"/>
              </a:rPr>
              <a:t>¿Se recupera el sistema de un fallo sin intervención?</a:t>
            </a:r>
            <a:endParaRPr lang="en-US" sz="1600" dirty="0"/>
          </a:p>
        </p:txBody>
      </p:sp>
      <p:sp>
        <p:nvSpPr>
          <p:cNvPr id="16" name="Shape 14"/>
          <p:cNvSpPr/>
          <p:nvPr/>
        </p:nvSpPr>
        <p:spPr>
          <a:xfrm>
            <a:off x="548640" y="4572000"/>
            <a:ext cx="3544824" cy="1691640"/>
          </a:xfrm>
          <a:prstGeom prst="roundRect">
            <a:avLst/>
          </a:prstGeom>
          <a:solidFill>
            <a:srgbClr val="E8EAF6"/>
          </a:solidFill>
          <a:ln w="15875">
            <a:solidFill>
              <a:srgbClr val="3949AB"/>
            </a:solidFill>
            <a:prstDash val="solid"/>
          </a:ln>
        </p:spPr>
      </p:sp>
      <p:sp>
        <p:nvSpPr>
          <p:cNvPr id="17" name="Text 15"/>
          <p:cNvSpPr/>
          <p:nvPr/>
        </p:nvSpPr>
        <p:spPr>
          <a:xfrm>
            <a:off x="731520" y="4645152"/>
            <a:ext cx="3179064" cy="640080"/>
          </a:xfrm>
          <a:prstGeom prst="rect">
            <a:avLst/>
          </a:prstGeom>
          <a:noFill/>
          <a:ln/>
        </p:spPr>
        <p:txBody>
          <a:bodyPr wrap="square" rtlCol="0" anchor="ctr"/>
          <a:lstStyle/>
          <a:p>
            <a:pPr indent="0" marL="0">
              <a:buNone/>
            </a:pPr>
            <a:r>
              <a:rPr lang="en-US" sz="1800" b="1" dirty="0">
                <a:solidFill>
                  <a:srgbClr val="1A237E"/>
                </a:solidFill>
                <a:latin typeface="Arial" pitchFamily="34" charset="0"/>
                <a:ea typeface="Arial" pitchFamily="34" charset="-122"/>
                <a:cs typeface="Arial" pitchFamily="34" charset="-120"/>
              </a:rPr>
              <a:t>⚡ Eficiencia del rendimiento</a:t>
            </a:r>
            <a:endParaRPr lang="en-US" sz="1800" dirty="0"/>
          </a:p>
        </p:txBody>
      </p:sp>
      <p:sp>
        <p:nvSpPr>
          <p:cNvPr id="18" name="Text 16"/>
          <p:cNvSpPr/>
          <p:nvPr/>
        </p:nvSpPr>
        <p:spPr>
          <a:xfrm>
            <a:off x="731520" y="5285232"/>
            <a:ext cx="3179064" cy="905256"/>
          </a:xfrm>
          <a:prstGeom prst="rect">
            <a:avLst/>
          </a:prstGeom>
          <a:noFill/>
          <a:ln/>
        </p:spPr>
        <p:txBody>
          <a:bodyPr wrap="square" rtlCol="0" anchor="t"/>
          <a:lstStyle/>
          <a:p>
            <a:pPr indent="0" marL="0">
              <a:buNone/>
            </a:pPr>
            <a:r>
              <a:rPr lang="en-US" sz="1600" dirty="0">
                <a:solidFill>
                  <a:srgbClr val="212121"/>
                </a:solidFill>
                <a:latin typeface="Arial" pitchFamily="34" charset="0"/>
                <a:ea typeface="Arial" pitchFamily="34" charset="-122"/>
                <a:cs typeface="Arial" pitchFamily="34" charset="-120"/>
              </a:rPr>
              <a:t>¿Usas los recursos adecuados para la carga real?</a:t>
            </a:r>
            <a:endParaRPr lang="en-US" sz="1600" dirty="0"/>
          </a:p>
        </p:txBody>
      </p:sp>
      <p:sp>
        <p:nvSpPr>
          <p:cNvPr id="19" name="Shape 17"/>
          <p:cNvSpPr/>
          <p:nvPr/>
        </p:nvSpPr>
        <p:spPr>
          <a:xfrm>
            <a:off x="4322064" y="4572000"/>
            <a:ext cx="3544824" cy="1691640"/>
          </a:xfrm>
          <a:prstGeom prst="roundRect">
            <a:avLst/>
          </a:prstGeom>
          <a:solidFill>
            <a:srgbClr val="E8EAF6"/>
          </a:solidFill>
          <a:ln w="15875">
            <a:solidFill>
              <a:srgbClr val="3949AB"/>
            </a:solidFill>
            <a:prstDash val="solid"/>
          </a:ln>
        </p:spPr>
      </p:sp>
      <p:sp>
        <p:nvSpPr>
          <p:cNvPr id="20" name="Text 18"/>
          <p:cNvSpPr/>
          <p:nvPr/>
        </p:nvSpPr>
        <p:spPr>
          <a:xfrm>
            <a:off x="4504944" y="4645152"/>
            <a:ext cx="3179064" cy="640080"/>
          </a:xfrm>
          <a:prstGeom prst="rect">
            <a:avLst/>
          </a:prstGeom>
          <a:noFill/>
          <a:ln/>
        </p:spPr>
        <p:txBody>
          <a:bodyPr wrap="square" rtlCol="0" anchor="ctr"/>
          <a:lstStyle/>
          <a:p>
            <a:pPr indent="0" marL="0">
              <a:buNone/>
            </a:pPr>
            <a:r>
              <a:rPr lang="en-US" sz="1800" b="1" dirty="0">
                <a:solidFill>
                  <a:srgbClr val="1A237E"/>
                </a:solidFill>
                <a:latin typeface="Arial" pitchFamily="34" charset="0"/>
                <a:ea typeface="Arial" pitchFamily="34" charset="-122"/>
                <a:cs typeface="Arial" pitchFamily="34" charset="-120"/>
              </a:rPr>
              <a:t>💰 Optimización de costes</a:t>
            </a:r>
            <a:endParaRPr lang="en-US" sz="1800" dirty="0"/>
          </a:p>
        </p:txBody>
      </p:sp>
      <p:sp>
        <p:nvSpPr>
          <p:cNvPr id="21" name="Text 19"/>
          <p:cNvSpPr/>
          <p:nvPr/>
        </p:nvSpPr>
        <p:spPr>
          <a:xfrm>
            <a:off x="4504944" y="5285232"/>
            <a:ext cx="3179064" cy="905256"/>
          </a:xfrm>
          <a:prstGeom prst="rect">
            <a:avLst/>
          </a:prstGeom>
          <a:noFill/>
          <a:ln/>
        </p:spPr>
        <p:txBody>
          <a:bodyPr wrap="square" rtlCol="0" anchor="t"/>
          <a:lstStyle/>
          <a:p>
            <a:pPr indent="0" marL="0">
              <a:buNone/>
            </a:pPr>
            <a:r>
              <a:rPr lang="en-US" sz="1600" dirty="0">
                <a:solidFill>
                  <a:srgbClr val="212121"/>
                </a:solidFill>
                <a:latin typeface="Arial" pitchFamily="34" charset="0"/>
                <a:ea typeface="Arial" pitchFamily="34" charset="-122"/>
                <a:cs typeface="Arial" pitchFamily="34" charset="-120"/>
              </a:rPr>
              <a:t>¿Gastas lo que necesitas, ni más ni menos?</a:t>
            </a:r>
            <a:endParaRPr lang="en-US" sz="1600" dirty="0"/>
          </a:p>
        </p:txBody>
      </p:sp>
      <p:sp>
        <p:nvSpPr>
          <p:cNvPr id="22" name="Shape 20"/>
          <p:cNvSpPr/>
          <p:nvPr/>
        </p:nvSpPr>
        <p:spPr>
          <a:xfrm>
            <a:off x="8095488" y="4572000"/>
            <a:ext cx="3544824" cy="1691640"/>
          </a:xfrm>
          <a:prstGeom prst="roundRect">
            <a:avLst/>
          </a:prstGeom>
          <a:solidFill>
            <a:srgbClr val="E8EAF6"/>
          </a:solidFill>
          <a:ln w="15875">
            <a:solidFill>
              <a:srgbClr val="3949AB"/>
            </a:solidFill>
            <a:prstDash val="solid"/>
          </a:ln>
        </p:spPr>
      </p:sp>
      <p:sp>
        <p:nvSpPr>
          <p:cNvPr id="23" name="Text 21"/>
          <p:cNvSpPr/>
          <p:nvPr/>
        </p:nvSpPr>
        <p:spPr>
          <a:xfrm>
            <a:off x="8278368" y="4645152"/>
            <a:ext cx="3179064" cy="640080"/>
          </a:xfrm>
          <a:prstGeom prst="rect">
            <a:avLst/>
          </a:prstGeom>
          <a:noFill/>
          <a:ln/>
        </p:spPr>
        <p:txBody>
          <a:bodyPr wrap="square" rtlCol="0" anchor="ctr"/>
          <a:lstStyle/>
          <a:p>
            <a:pPr indent="0" marL="0">
              <a:buNone/>
            </a:pPr>
            <a:r>
              <a:rPr lang="en-US" sz="1800" b="1" dirty="0">
                <a:solidFill>
                  <a:srgbClr val="1A237E"/>
                </a:solidFill>
                <a:latin typeface="Arial" pitchFamily="34" charset="0"/>
                <a:ea typeface="Arial" pitchFamily="34" charset="-122"/>
                <a:cs typeface="Arial" pitchFamily="34" charset="-120"/>
              </a:rPr>
              <a:t>🌱 Sostenibilidad</a:t>
            </a:r>
            <a:endParaRPr lang="en-US" sz="1800" dirty="0"/>
          </a:p>
        </p:txBody>
      </p:sp>
      <p:sp>
        <p:nvSpPr>
          <p:cNvPr id="24" name="Text 22"/>
          <p:cNvSpPr/>
          <p:nvPr/>
        </p:nvSpPr>
        <p:spPr>
          <a:xfrm>
            <a:off x="8278368" y="5285232"/>
            <a:ext cx="3179064" cy="905256"/>
          </a:xfrm>
          <a:prstGeom prst="rect">
            <a:avLst/>
          </a:prstGeom>
          <a:noFill/>
          <a:ln/>
        </p:spPr>
        <p:txBody>
          <a:bodyPr wrap="square" rtlCol="0" anchor="t"/>
          <a:lstStyle/>
          <a:p>
            <a:pPr indent="0" marL="0">
              <a:buNone/>
            </a:pPr>
            <a:r>
              <a:rPr lang="en-US" sz="1600" dirty="0">
                <a:solidFill>
                  <a:srgbClr val="212121"/>
                </a:solidFill>
                <a:latin typeface="Arial" pitchFamily="34" charset="0"/>
                <a:ea typeface="Arial" pitchFamily="34" charset="-122"/>
                <a:cs typeface="Arial" pitchFamily="34" charset="-120"/>
              </a:rPr>
              <a:t>¿Minimizas la energía y los recursos que consume lo que tienes encendido?</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Los seis pilares: lo que ya has practicado</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7: Well-Architected</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91672" cy="914400"/>
        </p:xfrm>
        <a:graphic>
          <a:graphicData uri="http://schemas.openxmlformats.org/drawingml/2006/table">
            <a:tbl>
              <a:tblPr/>
              <a:tblGrid>
                <a:gridCol w="2218334"/>
                <a:gridCol w="3993002"/>
                <a:gridCol w="4880336"/>
              </a:tblGrid>
              <a:tr h="713232">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Pilar</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Pregunta que responde</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Ya lo has practicado</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r>
              <a:tr h="713232">
                <a:tc>
                  <a:txBody>
                    <a:bodyPr/>
                    <a:lstStyle/>
                    <a:p>
                      <a:pPr indent="0" marL="0">
                        <a:buNone/>
                      </a:pPr>
                      <a:r>
                        <a:rPr lang="en-US" sz="1400" b="1" dirty="0">
                          <a:solidFill>
                            <a:srgbClr val="212121"/>
                          </a:solidFill>
                          <a:latin typeface="Arial" pitchFamily="34" charset="0"/>
                          <a:ea typeface="Arial" pitchFamily="34" charset="-122"/>
                          <a:cs typeface="Arial" pitchFamily="34" charset="-120"/>
                        </a:rPr>
                        <a:t>Excelencia operativa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¿Puedes ver lo que pasa y mejorar con confianza?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Dashboard y alarmas (Tema 5), infraestructura en código (Tema 6)</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713232">
                <a:tc>
                  <a:txBody>
                    <a:bodyPr/>
                    <a:lstStyle/>
                    <a:p>
                      <a:pPr indent="0" marL="0">
                        <a:buNone/>
                      </a:pPr>
                      <a:r>
                        <a:rPr lang="en-US" sz="1400" b="1" dirty="0">
                          <a:solidFill>
                            <a:srgbClr val="212121"/>
                          </a:solidFill>
                          <a:latin typeface="Arial" pitchFamily="34" charset="0"/>
                          <a:ea typeface="Arial" pitchFamily="34" charset="-122"/>
                          <a:cs typeface="Arial" pitchFamily="34" charset="-120"/>
                        </a:rPr>
                        <a:t>Seguridad</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¿Están protegidos los datos y los accesos?</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Subredes privadas y grupos de seguridad (Temas 2 y 3), mínimo privilegio (Tema 5)</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713232">
                <a:tc>
                  <a:txBody>
                    <a:bodyPr/>
                    <a:lstStyle/>
                    <a:p>
                      <a:pPr indent="0" marL="0">
                        <a:buNone/>
                      </a:pPr>
                      <a:r>
                        <a:rPr lang="en-US" sz="1400" b="1" dirty="0">
                          <a:solidFill>
                            <a:srgbClr val="212121"/>
                          </a:solidFill>
                          <a:latin typeface="Arial" pitchFamily="34" charset="0"/>
                          <a:ea typeface="Arial" pitchFamily="34" charset="-122"/>
                          <a:cs typeface="Arial" pitchFamily="34" charset="-120"/>
                        </a:rPr>
                        <a:t>Fiabilidad</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¿Se recupera de un fallo sin intervención?</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Grupo de escalado que repone instancias (Tema 4), Multi-AZ (Tema 3)</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713232">
                <a:tc>
                  <a:txBody>
                    <a:bodyPr/>
                    <a:lstStyle/>
                    <a:p>
                      <a:pPr indent="0" marL="0">
                        <a:buNone/>
                      </a:pPr>
                      <a:r>
                        <a:rPr lang="en-US" sz="1400" b="1" dirty="0">
                          <a:solidFill>
                            <a:srgbClr val="212121"/>
                          </a:solidFill>
                          <a:latin typeface="Arial" pitchFamily="34" charset="0"/>
                          <a:ea typeface="Arial" pitchFamily="34" charset="-122"/>
                          <a:cs typeface="Arial" pitchFamily="34" charset="-120"/>
                        </a:rPr>
                        <a:t>Eficiencia del rendimiento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¿Usas los recursos adecuados para la carga real?</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Tipo de instancia y escalado por CPU (Temas 2 y 4)</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713232">
                <a:tc>
                  <a:txBody>
                    <a:bodyPr/>
                    <a:lstStyle/>
                    <a:p>
                      <a:pPr indent="0" marL="0">
                        <a:buNone/>
                      </a:pPr>
                      <a:r>
                        <a:rPr lang="en-US" sz="1400" b="1" dirty="0">
                          <a:solidFill>
                            <a:srgbClr val="212121"/>
                          </a:solidFill>
                          <a:latin typeface="Arial" pitchFamily="34" charset="0"/>
                          <a:ea typeface="Arial" pitchFamily="34" charset="-122"/>
                          <a:cs typeface="Arial" pitchFamily="34" charset="-120"/>
                        </a:rPr>
                        <a:t>Optimización de costes</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¿Gastas lo que necesitas, ni más ni menos?</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Calculadora y modelos de compra (Tema 5)</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713232">
                <a:tc>
                  <a:txBody>
                    <a:bodyPr/>
                    <a:lstStyle/>
                    <a:p>
                      <a:pPr indent="0" marL="0">
                        <a:buNone/>
                      </a:pPr>
                      <a:r>
                        <a:rPr lang="en-US" sz="1400" b="1" dirty="0">
                          <a:solidFill>
                            <a:srgbClr val="212121"/>
                          </a:solidFill>
                          <a:latin typeface="Arial" pitchFamily="34" charset="0"/>
                          <a:ea typeface="Arial" pitchFamily="34" charset="-122"/>
                          <a:cs typeface="Arial" pitchFamily="34" charset="-120"/>
                        </a:rPr>
                        <a:t>Sostenibilidad</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¿Minimizas la energía y los recursos de lo que tienes encendido?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Capacidad que se apaga sola cuando no hace falta (Temas 4 y 6)</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No es una lista nueva: es una forma de mirar</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7: Well-Architected</a:t>
            </a:r>
            <a:endParaRPr lang="en-US" sz="1100" dirty="0"/>
          </a:p>
        </p:txBody>
      </p:sp>
      <p:sp>
        <p:nvSpPr>
          <p:cNvPr id="5" name="Shape 3"/>
          <p:cNvSpPr/>
          <p:nvPr/>
        </p:nvSpPr>
        <p:spPr>
          <a:xfrm>
            <a:off x="548640" y="1188720"/>
            <a:ext cx="5408676" cy="2468880"/>
          </a:xfrm>
          <a:prstGeom prst="roundRect">
            <a:avLst/>
          </a:prstGeom>
          <a:solidFill>
            <a:srgbClr val="E8EAF6"/>
          </a:solidFill>
          <a:ln w="15875">
            <a:solidFill>
              <a:srgbClr val="3949AB"/>
            </a:solidFill>
            <a:prstDash val="solid"/>
          </a:ln>
        </p:spPr>
      </p:sp>
      <p:sp>
        <p:nvSpPr>
          <p:cNvPr id="6" name="Text 4"/>
          <p:cNvSpPr/>
          <p:nvPr/>
        </p:nvSpPr>
        <p:spPr>
          <a:xfrm>
            <a:off x="731520" y="1261872"/>
            <a:ext cx="5042916" cy="548640"/>
          </a:xfrm>
          <a:prstGeom prst="rect">
            <a:avLst/>
          </a:prstGeom>
          <a:noFill/>
          <a:ln/>
        </p:spPr>
        <p:txBody>
          <a:bodyPr wrap="square" rtlCol="0" anchor="ctr"/>
          <a:lstStyle/>
          <a:p>
            <a:pPr indent="0" marL="0">
              <a:buNone/>
            </a:pPr>
            <a:r>
              <a:rPr lang="en-US" sz="2000" b="1" dirty="0">
                <a:solidFill>
                  <a:srgbClr val="1A237E"/>
                </a:solidFill>
                <a:latin typeface="Arial" pitchFamily="34" charset="0"/>
                <a:ea typeface="Arial" pitchFamily="34" charset="-122"/>
                <a:cs typeface="Arial" pitchFamily="34" charset="-120"/>
              </a:rPr>
              <a:t>Nada nuevo que aprender</a:t>
            </a:r>
            <a:endParaRPr lang="en-US" sz="2000" dirty="0"/>
          </a:p>
        </p:txBody>
      </p:sp>
      <p:sp>
        <p:nvSpPr>
          <p:cNvPr id="7" name="Text 5"/>
          <p:cNvSpPr/>
          <p:nvPr/>
        </p:nvSpPr>
        <p:spPr>
          <a:xfrm>
            <a:off x="731520" y="1810512"/>
            <a:ext cx="5042916" cy="1773936"/>
          </a:xfrm>
          <a:prstGeom prst="rect">
            <a:avLst/>
          </a:prstGeom>
          <a:noFill/>
          <a:ln/>
        </p:spPr>
        <p:txBody>
          <a:bodyPr wrap="square" rtlCol="0" anchor="t"/>
          <a:lstStyle/>
          <a:p>
            <a:pPr indent="0" marL="0">
              <a:buNone/>
            </a:pPr>
            <a:r>
              <a:rPr lang="en-US" sz="1700" dirty="0">
                <a:solidFill>
                  <a:srgbClr val="212121"/>
                </a:solidFill>
                <a:latin typeface="Arial" pitchFamily="34" charset="0"/>
                <a:ea typeface="Arial" pitchFamily="34" charset="-122"/>
                <a:cs typeface="Arial" pitchFamily="34" charset="-120"/>
              </a:rPr>
              <a:t>Cada pilar corresponde a algo que ya has practicado. El marco te pide mirar una arquitectura con las seis preguntas encima, una a una, sin saltarte ninguna.</a:t>
            </a:r>
            <a:endParaRPr lang="en-US" sz="1700" dirty="0"/>
          </a:p>
        </p:txBody>
      </p:sp>
      <p:sp>
        <p:nvSpPr>
          <p:cNvPr id="8" name="Shape 6"/>
          <p:cNvSpPr/>
          <p:nvPr/>
        </p:nvSpPr>
        <p:spPr>
          <a:xfrm>
            <a:off x="6231636" y="1188720"/>
            <a:ext cx="5408676" cy="2468880"/>
          </a:xfrm>
          <a:prstGeom prst="roundRect">
            <a:avLst/>
          </a:prstGeom>
          <a:solidFill>
            <a:srgbClr val="FFF8E1"/>
          </a:solidFill>
          <a:ln w="25400">
            <a:solidFill>
              <a:srgbClr val="FFA000"/>
            </a:solidFill>
            <a:prstDash val="solid"/>
          </a:ln>
        </p:spPr>
      </p:sp>
      <p:sp>
        <p:nvSpPr>
          <p:cNvPr id="9" name="Text 7"/>
          <p:cNvSpPr/>
          <p:nvPr/>
        </p:nvSpPr>
        <p:spPr>
          <a:xfrm>
            <a:off x="6414516" y="1261872"/>
            <a:ext cx="5042916" cy="548640"/>
          </a:xfrm>
          <a:prstGeom prst="rect">
            <a:avLst/>
          </a:prstGeom>
          <a:noFill/>
          <a:ln/>
        </p:spPr>
        <p:txBody>
          <a:bodyPr wrap="square" rtlCol="0" anchor="ctr"/>
          <a:lstStyle/>
          <a:p>
            <a:pPr indent="0" marL="0">
              <a:buNone/>
            </a:pPr>
            <a:r>
              <a:rPr lang="en-US" sz="2000" b="1" dirty="0">
                <a:solidFill>
                  <a:srgbClr val="1A237E"/>
                </a:solidFill>
                <a:latin typeface="Arial" pitchFamily="34" charset="0"/>
                <a:ea typeface="Arial" pitchFamily="34" charset="-122"/>
                <a:cs typeface="Arial" pitchFamily="34" charset="-120"/>
              </a:rPr>
              <a:t>Sostenibilidad: qué te toca a ti</a:t>
            </a:r>
            <a:endParaRPr lang="en-US" sz="2000" dirty="0"/>
          </a:p>
        </p:txBody>
      </p:sp>
      <p:sp>
        <p:nvSpPr>
          <p:cNvPr id="10" name="Text 8"/>
          <p:cNvSpPr/>
          <p:nvPr/>
        </p:nvSpPr>
        <p:spPr>
          <a:xfrm>
            <a:off x="6414516" y="1810512"/>
            <a:ext cx="5042916" cy="1773936"/>
          </a:xfrm>
          <a:prstGeom prst="rect">
            <a:avLst/>
          </a:prstGeom>
          <a:noFill/>
          <a:ln/>
        </p:spPr>
        <p:txBody>
          <a:bodyPr wrap="square" rtlCol="0" anchor="t"/>
          <a:lstStyle/>
          <a:p>
            <a:pPr indent="0" marL="0">
              <a:buNone/>
            </a:pPr>
            <a:r>
              <a:rPr lang="en-US" sz="1700" dirty="0">
                <a:solidFill>
                  <a:srgbClr val="212121"/>
                </a:solidFill>
                <a:latin typeface="Arial" pitchFamily="34" charset="0"/>
                <a:ea typeface="Arial" pitchFamily="34" charset="-122"/>
                <a:cs typeface="Arial" pitchFamily="34" charset="-120"/>
              </a:rPr>
              <a:t>AWS se encarga de la eficiencia de sus centros de datos. A ti te toca no mantener encendida capacidad que nadie usa.</a:t>
            </a:r>
            <a:endParaRPr lang="en-US" sz="1700" dirty="0"/>
          </a:p>
        </p:txBody>
      </p:sp>
      <p:sp>
        <p:nvSpPr>
          <p:cNvPr id="11" name="Text 9"/>
          <p:cNvSpPr/>
          <p:nvPr/>
        </p:nvSpPr>
        <p:spPr>
          <a:xfrm>
            <a:off x="548640" y="3931920"/>
            <a:ext cx="11091672" cy="365760"/>
          </a:xfrm>
          <a:prstGeom prst="rect">
            <a:avLst/>
          </a:prstGeom>
          <a:noFill/>
          <a:ln/>
        </p:spPr>
        <p:txBody>
          <a:bodyPr wrap="square" rtlCol="0" anchor="ctr"/>
          <a:lstStyle/>
          <a:p>
            <a:pPr indent="0" marL="0">
              <a:buNone/>
            </a:pPr>
            <a:r>
              <a:rPr lang="en-US" sz="1500" b="1" dirty="0">
                <a:solidFill>
                  <a:srgbClr val="3949AB"/>
                </a:solidFill>
                <a:latin typeface="Arial" pitchFamily="34" charset="0"/>
                <a:ea typeface="Arial" pitchFamily="34" charset="-122"/>
                <a:cs typeface="Arial" pitchFamily="34" charset="-120"/>
              </a:rPr>
              <a:t>Las seis preguntas, una a una</a:t>
            </a:r>
            <a:endParaRPr lang="en-US" sz="1500" dirty="0"/>
          </a:p>
        </p:txBody>
      </p:sp>
      <p:sp>
        <p:nvSpPr>
          <p:cNvPr id="12" name="Shape 10"/>
          <p:cNvSpPr/>
          <p:nvPr/>
        </p:nvSpPr>
        <p:spPr>
          <a:xfrm>
            <a:off x="548640" y="4389120"/>
            <a:ext cx="1620012" cy="1097280"/>
          </a:xfrm>
          <a:prstGeom prst="roundRect">
            <a:avLst/>
          </a:prstGeom>
          <a:solidFill>
            <a:srgbClr val="E8EAF6"/>
          </a:solidFill>
          <a:ln w="15875">
            <a:solidFill>
              <a:srgbClr val="3949AB"/>
            </a:solidFill>
            <a:prstDash val="solid"/>
          </a:ln>
        </p:spPr>
      </p:sp>
      <p:sp>
        <p:nvSpPr>
          <p:cNvPr id="13" name="Text 11"/>
          <p:cNvSpPr/>
          <p:nvPr/>
        </p:nvSpPr>
        <p:spPr>
          <a:xfrm>
            <a:off x="621792" y="4434840"/>
            <a:ext cx="1473708" cy="100584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Operativa</a:t>
            </a:r>
            <a:endParaRPr lang="en-US" sz="1400" dirty="0"/>
          </a:p>
        </p:txBody>
      </p:sp>
      <p:sp>
        <p:nvSpPr>
          <p:cNvPr id="14" name="Shape 12"/>
          <p:cNvSpPr/>
          <p:nvPr/>
        </p:nvSpPr>
        <p:spPr>
          <a:xfrm>
            <a:off x="2442972" y="4389120"/>
            <a:ext cx="1620012" cy="1097280"/>
          </a:xfrm>
          <a:prstGeom prst="roundRect">
            <a:avLst/>
          </a:prstGeom>
          <a:solidFill>
            <a:srgbClr val="E8EAF6"/>
          </a:solidFill>
          <a:ln w="15875">
            <a:solidFill>
              <a:srgbClr val="3949AB"/>
            </a:solidFill>
            <a:prstDash val="solid"/>
          </a:ln>
        </p:spPr>
      </p:sp>
      <p:sp>
        <p:nvSpPr>
          <p:cNvPr id="15" name="Text 13"/>
          <p:cNvSpPr/>
          <p:nvPr/>
        </p:nvSpPr>
        <p:spPr>
          <a:xfrm>
            <a:off x="2516124" y="4434840"/>
            <a:ext cx="1473708" cy="100584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Seguridad</a:t>
            </a:r>
            <a:endParaRPr lang="en-US" sz="1400" dirty="0"/>
          </a:p>
        </p:txBody>
      </p:sp>
      <p:sp>
        <p:nvSpPr>
          <p:cNvPr id="16" name="Shape 14"/>
          <p:cNvSpPr/>
          <p:nvPr/>
        </p:nvSpPr>
        <p:spPr>
          <a:xfrm>
            <a:off x="4337304" y="4389120"/>
            <a:ext cx="1620012" cy="1097280"/>
          </a:xfrm>
          <a:prstGeom prst="roundRect">
            <a:avLst/>
          </a:prstGeom>
          <a:solidFill>
            <a:srgbClr val="E8EAF6"/>
          </a:solidFill>
          <a:ln w="15875">
            <a:solidFill>
              <a:srgbClr val="3949AB"/>
            </a:solidFill>
            <a:prstDash val="solid"/>
          </a:ln>
        </p:spPr>
      </p:sp>
      <p:sp>
        <p:nvSpPr>
          <p:cNvPr id="17" name="Text 15"/>
          <p:cNvSpPr/>
          <p:nvPr/>
        </p:nvSpPr>
        <p:spPr>
          <a:xfrm>
            <a:off x="4410456" y="4434840"/>
            <a:ext cx="1473708" cy="100584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Fiabilidad</a:t>
            </a:r>
            <a:endParaRPr lang="en-US" sz="1400" dirty="0"/>
          </a:p>
        </p:txBody>
      </p:sp>
      <p:sp>
        <p:nvSpPr>
          <p:cNvPr id="18" name="Shape 16"/>
          <p:cNvSpPr/>
          <p:nvPr/>
        </p:nvSpPr>
        <p:spPr>
          <a:xfrm>
            <a:off x="6231636" y="4389120"/>
            <a:ext cx="1620012" cy="1097280"/>
          </a:xfrm>
          <a:prstGeom prst="roundRect">
            <a:avLst/>
          </a:prstGeom>
          <a:solidFill>
            <a:srgbClr val="E8EAF6"/>
          </a:solidFill>
          <a:ln w="15875">
            <a:solidFill>
              <a:srgbClr val="3949AB"/>
            </a:solidFill>
            <a:prstDash val="solid"/>
          </a:ln>
        </p:spPr>
      </p:sp>
      <p:sp>
        <p:nvSpPr>
          <p:cNvPr id="19" name="Text 17"/>
          <p:cNvSpPr/>
          <p:nvPr/>
        </p:nvSpPr>
        <p:spPr>
          <a:xfrm>
            <a:off x="6304788" y="4434840"/>
            <a:ext cx="1473708" cy="100584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Rendimiento</a:t>
            </a:r>
            <a:endParaRPr lang="en-US" sz="1400" dirty="0"/>
          </a:p>
        </p:txBody>
      </p:sp>
      <p:sp>
        <p:nvSpPr>
          <p:cNvPr id="20" name="Shape 18"/>
          <p:cNvSpPr/>
          <p:nvPr/>
        </p:nvSpPr>
        <p:spPr>
          <a:xfrm>
            <a:off x="8125968" y="4389120"/>
            <a:ext cx="1620012" cy="1097280"/>
          </a:xfrm>
          <a:prstGeom prst="roundRect">
            <a:avLst/>
          </a:prstGeom>
          <a:solidFill>
            <a:srgbClr val="E8EAF6"/>
          </a:solidFill>
          <a:ln w="15875">
            <a:solidFill>
              <a:srgbClr val="3949AB"/>
            </a:solidFill>
            <a:prstDash val="solid"/>
          </a:ln>
        </p:spPr>
      </p:sp>
      <p:sp>
        <p:nvSpPr>
          <p:cNvPr id="21" name="Text 19"/>
          <p:cNvSpPr/>
          <p:nvPr/>
        </p:nvSpPr>
        <p:spPr>
          <a:xfrm>
            <a:off x="8199120" y="4434840"/>
            <a:ext cx="1473708" cy="100584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Costes</a:t>
            </a:r>
            <a:endParaRPr lang="en-US" sz="1400" dirty="0"/>
          </a:p>
        </p:txBody>
      </p:sp>
      <p:sp>
        <p:nvSpPr>
          <p:cNvPr id="22" name="Shape 20"/>
          <p:cNvSpPr/>
          <p:nvPr/>
        </p:nvSpPr>
        <p:spPr>
          <a:xfrm>
            <a:off x="10020300" y="4389120"/>
            <a:ext cx="1620012" cy="1097280"/>
          </a:xfrm>
          <a:prstGeom prst="roundRect">
            <a:avLst/>
          </a:prstGeom>
          <a:solidFill>
            <a:srgbClr val="E8EAF6"/>
          </a:solidFill>
          <a:ln w="15875">
            <a:solidFill>
              <a:srgbClr val="3949AB"/>
            </a:solidFill>
            <a:prstDash val="solid"/>
          </a:ln>
        </p:spPr>
      </p:sp>
      <p:sp>
        <p:nvSpPr>
          <p:cNvPr id="23" name="Text 21"/>
          <p:cNvSpPr/>
          <p:nvPr/>
        </p:nvSpPr>
        <p:spPr>
          <a:xfrm>
            <a:off x="10093452" y="4434840"/>
            <a:ext cx="1473708" cy="100584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Sostenibilidad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Qué se comprueba en cada pilar (1/3)</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7: Well-Architected</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1552834"/>
                <a:gridCol w="3993002"/>
                <a:gridCol w="4214835"/>
                <a:gridCol w="1331001"/>
              </a:tblGrid>
              <a:tr h="594360">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Pilar</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Qué se comprueba</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Cómo se suele corregir</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Dónde lo has visto</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r>
              <a:tr h="1920240">
                <a:tc>
                  <a:txBody>
                    <a:bodyPr/>
                    <a:lstStyle/>
                    <a:p>
                      <a:pPr indent="0" marL="0">
                        <a:buNone/>
                      </a:pPr>
                      <a:r>
                        <a:rPr lang="en-US" sz="1500" b="1" dirty="0">
                          <a:solidFill>
                            <a:srgbClr val="212121"/>
                          </a:solidFill>
                          <a:latin typeface="Arial" pitchFamily="34" charset="0"/>
                          <a:ea typeface="Arial" pitchFamily="34" charset="-122"/>
                          <a:cs typeface="Arial" pitchFamily="34" charset="-120"/>
                        </a:rPr>
                        <a:t>Excelencia operativa</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¿Cada alarma avisa a alguien? Una alarma que no notifica a nadie se dispara igual, pero nadie se entera. ¿Los registros caducan o se acumulan para siempre?</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Añadir una notificación a la alarma (por ejemplo, un correo) y fijar una retención a los registros.</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Temas 5 y 6</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1920240">
                <a:tc>
                  <a:txBody>
                    <a:bodyPr/>
                    <a:lstStyle/>
                    <a:p>
                      <a:pPr indent="0" marL="0">
                        <a:buNone/>
                      </a:pPr>
                      <a:r>
                        <a:rPr lang="en-US" sz="1500" b="1" dirty="0">
                          <a:solidFill>
                            <a:srgbClr val="212121"/>
                          </a:solidFill>
                          <a:latin typeface="Arial" pitchFamily="34" charset="0"/>
                          <a:ea typeface="Arial" pitchFamily="34" charset="-122"/>
                          <a:cs typeface="Arial" pitchFamily="34" charset="-120"/>
                        </a:rPr>
                        <a:t>Seguridad</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¿Hay puertos de administración abiertos a todo internet? ¿Todo va cifrado? ¿Las piezas con datos están en subredes privadas? ¿Cada identidad tiene solo los permisos que necesita, y cada persona la suya?</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Limitar el SSH a una IP o entrar por un bastión; HTTPS con certificado; subredes privadas (con NAT si tienen que salir); un rol con solo lo necesario y un usuario por persona.</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Temas 2, 3, 4 y 5</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Qué se comprueba en cada pilar (2/3)</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7: Well-Architected</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1552834"/>
                <a:gridCol w="3993002"/>
                <a:gridCol w="4214835"/>
                <a:gridCol w="1331001"/>
              </a:tblGrid>
              <a:tr h="594360">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Pilar</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Qué se comprueba</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Cómo se suele corregir</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Dónde lo has visto</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r>
              <a:tr h="1920240">
                <a:tc>
                  <a:txBody>
                    <a:bodyPr/>
                    <a:lstStyle/>
                    <a:p>
                      <a:pPr indent="0" marL="0">
                        <a:buNone/>
                      </a:pPr>
                      <a:r>
                        <a:rPr lang="en-US" sz="1500" b="1" dirty="0">
                          <a:solidFill>
                            <a:srgbClr val="212121"/>
                          </a:solidFill>
                          <a:latin typeface="Arial" pitchFamily="34" charset="0"/>
                          <a:ea typeface="Arial" pitchFamily="34" charset="-122"/>
                          <a:cs typeface="Arial" pitchFamily="34" charset="-120"/>
                        </a:rPr>
                        <a:t>Fiabilidad</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¿Alguna pieza vive en una sola zona? ¿Las copias están fuera de lo que puede fallar junto con el original (misma máquina, zona o región)? ¿Algo se repone solo?</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Activar Multi-AZ; guardar las copias en otra máquina y, si el riesgo lo justifica, en otra región; un grupo de escalado que reponga lo que falle.</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Temas 3, 4 y 7</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1920240">
                <a:tc>
                  <a:txBody>
                    <a:bodyPr/>
                    <a:lstStyle/>
                    <a:p>
                      <a:pPr indent="0" marL="0">
                        <a:buNone/>
                      </a:pPr>
                      <a:r>
                        <a:rPr lang="en-US" sz="1500" b="1" dirty="0">
                          <a:solidFill>
                            <a:srgbClr val="212121"/>
                          </a:solidFill>
                          <a:latin typeface="Arial" pitchFamily="34" charset="0"/>
                          <a:ea typeface="Arial" pitchFamily="34" charset="-122"/>
                          <a:cs typeface="Arial" pitchFamily="34" charset="-120"/>
                        </a:rPr>
                        <a:t>Eficiencia del rendimiento</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¿La capacidad se ajusta a la carga? ¿El contenido que se repite se sirve desde una caché cercana al usuario?</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Escalar según la carga que se mide; una red de distribución de contenido (CDN) delante del contenido que se repite.</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Tema 4</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Qué se comprueba en cada pilar (3/3)</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7: Well-Architected</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1552834"/>
                <a:gridCol w="3993002"/>
                <a:gridCol w="4214835"/>
                <a:gridCol w="1331001"/>
              </a:tblGrid>
              <a:tr h="594360">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Pilar</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Qué se comprueba</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Cómo se suele corregir</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Dónde lo has visto</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r>
              <a:tr h="1920240">
                <a:tc>
                  <a:txBody>
                    <a:bodyPr/>
                    <a:lstStyle/>
                    <a:p>
                      <a:pPr indent="0" marL="0">
                        <a:buNone/>
                      </a:pPr>
                      <a:r>
                        <a:rPr lang="en-US" sz="1500" b="1" dirty="0">
                          <a:solidFill>
                            <a:srgbClr val="212121"/>
                          </a:solidFill>
                          <a:latin typeface="Arial" pitchFamily="34" charset="0"/>
                          <a:ea typeface="Arial" pitchFamily="34" charset="-122"/>
                          <a:cs typeface="Arial" pitchFamily="34" charset="-120"/>
                        </a:rPr>
                        <a:t>Optimización de costes</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¿Hay algo encendido que ya no se usa? Un recurso olvidado sigue costando. ¿Alguna pieza es más grande de lo que la carga necesita?</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Borrar lo que no se usa; ajustar el tamaño a lo que se mide; elegir el modelo de compra que encaje.</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Tema 5</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1920240">
                <a:tc>
                  <a:txBody>
                    <a:bodyPr/>
                    <a:lstStyle/>
                    <a:p>
                      <a:pPr indent="0" marL="0">
                        <a:buNone/>
                      </a:pPr>
                      <a:r>
                        <a:rPr lang="en-US" sz="1500" b="1" dirty="0">
                          <a:solidFill>
                            <a:srgbClr val="212121"/>
                          </a:solidFill>
                          <a:latin typeface="Arial" pitchFamily="34" charset="0"/>
                          <a:ea typeface="Arial" pitchFamily="34" charset="-122"/>
                          <a:cs typeface="Arial" pitchFamily="34" charset="-120"/>
                        </a:rPr>
                        <a:t>Sostenibilidad</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¿Hay capacidad encendida a todas horas que solo se usa una parte del día?</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Reducir o apagar la capacidad cuando no hace falta, siempre que el servicio lo permita.</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Temas 4 y 6</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Cómo se ve un hallazgo: un ejemplo completo</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7: Well-Architected</a:t>
            </a:r>
            <a:endParaRPr lang="en-US" sz="1100" dirty="0"/>
          </a:p>
        </p:txBody>
      </p:sp>
      <p:sp>
        <p:nvSpPr>
          <p:cNvPr id="5" name="Shape 3"/>
          <p:cNvSpPr/>
          <p:nvPr/>
        </p:nvSpPr>
        <p:spPr>
          <a:xfrm>
            <a:off x="548640" y="1188720"/>
            <a:ext cx="11091672" cy="1051560"/>
          </a:xfrm>
          <a:prstGeom prst="roundRect">
            <a:avLst/>
          </a:prstGeom>
          <a:solidFill>
            <a:srgbClr val="E8EAF6"/>
          </a:solidFill>
          <a:ln w="15875">
            <a:solidFill>
              <a:srgbClr val="3949AB"/>
            </a:solidFill>
            <a:prstDash val="solid"/>
          </a:ln>
        </p:spPr>
      </p:sp>
      <p:sp>
        <p:nvSpPr>
          <p:cNvPr id="6" name="Text 4"/>
          <p:cNvSpPr/>
          <p:nvPr/>
        </p:nvSpPr>
        <p:spPr>
          <a:xfrm>
            <a:off x="731520" y="1261872"/>
            <a:ext cx="10725912" cy="457200"/>
          </a:xfrm>
          <a:prstGeom prst="rect">
            <a:avLst/>
          </a:prstGeom>
          <a:noFill/>
          <a:ln/>
        </p:spPr>
        <p:txBody>
          <a:bodyPr wrap="square" rtlCol="0" anchor="ctr"/>
          <a:lstStyle/>
          <a:p>
            <a:pPr indent="0" marL="0">
              <a:buNone/>
            </a:pPr>
            <a:r>
              <a:rPr lang="en-US" sz="2000" b="1" dirty="0">
                <a:solidFill>
                  <a:srgbClr val="1A237E"/>
                </a:solidFill>
                <a:latin typeface="Arial" pitchFamily="34" charset="0"/>
                <a:ea typeface="Arial" pitchFamily="34" charset="-122"/>
                <a:cs typeface="Arial" pitchFamily="34" charset="-120"/>
              </a:rPr>
              <a:t>Hallazgo</a:t>
            </a:r>
            <a:endParaRPr lang="en-US" sz="2000" dirty="0"/>
          </a:p>
        </p:txBody>
      </p:sp>
      <p:sp>
        <p:nvSpPr>
          <p:cNvPr id="7" name="Text 5"/>
          <p:cNvSpPr/>
          <p:nvPr/>
        </p:nvSpPr>
        <p:spPr>
          <a:xfrm>
            <a:off x="731520" y="1719072"/>
            <a:ext cx="10725912" cy="448056"/>
          </a:xfrm>
          <a:prstGeom prst="rect">
            <a:avLst/>
          </a:prstGeom>
          <a:noFill/>
          <a:ln/>
        </p:spPr>
        <p:txBody>
          <a:bodyPr wrap="square" rtlCol="0" anchor="t"/>
          <a:lstStyle/>
          <a:p>
            <a:pPr indent="0" marL="0">
              <a:buNone/>
            </a:pPr>
            <a:r>
              <a:rPr lang="en-US" sz="1700" dirty="0">
                <a:solidFill>
                  <a:srgbClr val="212121"/>
                </a:solidFill>
                <a:latin typeface="Arial" pitchFamily="34" charset="0"/>
                <a:ea typeface="Arial" pitchFamily="34" charset="-122"/>
                <a:cs typeface="Arial" pitchFamily="34" charset="-120"/>
              </a:rPr>
              <a:t>Un problema concreto de una arquitectura, anotado con dos datos:</a:t>
            </a:r>
            <a:endParaRPr lang="en-US" sz="1700" dirty="0"/>
          </a:p>
        </p:txBody>
      </p:sp>
      <p:sp>
        <p:nvSpPr>
          <p:cNvPr id="8" name="Shape 6"/>
          <p:cNvSpPr/>
          <p:nvPr/>
        </p:nvSpPr>
        <p:spPr>
          <a:xfrm>
            <a:off x="548640" y="2423160"/>
            <a:ext cx="5408676" cy="1188720"/>
          </a:xfrm>
          <a:prstGeom prst="roundRect">
            <a:avLst/>
          </a:prstGeom>
          <a:solidFill>
            <a:srgbClr val="E8EAF6"/>
          </a:solidFill>
          <a:ln w="15875">
            <a:solidFill>
              <a:srgbClr val="3949AB"/>
            </a:solidFill>
            <a:prstDash val="solid"/>
          </a:ln>
        </p:spPr>
      </p:sp>
      <p:sp>
        <p:nvSpPr>
          <p:cNvPr id="9" name="Text 7"/>
          <p:cNvSpPr/>
          <p:nvPr/>
        </p:nvSpPr>
        <p:spPr>
          <a:xfrm>
            <a:off x="685800" y="2514600"/>
            <a:ext cx="5134356" cy="457200"/>
          </a:xfrm>
          <a:prstGeom prst="rect">
            <a:avLst/>
          </a:prstGeom>
          <a:noFill/>
          <a:ln/>
        </p:spPr>
        <p:txBody>
          <a:bodyPr wrap="square" rtlCol="0" anchor="ctr"/>
          <a:lstStyle/>
          <a:p>
            <a:pPr algn="ctr" indent="0" marL="0">
              <a:buNone/>
            </a:pPr>
            <a:r>
              <a:rPr lang="en-US" sz="2000" b="1" dirty="0">
                <a:solidFill>
                  <a:srgbClr val="1A237E"/>
                </a:solidFill>
                <a:latin typeface="Arial" pitchFamily="34" charset="0"/>
                <a:ea typeface="Arial" pitchFamily="34" charset="-122"/>
                <a:cs typeface="Arial" pitchFamily="34" charset="-120"/>
              </a:rPr>
              <a:t>Impacto</a:t>
            </a:r>
            <a:endParaRPr lang="en-US" sz="2000" dirty="0"/>
          </a:p>
        </p:txBody>
      </p:sp>
      <p:sp>
        <p:nvSpPr>
          <p:cNvPr id="10" name="Text 8"/>
          <p:cNvSpPr/>
          <p:nvPr/>
        </p:nvSpPr>
        <p:spPr>
          <a:xfrm>
            <a:off x="731520" y="3017520"/>
            <a:ext cx="5042916" cy="502920"/>
          </a:xfrm>
          <a:prstGeom prst="rect">
            <a:avLst/>
          </a:prstGeom>
          <a:noFill/>
          <a:ln/>
        </p:spPr>
        <p:txBody>
          <a:bodyPr wrap="square" rtlCol="0" anchor="t"/>
          <a:lstStyle/>
          <a:p>
            <a:pPr algn="ctr" indent="0" marL="0">
              <a:buNone/>
            </a:pPr>
            <a:r>
              <a:rPr lang="en-US" sz="1700" dirty="0">
                <a:solidFill>
                  <a:srgbClr val="212121"/>
                </a:solidFill>
                <a:latin typeface="Arial" pitchFamily="34" charset="0"/>
                <a:ea typeface="Arial" pitchFamily="34" charset="-122"/>
                <a:cs typeface="Arial" pitchFamily="34" charset="-120"/>
              </a:rPr>
              <a:t>Qué pasa si no se corrige.</a:t>
            </a:r>
            <a:endParaRPr lang="en-US" sz="1700" dirty="0"/>
          </a:p>
        </p:txBody>
      </p:sp>
      <p:sp>
        <p:nvSpPr>
          <p:cNvPr id="11" name="Shape 9"/>
          <p:cNvSpPr/>
          <p:nvPr/>
        </p:nvSpPr>
        <p:spPr>
          <a:xfrm>
            <a:off x="6231636" y="2423160"/>
            <a:ext cx="5408676" cy="1188720"/>
          </a:xfrm>
          <a:prstGeom prst="roundRect">
            <a:avLst/>
          </a:prstGeom>
          <a:solidFill>
            <a:srgbClr val="FFF8E1"/>
          </a:solidFill>
          <a:ln w="25400">
            <a:solidFill>
              <a:srgbClr val="FFA000"/>
            </a:solidFill>
            <a:prstDash val="solid"/>
          </a:ln>
        </p:spPr>
      </p:sp>
      <p:sp>
        <p:nvSpPr>
          <p:cNvPr id="12" name="Text 10"/>
          <p:cNvSpPr/>
          <p:nvPr/>
        </p:nvSpPr>
        <p:spPr>
          <a:xfrm>
            <a:off x="6368796" y="2514600"/>
            <a:ext cx="5134356" cy="457200"/>
          </a:xfrm>
          <a:prstGeom prst="rect">
            <a:avLst/>
          </a:prstGeom>
          <a:noFill/>
          <a:ln/>
        </p:spPr>
        <p:txBody>
          <a:bodyPr wrap="square" rtlCol="0" anchor="ctr"/>
          <a:lstStyle/>
          <a:p>
            <a:pPr algn="ctr" indent="0" marL="0">
              <a:buNone/>
            </a:pPr>
            <a:r>
              <a:rPr lang="en-US" sz="2000" b="1" dirty="0">
                <a:solidFill>
                  <a:srgbClr val="1A237E"/>
                </a:solidFill>
                <a:latin typeface="Arial" pitchFamily="34" charset="0"/>
                <a:ea typeface="Arial" pitchFamily="34" charset="-122"/>
                <a:cs typeface="Arial" pitchFamily="34" charset="-120"/>
              </a:rPr>
              <a:t>Esfuerzo</a:t>
            </a:r>
            <a:endParaRPr lang="en-US" sz="2000" dirty="0"/>
          </a:p>
        </p:txBody>
      </p:sp>
      <p:sp>
        <p:nvSpPr>
          <p:cNvPr id="13" name="Text 11"/>
          <p:cNvSpPr/>
          <p:nvPr/>
        </p:nvSpPr>
        <p:spPr>
          <a:xfrm>
            <a:off x="6414516" y="3017520"/>
            <a:ext cx="5042916" cy="502920"/>
          </a:xfrm>
          <a:prstGeom prst="rect">
            <a:avLst/>
          </a:prstGeom>
          <a:noFill/>
          <a:ln/>
        </p:spPr>
        <p:txBody>
          <a:bodyPr wrap="square" rtlCol="0" anchor="t"/>
          <a:lstStyle/>
          <a:p>
            <a:pPr algn="ctr" indent="0" marL="0">
              <a:buNone/>
            </a:pPr>
            <a:r>
              <a:rPr lang="en-US" sz="1700" dirty="0">
                <a:solidFill>
                  <a:srgbClr val="212121"/>
                </a:solidFill>
                <a:latin typeface="Arial" pitchFamily="34" charset="0"/>
                <a:ea typeface="Arial" pitchFamily="34" charset="-122"/>
                <a:cs typeface="Arial" pitchFamily="34" charset="-120"/>
              </a:rPr>
              <a:t>Cuánto cuesta corregirlo.</a:t>
            </a:r>
            <a:endParaRPr lang="en-US" sz="1700" dirty="0"/>
          </a:p>
        </p:txBody>
      </p:sp>
      <p:sp>
        <p:nvSpPr>
          <p:cNvPr id="14" name="Shape 12"/>
          <p:cNvSpPr/>
          <p:nvPr/>
        </p:nvSpPr>
        <p:spPr>
          <a:xfrm>
            <a:off x="548640" y="3840480"/>
            <a:ext cx="11091672" cy="2240280"/>
          </a:xfrm>
          <a:prstGeom prst="roundRect">
            <a:avLst/>
          </a:prstGeom>
          <a:solidFill>
            <a:srgbClr val="FFF8E1"/>
          </a:solidFill>
          <a:ln w="28575">
            <a:solidFill>
              <a:srgbClr val="FFA000"/>
            </a:solidFill>
            <a:prstDash val="solid"/>
          </a:ln>
        </p:spPr>
      </p:sp>
      <p:sp>
        <p:nvSpPr>
          <p:cNvPr id="15" name="Text 13"/>
          <p:cNvSpPr/>
          <p:nvPr/>
        </p:nvSpPr>
        <p:spPr>
          <a:xfrm>
            <a:off x="822960" y="3950208"/>
            <a:ext cx="10543032" cy="2020824"/>
          </a:xfrm>
          <a:prstGeom prst="rect">
            <a:avLst/>
          </a:prstGeom>
          <a:noFill/>
          <a:ln/>
        </p:spPr>
        <p:txBody>
          <a:bodyPr wrap="square" rtlCol="0" anchor="t"/>
          <a:lstStyle/>
          <a:p>
            <a:pPr indent="0" marL="0">
              <a:buNone/>
            </a:pPr>
            <a:r>
              <a:rPr lang="en-US" sz="1700" b="1" dirty="0">
                <a:solidFill>
                  <a:srgbClr val="1A237E"/>
                </a:solidFill>
                <a:latin typeface="Arial" pitchFamily="34" charset="0"/>
                <a:ea typeface="Arial" pitchFamily="34" charset="-122"/>
                <a:cs typeface="Arial" pitchFamily="34" charset="-120"/>
              </a:rPr>
              <a:t>El caso: la aplicación de préstamos de una biblioteca de instituto
</a:t>
            </a:r>
            <a:endParaRPr lang="en-US" sz="1700" dirty="0"/>
          </a:p>
          <a:p>
            <a:pPr indent="0" marL="0">
              <a:buNone/>
            </a:pPr>
            <a:r>
              <a:rPr lang="en-US" sz="1600" dirty="0">
                <a:solidFill>
                  <a:srgbClr val="212121"/>
                </a:solidFill>
                <a:latin typeface="Arial" pitchFamily="34" charset="0"/>
                <a:ea typeface="Arial" pitchFamily="34" charset="-122"/>
                <a:cs typeface="Arial" pitchFamily="34" charset="-120"/>
              </a:rPr>
              <a:t>Una sola instancia t3.large con IP pública que ejecuta la aplicación y la base de datos PostgreSQL. La copia de seguridad es un fichero que alguien copia a mano a su portátil cada mes. La contraseña de la base de datos está escrita en el fichero de configuración que se sube al repositorio. La única forma de enterarse de una caída es que un alumno avise al bibliotecario.</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Cómo se ve un hallazgo (cont.)</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7: Well-Architected</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91672" cy="914400"/>
        </p:xfrm>
        <a:graphic>
          <a:graphicData uri="http://schemas.openxmlformats.org/drawingml/2006/table">
            <a:tbl>
              <a:tblPr/>
              <a:tblGrid>
                <a:gridCol w="1885584"/>
                <a:gridCol w="4769419"/>
                <a:gridCol w="1109167"/>
                <a:gridCol w="3327502"/>
              </a:tblGrid>
              <a:tr h="603504">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Pilar</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Hallazgo</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Impacto</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Esfuerzo</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r>
              <a:tr h="603504">
                <a:tc>
                  <a:txBody>
                    <a:bodyPr/>
                    <a:lstStyle/>
                    <a:p>
                      <a:pPr indent="0" marL="0">
                        <a:buNone/>
                      </a:pPr>
                      <a:r>
                        <a:rPr lang="en-US" sz="1400" b="1" dirty="0">
                          <a:solidFill>
                            <a:srgbClr val="212121"/>
                          </a:solidFill>
                          <a:latin typeface="Arial" pitchFamily="34" charset="0"/>
                          <a:ea typeface="Arial" pitchFamily="34" charset="-122"/>
                          <a:cs typeface="Arial" pitchFamily="34" charset="-120"/>
                        </a:rPr>
                        <a:t>Fiabilidad</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Una sola instancia con aplicación y base de datos: si falla, cae todo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Alto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Medio: base de datos gestionada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603504">
                <a:tc>
                  <a:txBody>
                    <a:bodyPr/>
                    <a:lstStyle/>
                    <a:p>
                      <a:pPr indent="0" marL="0">
                        <a:buNone/>
                      </a:pPr>
                      <a:r>
                        <a:rPr lang="en-US" sz="1400" b="1" dirty="0">
                          <a:solidFill>
                            <a:srgbClr val="212121"/>
                          </a:solidFill>
                          <a:latin typeface="Arial" pitchFamily="34" charset="0"/>
                          <a:ea typeface="Arial" pitchFamily="34" charset="-122"/>
                          <a:cs typeface="Arial" pitchFamily="34" charset="-120"/>
                        </a:rPr>
                        <a:t>Fiabilidad</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Copia manual mensual: se pueden perder hasta 30 días de préstamos</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Alto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Bajo: copias automáticas diarias</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603504">
                <a:tc>
                  <a:txBody>
                    <a:bodyPr/>
                    <a:lstStyle/>
                    <a:p>
                      <a:pPr indent="0" marL="0">
                        <a:buNone/>
                      </a:pPr>
                      <a:r>
                        <a:rPr lang="en-US" sz="1400" b="1" dirty="0">
                          <a:solidFill>
                            <a:srgbClr val="212121"/>
                          </a:solidFill>
                          <a:latin typeface="Arial" pitchFamily="34" charset="0"/>
                          <a:ea typeface="Arial" pitchFamily="34" charset="-122"/>
                          <a:cs typeface="Arial" pitchFamily="34" charset="-120"/>
                        </a:rPr>
                        <a:t>Seguridad</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Contraseña de la base de datos dentro del repositorio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Alto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Bajo: gestor de secretos y rotarla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603504">
                <a:tc>
                  <a:txBody>
                    <a:bodyPr/>
                    <a:lstStyle/>
                    <a:p>
                      <a:pPr indent="0" marL="0">
                        <a:buNone/>
                      </a:pPr>
                      <a:r>
                        <a:rPr lang="en-US" sz="1400" b="1" dirty="0">
                          <a:solidFill>
                            <a:srgbClr val="212121"/>
                          </a:solidFill>
                          <a:latin typeface="Arial" pitchFamily="34" charset="0"/>
                          <a:ea typeface="Arial" pitchFamily="34" charset="-122"/>
                          <a:cs typeface="Arial" pitchFamily="34" charset="-120"/>
                        </a:rPr>
                        <a:t>Seguridad</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Solo HTTP: las contraseñas de los alumnos viajan sin cifrar</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Alto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Medio: certificado y HTTPS</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603504">
                <a:tc>
                  <a:txBody>
                    <a:bodyPr/>
                    <a:lstStyle/>
                    <a:p>
                      <a:pPr indent="0" marL="0">
                        <a:buNone/>
                      </a:pPr>
                      <a:r>
                        <a:rPr lang="en-US" sz="1400" b="1" dirty="0">
                          <a:solidFill>
                            <a:srgbClr val="212121"/>
                          </a:solidFill>
                          <a:latin typeface="Arial" pitchFamily="34" charset="0"/>
                          <a:ea typeface="Arial" pitchFamily="34" charset="-122"/>
                          <a:cs typeface="Arial" pitchFamily="34" charset="-120"/>
                        </a:rPr>
                        <a:t>Excelencia operativa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Nadie recibe un aviso cuando la aplicación deja de responder</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Medio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Bajo: una alarma con notificación</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603504">
                <a:tc>
                  <a:txBody>
                    <a:bodyPr/>
                    <a:lstStyle/>
                    <a:p>
                      <a:pPr indent="0" marL="0">
                        <a:buNone/>
                      </a:pPr>
                      <a:r>
                        <a:rPr lang="en-US" sz="1400" b="1" dirty="0">
                          <a:solidFill>
                            <a:srgbClr val="212121"/>
                          </a:solidFill>
                          <a:latin typeface="Arial" pitchFamily="34" charset="0"/>
                          <a:ea typeface="Arial" pitchFamily="34" charset="-122"/>
                          <a:cs typeface="Arial" pitchFamily="34" charset="-120"/>
                        </a:rPr>
                        <a:t>Optimización de costes</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Instancia grande encendida 24 horas para una biblioteca que abre 8</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Bajo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Bajo: tamaño menor y apagado nocturno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
        <p:nvSpPr>
          <p:cNvPr id="6" name="Shape 3"/>
          <p:cNvSpPr/>
          <p:nvPr/>
        </p:nvSpPr>
        <p:spPr>
          <a:xfrm>
            <a:off x="548640" y="5577840"/>
            <a:ext cx="11091672" cy="731520"/>
          </a:xfrm>
          <a:prstGeom prst="roundRect">
            <a:avLst/>
          </a:prstGeom>
          <a:solidFill>
            <a:srgbClr val="FFF8E1"/>
          </a:solidFill>
          <a:ln w="19050">
            <a:solidFill>
              <a:srgbClr val="FFA000"/>
            </a:solidFill>
            <a:prstDash val="solid"/>
          </a:ln>
        </p:spPr>
      </p:sp>
      <p:sp>
        <p:nvSpPr>
          <p:cNvPr id="7" name="Text 4"/>
          <p:cNvSpPr/>
          <p:nvPr/>
        </p:nvSpPr>
        <p:spPr>
          <a:xfrm>
            <a:off x="822960" y="5669280"/>
            <a:ext cx="10543032" cy="54864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Si tras revisar un pilar no encuentras nada, se anota «sin hallazgos» junto con lo que has comprobado: no se inventa un problema para rellenar la casilla.</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Los pilares tiran en direcciones distintas</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7: Well-Architected</a:t>
            </a:r>
            <a:endParaRPr lang="en-US" sz="1100" dirty="0"/>
          </a:p>
        </p:txBody>
      </p:sp>
      <p:sp>
        <p:nvSpPr>
          <p:cNvPr id="5" name="Shape 3"/>
          <p:cNvSpPr/>
          <p:nvPr/>
        </p:nvSpPr>
        <p:spPr>
          <a:xfrm>
            <a:off x="548640" y="1188720"/>
            <a:ext cx="11091672" cy="822960"/>
          </a:xfrm>
          <a:prstGeom prst="roundRect">
            <a:avLst/>
          </a:prstGeom>
          <a:solidFill>
            <a:srgbClr val="FFF8E1"/>
          </a:solidFill>
          <a:ln w="19050">
            <a:solidFill>
              <a:srgbClr val="FFA000"/>
            </a:solidFill>
            <a:prstDash val="solid"/>
          </a:ln>
        </p:spPr>
      </p:sp>
      <p:sp>
        <p:nvSpPr>
          <p:cNvPr id="6" name="Text 4"/>
          <p:cNvSpPr/>
          <p:nvPr/>
        </p:nvSpPr>
        <p:spPr>
          <a:xfrm>
            <a:off x="822960" y="1280160"/>
            <a:ext cx="10543032" cy="640080"/>
          </a:xfrm>
          <a:prstGeom prst="rect">
            <a:avLst/>
          </a:prstGeom>
          <a:noFill/>
          <a:ln/>
        </p:spPr>
        <p:txBody>
          <a:bodyPr wrap="square" rtlCol="0" anchor="ctr"/>
          <a:lstStyle/>
          <a:p>
            <a:pPr indent="0" marL="0">
              <a:buNone/>
            </a:pPr>
            <a:r>
              <a:rPr lang="en-US" sz="1900" dirty="0">
                <a:solidFill>
                  <a:srgbClr val="212121"/>
                </a:solidFill>
                <a:latin typeface="Arial" pitchFamily="34" charset="0"/>
                <a:ea typeface="Arial" pitchFamily="34" charset="-122"/>
                <a:cs typeface="Arial" pitchFamily="34" charset="-120"/>
              </a:rPr>
              <a:t>Casi ninguna mejora es gratis: lo que mejora un pilar suele empeorar otro.</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11091672" cy="914400"/>
        </p:xfrm>
        <a:graphic>
          <a:graphicData uri="http://schemas.openxmlformats.org/drawingml/2006/table">
            <a:tbl>
              <a:tblPr/>
              <a:tblGrid>
                <a:gridCol w="3327502"/>
                <a:gridCol w="2218334"/>
                <a:gridCol w="5545836"/>
              </a:tblGrid>
              <a:tr h="713232">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Mejora</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Qué pilar mejora</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Qué pilar empeora, y por qué</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r>
              <a:tr h="713232">
                <a:tc>
                  <a:txBody>
                    <a:bodyPr/>
                    <a:lstStyle/>
                    <a:p>
                      <a:pPr indent="0" marL="0">
                        <a:buNone/>
                      </a:pPr>
                      <a:r>
                        <a:rPr lang="en-US" sz="1400" b="1" dirty="0">
                          <a:solidFill>
                            <a:srgbClr val="212121"/>
                          </a:solidFill>
                          <a:latin typeface="Arial" pitchFamily="34" charset="0"/>
                          <a:ea typeface="Arial" pitchFamily="34" charset="-122"/>
                          <a:cs typeface="Arial" pitchFamily="34" charset="-120"/>
                        </a:rPr>
                        <a:t>Activar Multi-AZ en la base de datos</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Fiabilidad</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Costes: se paga una segunda instancia completa funcionando siempre</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713232">
                <a:tc>
                  <a:txBody>
                    <a:bodyPr/>
                    <a:lstStyle/>
                    <a:p>
                      <a:pPr indent="0" marL="0">
                        <a:buNone/>
                      </a:pPr>
                      <a:r>
                        <a:rPr lang="en-US" sz="1400" b="1" dirty="0">
                          <a:solidFill>
                            <a:srgbClr val="212121"/>
                          </a:solidFill>
                          <a:latin typeface="Arial" pitchFamily="34" charset="0"/>
                          <a:ea typeface="Arial" pitchFamily="34" charset="-122"/>
                          <a:cs typeface="Arial" pitchFamily="34" charset="-120"/>
                        </a:rPr>
                        <a:t>Cambiar a una instancia más grande</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Rendimiento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Costes y sostenibilidad: más capacidad encendida de la que se usa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713232">
                <a:tc>
                  <a:txBody>
                    <a:bodyPr/>
                    <a:lstStyle/>
                    <a:p>
                      <a:pPr indent="0" marL="0">
                        <a:buNone/>
                      </a:pPr>
                      <a:r>
                        <a:rPr lang="en-US" sz="1400" b="1" dirty="0">
                          <a:solidFill>
                            <a:srgbClr val="212121"/>
                          </a:solidFill>
                          <a:latin typeface="Arial" pitchFamily="34" charset="0"/>
                          <a:ea typeface="Arial" pitchFamily="34" charset="-122"/>
                          <a:cs typeface="Arial" pitchFamily="34" charset="-120"/>
                        </a:rPr>
                        <a:t>Reducir los permisos de un rol al mínimo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Seguridad</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Excelencia operativa: cada acción nueva que falte hay que detectarla y añadirla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713232">
                <a:tc>
                  <a:txBody>
                    <a:bodyPr/>
                    <a:lstStyle/>
                    <a:p>
                      <a:pPr indent="0" marL="0">
                        <a:buNone/>
                      </a:pPr>
                      <a:r>
                        <a:rPr lang="en-US" sz="1400" b="1" dirty="0">
                          <a:solidFill>
                            <a:srgbClr val="212121"/>
                          </a:solidFill>
                          <a:latin typeface="Arial" pitchFamily="34" charset="0"/>
                          <a:ea typeface="Arial" pitchFamily="34" charset="-122"/>
                          <a:cs typeface="Arial" pitchFamily="34" charset="-120"/>
                        </a:rPr>
                        <a:t>Poner una caché delante de las imágenes</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Rendimiento y costes</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Excelencia operativa: una pieza más que operar, y una imagen puede verse desactualizada mientras dura su TTL</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713232">
                <a:tc>
                  <a:txBody>
                    <a:bodyPr/>
                    <a:lstStyle/>
                    <a:p>
                      <a:pPr indent="0" marL="0">
                        <a:buNone/>
                      </a:pPr>
                      <a:r>
                        <a:rPr lang="en-US" sz="1400" b="1" dirty="0">
                          <a:solidFill>
                            <a:srgbClr val="212121"/>
                          </a:solidFill>
                          <a:latin typeface="Arial" pitchFamily="34" charset="0"/>
                          <a:ea typeface="Arial" pitchFamily="34" charset="-122"/>
                          <a:cs typeface="Arial" pitchFamily="34" charset="-120"/>
                        </a:rPr>
                        <a:t>Apagar las instancias fuera de horario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Costes y sostenibilidad</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Fiabilidad: el sistema no responde mientras está apagado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Los pilares tiran en direcciones distintas (cont.)</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7: Well-Architected</a:t>
            </a:r>
            <a:endParaRPr lang="en-US" sz="1100" dirty="0"/>
          </a:p>
        </p:txBody>
      </p:sp>
      <p:sp>
        <p:nvSpPr>
          <p:cNvPr id="5" name="Shape 3"/>
          <p:cNvSpPr/>
          <p:nvPr/>
        </p:nvSpPr>
        <p:spPr>
          <a:xfrm>
            <a:off x="548640" y="1188720"/>
            <a:ext cx="11091672" cy="1097280"/>
          </a:xfrm>
          <a:prstGeom prst="roundRect">
            <a:avLst/>
          </a:prstGeom>
          <a:solidFill>
            <a:srgbClr val="FFF8E1"/>
          </a:solidFill>
          <a:ln w="19050">
            <a:solidFill>
              <a:srgbClr val="FFA000"/>
            </a:solidFill>
            <a:prstDash val="solid"/>
          </a:ln>
        </p:spPr>
      </p:sp>
      <p:sp>
        <p:nvSpPr>
          <p:cNvPr id="6" name="Text 4"/>
          <p:cNvSpPr/>
          <p:nvPr/>
        </p:nvSpPr>
        <p:spPr>
          <a:xfrm>
            <a:off x="822960" y="1280160"/>
            <a:ext cx="10543032" cy="914400"/>
          </a:xfrm>
          <a:prstGeom prst="rect">
            <a:avLst/>
          </a:prstGeom>
          <a:noFill/>
          <a:ln/>
        </p:spPr>
        <p:txBody>
          <a:bodyPr wrap="square" rtlCol="0" anchor="ctr"/>
          <a:lstStyle/>
          <a:p>
            <a:pPr indent="0" marL="0">
              <a:buNone/>
            </a:pPr>
            <a:r>
              <a:rPr lang="en-US" sz="2000" dirty="0">
                <a:solidFill>
                  <a:srgbClr val="212121"/>
                </a:solidFill>
                <a:latin typeface="Arial" pitchFamily="34" charset="0"/>
                <a:ea typeface="Arial" pitchFamily="34" charset="-122"/>
                <a:cs typeface="Arial" pitchFamily="34" charset="-120"/>
              </a:rPr>
              <a:t>Una auditoría no termina en «corrige todo»: termina en decidir qué pilar se prioriza en cada caso.</a:t>
            </a:r>
            <a:endParaRPr lang="en-US" sz="2000" dirty="0"/>
          </a:p>
        </p:txBody>
      </p:sp>
      <p:sp>
        <p:nvSpPr>
          <p:cNvPr id="7" name="Text 5"/>
          <p:cNvSpPr/>
          <p:nvPr/>
        </p:nvSpPr>
        <p:spPr>
          <a:xfrm>
            <a:off x="548640" y="2560320"/>
            <a:ext cx="11091672" cy="365760"/>
          </a:xfrm>
          <a:prstGeom prst="rect">
            <a:avLst/>
          </a:prstGeom>
          <a:noFill/>
          <a:ln/>
        </p:spPr>
        <p:txBody>
          <a:bodyPr wrap="square" rtlCol="0" anchor="ctr"/>
          <a:lstStyle/>
          <a:p>
            <a:pPr indent="0" marL="0">
              <a:buNone/>
            </a:pPr>
            <a:r>
              <a:rPr lang="en-US" sz="1500" b="1" dirty="0">
                <a:solidFill>
                  <a:srgbClr val="3949AB"/>
                </a:solidFill>
                <a:latin typeface="Arial" pitchFamily="34" charset="0"/>
                <a:ea typeface="Arial" pitchFamily="34" charset="-122"/>
                <a:cs typeface="Arial" pitchFamily="34" charset="-120"/>
              </a:rPr>
              <a:t>La misma mejora: apagar las instancias fuera de horario</a:t>
            </a:r>
            <a:endParaRPr lang="en-US" sz="1500" dirty="0"/>
          </a:p>
        </p:txBody>
      </p:sp>
      <p:sp>
        <p:nvSpPr>
          <p:cNvPr id="8" name="Shape 6"/>
          <p:cNvSpPr/>
          <p:nvPr/>
        </p:nvSpPr>
        <p:spPr>
          <a:xfrm>
            <a:off x="548640" y="2971800"/>
            <a:ext cx="5408676" cy="1920240"/>
          </a:xfrm>
          <a:prstGeom prst="roundRect">
            <a:avLst/>
          </a:prstGeom>
          <a:solidFill>
            <a:srgbClr val="E8EAF6"/>
          </a:solidFill>
          <a:ln w="15875">
            <a:solidFill>
              <a:srgbClr val="3949AB"/>
            </a:solidFill>
            <a:prstDash val="solid"/>
          </a:ln>
        </p:spPr>
      </p:sp>
      <p:sp>
        <p:nvSpPr>
          <p:cNvPr id="9" name="Text 7"/>
          <p:cNvSpPr/>
          <p:nvPr/>
        </p:nvSpPr>
        <p:spPr>
          <a:xfrm>
            <a:off x="685800" y="3063240"/>
            <a:ext cx="5134356" cy="777240"/>
          </a:xfrm>
          <a:prstGeom prst="rect">
            <a:avLst/>
          </a:prstGeom>
          <a:noFill/>
          <a:ln/>
        </p:spPr>
        <p:txBody>
          <a:bodyPr wrap="square" rtlCol="0" anchor="ctr"/>
          <a:lstStyle/>
          <a:p>
            <a:pPr algn="ctr" indent="0" marL="0">
              <a:buNone/>
            </a:pPr>
            <a:r>
              <a:rPr lang="en-US" sz="2000" b="1" dirty="0">
                <a:solidFill>
                  <a:srgbClr val="1A237E"/>
                </a:solidFill>
                <a:latin typeface="Arial" pitchFamily="34" charset="0"/>
                <a:ea typeface="Arial" pitchFamily="34" charset="-122"/>
                <a:cs typeface="Arial" pitchFamily="34" charset="-120"/>
              </a:rPr>
              <a:t>🧪 Entorno de pruebas</a:t>
            </a:r>
            <a:endParaRPr lang="en-US" sz="2000" dirty="0"/>
          </a:p>
        </p:txBody>
      </p:sp>
      <p:sp>
        <p:nvSpPr>
          <p:cNvPr id="10" name="Text 8"/>
          <p:cNvSpPr/>
          <p:nvPr/>
        </p:nvSpPr>
        <p:spPr>
          <a:xfrm>
            <a:off x="731520" y="3886200"/>
            <a:ext cx="5042916" cy="914400"/>
          </a:xfrm>
          <a:prstGeom prst="rect">
            <a:avLst/>
          </a:prstGeom>
          <a:noFill/>
          <a:ln/>
        </p:spPr>
        <p:txBody>
          <a:bodyPr wrap="square" rtlCol="0" anchor="t"/>
          <a:lstStyle/>
          <a:p>
            <a:pPr algn="ctr" indent="0" marL="0">
              <a:buNone/>
            </a:pPr>
            <a:r>
              <a:rPr lang="en-US" sz="1800" dirty="0">
                <a:solidFill>
                  <a:srgbClr val="212121"/>
                </a:solidFill>
                <a:latin typeface="Arial" pitchFamily="34" charset="0"/>
                <a:ea typeface="Arial" pitchFamily="34" charset="-122"/>
                <a:cs typeface="Arial" pitchFamily="34" charset="-120"/>
              </a:rPr>
              <a:t>Tiene sentido: ahorras coste y energía y nadie lo echa de menos.</a:t>
            </a:r>
            <a:endParaRPr lang="en-US" sz="1800" dirty="0"/>
          </a:p>
        </p:txBody>
      </p:sp>
      <p:sp>
        <p:nvSpPr>
          <p:cNvPr id="11" name="Shape 9"/>
          <p:cNvSpPr/>
          <p:nvPr/>
        </p:nvSpPr>
        <p:spPr>
          <a:xfrm>
            <a:off x="6231636" y="2971800"/>
            <a:ext cx="5408676" cy="1920240"/>
          </a:xfrm>
          <a:prstGeom prst="roundRect">
            <a:avLst/>
          </a:prstGeom>
          <a:solidFill>
            <a:srgbClr val="FFF8E1"/>
          </a:solidFill>
          <a:ln w="25400">
            <a:solidFill>
              <a:srgbClr val="FFA000"/>
            </a:solidFill>
            <a:prstDash val="solid"/>
          </a:ln>
        </p:spPr>
      </p:sp>
      <p:sp>
        <p:nvSpPr>
          <p:cNvPr id="12" name="Text 10"/>
          <p:cNvSpPr/>
          <p:nvPr/>
        </p:nvSpPr>
        <p:spPr>
          <a:xfrm>
            <a:off x="6368796" y="3063240"/>
            <a:ext cx="5134356" cy="777240"/>
          </a:xfrm>
          <a:prstGeom prst="rect">
            <a:avLst/>
          </a:prstGeom>
          <a:noFill/>
          <a:ln/>
        </p:spPr>
        <p:txBody>
          <a:bodyPr wrap="square" rtlCol="0" anchor="ctr"/>
          <a:lstStyle/>
          <a:p>
            <a:pPr algn="ctr" indent="0" marL="0">
              <a:buNone/>
            </a:pPr>
            <a:r>
              <a:rPr lang="en-US" sz="2000" b="1" dirty="0">
                <a:solidFill>
                  <a:srgbClr val="1A237E"/>
                </a:solidFill>
                <a:latin typeface="Arial" pitchFamily="34" charset="0"/>
                <a:ea typeface="Arial" pitchFamily="34" charset="-122"/>
                <a:cs typeface="Arial" pitchFamily="34" charset="-120"/>
              </a:rPr>
              <a:t>🛒 Tienda que vende a cualquier hora</a:t>
            </a:r>
            <a:endParaRPr lang="en-US" sz="2000" dirty="0"/>
          </a:p>
        </p:txBody>
      </p:sp>
      <p:sp>
        <p:nvSpPr>
          <p:cNvPr id="13" name="Text 11"/>
          <p:cNvSpPr/>
          <p:nvPr/>
        </p:nvSpPr>
        <p:spPr>
          <a:xfrm>
            <a:off x="6414516" y="3886200"/>
            <a:ext cx="5042916" cy="914400"/>
          </a:xfrm>
          <a:prstGeom prst="rect">
            <a:avLst/>
          </a:prstGeom>
          <a:noFill/>
          <a:ln/>
        </p:spPr>
        <p:txBody>
          <a:bodyPr wrap="square" rtlCol="0" anchor="t"/>
          <a:lstStyle/>
          <a:p>
            <a:pPr algn="ctr" indent="0" marL="0">
              <a:buNone/>
            </a:pPr>
            <a:r>
              <a:rPr lang="en-US" sz="1800" dirty="0">
                <a:solidFill>
                  <a:srgbClr val="212121"/>
                </a:solidFill>
                <a:latin typeface="Arial" pitchFamily="34" charset="0"/>
                <a:ea typeface="Arial" pitchFamily="34" charset="-122"/>
                <a:cs typeface="Arial" pitchFamily="34" charset="-120"/>
              </a:rPr>
              <a:t>Es un error: el sistema no responde mientras está apagado.</a:t>
            </a:r>
            <a:endParaRPr lang="en-US" sz="1800" dirty="0"/>
          </a:p>
        </p:txBody>
      </p:sp>
      <p:sp>
        <p:nvSpPr>
          <p:cNvPr id="14" name="Shape 12"/>
          <p:cNvSpPr/>
          <p:nvPr/>
        </p:nvSpPr>
        <p:spPr>
          <a:xfrm>
            <a:off x="548640" y="5166360"/>
            <a:ext cx="11091672" cy="914400"/>
          </a:xfrm>
          <a:prstGeom prst="roundRect">
            <a:avLst/>
          </a:prstGeom>
          <a:solidFill>
            <a:srgbClr val="FFF8E1"/>
          </a:solidFill>
          <a:ln w="19050">
            <a:solidFill>
              <a:srgbClr val="FFA000"/>
            </a:solidFill>
            <a:prstDash val="solid"/>
          </a:ln>
        </p:spPr>
      </p:sp>
      <p:sp>
        <p:nvSpPr>
          <p:cNvPr id="15" name="Text 13"/>
          <p:cNvSpPr/>
          <p:nvPr/>
        </p:nvSpPr>
        <p:spPr>
          <a:xfrm>
            <a:off x="822960" y="5257800"/>
            <a:ext cx="10543032" cy="731520"/>
          </a:xfrm>
          <a:prstGeom prst="rect">
            <a:avLst/>
          </a:prstGeom>
          <a:noFill/>
          <a:ln/>
        </p:spPr>
        <p:txBody>
          <a:bodyPr wrap="square" rtlCol="0" anchor="ctr"/>
          <a:lstStyle/>
          <a:p>
            <a:pPr indent="0" marL="0">
              <a:buNone/>
            </a:pPr>
            <a:r>
              <a:rPr lang="en-US" sz="2000" dirty="0">
                <a:solidFill>
                  <a:srgbClr val="212121"/>
                </a:solidFill>
                <a:latin typeface="Arial" pitchFamily="34" charset="0"/>
                <a:ea typeface="Arial" pitchFamily="34" charset="-122"/>
                <a:cs typeface="Arial" pitchFamily="34" charset="-120"/>
              </a:rPr>
              <a:t>La misma mejora puede ser correcta en un caso y un error en otro.</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Disponibilidad: los nueves</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7: Well-Architected</a:t>
            </a:r>
            <a:endParaRPr lang="en-US" sz="1100" dirty="0"/>
          </a:p>
        </p:txBody>
      </p:sp>
      <p:sp>
        <p:nvSpPr>
          <p:cNvPr id="5" name="Shape 3"/>
          <p:cNvSpPr/>
          <p:nvPr/>
        </p:nvSpPr>
        <p:spPr>
          <a:xfrm>
            <a:off x="548640" y="1188720"/>
            <a:ext cx="11091672" cy="1097280"/>
          </a:xfrm>
          <a:prstGeom prst="roundRect">
            <a:avLst/>
          </a:prstGeom>
          <a:solidFill>
            <a:srgbClr val="FFF8E1"/>
          </a:solidFill>
          <a:ln w="19050">
            <a:solidFill>
              <a:srgbClr val="FFA000"/>
            </a:solidFill>
            <a:prstDash val="solid"/>
          </a:ln>
        </p:spPr>
      </p:sp>
      <p:sp>
        <p:nvSpPr>
          <p:cNvPr id="6" name="Text 4"/>
          <p:cNvSpPr/>
          <p:nvPr/>
        </p:nvSpPr>
        <p:spPr>
          <a:xfrm>
            <a:off x="822960" y="1280160"/>
            <a:ext cx="10543032" cy="914400"/>
          </a:xfrm>
          <a:prstGeom prst="rect">
            <a:avLst/>
          </a:prstGeom>
          <a:noFill/>
          <a:ln/>
        </p:spPr>
        <p:txBody>
          <a:bodyPr wrap="square" rtlCol="0" anchor="ctr"/>
          <a:lstStyle/>
          <a:p>
            <a:pPr indent="0" marL="0">
              <a:buNone/>
            </a:pPr>
            <a:r>
              <a:rPr lang="en-US" sz="1900" dirty="0">
                <a:solidFill>
                  <a:srgbClr val="212121"/>
                </a:solidFill>
                <a:latin typeface="Arial" pitchFamily="34" charset="0"/>
                <a:ea typeface="Arial" pitchFamily="34" charset="-122"/>
                <a:cs typeface="Arial" pitchFamily="34" charset="-120"/>
              </a:rPr>
              <a:t>La disponibilidad es el porcentaje del tiempo en que un sistema responde. Se habla de «nueves» porque cada nueve más reduce mucho la caída permitida.</a:t>
            </a:r>
            <a:endParaRPr lang="en-US" sz="1900" dirty="0"/>
          </a:p>
        </p:txBody>
      </p:sp>
      <p:sp>
        <p:nvSpPr>
          <p:cNvPr id="7" name="Shape 5"/>
          <p:cNvSpPr/>
          <p:nvPr/>
        </p:nvSpPr>
        <p:spPr>
          <a:xfrm>
            <a:off x="548640" y="2560320"/>
            <a:ext cx="2601468" cy="2103120"/>
          </a:xfrm>
          <a:prstGeom prst="roundRect">
            <a:avLst/>
          </a:prstGeom>
          <a:solidFill>
            <a:srgbClr val="E8EAF6"/>
          </a:solidFill>
          <a:ln w="15875">
            <a:solidFill>
              <a:srgbClr val="3949AB"/>
            </a:solidFill>
            <a:prstDash val="solid"/>
          </a:ln>
        </p:spPr>
      </p:sp>
      <p:sp>
        <p:nvSpPr>
          <p:cNvPr id="8" name="Text 6"/>
          <p:cNvSpPr/>
          <p:nvPr/>
        </p:nvSpPr>
        <p:spPr>
          <a:xfrm>
            <a:off x="685800" y="2651760"/>
            <a:ext cx="2327148" cy="822960"/>
          </a:xfrm>
          <a:prstGeom prst="rect">
            <a:avLst/>
          </a:prstGeom>
          <a:noFill/>
          <a:ln/>
        </p:spPr>
        <p:txBody>
          <a:bodyPr wrap="square" rtlCol="0" anchor="ctr"/>
          <a:lstStyle/>
          <a:p>
            <a:pPr algn="ctr" indent="0" marL="0">
              <a:buNone/>
            </a:pPr>
            <a:r>
              <a:rPr lang="en-US" sz="3000" b="1" dirty="0">
                <a:solidFill>
                  <a:srgbClr val="1A237E"/>
                </a:solidFill>
                <a:latin typeface="Arial" pitchFamily="34" charset="0"/>
                <a:ea typeface="Arial" pitchFamily="34" charset="-122"/>
                <a:cs typeface="Arial" pitchFamily="34" charset="-120"/>
              </a:rPr>
              <a:t>99 %</a:t>
            </a:r>
            <a:endParaRPr lang="en-US" sz="3000" dirty="0"/>
          </a:p>
        </p:txBody>
      </p:sp>
      <p:sp>
        <p:nvSpPr>
          <p:cNvPr id="9" name="Text 7"/>
          <p:cNvSpPr/>
          <p:nvPr/>
        </p:nvSpPr>
        <p:spPr>
          <a:xfrm>
            <a:off x="731520" y="3520440"/>
            <a:ext cx="2235708" cy="1051560"/>
          </a:xfrm>
          <a:prstGeom prst="rect">
            <a:avLst/>
          </a:prstGeom>
          <a:noFill/>
          <a:ln/>
        </p:spPr>
        <p:txBody>
          <a:bodyPr wrap="square" rtlCol="0" anchor="t"/>
          <a:lstStyle/>
          <a:p>
            <a:pPr algn="ctr" indent="0" marL="0">
              <a:buNone/>
            </a:pPr>
            <a:r>
              <a:rPr lang="en-US" sz="1800" dirty="0">
                <a:solidFill>
                  <a:srgbClr val="212121"/>
                </a:solidFill>
                <a:latin typeface="Arial" pitchFamily="34" charset="0"/>
                <a:ea typeface="Arial" pitchFamily="34" charset="-122"/>
                <a:cs typeface="Arial" pitchFamily="34" charset="-120"/>
              </a:rPr>
              <a:t>3,65 días de caída al año</a:t>
            </a:r>
            <a:endParaRPr lang="en-US" sz="1800" dirty="0"/>
          </a:p>
        </p:txBody>
      </p:sp>
      <p:sp>
        <p:nvSpPr>
          <p:cNvPr id="10" name="Shape 8"/>
          <p:cNvSpPr/>
          <p:nvPr/>
        </p:nvSpPr>
        <p:spPr>
          <a:xfrm>
            <a:off x="3378708" y="2560320"/>
            <a:ext cx="2601468" cy="2103120"/>
          </a:xfrm>
          <a:prstGeom prst="roundRect">
            <a:avLst/>
          </a:prstGeom>
          <a:solidFill>
            <a:srgbClr val="E8EAF6"/>
          </a:solidFill>
          <a:ln w="15875">
            <a:solidFill>
              <a:srgbClr val="3949AB"/>
            </a:solidFill>
            <a:prstDash val="solid"/>
          </a:ln>
        </p:spPr>
      </p:sp>
      <p:sp>
        <p:nvSpPr>
          <p:cNvPr id="11" name="Text 9"/>
          <p:cNvSpPr/>
          <p:nvPr/>
        </p:nvSpPr>
        <p:spPr>
          <a:xfrm>
            <a:off x="3515868" y="2651760"/>
            <a:ext cx="2327148" cy="822960"/>
          </a:xfrm>
          <a:prstGeom prst="rect">
            <a:avLst/>
          </a:prstGeom>
          <a:noFill/>
          <a:ln/>
        </p:spPr>
        <p:txBody>
          <a:bodyPr wrap="square" rtlCol="0" anchor="ctr"/>
          <a:lstStyle/>
          <a:p>
            <a:pPr algn="ctr" indent="0" marL="0">
              <a:buNone/>
            </a:pPr>
            <a:r>
              <a:rPr lang="en-US" sz="3000" b="1" dirty="0">
                <a:solidFill>
                  <a:srgbClr val="1A237E"/>
                </a:solidFill>
                <a:latin typeface="Arial" pitchFamily="34" charset="0"/>
                <a:ea typeface="Arial" pitchFamily="34" charset="-122"/>
                <a:cs typeface="Arial" pitchFamily="34" charset="-120"/>
              </a:rPr>
              <a:t>99,9 %</a:t>
            </a:r>
            <a:endParaRPr lang="en-US" sz="3000" dirty="0"/>
          </a:p>
        </p:txBody>
      </p:sp>
      <p:sp>
        <p:nvSpPr>
          <p:cNvPr id="12" name="Text 10"/>
          <p:cNvSpPr/>
          <p:nvPr/>
        </p:nvSpPr>
        <p:spPr>
          <a:xfrm>
            <a:off x="3561588" y="3520440"/>
            <a:ext cx="2235708" cy="1051560"/>
          </a:xfrm>
          <a:prstGeom prst="rect">
            <a:avLst/>
          </a:prstGeom>
          <a:noFill/>
          <a:ln/>
        </p:spPr>
        <p:txBody>
          <a:bodyPr wrap="square" rtlCol="0" anchor="t"/>
          <a:lstStyle/>
          <a:p>
            <a:pPr algn="ctr" indent="0" marL="0">
              <a:buNone/>
            </a:pPr>
            <a:r>
              <a:rPr lang="en-US" sz="1800" dirty="0">
                <a:solidFill>
                  <a:srgbClr val="212121"/>
                </a:solidFill>
                <a:latin typeface="Arial" pitchFamily="34" charset="0"/>
                <a:ea typeface="Arial" pitchFamily="34" charset="-122"/>
                <a:cs typeface="Arial" pitchFamily="34" charset="-120"/>
              </a:rPr>
              <a:t>8,76 horas de caída al año</a:t>
            </a:r>
            <a:endParaRPr lang="en-US" sz="1800" dirty="0"/>
          </a:p>
        </p:txBody>
      </p:sp>
      <p:sp>
        <p:nvSpPr>
          <p:cNvPr id="13" name="Shape 11"/>
          <p:cNvSpPr/>
          <p:nvPr/>
        </p:nvSpPr>
        <p:spPr>
          <a:xfrm>
            <a:off x="6208776" y="2560320"/>
            <a:ext cx="2601468" cy="2103120"/>
          </a:xfrm>
          <a:prstGeom prst="roundRect">
            <a:avLst/>
          </a:prstGeom>
          <a:solidFill>
            <a:srgbClr val="E8EAF6"/>
          </a:solidFill>
          <a:ln w="15875">
            <a:solidFill>
              <a:srgbClr val="3949AB"/>
            </a:solidFill>
            <a:prstDash val="solid"/>
          </a:ln>
        </p:spPr>
      </p:sp>
      <p:sp>
        <p:nvSpPr>
          <p:cNvPr id="14" name="Text 12"/>
          <p:cNvSpPr/>
          <p:nvPr/>
        </p:nvSpPr>
        <p:spPr>
          <a:xfrm>
            <a:off x="6345936" y="2651760"/>
            <a:ext cx="2327148" cy="822960"/>
          </a:xfrm>
          <a:prstGeom prst="rect">
            <a:avLst/>
          </a:prstGeom>
          <a:noFill/>
          <a:ln/>
        </p:spPr>
        <p:txBody>
          <a:bodyPr wrap="square" rtlCol="0" anchor="ctr"/>
          <a:lstStyle/>
          <a:p>
            <a:pPr algn="ctr" indent="0" marL="0">
              <a:buNone/>
            </a:pPr>
            <a:r>
              <a:rPr lang="en-US" sz="3000" b="1" dirty="0">
                <a:solidFill>
                  <a:srgbClr val="1A237E"/>
                </a:solidFill>
                <a:latin typeface="Arial" pitchFamily="34" charset="0"/>
                <a:ea typeface="Arial" pitchFamily="34" charset="-122"/>
                <a:cs typeface="Arial" pitchFamily="34" charset="-120"/>
              </a:rPr>
              <a:t>99,99 %</a:t>
            </a:r>
            <a:endParaRPr lang="en-US" sz="3000" dirty="0"/>
          </a:p>
        </p:txBody>
      </p:sp>
      <p:sp>
        <p:nvSpPr>
          <p:cNvPr id="15" name="Text 13"/>
          <p:cNvSpPr/>
          <p:nvPr/>
        </p:nvSpPr>
        <p:spPr>
          <a:xfrm>
            <a:off x="6391656" y="3520440"/>
            <a:ext cx="2235708" cy="1051560"/>
          </a:xfrm>
          <a:prstGeom prst="rect">
            <a:avLst/>
          </a:prstGeom>
          <a:noFill/>
          <a:ln/>
        </p:spPr>
        <p:txBody>
          <a:bodyPr wrap="square" rtlCol="0" anchor="t"/>
          <a:lstStyle/>
          <a:p>
            <a:pPr algn="ctr" indent="0" marL="0">
              <a:buNone/>
            </a:pPr>
            <a:r>
              <a:rPr lang="en-US" sz="1800" dirty="0">
                <a:solidFill>
                  <a:srgbClr val="212121"/>
                </a:solidFill>
                <a:latin typeface="Arial" pitchFamily="34" charset="0"/>
                <a:ea typeface="Arial" pitchFamily="34" charset="-122"/>
                <a:cs typeface="Arial" pitchFamily="34" charset="-120"/>
              </a:rPr>
              <a:t>52,6 minutos de caída al año</a:t>
            </a:r>
            <a:endParaRPr lang="en-US" sz="1800" dirty="0"/>
          </a:p>
        </p:txBody>
      </p:sp>
      <p:sp>
        <p:nvSpPr>
          <p:cNvPr id="16" name="Shape 14"/>
          <p:cNvSpPr/>
          <p:nvPr/>
        </p:nvSpPr>
        <p:spPr>
          <a:xfrm>
            <a:off x="9038844" y="2560320"/>
            <a:ext cx="2601468" cy="2103120"/>
          </a:xfrm>
          <a:prstGeom prst="roundRect">
            <a:avLst/>
          </a:prstGeom>
          <a:solidFill>
            <a:srgbClr val="FFF8E1"/>
          </a:solidFill>
          <a:ln w="25400">
            <a:solidFill>
              <a:srgbClr val="FFA000"/>
            </a:solidFill>
            <a:prstDash val="solid"/>
          </a:ln>
        </p:spPr>
      </p:sp>
      <p:sp>
        <p:nvSpPr>
          <p:cNvPr id="17" name="Text 15"/>
          <p:cNvSpPr/>
          <p:nvPr/>
        </p:nvSpPr>
        <p:spPr>
          <a:xfrm>
            <a:off x="9176004" y="2651760"/>
            <a:ext cx="2327148" cy="822960"/>
          </a:xfrm>
          <a:prstGeom prst="rect">
            <a:avLst/>
          </a:prstGeom>
          <a:noFill/>
          <a:ln/>
        </p:spPr>
        <p:txBody>
          <a:bodyPr wrap="square" rtlCol="0" anchor="ctr"/>
          <a:lstStyle/>
          <a:p>
            <a:pPr algn="ctr" indent="0" marL="0">
              <a:buNone/>
            </a:pPr>
            <a:r>
              <a:rPr lang="en-US" sz="3000" b="1" dirty="0">
                <a:solidFill>
                  <a:srgbClr val="1A237E"/>
                </a:solidFill>
                <a:latin typeface="Arial" pitchFamily="34" charset="0"/>
                <a:ea typeface="Arial" pitchFamily="34" charset="-122"/>
                <a:cs typeface="Arial" pitchFamily="34" charset="-120"/>
              </a:rPr>
              <a:t>99,999 %</a:t>
            </a:r>
            <a:endParaRPr lang="en-US" sz="3000" dirty="0"/>
          </a:p>
        </p:txBody>
      </p:sp>
      <p:sp>
        <p:nvSpPr>
          <p:cNvPr id="18" name="Text 16"/>
          <p:cNvSpPr/>
          <p:nvPr/>
        </p:nvSpPr>
        <p:spPr>
          <a:xfrm>
            <a:off x="9221724" y="3520440"/>
            <a:ext cx="2235708" cy="1051560"/>
          </a:xfrm>
          <a:prstGeom prst="rect">
            <a:avLst/>
          </a:prstGeom>
          <a:noFill/>
          <a:ln/>
        </p:spPr>
        <p:txBody>
          <a:bodyPr wrap="square" rtlCol="0" anchor="t"/>
          <a:lstStyle/>
          <a:p>
            <a:pPr algn="ctr" indent="0" marL="0">
              <a:buNone/>
            </a:pPr>
            <a:r>
              <a:rPr lang="en-US" sz="1800" dirty="0">
                <a:solidFill>
                  <a:srgbClr val="212121"/>
                </a:solidFill>
                <a:latin typeface="Arial" pitchFamily="34" charset="0"/>
                <a:ea typeface="Arial" pitchFamily="34" charset="-122"/>
                <a:cs typeface="Arial" pitchFamily="34" charset="-120"/>
              </a:rPr>
              <a:t>5,26 minutos de caída al año</a:t>
            </a:r>
            <a:endParaRPr lang="en-US" sz="1800" dirty="0"/>
          </a:p>
        </p:txBody>
      </p:sp>
      <p:sp>
        <p:nvSpPr>
          <p:cNvPr id="19" name="Shape 17"/>
          <p:cNvSpPr/>
          <p:nvPr/>
        </p:nvSpPr>
        <p:spPr>
          <a:xfrm>
            <a:off x="548640" y="4937760"/>
            <a:ext cx="11091672" cy="1280160"/>
          </a:xfrm>
          <a:prstGeom prst="roundRect">
            <a:avLst/>
          </a:prstGeom>
          <a:solidFill>
            <a:srgbClr val="FFF8E1"/>
          </a:solidFill>
          <a:ln w="28575">
            <a:solidFill>
              <a:srgbClr val="FFA000"/>
            </a:solidFill>
            <a:prstDash val="solid"/>
          </a:ln>
        </p:spPr>
      </p:sp>
      <p:sp>
        <p:nvSpPr>
          <p:cNvPr id="20" name="Text 18"/>
          <p:cNvSpPr/>
          <p:nvPr/>
        </p:nvSpPr>
        <p:spPr>
          <a:xfrm>
            <a:off x="822960" y="5047488"/>
            <a:ext cx="10543032" cy="1060704"/>
          </a:xfrm>
          <a:prstGeom prst="rect">
            <a:avLst/>
          </a:prstGeom>
          <a:noFill/>
          <a:ln/>
        </p:spPr>
        <p:txBody>
          <a:bodyPr wrap="square" rtlCol="0" anchor="t"/>
          <a:lstStyle/>
          <a:p>
            <a:pPr indent="0" marL="0">
              <a:buNone/>
            </a:pPr>
            <a:r>
              <a:rPr lang="en-US" sz="1800" b="1" dirty="0">
                <a:solidFill>
                  <a:srgbClr val="1A237E"/>
                </a:solidFill>
                <a:latin typeface="Arial" pitchFamily="34" charset="0"/>
                <a:ea typeface="Arial" pitchFamily="34" charset="-122"/>
                <a:cs typeface="Arial" pitchFamily="34" charset="-120"/>
              </a:rPr>
              <a:t>SLA (Service Level Agreement)
</a:t>
            </a:r>
            <a:endParaRPr lang="en-US" sz="1800" dirty="0"/>
          </a:p>
          <a:p>
            <a:pPr indent="0" marL="0">
              <a:buNone/>
            </a:pPr>
            <a:r>
              <a:rPr lang="en-US" sz="1700" dirty="0">
                <a:solidFill>
                  <a:srgbClr val="212121"/>
                </a:solidFill>
                <a:latin typeface="Arial" pitchFamily="34" charset="0"/>
                <a:ea typeface="Arial" pitchFamily="34" charset="-122"/>
                <a:cs typeface="Arial" pitchFamily="34" charset="-120"/>
              </a:rPr>
              <a:t>Cada servicio de AWS publica su propio compromiso de disponibilidad. Si AWS no lo cumple, devuelve una parte del importe.</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Disponibilidad: piezas en serie y en paralelo</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7: Well-Architected</a:t>
            </a:r>
            <a:endParaRPr lang="en-US" sz="1100" dirty="0"/>
          </a:p>
        </p:txBody>
      </p:sp>
      <p:sp>
        <p:nvSpPr>
          <p:cNvPr id="5" name="Shape 3"/>
          <p:cNvSpPr/>
          <p:nvPr/>
        </p:nvSpPr>
        <p:spPr>
          <a:xfrm>
            <a:off x="548640" y="1188720"/>
            <a:ext cx="5408676" cy="2103120"/>
          </a:xfrm>
          <a:prstGeom prst="roundRect">
            <a:avLst/>
          </a:prstGeom>
          <a:solidFill>
            <a:srgbClr val="E8EAF6"/>
          </a:solidFill>
          <a:ln w="15875">
            <a:solidFill>
              <a:srgbClr val="3949AB"/>
            </a:solidFill>
            <a:prstDash val="solid"/>
          </a:ln>
        </p:spPr>
      </p:sp>
      <p:sp>
        <p:nvSpPr>
          <p:cNvPr id="6" name="Text 4"/>
          <p:cNvSpPr/>
          <p:nvPr/>
        </p:nvSpPr>
        <p:spPr>
          <a:xfrm>
            <a:off x="731520" y="1261872"/>
            <a:ext cx="5042916" cy="548640"/>
          </a:xfrm>
          <a:prstGeom prst="rect">
            <a:avLst/>
          </a:prstGeom>
          <a:noFill/>
          <a:ln/>
        </p:spPr>
        <p:txBody>
          <a:bodyPr wrap="square" rtlCol="0" anchor="ctr"/>
          <a:lstStyle/>
          <a:p>
            <a:pPr indent="0" marL="0">
              <a:buNone/>
            </a:pPr>
            <a:r>
              <a:rPr lang="en-US" sz="2000" b="1" dirty="0">
                <a:solidFill>
                  <a:srgbClr val="1A237E"/>
                </a:solidFill>
                <a:latin typeface="Arial" pitchFamily="34" charset="0"/>
                <a:ea typeface="Arial" pitchFamily="34" charset="-122"/>
                <a:cs typeface="Arial" pitchFamily="34" charset="-120"/>
              </a:rPr>
              <a:t>En serie</a:t>
            </a:r>
            <a:endParaRPr lang="en-US" sz="2000" dirty="0"/>
          </a:p>
        </p:txBody>
      </p:sp>
      <p:sp>
        <p:nvSpPr>
          <p:cNvPr id="7" name="Text 5"/>
          <p:cNvSpPr/>
          <p:nvPr/>
        </p:nvSpPr>
        <p:spPr>
          <a:xfrm>
            <a:off x="731520" y="1810512"/>
            <a:ext cx="5042916" cy="1408176"/>
          </a:xfrm>
          <a:prstGeom prst="rect">
            <a:avLst/>
          </a:prstGeom>
          <a:noFill/>
          <a:ln/>
        </p:spPr>
        <p:txBody>
          <a:bodyPr wrap="square" rtlCol="0" anchor="t"/>
          <a:lstStyle/>
          <a:p>
            <a:pPr indent="0" marL="0">
              <a:buNone/>
            </a:pPr>
            <a:r>
              <a:rPr lang="en-US" sz="1600" dirty="0">
                <a:solidFill>
                  <a:srgbClr val="212121"/>
                </a:solidFill>
                <a:latin typeface="Arial" pitchFamily="34" charset="0"/>
                <a:ea typeface="Arial" pitchFamily="34" charset="-122"/>
                <a:cs typeface="Arial" pitchFamily="34" charset="-120"/>
              </a:rPr>
              <a:t>Para responder hacen falta todas las piezas: las disponibilidades se multiplican. Dos piezas de 99,9 % dan 99,8 %.</a:t>
            </a:r>
            <a:endParaRPr lang="en-US" sz="1600" dirty="0"/>
          </a:p>
        </p:txBody>
      </p:sp>
      <p:sp>
        <p:nvSpPr>
          <p:cNvPr id="8" name="Shape 6"/>
          <p:cNvSpPr/>
          <p:nvPr/>
        </p:nvSpPr>
        <p:spPr>
          <a:xfrm>
            <a:off x="6231636" y="1188720"/>
            <a:ext cx="5408676" cy="2103120"/>
          </a:xfrm>
          <a:prstGeom prst="roundRect">
            <a:avLst/>
          </a:prstGeom>
          <a:solidFill>
            <a:srgbClr val="E8EAF6"/>
          </a:solidFill>
          <a:ln w="15875">
            <a:solidFill>
              <a:srgbClr val="3949AB"/>
            </a:solidFill>
            <a:prstDash val="solid"/>
          </a:ln>
        </p:spPr>
      </p:sp>
      <p:sp>
        <p:nvSpPr>
          <p:cNvPr id="9" name="Text 7"/>
          <p:cNvSpPr/>
          <p:nvPr/>
        </p:nvSpPr>
        <p:spPr>
          <a:xfrm>
            <a:off x="6414516" y="1261872"/>
            <a:ext cx="5042916" cy="548640"/>
          </a:xfrm>
          <a:prstGeom prst="rect">
            <a:avLst/>
          </a:prstGeom>
          <a:noFill/>
          <a:ln/>
        </p:spPr>
        <p:txBody>
          <a:bodyPr wrap="square" rtlCol="0" anchor="ctr"/>
          <a:lstStyle/>
          <a:p>
            <a:pPr indent="0" marL="0">
              <a:buNone/>
            </a:pPr>
            <a:r>
              <a:rPr lang="en-US" sz="2000" b="1" dirty="0">
                <a:solidFill>
                  <a:srgbClr val="1A237E"/>
                </a:solidFill>
                <a:latin typeface="Arial" pitchFamily="34" charset="0"/>
                <a:ea typeface="Arial" pitchFamily="34" charset="-122"/>
                <a:cs typeface="Arial" pitchFamily="34" charset="-120"/>
              </a:rPr>
              <a:t>En paralelo</a:t>
            </a:r>
            <a:endParaRPr lang="en-US" sz="2000" dirty="0"/>
          </a:p>
        </p:txBody>
      </p:sp>
      <p:sp>
        <p:nvSpPr>
          <p:cNvPr id="10" name="Text 8"/>
          <p:cNvSpPr/>
          <p:nvPr/>
        </p:nvSpPr>
        <p:spPr>
          <a:xfrm>
            <a:off x="6414516" y="1810512"/>
            <a:ext cx="5042916" cy="1408176"/>
          </a:xfrm>
          <a:prstGeom prst="rect">
            <a:avLst/>
          </a:prstGeom>
          <a:noFill/>
          <a:ln/>
        </p:spPr>
        <p:txBody>
          <a:bodyPr wrap="square" rtlCol="0" anchor="t"/>
          <a:lstStyle/>
          <a:p>
            <a:pPr indent="0" marL="0">
              <a:buNone/>
            </a:pPr>
            <a:r>
              <a:rPr lang="en-US" sz="1600" dirty="0">
                <a:solidFill>
                  <a:srgbClr val="212121"/>
                </a:solidFill>
                <a:latin typeface="Arial" pitchFamily="34" charset="0"/>
                <a:ea typeface="Arial" pitchFamily="34" charset="-122"/>
                <a:cs typeface="Arial" pitchFamily="34" charset="-120"/>
              </a:rPr>
              <a:t>Basta con que funcione una: el sistema solo cae si caen todas a la vez, es decir, se multiplican las probabilidades de fallo. Dos piezas de 99,5 % caen solo con probabilidad 0,005 × 0,005.</a:t>
            </a:r>
            <a:endParaRPr lang="en-US" sz="1600" dirty="0"/>
          </a:p>
        </p:txBody>
      </p:sp>
      <p:sp>
        <p:nvSpPr>
          <p:cNvPr id="11" name="Shape 9"/>
          <p:cNvSpPr/>
          <p:nvPr/>
        </p:nvSpPr>
        <p:spPr>
          <a:xfrm>
            <a:off x="822960" y="3703320"/>
            <a:ext cx="1737360" cy="868680"/>
          </a:xfrm>
          <a:prstGeom prst="roundRect">
            <a:avLst/>
          </a:prstGeom>
          <a:solidFill>
            <a:srgbClr val="FFFFFF"/>
          </a:solidFill>
          <a:ln w="19050">
            <a:solidFill>
              <a:srgbClr val="3949AB"/>
            </a:solidFill>
            <a:prstDash val="solid"/>
          </a:ln>
        </p:spPr>
      </p:sp>
      <p:sp>
        <p:nvSpPr>
          <p:cNvPr id="12" name="Text 10"/>
          <p:cNvSpPr/>
          <p:nvPr/>
        </p:nvSpPr>
        <p:spPr>
          <a:xfrm>
            <a:off x="822960" y="3703320"/>
            <a:ext cx="1737360" cy="868680"/>
          </a:xfrm>
          <a:prstGeom prst="rect">
            <a:avLst/>
          </a:prstGeom>
          <a:noFill/>
          <a:ln/>
        </p:spPr>
        <p:txBody>
          <a:bodyPr wrap="square" rtlCol="0" anchor="ctr"/>
          <a:lstStyle/>
          <a:p>
            <a:pPr algn="ctr" indent="0" marL="0">
              <a:buNone/>
            </a:pPr>
            <a:r>
              <a:rPr lang="en-US" sz="1500" dirty="0">
                <a:solidFill>
                  <a:srgbClr val="212121"/>
                </a:solidFill>
                <a:latin typeface="Arial" pitchFamily="34" charset="0"/>
                <a:ea typeface="Arial" pitchFamily="34" charset="-122"/>
                <a:cs typeface="Arial" pitchFamily="34" charset="-120"/>
              </a:rPr>
              <a:t>Pieza A</a:t>
            </a:r>
            <a:endParaRPr lang="en-US" sz="1500" dirty="0"/>
          </a:p>
          <a:p>
            <a:pPr algn="ctr" indent="0" marL="0">
              <a:buNone/>
            </a:pPr>
            <a:r>
              <a:rPr lang="en-US" sz="1500" dirty="0">
                <a:solidFill>
                  <a:srgbClr val="212121"/>
                </a:solidFill>
                <a:latin typeface="Arial" pitchFamily="34" charset="0"/>
                <a:ea typeface="Arial" pitchFamily="34" charset="-122"/>
                <a:cs typeface="Arial" pitchFamily="34" charset="-120"/>
              </a:rPr>
              <a:t>99,9 %</a:t>
            </a:r>
            <a:endParaRPr lang="en-US" sz="1500" dirty="0"/>
          </a:p>
        </p:txBody>
      </p:sp>
      <p:sp>
        <p:nvSpPr>
          <p:cNvPr id="13" name="Text 11"/>
          <p:cNvSpPr/>
          <p:nvPr/>
        </p:nvSpPr>
        <p:spPr>
          <a:xfrm>
            <a:off x="2560320" y="3703320"/>
            <a:ext cx="548640" cy="868680"/>
          </a:xfrm>
          <a:prstGeom prst="rect">
            <a:avLst/>
          </a:prstGeom>
          <a:noFill/>
          <a:ln/>
        </p:spPr>
        <p:txBody>
          <a:bodyPr wrap="square" rtlCol="0" anchor="ctr"/>
          <a:lstStyle/>
          <a:p>
            <a:pPr algn="ctr" indent="0" marL="0">
              <a:buNone/>
            </a:pPr>
            <a:r>
              <a:rPr lang="en-US" sz="2600" b="1" dirty="0">
                <a:solidFill>
                  <a:srgbClr val="3949AB"/>
                </a:solidFill>
                <a:latin typeface="Arial" pitchFamily="34" charset="0"/>
                <a:ea typeface="Arial" pitchFamily="34" charset="-122"/>
                <a:cs typeface="Arial" pitchFamily="34" charset="-120"/>
              </a:rPr>
              <a:t>→</a:t>
            </a:r>
            <a:endParaRPr lang="en-US" sz="2600" dirty="0"/>
          </a:p>
        </p:txBody>
      </p:sp>
      <p:sp>
        <p:nvSpPr>
          <p:cNvPr id="14" name="Shape 12"/>
          <p:cNvSpPr/>
          <p:nvPr/>
        </p:nvSpPr>
        <p:spPr>
          <a:xfrm>
            <a:off x="3108960" y="3703320"/>
            <a:ext cx="1737360" cy="868680"/>
          </a:xfrm>
          <a:prstGeom prst="roundRect">
            <a:avLst/>
          </a:prstGeom>
          <a:solidFill>
            <a:srgbClr val="FFFFFF"/>
          </a:solidFill>
          <a:ln w="19050">
            <a:solidFill>
              <a:srgbClr val="3949AB"/>
            </a:solidFill>
            <a:prstDash val="solid"/>
          </a:ln>
        </p:spPr>
      </p:sp>
      <p:sp>
        <p:nvSpPr>
          <p:cNvPr id="15" name="Text 13"/>
          <p:cNvSpPr/>
          <p:nvPr/>
        </p:nvSpPr>
        <p:spPr>
          <a:xfrm>
            <a:off x="3108960" y="3703320"/>
            <a:ext cx="1737360" cy="868680"/>
          </a:xfrm>
          <a:prstGeom prst="rect">
            <a:avLst/>
          </a:prstGeom>
          <a:noFill/>
          <a:ln/>
        </p:spPr>
        <p:txBody>
          <a:bodyPr wrap="square" rtlCol="0" anchor="ctr"/>
          <a:lstStyle/>
          <a:p>
            <a:pPr algn="ctr" indent="0" marL="0">
              <a:buNone/>
            </a:pPr>
            <a:r>
              <a:rPr lang="en-US" sz="1500" dirty="0">
                <a:solidFill>
                  <a:srgbClr val="212121"/>
                </a:solidFill>
                <a:latin typeface="Arial" pitchFamily="34" charset="0"/>
                <a:ea typeface="Arial" pitchFamily="34" charset="-122"/>
                <a:cs typeface="Arial" pitchFamily="34" charset="-120"/>
              </a:rPr>
              <a:t>Pieza B</a:t>
            </a:r>
            <a:endParaRPr lang="en-US" sz="1500" dirty="0"/>
          </a:p>
          <a:p>
            <a:pPr algn="ctr" indent="0" marL="0">
              <a:buNone/>
            </a:pPr>
            <a:r>
              <a:rPr lang="en-US" sz="1500" dirty="0">
                <a:solidFill>
                  <a:srgbClr val="212121"/>
                </a:solidFill>
                <a:latin typeface="Arial" pitchFamily="34" charset="0"/>
                <a:ea typeface="Arial" pitchFamily="34" charset="-122"/>
                <a:cs typeface="Arial" pitchFamily="34" charset="-120"/>
              </a:rPr>
              <a:t>99,9 %</a:t>
            </a:r>
            <a:endParaRPr lang="en-US" sz="1500" dirty="0"/>
          </a:p>
        </p:txBody>
      </p:sp>
      <p:sp>
        <p:nvSpPr>
          <p:cNvPr id="16" name="Shape 14"/>
          <p:cNvSpPr/>
          <p:nvPr/>
        </p:nvSpPr>
        <p:spPr>
          <a:xfrm>
            <a:off x="1280160" y="4937760"/>
            <a:ext cx="4023360" cy="731520"/>
          </a:xfrm>
          <a:prstGeom prst="roundRect">
            <a:avLst/>
          </a:prstGeom>
          <a:solidFill>
            <a:srgbClr val="3949AB"/>
          </a:solidFill>
          <a:ln w="12700">
            <a:solidFill>
              <a:srgbClr val="3949AB"/>
            </a:solidFill>
            <a:prstDash val="solid"/>
          </a:ln>
        </p:spPr>
      </p:sp>
      <p:sp>
        <p:nvSpPr>
          <p:cNvPr id="17" name="Text 15"/>
          <p:cNvSpPr/>
          <p:nvPr/>
        </p:nvSpPr>
        <p:spPr>
          <a:xfrm>
            <a:off x="1280160" y="4937760"/>
            <a:ext cx="4023360" cy="731520"/>
          </a:xfrm>
          <a:prstGeom prst="rect">
            <a:avLst/>
          </a:prstGeom>
          <a:noFill/>
          <a:ln/>
        </p:spPr>
        <p:txBody>
          <a:bodyPr wrap="square"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En serie: 99,8 %</a:t>
            </a:r>
            <a:endParaRPr lang="en-US" sz="1900" dirty="0"/>
          </a:p>
        </p:txBody>
      </p:sp>
      <p:sp>
        <p:nvSpPr>
          <p:cNvPr id="18" name="Shape 16"/>
          <p:cNvSpPr/>
          <p:nvPr/>
        </p:nvSpPr>
        <p:spPr>
          <a:xfrm>
            <a:off x="6766560" y="3566160"/>
            <a:ext cx="1828800" cy="777240"/>
          </a:xfrm>
          <a:prstGeom prst="roundRect">
            <a:avLst/>
          </a:prstGeom>
          <a:solidFill>
            <a:srgbClr val="FFFFFF"/>
          </a:solidFill>
          <a:ln w="19050">
            <a:solidFill>
              <a:srgbClr val="3949AB"/>
            </a:solidFill>
            <a:prstDash val="solid"/>
          </a:ln>
        </p:spPr>
      </p:sp>
      <p:sp>
        <p:nvSpPr>
          <p:cNvPr id="19" name="Text 17"/>
          <p:cNvSpPr/>
          <p:nvPr/>
        </p:nvSpPr>
        <p:spPr>
          <a:xfrm>
            <a:off x="6766560" y="3566160"/>
            <a:ext cx="1828800" cy="777240"/>
          </a:xfrm>
          <a:prstGeom prst="rect">
            <a:avLst/>
          </a:prstGeom>
          <a:noFill/>
          <a:ln/>
        </p:spPr>
        <p:txBody>
          <a:bodyPr wrap="square" rtlCol="0" anchor="ctr"/>
          <a:lstStyle/>
          <a:p>
            <a:pPr algn="ctr" indent="0" marL="0">
              <a:buNone/>
            </a:pPr>
            <a:r>
              <a:rPr lang="en-US" sz="1500" dirty="0">
                <a:solidFill>
                  <a:srgbClr val="212121"/>
                </a:solidFill>
                <a:latin typeface="Arial" pitchFamily="34" charset="0"/>
                <a:ea typeface="Arial" pitchFamily="34" charset="-122"/>
                <a:cs typeface="Arial" pitchFamily="34" charset="-120"/>
              </a:rPr>
              <a:t>Pieza A</a:t>
            </a:r>
            <a:endParaRPr lang="en-US" sz="1500" dirty="0"/>
          </a:p>
          <a:p>
            <a:pPr algn="ctr" indent="0" marL="0">
              <a:buNone/>
            </a:pPr>
            <a:r>
              <a:rPr lang="en-US" sz="1500" dirty="0">
                <a:solidFill>
                  <a:srgbClr val="212121"/>
                </a:solidFill>
                <a:latin typeface="Arial" pitchFamily="34" charset="0"/>
                <a:ea typeface="Arial" pitchFamily="34" charset="-122"/>
                <a:cs typeface="Arial" pitchFamily="34" charset="-120"/>
              </a:rPr>
              <a:t>99,5 %</a:t>
            </a:r>
            <a:endParaRPr lang="en-US" sz="1500" dirty="0"/>
          </a:p>
        </p:txBody>
      </p:sp>
      <p:sp>
        <p:nvSpPr>
          <p:cNvPr id="20" name="Shape 18"/>
          <p:cNvSpPr/>
          <p:nvPr/>
        </p:nvSpPr>
        <p:spPr>
          <a:xfrm>
            <a:off x="6766560" y="4526280"/>
            <a:ext cx="1828800" cy="777240"/>
          </a:xfrm>
          <a:prstGeom prst="roundRect">
            <a:avLst/>
          </a:prstGeom>
          <a:solidFill>
            <a:srgbClr val="FFFFFF"/>
          </a:solidFill>
          <a:ln w="19050">
            <a:solidFill>
              <a:srgbClr val="3949AB"/>
            </a:solidFill>
            <a:prstDash val="solid"/>
          </a:ln>
        </p:spPr>
      </p:sp>
      <p:sp>
        <p:nvSpPr>
          <p:cNvPr id="21" name="Text 19"/>
          <p:cNvSpPr/>
          <p:nvPr/>
        </p:nvSpPr>
        <p:spPr>
          <a:xfrm>
            <a:off x="6766560" y="4526280"/>
            <a:ext cx="1828800" cy="777240"/>
          </a:xfrm>
          <a:prstGeom prst="rect">
            <a:avLst/>
          </a:prstGeom>
          <a:noFill/>
          <a:ln/>
        </p:spPr>
        <p:txBody>
          <a:bodyPr wrap="square" rtlCol="0" anchor="ctr"/>
          <a:lstStyle/>
          <a:p>
            <a:pPr algn="ctr" indent="0" marL="0">
              <a:buNone/>
            </a:pPr>
            <a:r>
              <a:rPr lang="en-US" sz="1500" dirty="0">
                <a:solidFill>
                  <a:srgbClr val="212121"/>
                </a:solidFill>
                <a:latin typeface="Arial" pitchFamily="34" charset="0"/>
                <a:ea typeface="Arial" pitchFamily="34" charset="-122"/>
                <a:cs typeface="Arial" pitchFamily="34" charset="-120"/>
              </a:rPr>
              <a:t>Pieza B</a:t>
            </a:r>
            <a:endParaRPr lang="en-US" sz="1500" dirty="0"/>
          </a:p>
          <a:p>
            <a:pPr algn="ctr" indent="0" marL="0">
              <a:buNone/>
            </a:pPr>
            <a:r>
              <a:rPr lang="en-US" sz="1500" dirty="0">
                <a:solidFill>
                  <a:srgbClr val="212121"/>
                </a:solidFill>
                <a:latin typeface="Arial" pitchFamily="34" charset="0"/>
                <a:ea typeface="Arial" pitchFamily="34" charset="-122"/>
                <a:cs typeface="Arial" pitchFamily="34" charset="-120"/>
              </a:rPr>
              <a:t>99,5 %</a:t>
            </a:r>
            <a:endParaRPr lang="en-US" sz="1500" dirty="0"/>
          </a:p>
        </p:txBody>
      </p:sp>
      <p:sp>
        <p:nvSpPr>
          <p:cNvPr id="22" name="Text 20"/>
          <p:cNvSpPr/>
          <p:nvPr/>
        </p:nvSpPr>
        <p:spPr>
          <a:xfrm>
            <a:off x="8641080" y="4023360"/>
            <a:ext cx="548640" cy="868680"/>
          </a:xfrm>
          <a:prstGeom prst="rect">
            <a:avLst/>
          </a:prstGeom>
          <a:noFill/>
          <a:ln/>
        </p:spPr>
        <p:txBody>
          <a:bodyPr wrap="square" rtlCol="0" anchor="ctr"/>
          <a:lstStyle/>
          <a:p>
            <a:pPr algn="ctr" indent="0" marL="0">
              <a:buNone/>
            </a:pPr>
            <a:r>
              <a:rPr lang="en-US" sz="2600" b="1" dirty="0">
                <a:solidFill>
                  <a:srgbClr val="3949AB"/>
                </a:solidFill>
                <a:latin typeface="Arial" pitchFamily="34" charset="0"/>
                <a:ea typeface="Arial" pitchFamily="34" charset="-122"/>
                <a:cs typeface="Arial" pitchFamily="34" charset="-120"/>
              </a:rPr>
              <a:t>→</a:t>
            </a:r>
            <a:endParaRPr lang="en-US" sz="2600" dirty="0"/>
          </a:p>
        </p:txBody>
      </p:sp>
      <p:sp>
        <p:nvSpPr>
          <p:cNvPr id="23" name="Shape 21"/>
          <p:cNvSpPr/>
          <p:nvPr/>
        </p:nvSpPr>
        <p:spPr>
          <a:xfrm>
            <a:off x="9098280" y="4114800"/>
            <a:ext cx="2560320" cy="777240"/>
          </a:xfrm>
          <a:prstGeom prst="roundRect">
            <a:avLst/>
          </a:prstGeom>
          <a:solidFill>
            <a:srgbClr val="FFA000"/>
          </a:solidFill>
          <a:ln w="12700">
            <a:solidFill>
              <a:srgbClr val="FFA000"/>
            </a:solidFill>
            <a:prstDash val="solid"/>
          </a:ln>
        </p:spPr>
      </p:sp>
      <p:sp>
        <p:nvSpPr>
          <p:cNvPr id="24" name="Text 22"/>
          <p:cNvSpPr/>
          <p:nvPr/>
        </p:nvSpPr>
        <p:spPr>
          <a:xfrm>
            <a:off x="9098280" y="4114800"/>
            <a:ext cx="2560320" cy="777240"/>
          </a:xfrm>
          <a:prstGeom prst="rect">
            <a:avLst/>
          </a:prstGeom>
          <a:noFill/>
          <a:ln/>
        </p:spPr>
        <p:txBody>
          <a:bodyPr wrap="square" rtlCol="0" anchor="ctr"/>
          <a:lstStyle/>
          <a:p>
            <a:pPr algn="ctr" indent="0" marL="0">
              <a:buNone/>
            </a:pPr>
            <a:r>
              <a:rPr lang="en-US" sz="1500" b="1" dirty="0">
                <a:solidFill>
                  <a:srgbClr val="212121"/>
                </a:solidFill>
                <a:latin typeface="Arial" pitchFamily="34" charset="0"/>
                <a:ea typeface="Arial" pitchFamily="34" charset="-122"/>
                <a:cs typeface="Arial" pitchFamily="34" charset="-120"/>
              </a:rPr>
              <a:t>En paralelo: 99,9975 %</a:t>
            </a:r>
            <a:endParaRPr lang="en-US" sz="1500" dirty="0"/>
          </a:p>
        </p:txBody>
      </p:sp>
      <p:sp>
        <p:nvSpPr>
          <p:cNvPr id="25" name="Text 23"/>
          <p:cNvSpPr/>
          <p:nvPr/>
        </p:nvSpPr>
        <p:spPr>
          <a:xfrm>
            <a:off x="6309360" y="5486400"/>
            <a:ext cx="5303520" cy="457200"/>
          </a:xfrm>
          <a:prstGeom prst="rect">
            <a:avLst/>
          </a:prstGeom>
          <a:noFill/>
          <a:ln/>
        </p:spPr>
        <p:txBody>
          <a:bodyPr wrap="square" rtlCol="0" anchor="t"/>
          <a:lstStyle/>
          <a:p>
            <a:pPr algn="ctr" indent="0" marL="0">
              <a:buNone/>
            </a:pPr>
            <a:r>
              <a:rPr lang="en-US" sz="1400" dirty="0">
                <a:solidFill>
                  <a:srgbClr val="757575"/>
                </a:solidFill>
                <a:latin typeface="Arial" pitchFamily="34" charset="0"/>
                <a:ea typeface="Arial" pitchFamily="34" charset="-122"/>
                <a:cs typeface="Arial" pitchFamily="34" charset="-120"/>
              </a:rPr>
              <a:t>Una de las dos basta para que el sistema responda.</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Disponibilidad de la biblioteca: el cálculo</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7: Well-Architected</a:t>
            </a:r>
            <a:endParaRPr lang="en-US" sz="1100" dirty="0"/>
          </a:p>
        </p:txBody>
      </p:sp>
      <p:sp>
        <p:nvSpPr>
          <p:cNvPr id="5" name="Shape 3"/>
          <p:cNvSpPr/>
          <p:nvPr/>
        </p:nvSpPr>
        <p:spPr>
          <a:xfrm>
            <a:off x="548640" y="1188720"/>
            <a:ext cx="11091672" cy="868680"/>
          </a:xfrm>
          <a:prstGeom prst="roundRect">
            <a:avLst/>
          </a:prstGeom>
          <a:solidFill>
            <a:srgbClr val="FFF8E1"/>
          </a:solidFill>
          <a:ln w="19050">
            <a:solidFill>
              <a:srgbClr val="FFA000"/>
            </a:solidFill>
            <a:prstDash val="solid"/>
          </a:ln>
        </p:spPr>
      </p:sp>
      <p:sp>
        <p:nvSpPr>
          <p:cNvPr id="6" name="Text 4"/>
          <p:cNvSpPr/>
          <p:nvPr/>
        </p:nvSpPr>
        <p:spPr>
          <a:xfrm>
            <a:off x="822960" y="1280160"/>
            <a:ext cx="10543032" cy="685800"/>
          </a:xfrm>
          <a:prstGeom prst="rect">
            <a:avLst/>
          </a:prstGeom>
          <a:noFill/>
          <a:ln/>
        </p:spPr>
        <p:txBody>
          <a:bodyPr wrap="square" rtlCol="0" anchor="ctr"/>
          <a:lstStyle/>
          <a:p>
            <a:pPr indent="0" marL="0">
              <a:buNone/>
            </a:pPr>
            <a:r>
              <a:rPr lang="en-US" sz="1900" dirty="0">
                <a:solidFill>
                  <a:srgbClr val="212121"/>
                </a:solidFill>
                <a:latin typeface="Arial" pitchFamily="34" charset="0"/>
                <a:ea typeface="Arial" pitchFamily="34" charset="-122"/>
                <a:cs typeface="Arial" pitchFamily="34" charset="-120"/>
              </a:rPr>
              <a:t>Con la biblioteca del ejemplo anterior, y con cifras inventadas solo para el cálculo:</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11091672" cy="914400"/>
        </p:xfrm>
        <a:graphic>
          <a:graphicData uri="http://schemas.openxmlformats.org/drawingml/2006/table">
            <a:tbl>
              <a:tblPr/>
              <a:tblGrid>
                <a:gridCol w="4658502"/>
                <a:gridCol w="2662001"/>
                <a:gridCol w="1885584"/>
                <a:gridCol w="1885584"/>
              </a:tblGrid>
              <a:tr h="731520">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Configuración</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Cálculo</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Disponibilidad</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Caída al año</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r>
              <a:tr h="731520">
                <a:tc>
                  <a:txBody>
                    <a:bodyPr/>
                    <a:lstStyle/>
                    <a:p>
                      <a:pPr indent="0" marL="0">
                        <a:buNone/>
                      </a:pPr>
                      <a:r>
                        <a:rPr lang="en-US" sz="1500" dirty="0">
                          <a:solidFill>
                            <a:srgbClr val="212121"/>
                          </a:solidFill>
                          <a:latin typeface="Arial" pitchFamily="34" charset="0"/>
                          <a:ea typeface="Arial" pitchFamily="34" charset="-122"/>
                          <a:cs typeface="Arial" pitchFamily="34" charset="-120"/>
                        </a:rPr>
                        <a:t>Una instancia con aplicación y base de datos (99,5 %)</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0,995</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99,5 %</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unas 44 horas</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731520">
                <a:tc>
                  <a:txBody>
                    <a:bodyPr/>
                    <a:lstStyle/>
                    <a:p>
                      <a:pPr indent="0" marL="0">
                        <a:buNone/>
                      </a:pPr>
                      <a:r>
                        <a:rPr lang="en-US" sz="1500" dirty="0">
                          <a:solidFill>
                            <a:srgbClr val="212121"/>
                          </a:solidFill>
                          <a:latin typeface="Arial" pitchFamily="34" charset="0"/>
                          <a:ea typeface="Arial" pitchFamily="34" charset="-122"/>
                          <a:cs typeface="Arial" pitchFamily="34" charset="-120"/>
                        </a:rPr>
                        <a:t>Dos instancias en dos zonas tras un balanceador (99,99 %)</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(1 − 0,005²) × 0,9999</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99,9875 %</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unos 66 minutos</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731520">
                <a:tc>
                  <a:txBody>
                    <a:bodyPr/>
                    <a:lstStyle/>
                    <a:p>
                      <a:pPr indent="0" marL="0">
                        <a:buNone/>
                      </a:pPr>
                      <a:r>
                        <a:rPr lang="en-US" sz="1500" dirty="0">
                          <a:solidFill>
                            <a:srgbClr val="212121"/>
                          </a:solidFill>
                          <a:latin typeface="Arial" pitchFamily="34" charset="0"/>
                          <a:ea typeface="Arial" pitchFamily="34" charset="-122"/>
                          <a:cs typeface="Arial" pitchFamily="34" charset="-120"/>
                        </a:rPr>
                        <a:t>Lo anterior, pero con la base de datos aparte, en una sola zona (99,5 %)</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0,999875 × 0,995</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99,49 %</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unas 45 horas</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5257800"/>
            <a:ext cx="11091672" cy="1051560"/>
          </a:xfrm>
          <a:prstGeom prst="roundRect">
            <a:avLst/>
          </a:prstGeom>
          <a:solidFill>
            <a:srgbClr val="FFF8E1"/>
          </a:solidFill>
          <a:ln w="28575">
            <a:solidFill>
              <a:srgbClr val="FFA000"/>
            </a:solidFill>
            <a:prstDash val="solid"/>
          </a:ln>
        </p:spPr>
      </p:sp>
      <p:sp>
        <p:nvSpPr>
          <p:cNvPr id="9" name="Text 6"/>
          <p:cNvSpPr/>
          <p:nvPr/>
        </p:nvSpPr>
        <p:spPr>
          <a:xfrm>
            <a:off x="822960" y="5367528"/>
            <a:ext cx="10543032" cy="832104"/>
          </a:xfrm>
          <a:prstGeom prst="rect">
            <a:avLst/>
          </a:prstGeom>
          <a:noFill/>
          <a:ln/>
        </p:spPr>
        <p:txBody>
          <a:bodyPr wrap="square" rtlCol="0" anchor="t"/>
          <a:lstStyle/>
          <a:p>
            <a:pPr indent="0" marL="0">
              <a:buNone/>
            </a:pPr>
            <a:r>
              <a:rPr lang="en-US" sz="1800" b="1" dirty="0">
                <a:solidFill>
                  <a:srgbClr val="1A237E"/>
                </a:solidFill>
                <a:latin typeface="Arial" pitchFamily="34" charset="0"/>
                <a:ea typeface="Arial" pitchFamily="34" charset="-122"/>
                <a:cs typeface="Arial" pitchFamily="34" charset="-120"/>
              </a:rPr>
              <a:t>La última fila es la que importa
</a:t>
            </a:r>
            <a:endParaRPr lang="en-US" sz="1800" dirty="0"/>
          </a:p>
          <a:p>
            <a:pPr indent="0" marL="0">
              <a:buNone/>
            </a:pPr>
            <a:r>
              <a:rPr lang="en-US" sz="1700" dirty="0">
                <a:solidFill>
                  <a:srgbClr val="212121"/>
                </a:solidFill>
                <a:latin typeface="Arial" pitchFamily="34" charset="0"/>
                <a:ea typeface="Arial" pitchFamily="34" charset="-122"/>
                <a:cs typeface="Arial" pitchFamily="34" charset="-120"/>
              </a:rPr>
              <a:t>Añadir instancias no ha servido de nada mientras la base de datos siga siendo una sola pieza.</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El sistema es tan disponible como su eslabón más débil</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7: Well-Architected</a:t>
            </a:r>
            <a:endParaRPr lang="en-US" sz="1100" dirty="0"/>
          </a:p>
        </p:txBody>
      </p:sp>
      <p:pic>
        <p:nvPicPr>
          <p:cNvPr id="5" name="Image 0" descr="C:/Users/Aitor/Documents/apuntes-profe/introduccion-nube/docs/tema7/img/diagrama_disponibilidad_eslabon_debil.png">    </p:cNvPr>
          <p:cNvPicPr>
            <a:picLocks noChangeAspect="1"/>
          </p:cNvPicPr>
          <p:nvPr/>
        </p:nvPicPr>
        <p:blipFill>
          <a:blip r:embed="rId1"/>
          <a:stretch>
            <a:fillRect/>
          </a:stretch>
        </p:blipFill>
        <p:spPr>
          <a:xfrm>
            <a:off x="548640" y="1371600"/>
            <a:ext cx="11091672" cy="456949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La redundancia no funciona tan bien como dice la fórmula</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7: Well-Architected</a:t>
            </a:r>
            <a:endParaRPr lang="en-US" sz="1100" dirty="0"/>
          </a:p>
        </p:txBody>
      </p:sp>
      <p:sp>
        <p:nvSpPr>
          <p:cNvPr id="5" name="Shape 3"/>
          <p:cNvSpPr/>
          <p:nvPr/>
        </p:nvSpPr>
        <p:spPr>
          <a:xfrm>
            <a:off x="548640" y="1188720"/>
            <a:ext cx="11091672" cy="822960"/>
          </a:xfrm>
          <a:prstGeom prst="roundRect">
            <a:avLst/>
          </a:prstGeom>
          <a:solidFill>
            <a:srgbClr val="FFF8E1"/>
          </a:solidFill>
          <a:ln w="19050">
            <a:solidFill>
              <a:srgbClr val="FFA000"/>
            </a:solidFill>
            <a:prstDash val="solid"/>
          </a:ln>
        </p:spPr>
      </p:sp>
      <p:sp>
        <p:nvSpPr>
          <p:cNvPr id="6" name="Text 4"/>
          <p:cNvSpPr/>
          <p:nvPr/>
        </p:nvSpPr>
        <p:spPr>
          <a:xfrm>
            <a:off x="822960" y="1280160"/>
            <a:ext cx="10543032" cy="640080"/>
          </a:xfrm>
          <a:prstGeom prst="rect">
            <a:avLst/>
          </a:prstGeom>
          <a:noFill/>
          <a:ln/>
        </p:spPr>
        <p:txBody>
          <a:bodyPr wrap="square" rtlCol="0" anchor="ctr"/>
          <a:lstStyle/>
          <a:p>
            <a:pPr indent="0" marL="0">
              <a:buNone/>
            </a:pPr>
            <a:r>
              <a:rPr lang="en-US" sz="2000" dirty="0">
                <a:solidFill>
                  <a:srgbClr val="212121"/>
                </a:solidFill>
                <a:latin typeface="Arial" pitchFamily="34" charset="0"/>
                <a:ea typeface="Arial" pitchFamily="34" charset="-122"/>
                <a:cs typeface="Arial" pitchFamily="34" charset="-120"/>
              </a:rPr>
              <a:t>El cálculo en paralelo supone dos cosas.</a:t>
            </a:r>
            <a:endParaRPr lang="en-US" sz="2000" dirty="0"/>
          </a:p>
        </p:txBody>
      </p:sp>
      <p:sp>
        <p:nvSpPr>
          <p:cNvPr id="7" name="Shape 5"/>
          <p:cNvSpPr/>
          <p:nvPr/>
        </p:nvSpPr>
        <p:spPr>
          <a:xfrm>
            <a:off x="548640" y="2286000"/>
            <a:ext cx="5408676" cy="1828800"/>
          </a:xfrm>
          <a:prstGeom prst="roundRect">
            <a:avLst/>
          </a:prstGeom>
          <a:solidFill>
            <a:srgbClr val="E8EAF6"/>
          </a:solidFill>
          <a:ln w="15875">
            <a:solidFill>
              <a:srgbClr val="3949AB"/>
            </a:solidFill>
            <a:prstDash val="solid"/>
          </a:ln>
        </p:spPr>
      </p:sp>
      <p:sp>
        <p:nvSpPr>
          <p:cNvPr id="8" name="Text 6"/>
          <p:cNvSpPr/>
          <p:nvPr/>
        </p:nvSpPr>
        <p:spPr>
          <a:xfrm>
            <a:off x="685800" y="2377440"/>
            <a:ext cx="5134356" cy="640080"/>
          </a:xfrm>
          <a:prstGeom prst="rect">
            <a:avLst/>
          </a:prstGeom>
          <a:noFill/>
          <a:ln/>
        </p:spPr>
        <p:txBody>
          <a:bodyPr wrap="square" rtlCol="0" anchor="ctr"/>
          <a:lstStyle/>
          <a:p>
            <a:pPr algn="ctr" indent="0" marL="0">
              <a:buNone/>
            </a:pPr>
            <a:r>
              <a:rPr lang="en-US" sz="2100" b="1" dirty="0">
                <a:solidFill>
                  <a:srgbClr val="1A237E"/>
                </a:solidFill>
                <a:latin typeface="Arial" pitchFamily="34" charset="0"/>
                <a:ea typeface="Arial" pitchFamily="34" charset="-122"/>
                <a:cs typeface="Arial" pitchFamily="34" charset="-120"/>
              </a:rPr>
              <a:t>Copias independientes</a:t>
            </a:r>
            <a:endParaRPr lang="en-US" sz="2100" dirty="0"/>
          </a:p>
        </p:txBody>
      </p:sp>
      <p:sp>
        <p:nvSpPr>
          <p:cNvPr id="9" name="Text 7"/>
          <p:cNvSpPr/>
          <p:nvPr/>
        </p:nvSpPr>
        <p:spPr>
          <a:xfrm>
            <a:off x="731520" y="3063240"/>
            <a:ext cx="5042916" cy="960120"/>
          </a:xfrm>
          <a:prstGeom prst="rect">
            <a:avLst/>
          </a:prstGeom>
          <a:noFill/>
          <a:ln/>
        </p:spPr>
        <p:txBody>
          <a:bodyPr wrap="square" rtlCol="0" anchor="t"/>
          <a:lstStyle/>
          <a:p>
            <a:pPr algn="ctr" indent="0" marL="0">
              <a:buNone/>
            </a:pPr>
            <a:r>
              <a:rPr lang="en-US" sz="1700" dirty="0">
                <a:solidFill>
                  <a:srgbClr val="212121"/>
                </a:solidFill>
                <a:latin typeface="Arial" pitchFamily="34" charset="0"/>
                <a:ea typeface="Arial" pitchFamily="34" charset="-122"/>
                <a:cs typeface="Arial" pitchFamily="34" charset="-120"/>
              </a:rPr>
              <a:t>Se supone que las dos copias fallan de forma independiente.</a:t>
            </a:r>
            <a:endParaRPr lang="en-US" sz="1700" dirty="0"/>
          </a:p>
        </p:txBody>
      </p:sp>
      <p:sp>
        <p:nvSpPr>
          <p:cNvPr id="10" name="Shape 8"/>
          <p:cNvSpPr/>
          <p:nvPr/>
        </p:nvSpPr>
        <p:spPr>
          <a:xfrm>
            <a:off x="6231636" y="2286000"/>
            <a:ext cx="5408676" cy="1828800"/>
          </a:xfrm>
          <a:prstGeom prst="roundRect">
            <a:avLst/>
          </a:prstGeom>
          <a:solidFill>
            <a:srgbClr val="E8EAF6"/>
          </a:solidFill>
          <a:ln w="15875">
            <a:solidFill>
              <a:srgbClr val="3949AB"/>
            </a:solidFill>
            <a:prstDash val="solid"/>
          </a:ln>
        </p:spPr>
      </p:sp>
      <p:sp>
        <p:nvSpPr>
          <p:cNvPr id="11" name="Text 9"/>
          <p:cNvSpPr/>
          <p:nvPr/>
        </p:nvSpPr>
        <p:spPr>
          <a:xfrm>
            <a:off x="6368796" y="2377440"/>
            <a:ext cx="5134356" cy="640080"/>
          </a:xfrm>
          <a:prstGeom prst="rect">
            <a:avLst/>
          </a:prstGeom>
          <a:noFill/>
          <a:ln/>
        </p:spPr>
        <p:txBody>
          <a:bodyPr wrap="square" rtlCol="0" anchor="ctr"/>
          <a:lstStyle/>
          <a:p>
            <a:pPr algn="ctr" indent="0" marL="0">
              <a:buNone/>
            </a:pPr>
            <a:r>
              <a:rPr lang="en-US" sz="2100" b="1" dirty="0">
                <a:solidFill>
                  <a:srgbClr val="1A237E"/>
                </a:solidFill>
                <a:latin typeface="Arial" pitchFamily="34" charset="0"/>
                <a:ea typeface="Arial" pitchFamily="34" charset="-122"/>
                <a:cs typeface="Arial" pitchFamily="34" charset="-120"/>
              </a:rPr>
              <a:t>Cambio instantáneo</a:t>
            </a:r>
            <a:endParaRPr lang="en-US" sz="2100" dirty="0"/>
          </a:p>
        </p:txBody>
      </p:sp>
      <p:sp>
        <p:nvSpPr>
          <p:cNvPr id="12" name="Text 10"/>
          <p:cNvSpPr/>
          <p:nvPr/>
        </p:nvSpPr>
        <p:spPr>
          <a:xfrm>
            <a:off x="6414516" y="3063240"/>
            <a:ext cx="5042916" cy="960120"/>
          </a:xfrm>
          <a:prstGeom prst="rect">
            <a:avLst/>
          </a:prstGeom>
          <a:noFill/>
          <a:ln/>
        </p:spPr>
        <p:txBody>
          <a:bodyPr wrap="square" rtlCol="0" anchor="t"/>
          <a:lstStyle/>
          <a:p>
            <a:pPr algn="ctr" indent="0" marL="0">
              <a:buNone/>
            </a:pPr>
            <a:r>
              <a:rPr lang="en-US" sz="1700" dirty="0">
                <a:solidFill>
                  <a:srgbClr val="212121"/>
                </a:solidFill>
                <a:latin typeface="Arial" pitchFamily="34" charset="0"/>
                <a:ea typeface="Arial" pitchFamily="34" charset="-122"/>
                <a:cs typeface="Arial" pitchFamily="34" charset="-120"/>
              </a:rPr>
              <a:t>Se supone que el paso de una a otra es inmediato. En la práctica tarda: es tu RTO.</a:t>
            </a:r>
            <a:endParaRPr lang="en-US" sz="1700" dirty="0"/>
          </a:p>
        </p:txBody>
      </p:sp>
      <p:sp>
        <p:nvSpPr>
          <p:cNvPr id="13" name="Shape 11"/>
          <p:cNvSpPr/>
          <p:nvPr/>
        </p:nvSpPr>
        <p:spPr>
          <a:xfrm>
            <a:off x="548640" y="4389120"/>
            <a:ext cx="11091672" cy="1554480"/>
          </a:xfrm>
          <a:prstGeom prst="roundRect">
            <a:avLst/>
          </a:prstGeom>
          <a:solidFill>
            <a:srgbClr val="FFF8E1"/>
          </a:solidFill>
          <a:ln w="28575">
            <a:solidFill>
              <a:srgbClr val="FFA000"/>
            </a:solidFill>
            <a:prstDash val="solid"/>
          </a:ln>
        </p:spPr>
      </p:sp>
      <p:sp>
        <p:nvSpPr>
          <p:cNvPr id="14" name="Text 12"/>
          <p:cNvSpPr/>
          <p:nvPr/>
        </p:nvSpPr>
        <p:spPr>
          <a:xfrm>
            <a:off x="822960" y="4498848"/>
            <a:ext cx="10543032" cy="1335024"/>
          </a:xfrm>
          <a:prstGeom prst="rect">
            <a:avLst/>
          </a:prstGeom>
          <a:noFill/>
          <a:ln/>
        </p:spPr>
        <p:txBody>
          <a:bodyPr wrap="square" rtlCol="0" anchor="t"/>
          <a:lstStyle/>
          <a:p>
            <a:pPr indent="0" marL="0">
              <a:buNone/>
            </a:pPr>
            <a:r>
              <a:rPr lang="en-US" sz="1900" b="1" dirty="0">
                <a:solidFill>
                  <a:srgbClr val="1A237E"/>
                </a:solidFill>
                <a:latin typeface="Arial" pitchFamily="34" charset="0"/>
                <a:ea typeface="Arial" pitchFamily="34" charset="-122"/>
                <a:cs typeface="Arial" pitchFamily="34" charset="-120"/>
              </a:rPr>
              <a:t>Hay fallos que afectan a las dos copias a la vez
</a:t>
            </a:r>
            <a:endParaRPr lang="en-US" sz="1900" dirty="0"/>
          </a:p>
          <a:p>
            <a:pPr indent="0" marL="0">
              <a:buNone/>
            </a:pPr>
            <a:r>
              <a:rPr lang="en-US" sz="1800" dirty="0">
                <a:solidFill>
                  <a:srgbClr val="212121"/>
                </a:solidFill>
                <a:latin typeface="Arial" pitchFamily="34" charset="0"/>
                <a:ea typeface="Arial" pitchFamily="34" charset="-122"/>
                <a:cs typeface="Arial" pitchFamily="34" charset="-120"/>
              </a:rPr>
              <a:t>Un error de configuración, un despliegue defectuoso o la caída de una región entera. Por eso la fórmula da un techo, no una garantía.</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RTO, RPO y recuperación ante desastres</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7: Well-Architected</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91672" cy="914400"/>
        </p:xfrm>
        <a:graphic>
          <a:graphicData uri="http://schemas.openxmlformats.org/drawingml/2006/table">
            <a:tbl>
              <a:tblPr/>
              <a:tblGrid>
                <a:gridCol w="2772918"/>
                <a:gridCol w="4658502"/>
                <a:gridCol w="3660252"/>
              </a:tblGrid>
              <a:tr h="749808">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Métrica</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Pregunta que responde</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Ejemplo</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r>
              <a:tr h="749808">
                <a:tc>
                  <a:txBody>
                    <a:bodyPr/>
                    <a:lstStyle/>
                    <a:p>
                      <a:pPr indent="0" marL="0">
                        <a:buNone/>
                      </a:pPr>
                      <a:r>
                        <a:rPr lang="en-US" sz="1500" b="1" dirty="0">
                          <a:solidFill>
                            <a:srgbClr val="212121"/>
                          </a:solidFill>
                          <a:latin typeface="Arial" pitchFamily="34" charset="0"/>
                          <a:ea typeface="Arial" pitchFamily="34" charset="-122"/>
                          <a:cs typeface="Arial" pitchFamily="34" charset="-120"/>
                        </a:rPr>
                        <a:t>RTO (Recovery Time Objective)</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¿Cuánto tiempo puede estar el sistema caído antes de que sea inaceptable?</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«El catálogo no puede estar más de 10 minutos sin responder»</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749808">
                <a:tc>
                  <a:txBody>
                    <a:bodyPr/>
                    <a:lstStyle/>
                    <a:p>
                      <a:pPr indent="0" marL="0">
                        <a:buNone/>
                      </a:pPr>
                      <a:r>
                        <a:rPr lang="en-US" sz="1500" b="1" dirty="0">
                          <a:solidFill>
                            <a:srgbClr val="212121"/>
                          </a:solidFill>
                          <a:latin typeface="Arial" pitchFamily="34" charset="0"/>
                          <a:ea typeface="Arial" pitchFamily="34" charset="-122"/>
                          <a:cs typeface="Arial" pitchFamily="34" charset="-120"/>
                        </a:rPr>
                        <a:t>RPO (Recovery Point Objective)</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¿Cuántos datos recientes puedes permitirte perder?</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«No podemos perder más de 5 minutos de pedidos»</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
        <p:nvSpPr>
          <p:cNvPr id="6" name="Shape 3"/>
          <p:cNvSpPr/>
          <p:nvPr/>
        </p:nvSpPr>
        <p:spPr>
          <a:xfrm>
            <a:off x="548640" y="3840480"/>
            <a:ext cx="2538984" cy="1234440"/>
          </a:xfrm>
          <a:prstGeom prst="roundRect">
            <a:avLst/>
          </a:prstGeom>
          <a:solidFill>
            <a:srgbClr val="E8EAF6"/>
          </a:solidFill>
          <a:ln w="15875">
            <a:solidFill>
              <a:srgbClr val="3949AB"/>
            </a:solidFill>
            <a:prstDash val="solid"/>
          </a:ln>
        </p:spPr>
      </p:sp>
      <p:sp>
        <p:nvSpPr>
          <p:cNvPr id="7" name="Text 4"/>
          <p:cNvSpPr/>
          <p:nvPr/>
        </p:nvSpPr>
        <p:spPr>
          <a:xfrm>
            <a:off x="594360" y="3886200"/>
            <a:ext cx="2447544" cy="1143000"/>
          </a:xfrm>
          <a:prstGeom prst="rect">
            <a:avLst/>
          </a:prstGeom>
          <a:noFill/>
          <a:ln/>
        </p:spPr>
        <p:txBody>
          <a:bodyPr wrap="square" rtlCol="0" anchor="ctr"/>
          <a:lstStyle/>
          <a:p>
            <a:pPr algn="ctr" indent="0" marL="0">
              <a:buNone/>
            </a:pPr>
            <a:r>
              <a:rPr lang="en-US" sz="1500" dirty="0">
                <a:solidFill>
                  <a:srgbClr val="212121"/>
                </a:solidFill>
                <a:latin typeface="Arial" pitchFamily="34" charset="0"/>
                <a:ea typeface="Arial" pitchFamily="34" charset="-122"/>
                <a:cs typeface="Arial" pitchFamily="34" charset="-120"/>
              </a:rPr>
              <a:t>💾 9:59</a:t>
            </a:r>
            <a:endParaRPr lang="en-US" sz="1500" dirty="0"/>
          </a:p>
          <a:p>
            <a:pPr algn="ctr" indent="0" marL="0">
              <a:buNone/>
            </a:pPr>
            <a:r>
              <a:rPr lang="en-US" sz="1500" dirty="0">
                <a:solidFill>
                  <a:srgbClr val="212121"/>
                </a:solidFill>
                <a:latin typeface="Arial" pitchFamily="34" charset="0"/>
                <a:ea typeface="Arial" pitchFamily="34" charset="-122"/>
                <a:cs typeface="Arial" pitchFamily="34" charset="-120"/>
              </a:rPr>
              <a:t>último dato guardado</a:t>
            </a:r>
            <a:endParaRPr lang="en-US" sz="1500" dirty="0"/>
          </a:p>
        </p:txBody>
      </p:sp>
      <p:sp>
        <p:nvSpPr>
          <p:cNvPr id="8" name="Text 5"/>
          <p:cNvSpPr/>
          <p:nvPr/>
        </p:nvSpPr>
        <p:spPr>
          <a:xfrm>
            <a:off x="3041904" y="3840480"/>
            <a:ext cx="1828800" cy="1234440"/>
          </a:xfrm>
          <a:prstGeom prst="rect">
            <a:avLst/>
          </a:prstGeom>
          <a:noFill/>
          <a:ln/>
        </p:spPr>
        <p:txBody>
          <a:bodyPr wrap="square" rtlCol="0" anchor="ctr"/>
          <a:lstStyle/>
          <a:p>
            <a:pPr algn="ctr" indent="0" marL="0">
              <a:buNone/>
            </a:pPr>
            <a:r>
              <a:rPr lang="en-US" sz="1300" b="1" i="1" dirty="0">
                <a:solidFill>
                  <a:srgbClr val="3949AB"/>
                </a:solidFill>
                <a:latin typeface="Arial" pitchFamily="34" charset="0"/>
                <a:ea typeface="Arial" pitchFamily="34" charset="-122"/>
                <a:cs typeface="Arial" pitchFamily="34" charset="-120"/>
              </a:rPr>
              <a:t>RPO real: 1 min de datos perdidos  →</a:t>
            </a:r>
            <a:endParaRPr lang="en-US" sz="1300" dirty="0"/>
          </a:p>
        </p:txBody>
      </p:sp>
      <p:sp>
        <p:nvSpPr>
          <p:cNvPr id="9" name="Shape 6"/>
          <p:cNvSpPr/>
          <p:nvPr/>
        </p:nvSpPr>
        <p:spPr>
          <a:xfrm>
            <a:off x="4824984" y="3840480"/>
            <a:ext cx="2538984" cy="1234440"/>
          </a:xfrm>
          <a:prstGeom prst="roundRect">
            <a:avLst/>
          </a:prstGeom>
          <a:solidFill>
            <a:srgbClr val="E8EAF6"/>
          </a:solidFill>
          <a:ln w="15875">
            <a:solidFill>
              <a:srgbClr val="3949AB"/>
            </a:solidFill>
            <a:prstDash val="solid"/>
          </a:ln>
        </p:spPr>
      </p:sp>
      <p:sp>
        <p:nvSpPr>
          <p:cNvPr id="10" name="Text 7"/>
          <p:cNvSpPr/>
          <p:nvPr/>
        </p:nvSpPr>
        <p:spPr>
          <a:xfrm>
            <a:off x="4870704" y="3886200"/>
            <a:ext cx="2447544" cy="1143000"/>
          </a:xfrm>
          <a:prstGeom prst="rect">
            <a:avLst/>
          </a:prstGeom>
          <a:noFill/>
          <a:ln/>
        </p:spPr>
        <p:txBody>
          <a:bodyPr wrap="square" rtlCol="0" anchor="ctr"/>
          <a:lstStyle/>
          <a:p>
            <a:pPr algn="ctr" indent="0" marL="0">
              <a:buNone/>
            </a:pPr>
            <a:r>
              <a:rPr lang="en-US" sz="1500" dirty="0">
                <a:solidFill>
                  <a:srgbClr val="212121"/>
                </a:solidFill>
                <a:latin typeface="Arial" pitchFamily="34" charset="0"/>
                <a:ea typeface="Arial" pitchFamily="34" charset="-122"/>
                <a:cs typeface="Arial" pitchFamily="34" charset="-120"/>
              </a:rPr>
              <a:t>💥 10:00</a:t>
            </a:r>
            <a:endParaRPr lang="en-US" sz="1500" dirty="0"/>
          </a:p>
          <a:p>
            <a:pPr algn="ctr" indent="0" marL="0">
              <a:buNone/>
            </a:pPr>
            <a:r>
              <a:rPr lang="en-US" sz="1500" dirty="0">
                <a:solidFill>
                  <a:srgbClr val="212121"/>
                </a:solidFill>
                <a:latin typeface="Arial" pitchFamily="34" charset="0"/>
                <a:ea typeface="Arial" pitchFamily="34" charset="-122"/>
                <a:cs typeface="Arial" pitchFamily="34" charset="-120"/>
              </a:rPr>
              <a:t>falla la base de datos</a:t>
            </a:r>
            <a:endParaRPr lang="en-US" sz="1500" dirty="0"/>
          </a:p>
        </p:txBody>
      </p:sp>
      <p:sp>
        <p:nvSpPr>
          <p:cNvPr id="11" name="Text 8"/>
          <p:cNvSpPr/>
          <p:nvPr/>
        </p:nvSpPr>
        <p:spPr>
          <a:xfrm>
            <a:off x="7318248" y="3840480"/>
            <a:ext cx="1828800" cy="1234440"/>
          </a:xfrm>
          <a:prstGeom prst="rect">
            <a:avLst/>
          </a:prstGeom>
          <a:noFill/>
          <a:ln/>
        </p:spPr>
        <p:txBody>
          <a:bodyPr wrap="square" rtlCol="0" anchor="ctr"/>
          <a:lstStyle/>
          <a:p>
            <a:pPr algn="ctr" indent="0" marL="0">
              <a:buNone/>
            </a:pPr>
            <a:r>
              <a:rPr lang="en-US" sz="1300" b="1" i="1" dirty="0">
                <a:solidFill>
                  <a:srgbClr val="3949AB"/>
                </a:solidFill>
                <a:latin typeface="Arial" pitchFamily="34" charset="0"/>
                <a:ea typeface="Arial" pitchFamily="34" charset="-122"/>
                <a:cs typeface="Arial" pitchFamily="34" charset="-120"/>
              </a:rPr>
              <a:t>RTO real: 2 min sin servicio  →</a:t>
            </a:r>
            <a:endParaRPr lang="en-US" sz="1300" dirty="0"/>
          </a:p>
        </p:txBody>
      </p:sp>
      <p:sp>
        <p:nvSpPr>
          <p:cNvPr id="12" name="Shape 9"/>
          <p:cNvSpPr/>
          <p:nvPr/>
        </p:nvSpPr>
        <p:spPr>
          <a:xfrm>
            <a:off x="9101328" y="3840480"/>
            <a:ext cx="2538984" cy="1234440"/>
          </a:xfrm>
          <a:prstGeom prst="roundRect">
            <a:avLst/>
          </a:prstGeom>
          <a:solidFill>
            <a:srgbClr val="E8EAF6"/>
          </a:solidFill>
          <a:ln w="15875">
            <a:solidFill>
              <a:srgbClr val="3949AB"/>
            </a:solidFill>
            <a:prstDash val="solid"/>
          </a:ln>
        </p:spPr>
      </p:sp>
      <p:sp>
        <p:nvSpPr>
          <p:cNvPr id="13" name="Text 10"/>
          <p:cNvSpPr/>
          <p:nvPr/>
        </p:nvSpPr>
        <p:spPr>
          <a:xfrm>
            <a:off x="9147048" y="3886200"/>
            <a:ext cx="2447544" cy="1143000"/>
          </a:xfrm>
          <a:prstGeom prst="rect">
            <a:avLst/>
          </a:prstGeom>
          <a:noFill/>
          <a:ln/>
        </p:spPr>
        <p:txBody>
          <a:bodyPr wrap="square" rtlCol="0" anchor="ctr"/>
          <a:lstStyle/>
          <a:p>
            <a:pPr algn="ctr" indent="0" marL="0">
              <a:buNone/>
            </a:pPr>
            <a:r>
              <a:rPr lang="en-US" sz="1500" dirty="0">
                <a:solidFill>
                  <a:srgbClr val="212121"/>
                </a:solidFill>
                <a:latin typeface="Arial" pitchFamily="34" charset="0"/>
                <a:ea typeface="Arial" pitchFamily="34" charset="-122"/>
                <a:cs typeface="Arial" pitchFamily="34" charset="-120"/>
              </a:rPr>
              <a:t>✅ 10:02</a:t>
            </a:r>
            <a:endParaRPr lang="en-US" sz="1500" dirty="0"/>
          </a:p>
          <a:p>
            <a:pPr algn="ctr" indent="0" marL="0">
              <a:buNone/>
            </a:pPr>
            <a:r>
              <a:rPr lang="en-US" sz="1500" dirty="0">
                <a:solidFill>
                  <a:srgbClr val="212121"/>
                </a:solidFill>
                <a:latin typeface="Arial" pitchFamily="34" charset="0"/>
                <a:ea typeface="Arial" pitchFamily="34" charset="-122"/>
                <a:cs typeface="Arial" pitchFamily="34" charset="-120"/>
              </a:rPr>
              <a:t>el servicio vuelve</a:t>
            </a:r>
            <a:endParaRPr lang="en-US" sz="1500" dirty="0"/>
          </a:p>
        </p:txBody>
      </p:sp>
      <p:sp>
        <p:nvSpPr>
          <p:cNvPr id="14" name="Shape 11"/>
          <p:cNvSpPr/>
          <p:nvPr/>
        </p:nvSpPr>
        <p:spPr>
          <a:xfrm>
            <a:off x="548640" y="5349240"/>
            <a:ext cx="11091672" cy="914400"/>
          </a:xfrm>
          <a:prstGeom prst="roundRect">
            <a:avLst/>
          </a:prstGeom>
          <a:solidFill>
            <a:srgbClr val="FFF8E1"/>
          </a:solidFill>
          <a:ln w="19050">
            <a:solidFill>
              <a:srgbClr val="FFA000"/>
            </a:solidFill>
            <a:prstDash val="solid"/>
          </a:ln>
        </p:spPr>
      </p:sp>
      <p:sp>
        <p:nvSpPr>
          <p:cNvPr id="15" name="Text 12"/>
          <p:cNvSpPr/>
          <p:nvPr/>
        </p:nvSpPr>
        <p:spPr>
          <a:xfrm>
            <a:off x="822960" y="5440680"/>
            <a:ext cx="10543032" cy="731520"/>
          </a:xfrm>
          <a:prstGeom prst="rect">
            <a:avLst/>
          </a:prstGeom>
          <a:noFill/>
          <a:ln/>
        </p:spPr>
        <p:txBody>
          <a:bodyPr wrap="square" rtlCol="0" anchor="ctr"/>
          <a:lstStyle/>
          <a:p>
            <a:pPr indent="0" marL="0">
              <a:buNone/>
            </a:pPr>
            <a:r>
              <a:rPr lang="en-US" sz="1600" dirty="0">
                <a:solidFill>
                  <a:srgbClr val="212121"/>
                </a:solidFill>
                <a:latin typeface="Arial" pitchFamily="34" charset="0"/>
                <a:ea typeface="Arial" pitchFamily="34" charset="-122"/>
                <a:cs typeface="Arial" pitchFamily="34" charset="-120"/>
              </a:rPr>
              <a:t>El mismo incidente, dos preguntas distintas: Multi-AZ devuelve el servicio a las 10:02 (RTO de 2 minutos) y la copia tenía los datos hasta las 9:59 (RPO de 1 minuto).</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RTO y RPO: los fija el negocio</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7: Well-Architected</a:t>
            </a:r>
            <a:endParaRPr lang="en-US" sz="1100" dirty="0"/>
          </a:p>
        </p:txBody>
      </p:sp>
      <p:sp>
        <p:nvSpPr>
          <p:cNvPr id="5" name="Shape 3"/>
          <p:cNvSpPr/>
          <p:nvPr/>
        </p:nvSpPr>
        <p:spPr>
          <a:xfrm>
            <a:off x="548640" y="1188720"/>
            <a:ext cx="11091672" cy="1645920"/>
          </a:xfrm>
          <a:prstGeom prst="roundRect">
            <a:avLst/>
          </a:prstGeom>
          <a:solidFill>
            <a:srgbClr val="E8EAF6"/>
          </a:solidFill>
          <a:ln w="15875">
            <a:solidFill>
              <a:srgbClr val="3949AB"/>
            </a:solidFill>
            <a:prstDash val="solid"/>
          </a:ln>
        </p:spPr>
      </p:sp>
      <p:sp>
        <p:nvSpPr>
          <p:cNvPr id="6" name="Text 4"/>
          <p:cNvSpPr/>
          <p:nvPr/>
        </p:nvSpPr>
        <p:spPr>
          <a:xfrm>
            <a:off x="731520" y="1261872"/>
            <a:ext cx="10725912" cy="548640"/>
          </a:xfrm>
          <a:prstGeom prst="rect">
            <a:avLst/>
          </a:prstGeom>
          <a:noFill/>
          <a:ln/>
        </p:spPr>
        <p:txBody>
          <a:bodyPr wrap="square" rtlCol="0" anchor="ctr"/>
          <a:lstStyle/>
          <a:p>
            <a:pPr indent="0" marL="0">
              <a:buNone/>
            </a:pPr>
            <a:r>
              <a:rPr lang="en-US" sz="2100" b="1" dirty="0">
                <a:solidFill>
                  <a:srgbClr val="1A237E"/>
                </a:solidFill>
                <a:latin typeface="Arial" pitchFamily="34" charset="0"/>
                <a:ea typeface="Arial" pitchFamily="34" charset="-122"/>
                <a:cs typeface="Arial" pitchFamily="34" charset="-120"/>
              </a:rPr>
              <a:t>No los fija quien construye el sistema</a:t>
            </a:r>
            <a:endParaRPr lang="en-US" sz="2100" dirty="0"/>
          </a:p>
        </p:txBody>
      </p:sp>
      <p:sp>
        <p:nvSpPr>
          <p:cNvPr id="7" name="Text 5"/>
          <p:cNvSpPr/>
          <p:nvPr/>
        </p:nvSpPr>
        <p:spPr>
          <a:xfrm>
            <a:off x="731520" y="1810512"/>
            <a:ext cx="10725912" cy="950976"/>
          </a:xfrm>
          <a:prstGeom prst="rect">
            <a:avLst/>
          </a:prstGeom>
          <a:noFill/>
          <a:ln/>
        </p:spPr>
        <p:txBody>
          <a:bodyPr wrap="square" rtlCol="0" anchor="t"/>
          <a:lstStyle/>
          <a:p>
            <a:pPr indent="0" marL="0">
              <a:buNone/>
            </a:pPr>
            <a:r>
              <a:rPr lang="en-US" sz="1800" dirty="0">
                <a:solidFill>
                  <a:srgbClr val="212121"/>
                </a:solidFill>
                <a:latin typeface="Arial" pitchFamily="34" charset="0"/>
                <a:ea typeface="Arial" pitchFamily="34" charset="-122"/>
                <a:cs typeface="Arial" pitchFamily="34" charset="-120"/>
              </a:rPr>
              <a:t>Es el dueño de una tienda quien sabe cuánto le cuesta una hora sin vender o un día de pedidos perdidos. Cuanto más exigentes son, más redundancia hay que pagar.</a:t>
            </a:r>
            <a:endParaRPr lang="en-US" sz="1800" dirty="0"/>
          </a:p>
        </p:txBody>
      </p:sp>
      <p:sp>
        <p:nvSpPr>
          <p:cNvPr id="8" name="Shape 6"/>
          <p:cNvSpPr/>
          <p:nvPr/>
        </p:nvSpPr>
        <p:spPr>
          <a:xfrm>
            <a:off x="548640" y="3108960"/>
            <a:ext cx="5408676" cy="1463040"/>
          </a:xfrm>
          <a:prstGeom prst="roundRect">
            <a:avLst/>
          </a:prstGeom>
          <a:solidFill>
            <a:srgbClr val="E8EAF6"/>
          </a:solidFill>
          <a:ln w="15875">
            <a:solidFill>
              <a:srgbClr val="3949AB"/>
            </a:solidFill>
            <a:prstDash val="solid"/>
          </a:ln>
        </p:spPr>
      </p:sp>
      <p:sp>
        <p:nvSpPr>
          <p:cNvPr id="9" name="Text 7"/>
          <p:cNvSpPr/>
          <p:nvPr/>
        </p:nvSpPr>
        <p:spPr>
          <a:xfrm>
            <a:off x="685800" y="3200400"/>
            <a:ext cx="5134356" cy="548640"/>
          </a:xfrm>
          <a:prstGeom prst="rect">
            <a:avLst/>
          </a:prstGeom>
          <a:noFill/>
          <a:ln/>
        </p:spPr>
        <p:txBody>
          <a:bodyPr wrap="square" rtlCol="0" anchor="ctr"/>
          <a:lstStyle/>
          <a:p>
            <a:pPr algn="ctr" indent="0" marL="0">
              <a:buNone/>
            </a:pPr>
            <a:r>
              <a:rPr lang="en-US" sz="2200" b="1" dirty="0">
                <a:solidFill>
                  <a:srgbClr val="1A237E"/>
                </a:solidFill>
                <a:latin typeface="Arial" pitchFamily="34" charset="0"/>
                <a:ea typeface="Arial" pitchFamily="34" charset="-122"/>
                <a:cs typeface="Arial" pitchFamily="34" charset="-120"/>
              </a:rPr>
              <a:t>⏱️ RTO</a:t>
            </a:r>
            <a:endParaRPr lang="en-US" sz="2200" dirty="0"/>
          </a:p>
        </p:txBody>
      </p:sp>
      <p:sp>
        <p:nvSpPr>
          <p:cNvPr id="10" name="Text 8"/>
          <p:cNvSpPr/>
          <p:nvPr/>
        </p:nvSpPr>
        <p:spPr>
          <a:xfrm>
            <a:off x="731520" y="3794760"/>
            <a:ext cx="5042916" cy="685800"/>
          </a:xfrm>
          <a:prstGeom prst="rect">
            <a:avLst/>
          </a:prstGeom>
          <a:noFill/>
          <a:ln/>
        </p:spPr>
        <p:txBody>
          <a:bodyPr wrap="square" rtlCol="0" anchor="t"/>
          <a:lstStyle/>
          <a:p>
            <a:pPr algn="ctr" indent="0" marL="0">
              <a:buNone/>
            </a:pPr>
            <a:r>
              <a:rPr lang="en-US" sz="1800" dirty="0">
                <a:solidFill>
                  <a:srgbClr val="212121"/>
                </a:solidFill>
                <a:latin typeface="Arial" pitchFamily="34" charset="0"/>
                <a:ea typeface="Arial" pitchFamily="34" charset="-122"/>
                <a:cs typeface="Arial" pitchFamily="34" charset="-120"/>
              </a:rPr>
              <a:t>Cuánto tiempo caído es aceptable.</a:t>
            </a:r>
            <a:endParaRPr lang="en-US" sz="1800" dirty="0"/>
          </a:p>
        </p:txBody>
      </p:sp>
      <p:sp>
        <p:nvSpPr>
          <p:cNvPr id="11" name="Shape 9"/>
          <p:cNvSpPr/>
          <p:nvPr/>
        </p:nvSpPr>
        <p:spPr>
          <a:xfrm>
            <a:off x="6231636" y="3108960"/>
            <a:ext cx="5408676" cy="1463040"/>
          </a:xfrm>
          <a:prstGeom prst="roundRect">
            <a:avLst/>
          </a:prstGeom>
          <a:solidFill>
            <a:srgbClr val="FFF8E1"/>
          </a:solidFill>
          <a:ln w="25400">
            <a:solidFill>
              <a:srgbClr val="FFA000"/>
            </a:solidFill>
            <a:prstDash val="solid"/>
          </a:ln>
        </p:spPr>
      </p:sp>
      <p:sp>
        <p:nvSpPr>
          <p:cNvPr id="12" name="Text 10"/>
          <p:cNvSpPr/>
          <p:nvPr/>
        </p:nvSpPr>
        <p:spPr>
          <a:xfrm>
            <a:off x="6368796" y="3200400"/>
            <a:ext cx="5134356" cy="548640"/>
          </a:xfrm>
          <a:prstGeom prst="rect">
            <a:avLst/>
          </a:prstGeom>
          <a:noFill/>
          <a:ln/>
        </p:spPr>
        <p:txBody>
          <a:bodyPr wrap="square" rtlCol="0" anchor="ctr"/>
          <a:lstStyle/>
          <a:p>
            <a:pPr algn="ctr" indent="0" marL="0">
              <a:buNone/>
            </a:pPr>
            <a:r>
              <a:rPr lang="en-US" sz="2200" b="1" dirty="0">
                <a:solidFill>
                  <a:srgbClr val="1A237E"/>
                </a:solidFill>
                <a:latin typeface="Arial" pitchFamily="34" charset="0"/>
                <a:ea typeface="Arial" pitchFamily="34" charset="-122"/>
                <a:cs typeface="Arial" pitchFamily="34" charset="-120"/>
              </a:rPr>
              <a:t>💾 RPO</a:t>
            </a:r>
            <a:endParaRPr lang="en-US" sz="2200" dirty="0"/>
          </a:p>
        </p:txBody>
      </p:sp>
      <p:sp>
        <p:nvSpPr>
          <p:cNvPr id="13" name="Text 11"/>
          <p:cNvSpPr/>
          <p:nvPr/>
        </p:nvSpPr>
        <p:spPr>
          <a:xfrm>
            <a:off x="6414516" y="3794760"/>
            <a:ext cx="5042916" cy="685800"/>
          </a:xfrm>
          <a:prstGeom prst="rect">
            <a:avLst/>
          </a:prstGeom>
          <a:noFill/>
          <a:ln/>
        </p:spPr>
        <p:txBody>
          <a:bodyPr wrap="square" rtlCol="0" anchor="t"/>
          <a:lstStyle/>
          <a:p>
            <a:pPr algn="ctr" indent="0" marL="0">
              <a:buNone/>
            </a:pPr>
            <a:r>
              <a:rPr lang="en-US" sz="1800" dirty="0">
                <a:solidFill>
                  <a:srgbClr val="212121"/>
                </a:solidFill>
                <a:latin typeface="Arial" pitchFamily="34" charset="0"/>
                <a:ea typeface="Arial" pitchFamily="34" charset="-122"/>
                <a:cs typeface="Arial" pitchFamily="34" charset="-120"/>
              </a:rPr>
              <a:t>Cuántos datos recientes puedes perder.</a:t>
            </a:r>
            <a:endParaRPr lang="en-US" sz="1800" dirty="0"/>
          </a:p>
        </p:txBody>
      </p:sp>
      <p:sp>
        <p:nvSpPr>
          <p:cNvPr id="14" name="Shape 12"/>
          <p:cNvSpPr/>
          <p:nvPr/>
        </p:nvSpPr>
        <p:spPr>
          <a:xfrm>
            <a:off x="548640" y="4800600"/>
            <a:ext cx="11091672" cy="1097280"/>
          </a:xfrm>
          <a:prstGeom prst="roundRect">
            <a:avLst/>
          </a:prstGeom>
          <a:solidFill>
            <a:srgbClr val="FFF8E1"/>
          </a:solidFill>
          <a:ln w="19050">
            <a:solidFill>
              <a:srgbClr val="FFA000"/>
            </a:solidFill>
            <a:prstDash val="solid"/>
          </a:ln>
        </p:spPr>
      </p:sp>
      <p:sp>
        <p:nvSpPr>
          <p:cNvPr id="15" name="Text 13"/>
          <p:cNvSpPr/>
          <p:nvPr/>
        </p:nvSpPr>
        <p:spPr>
          <a:xfrm>
            <a:off x="822960" y="4892040"/>
            <a:ext cx="10543032" cy="914400"/>
          </a:xfrm>
          <a:prstGeom prst="rect">
            <a:avLst/>
          </a:prstGeom>
          <a:noFill/>
          <a:ln/>
        </p:spPr>
        <p:txBody>
          <a:bodyPr wrap="square" rtlCol="0" anchor="ctr"/>
          <a:lstStyle/>
          <a:p>
            <a:pPr indent="0" marL="0">
              <a:buNone/>
            </a:pPr>
            <a:r>
              <a:rPr lang="en-US" sz="1900" dirty="0">
                <a:solidFill>
                  <a:srgbClr val="212121"/>
                </a:solidFill>
                <a:latin typeface="Arial" pitchFamily="34" charset="0"/>
                <a:ea typeface="Arial" pitchFamily="34" charset="-122"/>
                <a:cs typeface="Arial" pitchFamily="34" charset="-120"/>
              </a:rPr>
              <a:t>Ninguna de las dos cifras te la da la otra, y las dos importan para decidir qué mecanismo de recuperación necesitas.</a:t>
            </a:r>
            <a:endParaRPr lang="en-US" sz="1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Cuatro estrategias de recuperación ante desastres</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7: Well-Architected</a:t>
            </a:r>
            <a:endParaRPr lang="en-US" sz="1100" dirty="0"/>
          </a:p>
        </p:txBody>
      </p:sp>
      <p:sp>
        <p:nvSpPr>
          <p:cNvPr id="5" name="Shape 3"/>
          <p:cNvSpPr/>
          <p:nvPr/>
        </p:nvSpPr>
        <p:spPr>
          <a:xfrm>
            <a:off x="548640" y="1188720"/>
            <a:ext cx="11091672" cy="822960"/>
          </a:xfrm>
          <a:prstGeom prst="roundRect">
            <a:avLst/>
          </a:prstGeom>
          <a:solidFill>
            <a:srgbClr val="FFF8E1"/>
          </a:solidFill>
          <a:ln w="19050">
            <a:solidFill>
              <a:srgbClr val="FFA000"/>
            </a:solidFill>
            <a:prstDash val="solid"/>
          </a:ln>
        </p:spPr>
      </p:sp>
      <p:sp>
        <p:nvSpPr>
          <p:cNvPr id="6" name="Text 4"/>
          <p:cNvSpPr/>
          <p:nvPr/>
        </p:nvSpPr>
        <p:spPr>
          <a:xfrm>
            <a:off x="822960" y="1280160"/>
            <a:ext cx="10543032" cy="640080"/>
          </a:xfrm>
          <a:prstGeom prst="rect">
            <a:avLst/>
          </a:prstGeom>
          <a:noFill/>
          <a:ln/>
        </p:spPr>
        <p:txBody>
          <a:bodyPr wrap="square" rtlCol="0" anchor="ctr"/>
          <a:lstStyle/>
          <a:p>
            <a:pPr indent="0" marL="0">
              <a:buNone/>
            </a:pPr>
            <a:r>
              <a:rPr lang="en-US" sz="1800" dirty="0">
                <a:solidFill>
                  <a:srgbClr val="212121"/>
                </a:solidFill>
                <a:latin typeface="Arial" pitchFamily="34" charset="0"/>
                <a:ea typeface="Arial" pitchFamily="34" charset="-122"/>
                <a:cs typeface="Arial" pitchFamily="34" charset="-120"/>
              </a:rPr>
              <a:t>AWS describe cuatro estrategias, de menos a más coste. Cada una fija un orden de magnitud distinto de RTO y RPO.</a:t>
            </a:r>
            <a:endParaRPr lang="en-US" sz="1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11091672" cy="914400"/>
        </p:xfrm>
        <a:graphic>
          <a:graphicData uri="http://schemas.openxmlformats.org/drawingml/2006/table">
            <a:tbl>
              <a:tblPr/>
              <a:tblGrid>
                <a:gridCol w="2772918"/>
                <a:gridCol w="4436669"/>
                <a:gridCol w="1885584"/>
                <a:gridCol w="1996501"/>
              </a:tblGrid>
              <a:tr h="804672">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Estrategia</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Qué mantienes preparado</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RPO y RTO</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Coste</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r>
              <a:tr h="804672">
                <a:tc>
                  <a:txBody>
                    <a:bodyPr/>
                    <a:lstStyle/>
                    <a:p>
                      <a:pPr indent="0" marL="0">
                        <a:buNone/>
                      </a:pPr>
                      <a:r>
                        <a:rPr lang="en-US" sz="1400" b="1" dirty="0">
                          <a:solidFill>
                            <a:srgbClr val="212121"/>
                          </a:solidFill>
                          <a:latin typeface="Arial" pitchFamily="34" charset="0"/>
                          <a:ea typeface="Arial" pitchFamily="34" charset="-122"/>
                          <a:cs typeface="Arial" pitchFamily="34" charset="-120"/>
                        </a:rPr>
                        <a:t>Copia y restauración (backup and restore)</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Solo copias de seguridad; todo lo demás se recrea cuando llega el desastre</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Horas</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El más bajo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804672">
                <a:tc>
                  <a:txBody>
                    <a:bodyPr/>
                    <a:lstStyle/>
                    <a:p>
                      <a:pPr indent="0" marL="0">
                        <a:buNone/>
                      </a:pPr>
                      <a:r>
                        <a:rPr lang="en-US" sz="1400" b="1" dirty="0">
                          <a:solidFill>
                            <a:srgbClr val="212121"/>
                          </a:solidFill>
                          <a:latin typeface="Arial" pitchFamily="34" charset="0"/>
                          <a:ea typeface="Arial" pitchFamily="34" charset="-122"/>
                          <a:cs typeface="Arial" pitchFamily="34" charset="-120"/>
                        </a:rPr>
                        <a:t>Luz piloto (pilot light)</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Los datos replicados y activos; el resto de servicios existe pero apagado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Decenas de minutos</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Bajo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804672">
                <a:tc>
                  <a:txBody>
                    <a:bodyPr/>
                    <a:lstStyle/>
                    <a:p>
                      <a:pPr indent="0" marL="0">
                        <a:buNone/>
                      </a:pPr>
                      <a:r>
                        <a:rPr lang="en-US" sz="1400" b="1" dirty="0">
                          <a:solidFill>
                            <a:srgbClr val="212121"/>
                          </a:solidFill>
                          <a:latin typeface="Arial" pitchFamily="34" charset="0"/>
                          <a:ea typeface="Arial" pitchFamily="34" charset="-122"/>
                          <a:cs typeface="Arial" pitchFamily="34" charset="-120"/>
                        </a:rPr>
                        <a:t>Espera templada (warm standby)</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Una versión reducida del sistema completo, ya funcionando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Minutos</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Medio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804672">
                <a:tc>
                  <a:txBody>
                    <a:bodyPr/>
                    <a:lstStyle/>
                    <a:p>
                      <a:pPr indent="0" marL="0">
                        <a:buNone/>
                      </a:pPr>
                      <a:r>
                        <a:rPr lang="en-US" sz="1400" b="1" dirty="0">
                          <a:solidFill>
                            <a:srgbClr val="212121"/>
                          </a:solidFill>
                          <a:latin typeface="Arial" pitchFamily="34" charset="0"/>
                          <a:ea typeface="Arial" pitchFamily="34" charset="-122"/>
                          <a:cs typeface="Arial" pitchFamily="34" charset="-120"/>
                        </a:rPr>
                        <a:t>Activo-activo (multi-site)</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El sistema completo en dos sitios, atendiendo tráfico a la vez</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Segundos o casi cero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El más alto, más del doble</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Cuatro estrategias, de menos a más coste</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7: Well-Architected</a:t>
            </a:r>
            <a:endParaRPr lang="en-US" sz="1100" dirty="0"/>
          </a:p>
        </p:txBody>
      </p:sp>
      <p:pic>
        <p:nvPicPr>
          <p:cNvPr id="5" name="Image 0" descr="C:/Users/Aitor/Documents/apuntes-profe/introduccion-nube/docs/tema7/img/diagrama_estrategias_recuperacion.png">    </p:cNvPr>
          <p:cNvPicPr>
            <a:picLocks noChangeAspect="1"/>
          </p:cNvPicPr>
          <p:nvPr/>
        </p:nvPicPr>
        <p:blipFill>
          <a:blip r:embed="rId1"/>
          <a:stretch>
            <a:fillRect/>
          </a:stretch>
        </p:blipFill>
        <p:spPr>
          <a:xfrm>
            <a:off x="1517017" y="1097280"/>
            <a:ext cx="9154918" cy="512064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Zona o región: qué protege cada estrategia</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7: Well-Architected</a:t>
            </a:r>
            <a:endParaRPr lang="en-US" sz="1100" dirty="0"/>
          </a:p>
        </p:txBody>
      </p:sp>
      <p:sp>
        <p:nvSpPr>
          <p:cNvPr id="5" name="Shape 3"/>
          <p:cNvSpPr/>
          <p:nvPr/>
        </p:nvSpPr>
        <p:spPr>
          <a:xfrm>
            <a:off x="548640" y="1188720"/>
            <a:ext cx="11091672" cy="1097280"/>
          </a:xfrm>
          <a:prstGeom prst="roundRect">
            <a:avLst/>
          </a:prstGeom>
          <a:solidFill>
            <a:srgbClr val="FFF8E1"/>
          </a:solidFill>
          <a:ln w="19050">
            <a:solidFill>
              <a:srgbClr val="FFA000"/>
            </a:solidFill>
            <a:prstDash val="solid"/>
          </a:ln>
        </p:spPr>
      </p:sp>
      <p:sp>
        <p:nvSpPr>
          <p:cNvPr id="6" name="Text 4"/>
          <p:cNvSpPr/>
          <p:nvPr/>
        </p:nvSpPr>
        <p:spPr>
          <a:xfrm>
            <a:off x="822960" y="1280160"/>
            <a:ext cx="10543032" cy="914400"/>
          </a:xfrm>
          <a:prstGeom prst="rect">
            <a:avLst/>
          </a:prstGeom>
          <a:noFill/>
          <a:ln/>
        </p:spPr>
        <p:txBody>
          <a:bodyPr wrap="square" rtlCol="0" anchor="ctr"/>
          <a:lstStyle/>
          <a:p>
            <a:pPr indent="0" marL="0">
              <a:buNone/>
            </a:pPr>
            <a:r>
              <a:rPr lang="en-US" sz="1900" dirty="0">
                <a:solidFill>
                  <a:srgbClr val="212121"/>
                </a:solidFill>
                <a:latin typeface="Arial" pitchFamily="34" charset="0"/>
                <a:ea typeface="Arial" pitchFamily="34" charset="-122"/>
                <a:cs typeface="Arial" pitchFamily="34" charset="-120"/>
              </a:rPr>
              <a:t>Estas estrategias valen tanto para proteger frente a la caída de una zona como frente a la de una región entera.</a:t>
            </a:r>
            <a:endParaRPr lang="en-US" sz="1900" dirty="0"/>
          </a:p>
        </p:txBody>
      </p:sp>
      <p:sp>
        <p:nvSpPr>
          <p:cNvPr id="7" name="Shape 5"/>
          <p:cNvSpPr/>
          <p:nvPr/>
        </p:nvSpPr>
        <p:spPr>
          <a:xfrm>
            <a:off x="548640" y="2514600"/>
            <a:ext cx="5408676" cy="1737360"/>
          </a:xfrm>
          <a:prstGeom prst="roundRect">
            <a:avLst/>
          </a:prstGeom>
          <a:solidFill>
            <a:srgbClr val="E8EAF6"/>
          </a:solidFill>
          <a:ln w="15875">
            <a:solidFill>
              <a:srgbClr val="3949AB"/>
            </a:solidFill>
            <a:prstDash val="solid"/>
          </a:ln>
        </p:spPr>
      </p:sp>
      <p:sp>
        <p:nvSpPr>
          <p:cNvPr id="8" name="Text 6"/>
          <p:cNvSpPr/>
          <p:nvPr/>
        </p:nvSpPr>
        <p:spPr>
          <a:xfrm>
            <a:off x="685800" y="2606040"/>
            <a:ext cx="5134356" cy="640080"/>
          </a:xfrm>
          <a:prstGeom prst="rect">
            <a:avLst/>
          </a:prstGeom>
          <a:noFill/>
          <a:ln/>
        </p:spPr>
        <p:txBody>
          <a:bodyPr wrap="square" rtlCol="0" anchor="ctr"/>
          <a:lstStyle/>
          <a:p>
            <a:pPr algn="ctr" indent="0" marL="0">
              <a:buNone/>
            </a:pPr>
            <a:r>
              <a:rPr lang="en-US" sz="2000" b="1" dirty="0">
                <a:solidFill>
                  <a:srgbClr val="1A237E"/>
                </a:solidFill>
                <a:latin typeface="Arial" pitchFamily="34" charset="0"/>
                <a:ea typeface="Arial" pitchFamily="34" charset="-122"/>
                <a:cs typeface="Arial" pitchFamily="34" charset="-120"/>
              </a:rPr>
              <a:t>Multi-AZ, que ya conoces</a:t>
            </a:r>
            <a:endParaRPr lang="en-US" sz="2000" dirty="0"/>
          </a:p>
        </p:txBody>
      </p:sp>
      <p:sp>
        <p:nvSpPr>
          <p:cNvPr id="9" name="Text 7"/>
          <p:cNvSpPr/>
          <p:nvPr/>
        </p:nvSpPr>
        <p:spPr>
          <a:xfrm>
            <a:off x="731520" y="3291840"/>
            <a:ext cx="5042916" cy="868680"/>
          </a:xfrm>
          <a:prstGeom prst="rect">
            <a:avLst/>
          </a:prstGeom>
          <a:noFill/>
          <a:ln/>
        </p:spPr>
        <p:txBody>
          <a:bodyPr wrap="square" rtlCol="0" anchor="t"/>
          <a:lstStyle/>
          <a:p>
            <a:pPr algn="ctr" indent="0" marL="0">
              <a:buNone/>
            </a:pPr>
            <a:r>
              <a:rPr lang="en-US" sz="1800" dirty="0">
                <a:solidFill>
                  <a:srgbClr val="212121"/>
                </a:solidFill>
                <a:latin typeface="Arial" pitchFamily="34" charset="0"/>
                <a:ea typeface="Arial" pitchFamily="34" charset="-122"/>
                <a:cs typeface="Arial" pitchFamily="34" charset="-120"/>
              </a:rPr>
              <a:t>Es una forma de recuperación dentro de la misma región.</a:t>
            </a:r>
            <a:endParaRPr lang="en-US" sz="1800" dirty="0"/>
          </a:p>
        </p:txBody>
      </p:sp>
      <p:sp>
        <p:nvSpPr>
          <p:cNvPr id="10" name="Shape 8"/>
          <p:cNvSpPr/>
          <p:nvPr/>
        </p:nvSpPr>
        <p:spPr>
          <a:xfrm>
            <a:off x="6231636" y="2514600"/>
            <a:ext cx="5408676" cy="1737360"/>
          </a:xfrm>
          <a:prstGeom prst="roundRect">
            <a:avLst/>
          </a:prstGeom>
          <a:solidFill>
            <a:srgbClr val="FFF8E1"/>
          </a:solidFill>
          <a:ln w="25400">
            <a:solidFill>
              <a:srgbClr val="FFA000"/>
            </a:solidFill>
            <a:prstDash val="solid"/>
          </a:ln>
        </p:spPr>
      </p:sp>
      <p:sp>
        <p:nvSpPr>
          <p:cNvPr id="11" name="Text 9"/>
          <p:cNvSpPr/>
          <p:nvPr/>
        </p:nvSpPr>
        <p:spPr>
          <a:xfrm>
            <a:off x="6368796" y="2606040"/>
            <a:ext cx="5134356" cy="640080"/>
          </a:xfrm>
          <a:prstGeom prst="rect">
            <a:avLst/>
          </a:prstGeom>
          <a:noFill/>
          <a:ln/>
        </p:spPr>
        <p:txBody>
          <a:bodyPr wrap="square" rtlCol="0" anchor="ctr"/>
          <a:lstStyle/>
          <a:p>
            <a:pPr algn="ctr" indent="0" marL="0">
              <a:buNone/>
            </a:pPr>
            <a:r>
              <a:rPr lang="en-US" sz="2000" b="1" dirty="0">
                <a:solidFill>
                  <a:srgbClr val="1A237E"/>
                </a:solidFill>
                <a:latin typeface="Arial" pitchFamily="34" charset="0"/>
                <a:ea typeface="Arial" pitchFamily="34" charset="-122"/>
                <a:cs typeface="Arial" pitchFamily="34" charset="-120"/>
              </a:rPr>
              <a:t>Una segunda región</a:t>
            </a:r>
            <a:endParaRPr lang="en-US" sz="2000" dirty="0"/>
          </a:p>
        </p:txBody>
      </p:sp>
      <p:sp>
        <p:nvSpPr>
          <p:cNvPr id="12" name="Text 10"/>
          <p:cNvSpPr/>
          <p:nvPr/>
        </p:nvSpPr>
        <p:spPr>
          <a:xfrm>
            <a:off x="6414516" y="3291840"/>
            <a:ext cx="5042916" cy="868680"/>
          </a:xfrm>
          <a:prstGeom prst="rect">
            <a:avLst/>
          </a:prstGeom>
          <a:noFill/>
          <a:ln/>
        </p:spPr>
        <p:txBody>
          <a:bodyPr wrap="square" rtlCol="0" anchor="t"/>
          <a:lstStyle/>
          <a:p>
            <a:pPr algn="ctr" indent="0" marL="0">
              <a:buNone/>
            </a:pPr>
            <a:r>
              <a:rPr lang="en-US" sz="1800" dirty="0">
                <a:solidFill>
                  <a:srgbClr val="212121"/>
                </a:solidFill>
                <a:latin typeface="Arial" pitchFamily="34" charset="0"/>
                <a:ea typeface="Arial" pitchFamily="34" charset="-122"/>
                <a:cs typeface="Arial" pitchFamily="34" charset="-120"/>
              </a:rPr>
              <a:t>Sería lo único que protegería frente a la caída de una región entera.</a:t>
            </a:r>
            <a:endParaRPr lang="en-US" sz="1800" dirty="0"/>
          </a:p>
        </p:txBody>
      </p:sp>
      <p:sp>
        <p:nvSpPr>
          <p:cNvPr id="13" name="Shape 11"/>
          <p:cNvSpPr/>
          <p:nvPr/>
        </p:nvSpPr>
        <p:spPr>
          <a:xfrm>
            <a:off x="548640" y="4526280"/>
            <a:ext cx="11091672" cy="1371600"/>
          </a:xfrm>
          <a:prstGeom prst="roundRect">
            <a:avLst/>
          </a:prstGeom>
          <a:solidFill>
            <a:srgbClr val="FFF8E1"/>
          </a:solidFill>
          <a:ln w="28575">
            <a:solidFill>
              <a:srgbClr val="FFA000"/>
            </a:solidFill>
            <a:prstDash val="solid"/>
          </a:ln>
        </p:spPr>
      </p:sp>
      <p:sp>
        <p:nvSpPr>
          <p:cNvPr id="14" name="Text 12"/>
          <p:cNvSpPr/>
          <p:nvPr/>
        </p:nvSpPr>
        <p:spPr>
          <a:xfrm>
            <a:off x="822960" y="4636008"/>
            <a:ext cx="10543032" cy="1152144"/>
          </a:xfrm>
          <a:prstGeom prst="rect">
            <a:avLst/>
          </a:prstGeom>
          <a:noFill/>
          <a:ln/>
        </p:spPr>
        <p:txBody>
          <a:bodyPr wrap="square" rtlCol="0" anchor="t"/>
          <a:lstStyle/>
          <a:p>
            <a:pPr indent="0" marL="0">
              <a:buNone/>
            </a:pPr>
            <a:r>
              <a:rPr lang="en-US" sz="2000" b="1" dirty="0">
                <a:solidFill>
                  <a:srgbClr val="1A237E"/>
                </a:solidFill>
                <a:latin typeface="Arial" pitchFamily="34" charset="0"/>
                <a:ea typeface="Arial" pitchFamily="34" charset="-122"/>
                <a:cs typeface="Arial" pitchFamily="34" charset="-120"/>
              </a:rPr>
              <a:t>Tu Learner Lab tiene la región fija
</a:t>
            </a:r>
            <a:endParaRPr lang="en-US" sz="2000" dirty="0"/>
          </a:p>
          <a:p>
            <a:pPr indent="0" marL="0">
              <a:buNone/>
            </a:pPr>
            <a:r>
              <a:rPr lang="en-US" sz="1900" dirty="0">
                <a:solidFill>
                  <a:srgbClr val="212121"/>
                </a:solidFill>
                <a:latin typeface="Arial" pitchFamily="34" charset="0"/>
                <a:ea typeface="Arial" pitchFamily="34" charset="-122"/>
                <a:cs typeface="Arial" pitchFamily="34" charset="-120"/>
              </a:rPr>
              <a:t>Esa estrategia no puedes desplegarla: la razonas sobre el papel.</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Recomendaciones automáticas de optimización</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7: Well-Architected</a:t>
            </a:r>
            <a:endParaRPr lang="en-US" sz="1100" dirty="0"/>
          </a:p>
        </p:txBody>
      </p:sp>
      <p:sp>
        <p:nvSpPr>
          <p:cNvPr id="5" name="Shape 3"/>
          <p:cNvSpPr/>
          <p:nvPr/>
        </p:nvSpPr>
        <p:spPr>
          <a:xfrm>
            <a:off x="548640" y="1188720"/>
            <a:ext cx="11091672" cy="868680"/>
          </a:xfrm>
          <a:prstGeom prst="roundRect">
            <a:avLst/>
          </a:prstGeom>
          <a:solidFill>
            <a:srgbClr val="FFF8E1"/>
          </a:solidFill>
          <a:ln w="19050">
            <a:solidFill>
              <a:srgbClr val="FFA000"/>
            </a:solidFill>
            <a:prstDash val="solid"/>
          </a:ln>
        </p:spPr>
      </p:sp>
      <p:sp>
        <p:nvSpPr>
          <p:cNvPr id="6" name="Text 4"/>
          <p:cNvSpPr/>
          <p:nvPr/>
        </p:nvSpPr>
        <p:spPr>
          <a:xfrm>
            <a:off x="822960" y="1280160"/>
            <a:ext cx="10543032" cy="685800"/>
          </a:xfrm>
          <a:prstGeom prst="rect">
            <a:avLst/>
          </a:prstGeom>
          <a:noFill/>
          <a:ln/>
        </p:spPr>
        <p:txBody>
          <a:bodyPr wrap="square" rtlCol="0" anchor="ctr"/>
          <a:lstStyle/>
          <a:p>
            <a:pPr indent="0" marL="0">
              <a:buNone/>
            </a:pPr>
            <a:r>
              <a:rPr lang="en-US" sz="1900" dirty="0">
                <a:solidFill>
                  <a:srgbClr val="212121"/>
                </a:solidFill>
                <a:latin typeface="Arial" pitchFamily="34" charset="0"/>
                <a:ea typeface="Arial" pitchFamily="34" charset="-122"/>
                <a:cs typeface="Arial" pitchFamily="34" charset="-120"/>
              </a:rPr>
              <a:t>AWS analiza el uso real de tus recursos y genera recomendaciones a través de dos herramientas.</a:t>
            </a:r>
            <a:endParaRPr lang="en-US" sz="1900" dirty="0"/>
          </a:p>
        </p:txBody>
      </p:sp>
      <p:sp>
        <p:nvSpPr>
          <p:cNvPr id="7" name="Shape 5"/>
          <p:cNvSpPr/>
          <p:nvPr/>
        </p:nvSpPr>
        <p:spPr>
          <a:xfrm>
            <a:off x="548640" y="2331720"/>
            <a:ext cx="5408676" cy="2286000"/>
          </a:xfrm>
          <a:prstGeom prst="roundRect">
            <a:avLst/>
          </a:prstGeom>
          <a:solidFill>
            <a:srgbClr val="E8EAF6"/>
          </a:solidFill>
          <a:ln w="15875">
            <a:solidFill>
              <a:srgbClr val="3949AB"/>
            </a:solidFill>
            <a:prstDash val="solid"/>
          </a:ln>
        </p:spPr>
      </p:sp>
      <p:sp>
        <p:nvSpPr>
          <p:cNvPr id="8" name="Text 6"/>
          <p:cNvSpPr/>
          <p:nvPr/>
        </p:nvSpPr>
        <p:spPr>
          <a:xfrm>
            <a:off x="685800" y="2423160"/>
            <a:ext cx="5134356" cy="640080"/>
          </a:xfrm>
          <a:prstGeom prst="rect">
            <a:avLst/>
          </a:prstGeom>
          <a:noFill/>
          <a:ln/>
        </p:spPr>
        <p:txBody>
          <a:bodyPr wrap="square" rtlCol="0" anchor="ctr"/>
          <a:lstStyle/>
          <a:p>
            <a:pPr algn="ctr" indent="0" marL="0">
              <a:buNone/>
            </a:pPr>
            <a:r>
              <a:rPr lang="en-US" sz="2200" b="1" dirty="0">
                <a:solidFill>
                  <a:srgbClr val="1A237E"/>
                </a:solidFill>
                <a:latin typeface="Arial" pitchFamily="34" charset="0"/>
                <a:ea typeface="Arial" pitchFamily="34" charset="-122"/>
                <a:cs typeface="Arial" pitchFamily="34" charset="-120"/>
              </a:rPr>
              <a:t>Trusted Advisor</a:t>
            </a:r>
            <a:endParaRPr lang="en-US" sz="2200" dirty="0"/>
          </a:p>
        </p:txBody>
      </p:sp>
      <p:sp>
        <p:nvSpPr>
          <p:cNvPr id="9" name="Text 7"/>
          <p:cNvSpPr/>
          <p:nvPr/>
        </p:nvSpPr>
        <p:spPr>
          <a:xfrm>
            <a:off x="731520" y="3108960"/>
            <a:ext cx="5042916" cy="1417320"/>
          </a:xfrm>
          <a:prstGeom prst="rect">
            <a:avLst/>
          </a:prstGeom>
          <a:noFill/>
          <a:ln/>
        </p:spPr>
        <p:txBody>
          <a:bodyPr wrap="square" rtlCol="0" anchor="t"/>
          <a:lstStyle/>
          <a:p>
            <a:pPr algn="ctr" indent="0" marL="0">
              <a:buNone/>
            </a:pPr>
            <a:r>
              <a:rPr lang="en-US" sz="1700" dirty="0">
                <a:solidFill>
                  <a:srgbClr val="212121"/>
                </a:solidFill>
                <a:latin typeface="Arial" pitchFamily="34" charset="0"/>
                <a:ea typeface="Arial" pitchFamily="34" charset="-122"/>
                <a:cs typeface="Arial" pitchFamily="34" charset="-120"/>
              </a:rPr>
              <a:t>Revisa tu cuenta en conjunto y agrupa sus comprobaciones en categorías muy parecidas a los pilares: coste, rendimiento, seguridad, tolerancia a fallos.</a:t>
            </a:r>
            <a:endParaRPr lang="en-US" sz="1700" dirty="0"/>
          </a:p>
        </p:txBody>
      </p:sp>
      <p:sp>
        <p:nvSpPr>
          <p:cNvPr id="10" name="Shape 8"/>
          <p:cNvSpPr/>
          <p:nvPr/>
        </p:nvSpPr>
        <p:spPr>
          <a:xfrm>
            <a:off x="6231636" y="2331720"/>
            <a:ext cx="5408676" cy="2286000"/>
          </a:xfrm>
          <a:prstGeom prst="roundRect">
            <a:avLst/>
          </a:prstGeom>
          <a:solidFill>
            <a:srgbClr val="E8EAF6"/>
          </a:solidFill>
          <a:ln w="15875">
            <a:solidFill>
              <a:srgbClr val="3949AB"/>
            </a:solidFill>
            <a:prstDash val="solid"/>
          </a:ln>
        </p:spPr>
      </p:sp>
      <p:sp>
        <p:nvSpPr>
          <p:cNvPr id="11" name="Text 9"/>
          <p:cNvSpPr/>
          <p:nvPr/>
        </p:nvSpPr>
        <p:spPr>
          <a:xfrm>
            <a:off x="6368796" y="2423160"/>
            <a:ext cx="5134356" cy="640080"/>
          </a:xfrm>
          <a:prstGeom prst="rect">
            <a:avLst/>
          </a:prstGeom>
          <a:noFill/>
          <a:ln/>
        </p:spPr>
        <p:txBody>
          <a:bodyPr wrap="square" rtlCol="0" anchor="ctr"/>
          <a:lstStyle/>
          <a:p>
            <a:pPr algn="ctr" indent="0" marL="0">
              <a:buNone/>
            </a:pPr>
            <a:r>
              <a:rPr lang="en-US" sz="2200" b="1" dirty="0">
                <a:solidFill>
                  <a:srgbClr val="1A237E"/>
                </a:solidFill>
                <a:latin typeface="Arial" pitchFamily="34" charset="0"/>
                <a:ea typeface="Arial" pitchFamily="34" charset="-122"/>
                <a:cs typeface="Arial" pitchFamily="34" charset="-120"/>
              </a:rPr>
              <a:t>Compute Optimizer</a:t>
            </a:r>
            <a:endParaRPr lang="en-US" sz="2200" dirty="0"/>
          </a:p>
        </p:txBody>
      </p:sp>
      <p:sp>
        <p:nvSpPr>
          <p:cNvPr id="12" name="Text 10"/>
          <p:cNvSpPr/>
          <p:nvPr/>
        </p:nvSpPr>
        <p:spPr>
          <a:xfrm>
            <a:off x="6414516" y="3108960"/>
            <a:ext cx="5042916" cy="1417320"/>
          </a:xfrm>
          <a:prstGeom prst="rect">
            <a:avLst/>
          </a:prstGeom>
          <a:noFill/>
          <a:ln/>
        </p:spPr>
        <p:txBody>
          <a:bodyPr wrap="square" rtlCol="0" anchor="t"/>
          <a:lstStyle/>
          <a:p>
            <a:pPr algn="ctr" indent="0" marL="0">
              <a:buNone/>
            </a:pPr>
            <a:r>
              <a:rPr lang="en-US" sz="1700" dirty="0">
                <a:solidFill>
                  <a:srgbClr val="212121"/>
                </a:solidFill>
                <a:latin typeface="Arial" pitchFamily="34" charset="0"/>
                <a:ea typeface="Arial" pitchFamily="34" charset="-122"/>
                <a:cs typeface="Arial" pitchFamily="34" charset="-120"/>
              </a:rPr>
              <a:t>Se centra en si el tamaño de tus instancias encaja con su uso de CPU, memoria y red. Necesita días de métricas para opinar.</a:t>
            </a:r>
            <a:endParaRPr lang="en-US" sz="1700" dirty="0"/>
          </a:p>
        </p:txBody>
      </p:sp>
      <p:sp>
        <p:nvSpPr>
          <p:cNvPr id="13" name="Shape 11"/>
          <p:cNvSpPr/>
          <p:nvPr/>
        </p:nvSpPr>
        <p:spPr>
          <a:xfrm>
            <a:off x="548640" y="4846320"/>
            <a:ext cx="11091672" cy="1188720"/>
          </a:xfrm>
          <a:prstGeom prst="roundRect">
            <a:avLst/>
          </a:prstGeom>
          <a:solidFill>
            <a:srgbClr val="FFF8E1"/>
          </a:solidFill>
          <a:ln w="19050">
            <a:solidFill>
              <a:srgbClr val="FFA000"/>
            </a:solidFill>
            <a:prstDash val="solid"/>
          </a:ln>
        </p:spPr>
      </p:sp>
      <p:sp>
        <p:nvSpPr>
          <p:cNvPr id="14" name="Text 12"/>
          <p:cNvSpPr/>
          <p:nvPr/>
        </p:nvSpPr>
        <p:spPr>
          <a:xfrm>
            <a:off x="822960" y="4937760"/>
            <a:ext cx="10543032" cy="1005840"/>
          </a:xfrm>
          <a:prstGeom prst="rect">
            <a:avLst/>
          </a:prstGeom>
          <a:noFill/>
          <a:ln/>
        </p:spPr>
        <p:txBody>
          <a:bodyPr wrap="square" rtlCol="0" anchor="ctr"/>
          <a:lstStyle/>
          <a:p>
            <a:pPr indent="0" marL="0">
              <a:buNone/>
            </a:pPr>
            <a:r>
              <a:rPr lang="en-US" sz="1800" dirty="0">
                <a:solidFill>
                  <a:srgbClr val="212121"/>
                </a:solidFill>
                <a:latin typeface="Arial" pitchFamily="34" charset="0"/>
                <a:ea typeface="Arial" pitchFamily="34" charset="-122"/>
                <a:cs typeface="Arial" pitchFamily="34" charset="-120"/>
              </a:rPr>
              <a:t>Por ejemplo, pueden avisarte de que una instancia lleva semanas con la CPU muy por debajo de su capacidad y podría reducirse de tamaño.</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Contrasta cada recomendación antes de aplicarla</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7: Well-Architected</a:t>
            </a:r>
            <a:endParaRPr lang="en-US" sz="1100" dirty="0"/>
          </a:p>
        </p:txBody>
      </p:sp>
      <p:sp>
        <p:nvSpPr>
          <p:cNvPr id="5" name="Shape 3"/>
          <p:cNvSpPr/>
          <p:nvPr/>
        </p:nvSpPr>
        <p:spPr>
          <a:xfrm>
            <a:off x="2340407" y="1188720"/>
            <a:ext cx="7508138" cy="914400"/>
          </a:xfrm>
          <a:prstGeom prst="roundRect">
            <a:avLst/>
          </a:prstGeom>
          <a:solidFill>
            <a:srgbClr val="E8EAF6"/>
          </a:solidFill>
          <a:ln w="19050">
            <a:solidFill>
              <a:srgbClr val="3949AB"/>
            </a:solidFill>
            <a:prstDash val="solid"/>
          </a:ln>
        </p:spPr>
      </p:sp>
      <p:sp>
        <p:nvSpPr>
          <p:cNvPr id="6" name="Text 4"/>
          <p:cNvSpPr/>
          <p:nvPr/>
        </p:nvSpPr>
        <p:spPr>
          <a:xfrm>
            <a:off x="2340407" y="1188720"/>
            <a:ext cx="7508138" cy="914400"/>
          </a:xfrm>
          <a:prstGeom prst="rect">
            <a:avLst/>
          </a:prstGeom>
          <a:noFill/>
          <a:ln/>
        </p:spPr>
        <p:txBody>
          <a:bodyPr wrap="square" rtlCol="0" anchor="ctr"/>
          <a:lstStyle/>
          <a:p>
            <a:pPr algn="ctr" indent="0" marL="0">
              <a:buNone/>
            </a:pPr>
            <a:r>
              <a:rPr lang="en-US" sz="1700" b="1" dirty="0">
                <a:solidFill>
                  <a:srgbClr val="212121"/>
                </a:solidFill>
                <a:latin typeface="Arial" pitchFamily="34" charset="0"/>
                <a:ea typeface="Arial" pitchFamily="34" charset="-122"/>
                <a:cs typeface="Arial" pitchFamily="34" charset="-120"/>
              </a:rPr>
              <a:t>💡 Recomendación automática</a:t>
            </a:r>
            <a:endParaRPr lang="en-US" sz="1700" dirty="0"/>
          </a:p>
          <a:p>
            <a:pPr algn="ctr" indent="0" marL="0">
              <a:buNone/>
            </a:pPr>
            <a:r>
              <a:rPr lang="en-US" sz="1700" b="1" dirty="0">
                <a:solidFill>
                  <a:srgbClr val="212121"/>
                </a:solidFill>
                <a:latin typeface="Arial" pitchFamily="34" charset="0"/>
                <a:ea typeface="Arial" pitchFamily="34" charset="-122"/>
                <a:cs typeface="Arial" pitchFamily="34" charset="-120"/>
              </a:rPr>
              <a:t>¿Tiene en cuenta el contexto real?</a:t>
            </a:r>
            <a:endParaRPr lang="en-US" sz="1700" dirty="0"/>
          </a:p>
        </p:txBody>
      </p:sp>
      <p:sp>
        <p:nvSpPr>
          <p:cNvPr id="7" name="Shape 5"/>
          <p:cNvSpPr/>
          <p:nvPr/>
        </p:nvSpPr>
        <p:spPr>
          <a:xfrm>
            <a:off x="6094476" y="2103120"/>
            <a:ext cx="914" cy="251460"/>
          </a:xfrm>
          <a:prstGeom prst="line">
            <a:avLst/>
          </a:prstGeom>
          <a:noFill/>
          <a:ln w="15875">
            <a:solidFill>
              <a:srgbClr val="3949AB"/>
            </a:solidFill>
            <a:prstDash val="solid"/>
          </a:ln>
        </p:spPr>
      </p:sp>
      <p:sp>
        <p:nvSpPr>
          <p:cNvPr id="8" name="Shape 6"/>
          <p:cNvSpPr/>
          <p:nvPr/>
        </p:nvSpPr>
        <p:spPr>
          <a:xfrm>
            <a:off x="548640" y="2606040"/>
            <a:ext cx="5362956" cy="914400"/>
          </a:xfrm>
          <a:prstGeom prst="roundRect">
            <a:avLst/>
          </a:prstGeom>
          <a:solidFill>
            <a:srgbClr val="E8EAF6"/>
          </a:solidFill>
          <a:ln w="15875">
            <a:solidFill>
              <a:srgbClr val="3949AB"/>
            </a:solidFill>
            <a:prstDash val="solid"/>
          </a:ln>
        </p:spPr>
      </p:sp>
      <p:sp>
        <p:nvSpPr>
          <p:cNvPr id="9" name="Text 7"/>
          <p:cNvSpPr/>
          <p:nvPr/>
        </p:nvSpPr>
        <p:spPr>
          <a:xfrm>
            <a:off x="594360" y="2606040"/>
            <a:ext cx="5271516" cy="914400"/>
          </a:xfrm>
          <a:prstGeom prst="rect">
            <a:avLst/>
          </a:prstGeom>
          <a:noFill/>
          <a:ln/>
        </p:spPr>
        <p:txBody>
          <a:bodyPr wrap="square" rtlCol="0" anchor="ctr"/>
          <a:lstStyle/>
          <a:p>
            <a:pPr algn="ctr" indent="0" marL="0">
              <a:buNone/>
            </a:pPr>
            <a:r>
              <a:rPr lang="en-US" sz="1600" dirty="0">
                <a:solidFill>
                  <a:srgbClr val="212121"/>
                </a:solidFill>
                <a:latin typeface="Arial" pitchFamily="34" charset="0"/>
                <a:ea typeface="Arial" pitchFamily="34" charset="-122"/>
                <a:cs typeface="Arial" pitchFamily="34" charset="-120"/>
              </a:rPr>
              <a:t>✅ Sí, aplica</a:t>
            </a:r>
            <a:endParaRPr lang="en-US" sz="1600" dirty="0"/>
          </a:p>
          <a:p>
            <a:pPr algn="ctr" indent="0" marL="0">
              <a:buNone/>
            </a:pPr>
            <a:r>
              <a:rPr lang="en-US" sz="1600" dirty="0">
                <a:solidFill>
                  <a:srgbClr val="212121"/>
                </a:solidFill>
                <a:latin typeface="Arial" pitchFamily="34" charset="0"/>
                <a:ea typeface="Arial" pitchFamily="34" charset="-122"/>
                <a:cs typeface="Arial" pitchFamily="34" charset="-120"/>
              </a:rPr>
              <a:t>Aplicarla</a:t>
            </a:r>
            <a:endParaRPr lang="en-US" sz="1600" dirty="0"/>
          </a:p>
        </p:txBody>
      </p:sp>
      <p:sp>
        <p:nvSpPr>
          <p:cNvPr id="10" name="Shape 8"/>
          <p:cNvSpPr/>
          <p:nvPr/>
        </p:nvSpPr>
        <p:spPr>
          <a:xfrm>
            <a:off x="3230118" y="2354580"/>
            <a:ext cx="914" cy="251460"/>
          </a:xfrm>
          <a:prstGeom prst="line">
            <a:avLst/>
          </a:prstGeom>
          <a:noFill/>
          <a:ln w="15875">
            <a:solidFill>
              <a:srgbClr val="3949AB"/>
            </a:solidFill>
            <a:prstDash val="solid"/>
          </a:ln>
        </p:spPr>
      </p:sp>
      <p:sp>
        <p:nvSpPr>
          <p:cNvPr id="11" name="Shape 9"/>
          <p:cNvSpPr/>
          <p:nvPr/>
        </p:nvSpPr>
        <p:spPr>
          <a:xfrm>
            <a:off x="6277356" y="2606040"/>
            <a:ext cx="5362956" cy="914400"/>
          </a:xfrm>
          <a:prstGeom prst="roundRect">
            <a:avLst/>
          </a:prstGeom>
          <a:solidFill>
            <a:srgbClr val="E8EAF6"/>
          </a:solidFill>
          <a:ln w="15875">
            <a:solidFill>
              <a:srgbClr val="3949AB"/>
            </a:solidFill>
            <a:prstDash val="solid"/>
          </a:ln>
        </p:spPr>
      </p:sp>
      <p:sp>
        <p:nvSpPr>
          <p:cNvPr id="12" name="Text 10"/>
          <p:cNvSpPr/>
          <p:nvPr/>
        </p:nvSpPr>
        <p:spPr>
          <a:xfrm>
            <a:off x="6323076" y="2606040"/>
            <a:ext cx="5271516" cy="914400"/>
          </a:xfrm>
          <a:prstGeom prst="rect">
            <a:avLst/>
          </a:prstGeom>
          <a:noFill/>
          <a:ln/>
        </p:spPr>
        <p:txBody>
          <a:bodyPr wrap="square" rtlCol="0" anchor="ctr"/>
          <a:lstStyle/>
          <a:p>
            <a:pPr algn="ctr" indent="0" marL="0">
              <a:buNone/>
            </a:pPr>
            <a:r>
              <a:rPr lang="en-US" sz="1600" dirty="0">
                <a:solidFill>
                  <a:srgbClr val="212121"/>
                </a:solidFill>
                <a:latin typeface="Arial" pitchFamily="34" charset="0"/>
                <a:ea typeface="Arial" pitchFamily="34" charset="-122"/>
                <a:cs typeface="Arial" pitchFamily="34" charset="-120"/>
              </a:rPr>
              <a:t>❌ No, hay una razón que no ve</a:t>
            </a:r>
            <a:endParaRPr lang="en-US" sz="1600" dirty="0"/>
          </a:p>
          <a:p>
            <a:pPr algn="ctr" indent="0" marL="0">
              <a:buNone/>
            </a:pPr>
            <a:r>
              <a:rPr lang="en-US" sz="1600" dirty="0">
                <a:solidFill>
                  <a:srgbClr val="212121"/>
                </a:solidFill>
                <a:latin typeface="Arial" pitchFamily="34" charset="0"/>
                <a:ea typeface="Arial" pitchFamily="34" charset="-122"/>
                <a:cs typeface="Arial" pitchFamily="34" charset="-120"/>
              </a:rPr>
              <a:t>Descartarla, justificando por qué</a:t>
            </a:r>
            <a:endParaRPr lang="en-US" sz="1600" dirty="0"/>
          </a:p>
        </p:txBody>
      </p:sp>
      <p:sp>
        <p:nvSpPr>
          <p:cNvPr id="13" name="Shape 11"/>
          <p:cNvSpPr/>
          <p:nvPr/>
        </p:nvSpPr>
        <p:spPr>
          <a:xfrm>
            <a:off x="8958834" y="2354580"/>
            <a:ext cx="914" cy="251460"/>
          </a:xfrm>
          <a:prstGeom prst="line">
            <a:avLst/>
          </a:prstGeom>
          <a:noFill/>
          <a:ln w="15875">
            <a:solidFill>
              <a:srgbClr val="3949AB"/>
            </a:solidFill>
            <a:prstDash val="solid"/>
          </a:ln>
        </p:spPr>
      </p:sp>
      <p:sp>
        <p:nvSpPr>
          <p:cNvPr id="14" name="Shape 12"/>
          <p:cNvSpPr/>
          <p:nvPr/>
        </p:nvSpPr>
        <p:spPr>
          <a:xfrm>
            <a:off x="3230118" y="2354580"/>
            <a:ext cx="5728716" cy="914"/>
          </a:xfrm>
          <a:prstGeom prst="line">
            <a:avLst/>
          </a:prstGeom>
          <a:noFill/>
          <a:ln w="15875">
            <a:solidFill>
              <a:srgbClr val="3949AB"/>
            </a:solidFill>
            <a:prstDash val="solid"/>
          </a:ln>
        </p:spPr>
      </p:sp>
      <p:sp>
        <p:nvSpPr>
          <p:cNvPr id="15" name="Shape 13"/>
          <p:cNvSpPr/>
          <p:nvPr/>
        </p:nvSpPr>
        <p:spPr>
          <a:xfrm>
            <a:off x="548640" y="4069080"/>
            <a:ext cx="11091672" cy="2194560"/>
          </a:xfrm>
          <a:prstGeom prst="roundRect">
            <a:avLst/>
          </a:prstGeom>
          <a:solidFill>
            <a:srgbClr val="FFF8E1"/>
          </a:solidFill>
          <a:ln w="28575">
            <a:solidFill>
              <a:srgbClr val="FFA000"/>
            </a:solidFill>
            <a:prstDash val="solid"/>
          </a:ln>
        </p:spPr>
      </p:sp>
      <p:sp>
        <p:nvSpPr>
          <p:cNvPr id="16" name="Text 14"/>
          <p:cNvSpPr/>
          <p:nvPr/>
        </p:nvSpPr>
        <p:spPr>
          <a:xfrm>
            <a:off x="822960" y="4178808"/>
            <a:ext cx="10543032" cy="1975104"/>
          </a:xfrm>
          <a:prstGeom prst="rect">
            <a:avLst/>
          </a:prstGeom>
          <a:noFill/>
          <a:ln/>
        </p:spPr>
        <p:txBody>
          <a:bodyPr wrap="square" rtlCol="0" anchor="t"/>
          <a:lstStyle/>
          <a:p>
            <a:pPr indent="0" marL="0">
              <a:buNone/>
            </a:pPr>
            <a:r>
              <a:rPr lang="en-US" sz="1600" b="1" dirty="0">
                <a:solidFill>
                  <a:srgbClr val="1A237E"/>
                </a:solidFill>
                <a:latin typeface="Arial" pitchFamily="34" charset="0"/>
                <a:ea typeface="Arial" pitchFamily="34" charset="-122"/>
                <a:cs typeface="Arial" pitchFamily="34" charset="-120"/>
              </a:rPr>
              <a:t>Una recomendación puede ser técnicamente correcta y prácticamente errónea
</a:t>
            </a:r>
            <a:endParaRPr lang="en-US" sz="1600" dirty="0"/>
          </a:p>
          <a:p>
            <a:pPr indent="0" marL="0">
              <a:buNone/>
            </a:pPr>
            <a:r>
              <a:rPr lang="en-US" sz="1500" dirty="0">
                <a:solidFill>
                  <a:srgbClr val="212121"/>
                </a:solidFill>
                <a:latin typeface="Arial" pitchFamily="34" charset="0"/>
                <a:ea typeface="Arial" pitchFamily="34" charset="-122"/>
                <a:cs typeface="Arial" pitchFamily="34" charset="-120"/>
              </a:rPr>
              <a:t>Una aplicación Java puede mostrar la CPU al 10 % durante semanas y, aun así, necesitar la memoria de la instancia que tiene: reducir el tamaño basándose solo en la CPU la dejaría sin memoria. Otras veces dos recomendaciones se contradicen. Interpretar una recomendación es contrastarla con lo que sabes del sistema, no aplicarla porque lo dice una herramienta.</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Cómo se audita, en la práctica</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7: Well-Architected</a:t>
            </a:r>
            <a:endParaRPr lang="en-US" sz="1100" dirty="0"/>
          </a:p>
        </p:txBody>
      </p:sp>
      <p:sp>
        <p:nvSpPr>
          <p:cNvPr id="5" name="Shape 3"/>
          <p:cNvSpPr/>
          <p:nvPr/>
        </p:nvSpPr>
        <p:spPr>
          <a:xfrm>
            <a:off x="548640" y="1188720"/>
            <a:ext cx="2601468" cy="2743200"/>
          </a:xfrm>
          <a:prstGeom prst="roundRect">
            <a:avLst/>
          </a:prstGeom>
          <a:solidFill>
            <a:srgbClr val="E8EAF6"/>
          </a:solidFill>
          <a:ln w="15875">
            <a:solidFill>
              <a:srgbClr val="3949AB"/>
            </a:solidFill>
            <a:prstDash val="solid"/>
          </a:ln>
        </p:spPr>
      </p:sp>
      <p:sp>
        <p:nvSpPr>
          <p:cNvPr id="6" name="Text 4"/>
          <p:cNvSpPr/>
          <p:nvPr/>
        </p:nvSpPr>
        <p:spPr>
          <a:xfrm>
            <a:off x="685800" y="1280160"/>
            <a:ext cx="2327148" cy="640080"/>
          </a:xfrm>
          <a:prstGeom prst="rect">
            <a:avLst/>
          </a:prstGeom>
          <a:noFill/>
          <a:ln/>
        </p:spPr>
        <p:txBody>
          <a:bodyPr wrap="square" rtlCol="0" anchor="ctr"/>
          <a:lstStyle/>
          <a:p>
            <a:pPr algn="ctr" indent="0" marL="0">
              <a:buNone/>
            </a:pPr>
            <a:r>
              <a:rPr lang="en-US" sz="1800" b="1" dirty="0">
                <a:solidFill>
                  <a:srgbClr val="1A237E"/>
                </a:solidFill>
                <a:latin typeface="Arial" pitchFamily="34" charset="0"/>
                <a:ea typeface="Arial" pitchFamily="34" charset="-122"/>
                <a:cs typeface="Arial" pitchFamily="34" charset="-120"/>
              </a:rPr>
              <a:t>1. Inventariar</a:t>
            </a:r>
            <a:endParaRPr lang="en-US" sz="1800" dirty="0"/>
          </a:p>
        </p:txBody>
      </p:sp>
      <p:sp>
        <p:nvSpPr>
          <p:cNvPr id="7" name="Text 5"/>
          <p:cNvSpPr/>
          <p:nvPr/>
        </p:nvSpPr>
        <p:spPr>
          <a:xfrm>
            <a:off x="731520" y="1965960"/>
            <a:ext cx="2235708" cy="1874520"/>
          </a:xfrm>
          <a:prstGeom prst="rect">
            <a:avLst/>
          </a:prstGeom>
          <a:noFill/>
          <a:ln/>
        </p:spPr>
        <p:txBody>
          <a:bodyPr wrap="square" rtlCol="0" anchor="t"/>
          <a:lstStyle/>
          <a:p>
            <a:pPr algn="ctr" indent="0" marL="0">
              <a:buNone/>
            </a:pPr>
            <a:r>
              <a:rPr lang="en-US" sz="1600" dirty="0">
                <a:solidFill>
                  <a:srgbClr val="212121"/>
                </a:solidFill>
                <a:latin typeface="Arial" pitchFamily="34" charset="0"/>
                <a:ea typeface="Arial" pitchFamily="34" charset="-122"/>
                <a:cs typeface="Arial" pitchFamily="34" charset="-120"/>
              </a:rPr>
              <a:t>Listar cada componente con su configuración real, en qué zona vive y quién puede llegar a él.</a:t>
            </a:r>
            <a:endParaRPr lang="en-US" sz="1600" dirty="0"/>
          </a:p>
        </p:txBody>
      </p:sp>
      <p:sp>
        <p:nvSpPr>
          <p:cNvPr id="8" name="Shape 6"/>
          <p:cNvSpPr/>
          <p:nvPr/>
        </p:nvSpPr>
        <p:spPr>
          <a:xfrm>
            <a:off x="3378708" y="1188720"/>
            <a:ext cx="2601468" cy="2743200"/>
          </a:xfrm>
          <a:prstGeom prst="roundRect">
            <a:avLst/>
          </a:prstGeom>
          <a:solidFill>
            <a:srgbClr val="E8EAF6"/>
          </a:solidFill>
          <a:ln w="15875">
            <a:solidFill>
              <a:srgbClr val="3949AB"/>
            </a:solidFill>
            <a:prstDash val="solid"/>
          </a:ln>
        </p:spPr>
      </p:sp>
      <p:sp>
        <p:nvSpPr>
          <p:cNvPr id="9" name="Text 7"/>
          <p:cNvSpPr/>
          <p:nvPr/>
        </p:nvSpPr>
        <p:spPr>
          <a:xfrm>
            <a:off x="3515868" y="1280160"/>
            <a:ext cx="2327148" cy="640080"/>
          </a:xfrm>
          <a:prstGeom prst="rect">
            <a:avLst/>
          </a:prstGeom>
          <a:noFill/>
          <a:ln/>
        </p:spPr>
        <p:txBody>
          <a:bodyPr wrap="square" rtlCol="0" anchor="ctr"/>
          <a:lstStyle/>
          <a:p>
            <a:pPr algn="ctr" indent="0" marL="0">
              <a:buNone/>
            </a:pPr>
            <a:r>
              <a:rPr lang="en-US" sz="1800" b="1" dirty="0">
                <a:solidFill>
                  <a:srgbClr val="1A237E"/>
                </a:solidFill>
                <a:latin typeface="Arial" pitchFamily="34" charset="0"/>
                <a:ea typeface="Arial" pitchFamily="34" charset="-122"/>
                <a:cs typeface="Arial" pitchFamily="34" charset="-120"/>
              </a:rPr>
              <a:t>2. Preguntar por pilar</a:t>
            </a:r>
            <a:endParaRPr lang="en-US" sz="1800" dirty="0"/>
          </a:p>
        </p:txBody>
      </p:sp>
      <p:sp>
        <p:nvSpPr>
          <p:cNvPr id="10" name="Text 8"/>
          <p:cNvSpPr/>
          <p:nvPr/>
        </p:nvSpPr>
        <p:spPr>
          <a:xfrm>
            <a:off x="3561588" y="1965960"/>
            <a:ext cx="2235708" cy="1874520"/>
          </a:xfrm>
          <a:prstGeom prst="rect">
            <a:avLst/>
          </a:prstGeom>
          <a:noFill/>
          <a:ln/>
        </p:spPr>
        <p:txBody>
          <a:bodyPr wrap="square" rtlCol="0" anchor="t"/>
          <a:lstStyle/>
          <a:p>
            <a:pPr algn="ctr" indent="0" marL="0">
              <a:buNone/>
            </a:pPr>
            <a:r>
              <a:rPr lang="en-US" sz="1600" dirty="0">
                <a:solidFill>
                  <a:srgbClr val="212121"/>
                </a:solidFill>
                <a:latin typeface="Arial" pitchFamily="34" charset="0"/>
                <a:ea typeface="Arial" pitchFamily="34" charset="-122"/>
                <a:cs typeface="Arial" pitchFamily="34" charset="-120"/>
              </a:rPr>
              <a:t>Aplicar las seis preguntas al inventario y anotar cada hallazgo con impacto y esfuerzo.</a:t>
            </a:r>
            <a:endParaRPr lang="en-US" sz="1600" dirty="0"/>
          </a:p>
        </p:txBody>
      </p:sp>
      <p:sp>
        <p:nvSpPr>
          <p:cNvPr id="11" name="Shape 9"/>
          <p:cNvSpPr/>
          <p:nvPr/>
        </p:nvSpPr>
        <p:spPr>
          <a:xfrm>
            <a:off x="6208776" y="1188720"/>
            <a:ext cx="2601468" cy="2743200"/>
          </a:xfrm>
          <a:prstGeom prst="roundRect">
            <a:avLst/>
          </a:prstGeom>
          <a:solidFill>
            <a:srgbClr val="E8EAF6"/>
          </a:solidFill>
          <a:ln w="15875">
            <a:solidFill>
              <a:srgbClr val="3949AB"/>
            </a:solidFill>
            <a:prstDash val="solid"/>
          </a:ln>
        </p:spPr>
      </p:sp>
      <p:sp>
        <p:nvSpPr>
          <p:cNvPr id="12" name="Text 10"/>
          <p:cNvSpPr/>
          <p:nvPr/>
        </p:nvSpPr>
        <p:spPr>
          <a:xfrm>
            <a:off x="6345936" y="1280160"/>
            <a:ext cx="2327148" cy="640080"/>
          </a:xfrm>
          <a:prstGeom prst="rect">
            <a:avLst/>
          </a:prstGeom>
          <a:noFill/>
          <a:ln/>
        </p:spPr>
        <p:txBody>
          <a:bodyPr wrap="square" rtlCol="0" anchor="ctr"/>
          <a:lstStyle/>
          <a:p>
            <a:pPr algn="ctr" indent="0" marL="0">
              <a:buNone/>
            </a:pPr>
            <a:r>
              <a:rPr lang="en-US" sz="1800" b="1" dirty="0">
                <a:solidFill>
                  <a:srgbClr val="1A237E"/>
                </a:solidFill>
                <a:latin typeface="Arial" pitchFamily="34" charset="0"/>
                <a:ea typeface="Arial" pitchFamily="34" charset="-122"/>
                <a:cs typeface="Arial" pitchFamily="34" charset="-120"/>
              </a:rPr>
              <a:t>3. Priorizar</a:t>
            </a:r>
            <a:endParaRPr lang="en-US" sz="1800" dirty="0"/>
          </a:p>
        </p:txBody>
      </p:sp>
      <p:sp>
        <p:nvSpPr>
          <p:cNvPr id="13" name="Text 11"/>
          <p:cNvSpPr/>
          <p:nvPr/>
        </p:nvSpPr>
        <p:spPr>
          <a:xfrm>
            <a:off x="6391656" y="1965960"/>
            <a:ext cx="2235708" cy="1874520"/>
          </a:xfrm>
          <a:prstGeom prst="rect">
            <a:avLst/>
          </a:prstGeom>
          <a:noFill/>
          <a:ln/>
        </p:spPr>
        <p:txBody>
          <a:bodyPr wrap="square" rtlCol="0" anchor="t"/>
          <a:lstStyle/>
          <a:p>
            <a:pPr algn="ctr" indent="0" marL="0">
              <a:buNone/>
            </a:pPr>
            <a:r>
              <a:rPr lang="en-US" sz="1600" dirty="0">
                <a:solidFill>
                  <a:srgbClr val="212121"/>
                </a:solidFill>
                <a:latin typeface="Arial" pitchFamily="34" charset="0"/>
                <a:ea typeface="Arial" pitchFamily="34" charset="-122"/>
                <a:cs typeface="Arial" pitchFamily="34" charset="-120"/>
              </a:rPr>
              <a:t>Ordenar los hallazgos con la matriz impacto/esfuerzo.</a:t>
            </a:r>
            <a:endParaRPr lang="en-US" sz="1600" dirty="0"/>
          </a:p>
        </p:txBody>
      </p:sp>
      <p:sp>
        <p:nvSpPr>
          <p:cNvPr id="14" name="Shape 12"/>
          <p:cNvSpPr/>
          <p:nvPr/>
        </p:nvSpPr>
        <p:spPr>
          <a:xfrm>
            <a:off x="9038844" y="1188720"/>
            <a:ext cx="2601468" cy="2743200"/>
          </a:xfrm>
          <a:prstGeom prst="roundRect">
            <a:avLst/>
          </a:prstGeom>
          <a:solidFill>
            <a:srgbClr val="E8EAF6"/>
          </a:solidFill>
          <a:ln w="15875">
            <a:solidFill>
              <a:srgbClr val="3949AB"/>
            </a:solidFill>
            <a:prstDash val="solid"/>
          </a:ln>
        </p:spPr>
      </p:sp>
      <p:sp>
        <p:nvSpPr>
          <p:cNvPr id="15" name="Text 13"/>
          <p:cNvSpPr/>
          <p:nvPr/>
        </p:nvSpPr>
        <p:spPr>
          <a:xfrm>
            <a:off x="9176004" y="1280160"/>
            <a:ext cx="2327148" cy="640080"/>
          </a:xfrm>
          <a:prstGeom prst="rect">
            <a:avLst/>
          </a:prstGeom>
          <a:noFill/>
          <a:ln/>
        </p:spPr>
        <p:txBody>
          <a:bodyPr wrap="square" rtlCol="0" anchor="ctr"/>
          <a:lstStyle/>
          <a:p>
            <a:pPr algn="ctr" indent="0" marL="0">
              <a:buNone/>
            </a:pPr>
            <a:r>
              <a:rPr lang="en-US" sz="1800" b="1" dirty="0">
                <a:solidFill>
                  <a:srgbClr val="1A237E"/>
                </a:solidFill>
                <a:latin typeface="Arial" pitchFamily="34" charset="0"/>
                <a:ea typeface="Arial" pitchFamily="34" charset="-122"/>
                <a:cs typeface="Arial" pitchFamily="34" charset="-120"/>
              </a:rPr>
              <a:t>4. Proponer</a:t>
            </a:r>
            <a:endParaRPr lang="en-US" sz="1800" dirty="0"/>
          </a:p>
        </p:txBody>
      </p:sp>
      <p:sp>
        <p:nvSpPr>
          <p:cNvPr id="16" name="Text 14"/>
          <p:cNvSpPr/>
          <p:nvPr/>
        </p:nvSpPr>
        <p:spPr>
          <a:xfrm>
            <a:off x="9221724" y="1965960"/>
            <a:ext cx="2235708" cy="1874520"/>
          </a:xfrm>
          <a:prstGeom prst="rect">
            <a:avLst/>
          </a:prstGeom>
          <a:noFill/>
          <a:ln/>
        </p:spPr>
        <p:txBody>
          <a:bodyPr wrap="square" rtlCol="0" anchor="t"/>
          <a:lstStyle/>
          <a:p>
            <a:pPr algn="ctr" indent="0" marL="0">
              <a:buNone/>
            </a:pPr>
            <a:r>
              <a:rPr lang="en-US" sz="1600" dirty="0">
                <a:solidFill>
                  <a:srgbClr val="212121"/>
                </a:solidFill>
                <a:latin typeface="Arial" pitchFamily="34" charset="0"/>
                <a:ea typeface="Arial" pitchFamily="34" charset="-122"/>
                <a:cs typeface="Arial" pitchFamily="34" charset="-120"/>
              </a:rPr>
              <a:t>Para los primeros, decir qué se cambia y cuánto cuesta cambiarlo.</a:t>
            </a:r>
            <a:endParaRPr lang="en-US" sz="1600" dirty="0"/>
          </a:p>
        </p:txBody>
      </p:sp>
      <p:sp>
        <p:nvSpPr>
          <p:cNvPr id="17" name="Shape 15"/>
          <p:cNvSpPr/>
          <p:nvPr/>
        </p:nvSpPr>
        <p:spPr>
          <a:xfrm>
            <a:off x="548640" y="4297680"/>
            <a:ext cx="1815998" cy="1280160"/>
          </a:xfrm>
          <a:prstGeom prst="roundRect">
            <a:avLst/>
          </a:prstGeom>
          <a:solidFill>
            <a:srgbClr val="E8EAF6"/>
          </a:solidFill>
          <a:ln w="15875">
            <a:solidFill>
              <a:srgbClr val="3949AB"/>
            </a:solidFill>
            <a:prstDash val="solid"/>
          </a:ln>
        </p:spPr>
      </p:sp>
      <p:sp>
        <p:nvSpPr>
          <p:cNvPr id="18" name="Text 16"/>
          <p:cNvSpPr/>
          <p:nvPr/>
        </p:nvSpPr>
        <p:spPr>
          <a:xfrm>
            <a:off x="621792" y="4343400"/>
            <a:ext cx="1669694" cy="118872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Arquitectura inventariada</a:t>
            </a:r>
            <a:endParaRPr lang="en-US" sz="1400" dirty="0"/>
          </a:p>
        </p:txBody>
      </p:sp>
      <p:sp>
        <p:nvSpPr>
          <p:cNvPr id="19" name="Text 17"/>
          <p:cNvSpPr/>
          <p:nvPr/>
        </p:nvSpPr>
        <p:spPr>
          <a:xfrm>
            <a:off x="2364638" y="4297680"/>
            <a:ext cx="502920" cy="1280160"/>
          </a:xfrm>
          <a:prstGeom prst="rect">
            <a:avLst/>
          </a:prstGeom>
          <a:noFill/>
          <a:ln/>
        </p:spPr>
        <p:txBody>
          <a:bodyPr wrap="square" rtlCol="0" anchor="ctr"/>
          <a:lstStyle/>
          <a:p>
            <a:pPr algn="ctr" indent="0" marL="0">
              <a:buNone/>
            </a:pPr>
            <a:r>
              <a:rPr lang="en-US" sz="2600" b="1" dirty="0">
                <a:solidFill>
                  <a:srgbClr val="3949AB"/>
                </a:solidFill>
                <a:latin typeface="Arial" pitchFamily="34" charset="0"/>
                <a:ea typeface="Arial" pitchFamily="34" charset="-122"/>
                <a:cs typeface="Arial" pitchFamily="34" charset="-120"/>
              </a:rPr>
              <a:t>→</a:t>
            </a:r>
            <a:endParaRPr lang="en-US" sz="2600" dirty="0"/>
          </a:p>
        </p:txBody>
      </p:sp>
      <p:sp>
        <p:nvSpPr>
          <p:cNvPr id="20" name="Shape 18"/>
          <p:cNvSpPr/>
          <p:nvPr/>
        </p:nvSpPr>
        <p:spPr>
          <a:xfrm>
            <a:off x="2867558" y="4297680"/>
            <a:ext cx="1815998" cy="1280160"/>
          </a:xfrm>
          <a:prstGeom prst="roundRect">
            <a:avLst/>
          </a:prstGeom>
          <a:solidFill>
            <a:srgbClr val="E8EAF6"/>
          </a:solidFill>
          <a:ln w="15875">
            <a:solidFill>
              <a:srgbClr val="3949AB"/>
            </a:solidFill>
            <a:prstDash val="solid"/>
          </a:ln>
        </p:spPr>
      </p:sp>
      <p:sp>
        <p:nvSpPr>
          <p:cNvPr id="21" name="Text 19"/>
          <p:cNvSpPr/>
          <p:nvPr/>
        </p:nvSpPr>
        <p:spPr>
          <a:xfrm>
            <a:off x="2940710" y="4343400"/>
            <a:ext cx="1669694" cy="118872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Seis pilares, uno a uno</a:t>
            </a:r>
            <a:endParaRPr lang="en-US" sz="1400" dirty="0"/>
          </a:p>
        </p:txBody>
      </p:sp>
      <p:sp>
        <p:nvSpPr>
          <p:cNvPr id="22" name="Text 20"/>
          <p:cNvSpPr/>
          <p:nvPr/>
        </p:nvSpPr>
        <p:spPr>
          <a:xfrm>
            <a:off x="4683557" y="4297680"/>
            <a:ext cx="502920" cy="1280160"/>
          </a:xfrm>
          <a:prstGeom prst="rect">
            <a:avLst/>
          </a:prstGeom>
          <a:noFill/>
          <a:ln/>
        </p:spPr>
        <p:txBody>
          <a:bodyPr wrap="square" rtlCol="0" anchor="ctr"/>
          <a:lstStyle/>
          <a:p>
            <a:pPr algn="ctr" indent="0" marL="0">
              <a:buNone/>
            </a:pPr>
            <a:r>
              <a:rPr lang="en-US" sz="2600" b="1" dirty="0">
                <a:solidFill>
                  <a:srgbClr val="3949AB"/>
                </a:solidFill>
                <a:latin typeface="Arial" pitchFamily="34" charset="0"/>
                <a:ea typeface="Arial" pitchFamily="34" charset="-122"/>
                <a:cs typeface="Arial" pitchFamily="34" charset="-120"/>
              </a:rPr>
              <a:t>→</a:t>
            </a:r>
            <a:endParaRPr lang="en-US" sz="2600" dirty="0"/>
          </a:p>
        </p:txBody>
      </p:sp>
      <p:sp>
        <p:nvSpPr>
          <p:cNvPr id="23" name="Shape 21"/>
          <p:cNvSpPr/>
          <p:nvPr/>
        </p:nvSpPr>
        <p:spPr>
          <a:xfrm>
            <a:off x="5186477" y="4297680"/>
            <a:ext cx="1815998" cy="1280160"/>
          </a:xfrm>
          <a:prstGeom prst="roundRect">
            <a:avLst/>
          </a:prstGeom>
          <a:solidFill>
            <a:srgbClr val="E8EAF6"/>
          </a:solidFill>
          <a:ln w="15875">
            <a:solidFill>
              <a:srgbClr val="3949AB"/>
            </a:solidFill>
            <a:prstDash val="solid"/>
          </a:ln>
        </p:spPr>
      </p:sp>
      <p:sp>
        <p:nvSpPr>
          <p:cNvPr id="24" name="Text 22"/>
          <p:cNvSpPr/>
          <p:nvPr/>
        </p:nvSpPr>
        <p:spPr>
          <a:xfrm>
            <a:off x="5259629" y="4343400"/>
            <a:ext cx="1669694" cy="118872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Hallazgos: impacto + esfuerzo</a:t>
            </a:r>
            <a:endParaRPr lang="en-US" sz="1400" dirty="0"/>
          </a:p>
        </p:txBody>
      </p:sp>
      <p:sp>
        <p:nvSpPr>
          <p:cNvPr id="25" name="Text 23"/>
          <p:cNvSpPr/>
          <p:nvPr/>
        </p:nvSpPr>
        <p:spPr>
          <a:xfrm>
            <a:off x="7002475" y="4297680"/>
            <a:ext cx="502920" cy="1280160"/>
          </a:xfrm>
          <a:prstGeom prst="rect">
            <a:avLst/>
          </a:prstGeom>
          <a:noFill/>
          <a:ln/>
        </p:spPr>
        <p:txBody>
          <a:bodyPr wrap="square" rtlCol="0" anchor="ctr"/>
          <a:lstStyle/>
          <a:p>
            <a:pPr algn="ctr" indent="0" marL="0">
              <a:buNone/>
            </a:pPr>
            <a:r>
              <a:rPr lang="en-US" sz="2600" b="1" dirty="0">
                <a:solidFill>
                  <a:srgbClr val="3949AB"/>
                </a:solidFill>
                <a:latin typeface="Arial" pitchFamily="34" charset="0"/>
                <a:ea typeface="Arial" pitchFamily="34" charset="-122"/>
                <a:cs typeface="Arial" pitchFamily="34" charset="-120"/>
              </a:rPr>
              <a:t>→</a:t>
            </a:r>
            <a:endParaRPr lang="en-US" sz="2600" dirty="0"/>
          </a:p>
        </p:txBody>
      </p:sp>
      <p:sp>
        <p:nvSpPr>
          <p:cNvPr id="26" name="Shape 24"/>
          <p:cNvSpPr/>
          <p:nvPr/>
        </p:nvSpPr>
        <p:spPr>
          <a:xfrm>
            <a:off x="7505395" y="4297680"/>
            <a:ext cx="1815998" cy="1280160"/>
          </a:xfrm>
          <a:prstGeom prst="roundRect">
            <a:avLst/>
          </a:prstGeom>
          <a:solidFill>
            <a:srgbClr val="E8EAF6"/>
          </a:solidFill>
          <a:ln w="15875">
            <a:solidFill>
              <a:srgbClr val="3949AB"/>
            </a:solidFill>
            <a:prstDash val="solid"/>
          </a:ln>
        </p:spPr>
      </p:sp>
      <p:sp>
        <p:nvSpPr>
          <p:cNvPr id="27" name="Text 25"/>
          <p:cNvSpPr/>
          <p:nvPr/>
        </p:nvSpPr>
        <p:spPr>
          <a:xfrm>
            <a:off x="7578547" y="4343400"/>
            <a:ext cx="1669694" cy="118872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Priorización</a:t>
            </a:r>
            <a:endParaRPr lang="en-US" sz="1400" dirty="0"/>
          </a:p>
        </p:txBody>
      </p:sp>
      <p:sp>
        <p:nvSpPr>
          <p:cNvPr id="28" name="Text 26"/>
          <p:cNvSpPr/>
          <p:nvPr/>
        </p:nvSpPr>
        <p:spPr>
          <a:xfrm>
            <a:off x="9321394" y="4297680"/>
            <a:ext cx="502920" cy="1280160"/>
          </a:xfrm>
          <a:prstGeom prst="rect">
            <a:avLst/>
          </a:prstGeom>
          <a:noFill/>
          <a:ln/>
        </p:spPr>
        <p:txBody>
          <a:bodyPr wrap="square" rtlCol="0" anchor="ctr"/>
          <a:lstStyle/>
          <a:p>
            <a:pPr algn="ctr" indent="0" marL="0">
              <a:buNone/>
            </a:pPr>
            <a:r>
              <a:rPr lang="en-US" sz="2600" b="1" dirty="0">
                <a:solidFill>
                  <a:srgbClr val="3949AB"/>
                </a:solidFill>
                <a:latin typeface="Arial" pitchFamily="34" charset="0"/>
                <a:ea typeface="Arial" pitchFamily="34" charset="-122"/>
                <a:cs typeface="Arial" pitchFamily="34" charset="-120"/>
              </a:rPr>
              <a:t>→</a:t>
            </a:r>
            <a:endParaRPr lang="en-US" sz="2600" dirty="0"/>
          </a:p>
        </p:txBody>
      </p:sp>
      <p:sp>
        <p:nvSpPr>
          <p:cNvPr id="29" name="Shape 27"/>
          <p:cNvSpPr/>
          <p:nvPr/>
        </p:nvSpPr>
        <p:spPr>
          <a:xfrm>
            <a:off x="9824314" y="4297680"/>
            <a:ext cx="1815998" cy="1280160"/>
          </a:xfrm>
          <a:prstGeom prst="roundRect">
            <a:avLst/>
          </a:prstGeom>
          <a:solidFill>
            <a:srgbClr val="E8EAF6"/>
          </a:solidFill>
          <a:ln w="15875">
            <a:solidFill>
              <a:srgbClr val="3949AB"/>
            </a:solidFill>
            <a:prstDash val="solid"/>
          </a:ln>
        </p:spPr>
      </p:sp>
      <p:sp>
        <p:nvSpPr>
          <p:cNvPr id="30" name="Text 28"/>
          <p:cNvSpPr/>
          <p:nvPr/>
        </p:nvSpPr>
        <p:spPr>
          <a:xfrm>
            <a:off x="9897466" y="4343400"/>
            <a:ext cx="1669694" cy="118872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Plan de mejora con su coste</a:t>
            </a:r>
            <a:endParaRPr lang="en-US" sz="1400" dirty="0"/>
          </a:p>
        </p:txBody>
      </p:sp>
      <p:sp>
        <p:nvSpPr>
          <p:cNvPr id="31" name="Text 29"/>
          <p:cNvSpPr/>
          <p:nvPr/>
        </p:nvSpPr>
        <p:spPr>
          <a:xfrm>
            <a:off x="548640" y="5806440"/>
            <a:ext cx="11091672" cy="457200"/>
          </a:xfrm>
          <a:prstGeom prst="rect">
            <a:avLst/>
          </a:prstGeom>
          <a:noFill/>
          <a:ln/>
        </p:spPr>
        <p:txBody>
          <a:bodyPr wrap="square" rtlCol="0" anchor="t"/>
          <a:lstStyle/>
          <a:p>
            <a:pPr algn="ctr" indent="0" marL="0">
              <a:buNone/>
            </a:pPr>
            <a:r>
              <a:rPr lang="en-US" sz="1500" dirty="0">
                <a:solidFill>
                  <a:srgbClr val="757575"/>
                </a:solidFill>
                <a:latin typeface="Arial" pitchFamily="34" charset="0"/>
                <a:ea typeface="Arial" pitchFamily="34" charset="-122"/>
                <a:cs typeface="Arial" pitchFamily="34" charset="-120"/>
              </a:rPr>
              <a:t>Auditar no es repasar cada pilar en abstracto: es recorrer una arquitectura concreta con un método fijo.</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Priorizar: impacto frente a esfuerzo</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7: Well-Architected</a:t>
            </a:r>
            <a:endParaRPr lang="en-US" sz="1100" dirty="0"/>
          </a:p>
        </p:txBody>
      </p:sp>
      <p:sp>
        <p:nvSpPr>
          <p:cNvPr id="5" name="Shape 3"/>
          <p:cNvSpPr/>
          <p:nvPr/>
        </p:nvSpPr>
        <p:spPr>
          <a:xfrm>
            <a:off x="548640" y="1188720"/>
            <a:ext cx="11091672" cy="731520"/>
          </a:xfrm>
          <a:prstGeom prst="roundRect">
            <a:avLst/>
          </a:prstGeom>
          <a:solidFill>
            <a:srgbClr val="FFF8E1"/>
          </a:solidFill>
          <a:ln w="19050">
            <a:solidFill>
              <a:srgbClr val="FFA000"/>
            </a:solidFill>
            <a:prstDash val="solid"/>
          </a:ln>
        </p:spPr>
      </p:sp>
      <p:sp>
        <p:nvSpPr>
          <p:cNvPr id="6" name="Text 4"/>
          <p:cNvSpPr/>
          <p:nvPr/>
        </p:nvSpPr>
        <p:spPr>
          <a:xfrm>
            <a:off x="822960" y="1280160"/>
            <a:ext cx="10543032" cy="548640"/>
          </a:xfrm>
          <a:prstGeom prst="rect">
            <a:avLst/>
          </a:prstGeom>
          <a:noFill/>
          <a:ln/>
        </p:spPr>
        <p:txBody>
          <a:bodyPr wrap="square" rtlCol="0" anchor="ctr"/>
          <a:lstStyle/>
          <a:p>
            <a:pPr indent="0" marL="0">
              <a:buNone/>
            </a:pPr>
            <a:r>
              <a:rPr lang="en-US" sz="1900" dirty="0">
                <a:solidFill>
                  <a:srgbClr val="212121"/>
                </a:solidFill>
                <a:latin typeface="Arial" pitchFamily="34" charset="0"/>
                <a:ea typeface="Arial" pitchFamily="34" charset="-122"/>
                <a:cs typeface="Arial" pitchFamily="34" charset="-120"/>
              </a:rPr>
              <a:t>La priorización cruza los dos datos del hallazgo.</a:t>
            </a:r>
            <a:endParaRPr lang="en-US" sz="1900" dirty="0"/>
          </a:p>
        </p:txBody>
      </p:sp>
      <p:sp>
        <p:nvSpPr>
          <p:cNvPr id="7" name="Shape 5"/>
          <p:cNvSpPr/>
          <p:nvPr/>
        </p:nvSpPr>
        <p:spPr>
          <a:xfrm>
            <a:off x="2560320" y="2194560"/>
            <a:ext cx="4448556" cy="548640"/>
          </a:xfrm>
          <a:prstGeom prst="roundRect">
            <a:avLst/>
          </a:prstGeom>
          <a:solidFill>
            <a:srgbClr val="3949AB"/>
          </a:solidFill>
          <a:ln w="12700">
            <a:solidFill>
              <a:srgbClr val="3949AB"/>
            </a:solidFill>
            <a:prstDash val="solid"/>
          </a:ln>
        </p:spPr>
      </p:sp>
      <p:sp>
        <p:nvSpPr>
          <p:cNvPr id="8" name="Text 6"/>
          <p:cNvSpPr/>
          <p:nvPr/>
        </p:nvSpPr>
        <p:spPr>
          <a:xfrm>
            <a:off x="2560320" y="2194560"/>
            <a:ext cx="4448556" cy="54864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Esfuerzo bajo</a:t>
            </a:r>
            <a:endParaRPr lang="en-US" sz="1800" dirty="0"/>
          </a:p>
        </p:txBody>
      </p:sp>
      <p:sp>
        <p:nvSpPr>
          <p:cNvPr id="9" name="Shape 7"/>
          <p:cNvSpPr/>
          <p:nvPr/>
        </p:nvSpPr>
        <p:spPr>
          <a:xfrm>
            <a:off x="7191756" y="2194560"/>
            <a:ext cx="4448556" cy="548640"/>
          </a:xfrm>
          <a:prstGeom prst="roundRect">
            <a:avLst/>
          </a:prstGeom>
          <a:solidFill>
            <a:srgbClr val="3949AB"/>
          </a:solidFill>
          <a:ln w="12700">
            <a:solidFill>
              <a:srgbClr val="3949AB"/>
            </a:solidFill>
            <a:prstDash val="solid"/>
          </a:ln>
        </p:spPr>
      </p:sp>
      <p:sp>
        <p:nvSpPr>
          <p:cNvPr id="10" name="Text 8"/>
          <p:cNvSpPr/>
          <p:nvPr/>
        </p:nvSpPr>
        <p:spPr>
          <a:xfrm>
            <a:off x="7191756" y="2194560"/>
            <a:ext cx="4448556" cy="54864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Esfuerzo alto</a:t>
            </a:r>
            <a:endParaRPr lang="en-US" sz="1800" dirty="0"/>
          </a:p>
        </p:txBody>
      </p:sp>
      <p:sp>
        <p:nvSpPr>
          <p:cNvPr id="11" name="Shape 9"/>
          <p:cNvSpPr/>
          <p:nvPr/>
        </p:nvSpPr>
        <p:spPr>
          <a:xfrm>
            <a:off x="548640" y="2926080"/>
            <a:ext cx="1828800" cy="1417320"/>
          </a:xfrm>
          <a:prstGeom prst="roundRect">
            <a:avLst/>
          </a:prstGeom>
          <a:solidFill>
            <a:srgbClr val="1A237E"/>
          </a:solidFill>
          <a:ln w="12700">
            <a:solidFill>
              <a:srgbClr val="1A237E"/>
            </a:solidFill>
            <a:prstDash val="solid"/>
          </a:ln>
        </p:spPr>
      </p:sp>
      <p:sp>
        <p:nvSpPr>
          <p:cNvPr id="12" name="Text 10"/>
          <p:cNvSpPr/>
          <p:nvPr/>
        </p:nvSpPr>
        <p:spPr>
          <a:xfrm>
            <a:off x="548640" y="2926080"/>
            <a:ext cx="1828800" cy="141732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Impacto alto</a:t>
            </a:r>
            <a:endParaRPr lang="en-US" sz="1800" dirty="0"/>
          </a:p>
        </p:txBody>
      </p:sp>
      <p:sp>
        <p:nvSpPr>
          <p:cNvPr id="13" name="Shape 11"/>
          <p:cNvSpPr/>
          <p:nvPr/>
        </p:nvSpPr>
        <p:spPr>
          <a:xfrm>
            <a:off x="548640" y="4526280"/>
            <a:ext cx="1828800" cy="1417320"/>
          </a:xfrm>
          <a:prstGeom prst="roundRect">
            <a:avLst/>
          </a:prstGeom>
          <a:solidFill>
            <a:srgbClr val="1A237E"/>
          </a:solidFill>
          <a:ln w="12700">
            <a:solidFill>
              <a:srgbClr val="1A237E"/>
            </a:solidFill>
            <a:prstDash val="solid"/>
          </a:ln>
        </p:spPr>
      </p:sp>
      <p:sp>
        <p:nvSpPr>
          <p:cNvPr id="14" name="Text 12"/>
          <p:cNvSpPr/>
          <p:nvPr/>
        </p:nvSpPr>
        <p:spPr>
          <a:xfrm>
            <a:off x="548640" y="4526280"/>
            <a:ext cx="1828800" cy="141732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Impacto bajo</a:t>
            </a:r>
            <a:endParaRPr lang="en-US" sz="1800" dirty="0"/>
          </a:p>
        </p:txBody>
      </p:sp>
      <p:sp>
        <p:nvSpPr>
          <p:cNvPr id="15" name="Shape 13"/>
          <p:cNvSpPr/>
          <p:nvPr/>
        </p:nvSpPr>
        <p:spPr>
          <a:xfrm>
            <a:off x="2560320" y="2926080"/>
            <a:ext cx="4448556" cy="1417320"/>
          </a:xfrm>
          <a:prstGeom prst="roundRect">
            <a:avLst/>
          </a:prstGeom>
          <a:solidFill>
            <a:srgbClr val="FFF8E1"/>
          </a:solidFill>
          <a:ln w="28575">
            <a:solidFill>
              <a:srgbClr val="FFA000"/>
            </a:solidFill>
            <a:prstDash val="solid"/>
          </a:ln>
        </p:spPr>
      </p:sp>
      <p:sp>
        <p:nvSpPr>
          <p:cNvPr id="16" name="Text 14"/>
          <p:cNvSpPr/>
          <p:nvPr/>
        </p:nvSpPr>
        <p:spPr>
          <a:xfrm>
            <a:off x="2560320" y="2926080"/>
            <a:ext cx="4448556" cy="1417320"/>
          </a:xfrm>
          <a:prstGeom prst="rect">
            <a:avLst/>
          </a:prstGeom>
          <a:noFill/>
          <a:ln/>
        </p:spPr>
        <p:txBody>
          <a:bodyPr wrap="square" rtlCol="0" anchor="ctr"/>
          <a:lstStyle/>
          <a:p>
            <a:pPr algn="ctr" indent="0" marL="0">
              <a:buNone/>
            </a:pPr>
            <a:r>
              <a:rPr lang="en-US" sz="2200" b="1" dirty="0">
                <a:solidFill>
                  <a:srgbClr val="1A237E"/>
                </a:solidFill>
                <a:latin typeface="Arial" pitchFamily="34" charset="0"/>
                <a:ea typeface="Arial" pitchFamily="34" charset="-122"/>
                <a:cs typeface="Arial" pitchFamily="34" charset="-120"/>
              </a:rPr>
              <a:t>Se corrige primero</a:t>
            </a:r>
            <a:endParaRPr lang="en-US" sz="2200" dirty="0"/>
          </a:p>
        </p:txBody>
      </p:sp>
      <p:sp>
        <p:nvSpPr>
          <p:cNvPr id="17" name="Shape 15"/>
          <p:cNvSpPr/>
          <p:nvPr/>
        </p:nvSpPr>
        <p:spPr>
          <a:xfrm>
            <a:off x="7191756" y="2926080"/>
            <a:ext cx="4448556" cy="1417320"/>
          </a:xfrm>
          <a:prstGeom prst="roundRect">
            <a:avLst/>
          </a:prstGeom>
          <a:solidFill>
            <a:srgbClr val="E8EAF6"/>
          </a:solidFill>
          <a:ln w="15875">
            <a:solidFill>
              <a:srgbClr val="3949AB"/>
            </a:solidFill>
            <a:prstDash val="solid"/>
          </a:ln>
        </p:spPr>
      </p:sp>
      <p:sp>
        <p:nvSpPr>
          <p:cNvPr id="18" name="Text 16"/>
          <p:cNvSpPr/>
          <p:nvPr/>
        </p:nvSpPr>
        <p:spPr>
          <a:xfrm>
            <a:off x="7191756" y="2926080"/>
            <a:ext cx="4448556" cy="1417320"/>
          </a:xfrm>
          <a:prstGeom prst="rect">
            <a:avLst/>
          </a:prstGeom>
          <a:noFill/>
          <a:ln/>
        </p:spPr>
        <p:txBody>
          <a:bodyPr wrap="square" rtlCol="0" anchor="ctr"/>
          <a:lstStyle/>
          <a:p>
            <a:pPr algn="ctr" indent="0" marL="0">
              <a:buNone/>
            </a:pPr>
            <a:r>
              <a:rPr lang="en-US" sz="2200" b="1" dirty="0">
                <a:solidFill>
                  <a:srgbClr val="1A237E"/>
                </a:solidFill>
                <a:latin typeface="Arial" pitchFamily="34" charset="0"/>
                <a:ea typeface="Arial" pitchFamily="34" charset="-122"/>
                <a:cs typeface="Arial" pitchFamily="34" charset="-120"/>
              </a:rPr>
              <a:t>Se planifica</a:t>
            </a:r>
            <a:endParaRPr lang="en-US" sz="2200" dirty="0"/>
          </a:p>
        </p:txBody>
      </p:sp>
      <p:sp>
        <p:nvSpPr>
          <p:cNvPr id="19" name="Shape 17"/>
          <p:cNvSpPr/>
          <p:nvPr/>
        </p:nvSpPr>
        <p:spPr>
          <a:xfrm>
            <a:off x="2560320" y="4526280"/>
            <a:ext cx="4448556" cy="1417320"/>
          </a:xfrm>
          <a:prstGeom prst="roundRect">
            <a:avLst/>
          </a:prstGeom>
          <a:solidFill>
            <a:srgbClr val="E8EAF6"/>
          </a:solidFill>
          <a:ln w="15875">
            <a:solidFill>
              <a:srgbClr val="3949AB"/>
            </a:solidFill>
            <a:prstDash val="solid"/>
          </a:ln>
        </p:spPr>
      </p:sp>
      <p:sp>
        <p:nvSpPr>
          <p:cNvPr id="20" name="Text 18"/>
          <p:cNvSpPr/>
          <p:nvPr/>
        </p:nvSpPr>
        <p:spPr>
          <a:xfrm>
            <a:off x="2560320" y="4526280"/>
            <a:ext cx="4448556" cy="1417320"/>
          </a:xfrm>
          <a:prstGeom prst="rect">
            <a:avLst/>
          </a:prstGeom>
          <a:noFill/>
          <a:ln/>
        </p:spPr>
        <p:txBody>
          <a:bodyPr wrap="square" rtlCol="0" anchor="ctr"/>
          <a:lstStyle/>
          <a:p>
            <a:pPr algn="ctr" indent="0" marL="0">
              <a:buNone/>
            </a:pPr>
            <a:r>
              <a:rPr lang="en-US" sz="2200" b="1" dirty="0">
                <a:solidFill>
                  <a:srgbClr val="1A237E"/>
                </a:solidFill>
                <a:latin typeface="Arial" pitchFamily="34" charset="0"/>
                <a:ea typeface="Arial" pitchFamily="34" charset="-122"/>
                <a:cs typeface="Arial" pitchFamily="34" charset="-120"/>
              </a:rPr>
              <a:t>Se corrige si sobra tiempo</a:t>
            </a:r>
            <a:endParaRPr lang="en-US" sz="2200" dirty="0"/>
          </a:p>
        </p:txBody>
      </p:sp>
      <p:sp>
        <p:nvSpPr>
          <p:cNvPr id="21" name="Shape 19"/>
          <p:cNvSpPr/>
          <p:nvPr/>
        </p:nvSpPr>
        <p:spPr>
          <a:xfrm>
            <a:off x="7191756" y="4526280"/>
            <a:ext cx="4448556" cy="1417320"/>
          </a:xfrm>
          <a:prstGeom prst="roundRect">
            <a:avLst/>
          </a:prstGeom>
          <a:solidFill>
            <a:srgbClr val="E8EAF6"/>
          </a:solidFill>
          <a:ln w="15875">
            <a:solidFill>
              <a:srgbClr val="3949AB"/>
            </a:solidFill>
            <a:prstDash val="solid"/>
          </a:ln>
        </p:spPr>
      </p:sp>
      <p:sp>
        <p:nvSpPr>
          <p:cNvPr id="22" name="Text 20"/>
          <p:cNvSpPr/>
          <p:nvPr/>
        </p:nvSpPr>
        <p:spPr>
          <a:xfrm>
            <a:off x="7191756" y="4526280"/>
            <a:ext cx="4448556" cy="1417320"/>
          </a:xfrm>
          <a:prstGeom prst="rect">
            <a:avLst/>
          </a:prstGeom>
          <a:noFill/>
          <a:ln/>
        </p:spPr>
        <p:txBody>
          <a:bodyPr wrap="square" rtlCol="0" anchor="ctr"/>
          <a:lstStyle/>
          <a:p>
            <a:pPr algn="ctr" indent="0" marL="0">
              <a:buNone/>
            </a:pPr>
            <a:r>
              <a:rPr lang="en-US" sz="2200" b="1" dirty="0">
                <a:solidFill>
                  <a:srgbClr val="1A237E"/>
                </a:solidFill>
                <a:latin typeface="Arial" pitchFamily="34" charset="0"/>
                <a:ea typeface="Arial" pitchFamily="34" charset="-122"/>
                <a:cs typeface="Arial" pitchFamily="34" charset="-120"/>
              </a:rPr>
              <a:t>Se descarta o se acepta</a:t>
            </a:r>
            <a:endParaRPr lang="en-US" sz="2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Aceptar el riesgo, por escrito, también es una respuesta válida</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7: Well-Architected</a:t>
            </a:r>
            <a:endParaRPr lang="en-US" sz="1100" dirty="0"/>
          </a:p>
        </p:txBody>
      </p:sp>
      <p:sp>
        <p:nvSpPr>
          <p:cNvPr id="5" name="Shape 3"/>
          <p:cNvSpPr/>
          <p:nvPr/>
        </p:nvSpPr>
        <p:spPr>
          <a:xfrm>
            <a:off x="548640" y="1188720"/>
            <a:ext cx="11091672" cy="1554480"/>
          </a:xfrm>
          <a:prstGeom prst="roundRect">
            <a:avLst/>
          </a:prstGeom>
          <a:solidFill>
            <a:srgbClr val="E8EAF6"/>
          </a:solidFill>
          <a:ln w="15875">
            <a:solidFill>
              <a:srgbClr val="3949AB"/>
            </a:solidFill>
            <a:prstDash val="solid"/>
          </a:ln>
        </p:spPr>
      </p:sp>
      <p:sp>
        <p:nvSpPr>
          <p:cNvPr id="6" name="Text 4"/>
          <p:cNvSpPr/>
          <p:nvPr/>
        </p:nvSpPr>
        <p:spPr>
          <a:xfrm>
            <a:off x="731520" y="1261872"/>
            <a:ext cx="10725912" cy="548640"/>
          </a:xfrm>
          <a:prstGeom prst="rect">
            <a:avLst/>
          </a:prstGeom>
          <a:noFill/>
          <a:ln/>
        </p:spPr>
        <p:txBody>
          <a:bodyPr wrap="square" rtlCol="0" anchor="ctr"/>
          <a:lstStyle/>
          <a:p>
            <a:pPr indent="0" marL="0">
              <a:buNone/>
            </a:pPr>
            <a:r>
              <a:rPr lang="en-US" sz="2100" b="1" dirty="0">
                <a:solidFill>
                  <a:srgbClr val="1A237E"/>
                </a:solidFill>
                <a:latin typeface="Arial" pitchFamily="34" charset="0"/>
                <a:ea typeface="Arial" pitchFamily="34" charset="-122"/>
                <a:cs typeface="Arial" pitchFamily="34" charset="-120"/>
              </a:rPr>
              <a:t>Un hallazgo no siempre se corrige</a:t>
            </a:r>
            <a:endParaRPr lang="en-US" sz="2100" dirty="0"/>
          </a:p>
        </p:txBody>
      </p:sp>
      <p:sp>
        <p:nvSpPr>
          <p:cNvPr id="7" name="Text 5"/>
          <p:cNvSpPr/>
          <p:nvPr/>
        </p:nvSpPr>
        <p:spPr>
          <a:xfrm>
            <a:off x="731520" y="1810512"/>
            <a:ext cx="10725912" cy="859536"/>
          </a:xfrm>
          <a:prstGeom prst="rect">
            <a:avLst/>
          </a:prstGeom>
          <a:noFill/>
          <a:ln/>
        </p:spPr>
        <p:txBody>
          <a:bodyPr wrap="square" rtlCol="0" anchor="t"/>
          <a:lstStyle/>
          <a:p>
            <a:pPr indent="0" marL="0">
              <a:buNone/>
            </a:pPr>
            <a:r>
              <a:rPr lang="en-US" sz="1800" dirty="0">
                <a:solidFill>
                  <a:srgbClr val="212121"/>
                </a:solidFill>
                <a:latin typeface="Arial" pitchFamily="34" charset="0"/>
                <a:ea typeface="Arial" pitchFamily="34" charset="-122"/>
                <a:cs typeface="Arial" pitchFamily="34" charset="-120"/>
              </a:rPr>
              <a:t>A veces se acepta el riesgo: se deja como está, pero por escrito. Tiene que quedar dicho:</a:t>
            </a:r>
            <a:endParaRPr lang="en-US" sz="1800" dirty="0"/>
          </a:p>
        </p:txBody>
      </p:sp>
      <p:sp>
        <p:nvSpPr>
          <p:cNvPr id="8" name="Shape 6"/>
          <p:cNvSpPr/>
          <p:nvPr/>
        </p:nvSpPr>
        <p:spPr>
          <a:xfrm>
            <a:off x="548640" y="3017520"/>
            <a:ext cx="3514344" cy="1188720"/>
          </a:xfrm>
          <a:prstGeom prst="roundRect">
            <a:avLst/>
          </a:prstGeom>
          <a:solidFill>
            <a:srgbClr val="E8EAF6"/>
          </a:solidFill>
          <a:ln w="15875">
            <a:solidFill>
              <a:srgbClr val="3949AB"/>
            </a:solidFill>
            <a:prstDash val="solid"/>
          </a:ln>
        </p:spPr>
      </p:sp>
      <p:sp>
        <p:nvSpPr>
          <p:cNvPr id="9" name="Text 7"/>
          <p:cNvSpPr/>
          <p:nvPr/>
        </p:nvSpPr>
        <p:spPr>
          <a:xfrm>
            <a:off x="621792" y="3063240"/>
            <a:ext cx="3368040" cy="1097280"/>
          </a:xfrm>
          <a:prstGeom prst="rect">
            <a:avLst/>
          </a:prstGeom>
          <a:noFill/>
          <a:ln/>
        </p:spPr>
        <p:txBody>
          <a:bodyPr wrap="square" rtlCol="0" anchor="ctr"/>
          <a:lstStyle/>
          <a:p>
            <a:pPr algn="ctr" indent="0" marL="0">
              <a:buNone/>
            </a:pPr>
            <a:r>
              <a:rPr lang="en-US" sz="1900" dirty="0">
                <a:solidFill>
                  <a:srgbClr val="212121"/>
                </a:solidFill>
                <a:latin typeface="Arial" pitchFamily="34" charset="0"/>
                <a:ea typeface="Arial" pitchFamily="34" charset="-122"/>
                <a:cs typeface="Arial" pitchFamily="34" charset="-120"/>
              </a:rPr>
              <a:t>📝 Qué riesgo es</a:t>
            </a:r>
            <a:endParaRPr lang="en-US" sz="1900" dirty="0"/>
          </a:p>
        </p:txBody>
      </p:sp>
      <p:sp>
        <p:nvSpPr>
          <p:cNvPr id="10" name="Shape 8"/>
          <p:cNvSpPr/>
          <p:nvPr/>
        </p:nvSpPr>
        <p:spPr>
          <a:xfrm>
            <a:off x="4337304" y="3017520"/>
            <a:ext cx="3514344" cy="1188720"/>
          </a:xfrm>
          <a:prstGeom prst="roundRect">
            <a:avLst/>
          </a:prstGeom>
          <a:solidFill>
            <a:srgbClr val="E8EAF6"/>
          </a:solidFill>
          <a:ln w="15875">
            <a:solidFill>
              <a:srgbClr val="3949AB"/>
            </a:solidFill>
            <a:prstDash val="solid"/>
          </a:ln>
        </p:spPr>
      </p:sp>
      <p:sp>
        <p:nvSpPr>
          <p:cNvPr id="11" name="Text 9"/>
          <p:cNvSpPr/>
          <p:nvPr/>
        </p:nvSpPr>
        <p:spPr>
          <a:xfrm>
            <a:off x="4410456" y="3063240"/>
            <a:ext cx="3368040" cy="1097280"/>
          </a:xfrm>
          <a:prstGeom prst="rect">
            <a:avLst/>
          </a:prstGeom>
          <a:noFill/>
          <a:ln/>
        </p:spPr>
        <p:txBody>
          <a:bodyPr wrap="square" rtlCol="0" anchor="ctr"/>
          <a:lstStyle/>
          <a:p>
            <a:pPr algn="ctr" indent="0" marL="0">
              <a:buNone/>
            </a:pPr>
            <a:r>
              <a:rPr lang="en-US" sz="1900" dirty="0">
                <a:solidFill>
                  <a:srgbClr val="212121"/>
                </a:solidFill>
                <a:latin typeface="Arial" pitchFamily="34" charset="0"/>
                <a:ea typeface="Arial" pitchFamily="34" charset="-122"/>
                <a:cs typeface="Arial" pitchFamily="34" charset="-120"/>
              </a:rPr>
              <a:t>🤔 Por qué no se corrige</a:t>
            </a:r>
            <a:endParaRPr lang="en-US" sz="1900" dirty="0"/>
          </a:p>
        </p:txBody>
      </p:sp>
      <p:sp>
        <p:nvSpPr>
          <p:cNvPr id="12" name="Shape 10"/>
          <p:cNvSpPr/>
          <p:nvPr/>
        </p:nvSpPr>
        <p:spPr>
          <a:xfrm>
            <a:off x="8125968" y="3017520"/>
            <a:ext cx="3514344" cy="1188720"/>
          </a:xfrm>
          <a:prstGeom prst="roundRect">
            <a:avLst/>
          </a:prstGeom>
          <a:solidFill>
            <a:srgbClr val="E8EAF6"/>
          </a:solidFill>
          <a:ln w="15875">
            <a:solidFill>
              <a:srgbClr val="3949AB"/>
            </a:solidFill>
            <a:prstDash val="solid"/>
          </a:ln>
        </p:spPr>
      </p:sp>
      <p:sp>
        <p:nvSpPr>
          <p:cNvPr id="13" name="Text 11"/>
          <p:cNvSpPr/>
          <p:nvPr/>
        </p:nvSpPr>
        <p:spPr>
          <a:xfrm>
            <a:off x="8199120" y="3063240"/>
            <a:ext cx="3368040" cy="1097280"/>
          </a:xfrm>
          <a:prstGeom prst="rect">
            <a:avLst/>
          </a:prstGeom>
          <a:noFill/>
          <a:ln/>
        </p:spPr>
        <p:txBody>
          <a:bodyPr wrap="square" rtlCol="0" anchor="ctr"/>
          <a:lstStyle/>
          <a:p>
            <a:pPr algn="ctr" indent="0" marL="0">
              <a:buNone/>
            </a:pPr>
            <a:r>
              <a:rPr lang="en-US" sz="1900" dirty="0">
                <a:solidFill>
                  <a:srgbClr val="212121"/>
                </a:solidFill>
                <a:latin typeface="Arial" pitchFamily="34" charset="0"/>
                <a:ea typeface="Arial" pitchFamily="34" charset="-122"/>
                <a:cs typeface="Arial" pitchFamily="34" charset="-120"/>
              </a:rPr>
              <a:t>📅 Hasta cuándo</a:t>
            </a:r>
            <a:endParaRPr lang="en-US" sz="1900" dirty="0"/>
          </a:p>
        </p:txBody>
      </p:sp>
      <p:sp>
        <p:nvSpPr>
          <p:cNvPr id="14" name="Shape 12"/>
          <p:cNvSpPr/>
          <p:nvPr/>
        </p:nvSpPr>
        <p:spPr>
          <a:xfrm>
            <a:off x="548640" y="4572000"/>
            <a:ext cx="11091672" cy="1371600"/>
          </a:xfrm>
          <a:prstGeom prst="roundRect">
            <a:avLst/>
          </a:prstGeom>
          <a:solidFill>
            <a:srgbClr val="FFF8E1"/>
          </a:solidFill>
          <a:ln w="19050">
            <a:solidFill>
              <a:srgbClr val="FFA000"/>
            </a:solidFill>
            <a:prstDash val="solid"/>
          </a:ln>
        </p:spPr>
      </p:sp>
      <p:sp>
        <p:nvSpPr>
          <p:cNvPr id="15" name="Text 13"/>
          <p:cNvSpPr/>
          <p:nvPr/>
        </p:nvSpPr>
        <p:spPr>
          <a:xfrm>
            <a:off x="822960" y="4663440"/>
            <a:ext cx="10543032" cy="1188720"/>
          </a:xfrm>
          <a:prstGeom prst="rect">
            <a:avLst/>
          </a:prstGeom>
          <a:noFill/>
          <a:ln/>
        </p:spPr>
        <p:txBody>
          <a:bodyPr wrap="square" rtlCol="0" anchor="ctr"/>
          <a:lstStyle/>
          <a:p>
            <a:pPr indent="0" marL="0">
              <a:buNone/>
            </a:pPr>
            <a:r>
              <a:rPr lang="en-US" sz="1800" dirty="0">
                <a:solidFill>
                  <a:srgbClr val="212121"/>
                </a:solidFill>
                <a:latin typeface="Arial" pitchFamily="34" charset="0"/>
                <a:ea typeface="Arial" pitchFamily="34" charset="-122"/>
                <a:cs typeface="Arial" pitchFamily="34" charset="-120"/>
              </a:rPr>
              <a:t>Es la respuesta correcta cuando corregirlo cuesta más que el daño posible, o cuando no depende de ti, como un servicio que gestiona otro equipo y que tú no puedes cambiar.</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AWS Well-Architected Tool</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7: Well-Architected</a:t>
            </a:r>
            <a:endParaRPr lang="en-US" sz="1100" dirty="0"/>
          </a:p>
        </p:txBody>
      </p:sp>
      <p:sp>
        <p:nvSpPr>
          <p:cNvPr id="5" name="Shape 3"/>
          <p:cNvSpPr/>
          <p:nvPr/>
        </p:nvSpPr>
        <p:spPr>
          <a:xfrm>
            <a:off x="548640" y="1188720"/>
            <a:ext cx="11091672" cy="1737360"/>
          </a:xfrm>
          <a:prstGeom prst="roundRect">
            <a:avLst/>
          </a:prstGeom>
          <a:solidFill>
            <a:srgbClr val="E8EAF6"/>
          </a:solidFill>
          <a:ln w="15875">
            <a:solidFill>
              <a:srgbClr val="3949AB"/>
            </a:solidFill>
            <a:prstDash val="solid"/>
          </a:ln>
        </p:spPr>
      </p:sp>
      <p:sp>
        <p:nvSpPr>
          <p:cNvPr id="6" name="Text 4"/>
          <p:cNvSpPr/>
          <p:nvPr/>
        </p:nvSpPr>
        <p:spPr>
          <a:xfrm>
            <a:off x="731520" y="1261872"/>
            <a:ext cx="10725912" cy="548640"/>
          </a:xfrm>
          <a:prstGeom prst="rect">
            <a:avLst/>
          </a:prstGeom>
          <a:noFill/>
          <a:ln/>
        </p:spPr>
        <p:txBody>
          <a:bodyPr wrap="square" rtlCol="0" anchor="ctr"/>
          <a:lstStyle/>
          <a:p>
            <a:pPr indent="0" marL="0">
              <a:buNone/>
            </a:pPr>
            <a:r>
              <a:rPr lang="en-US" sz="2100" b="1" dirty="0">
                <a:solidFill>
                  <a:srgbClr val="1A237E"/>
                </a:solidFill>
                <a:latin typeface="Arial" pitchFamily="34" charset="0"/>
                <a:ea typeface="Arial" pitchFamily="34" charset="-122"/>
                <a:cs typeface="Arial" pitchFamily="34" charset="-120"/>
              </a:rPr>
              <a:t>Una herramienta gratuita de AWS</a:t>
            </a:r>
            <a:endParaRPr lang="en-US" sz="2100" dirty="0"/>
          </a:p>
        </p:txBody>
      </p:sp>
      <p:sp>
        <p:nvSpPr>
          <p:cNvPr id="7" name="Text 5"/>
          <p:cNvSpPr/>
          <p:nvPr/>
        </p:nvSpPr>
        <p:spPr>
          <a:xfrm>
            <a:off x="731520" y="1810512"/>
            <a:ext cx="10725912" cy="1042416"/>
          </a:xfrm>
          <a:prstGeom prst="rect">
            <a:avLst/>
          </a:prstGeom>
          <a:noFill/>
          <a:ln/>
        </p:spPr>
        <p:txBody>
          <a:bodyPr wrap="square" rtlCol="0" anchor="t"/>
          <a:lstStyle/>
          <a:p>
            <a:pPr indent="0" marL="0">
              <a:buNone/>
            </a:pPr>
            <a:r>
              <a:rPr lang="en-US" sz="1900" dirty="0">
                <a:solidFill>
                  <a:srgbClr val="212121"/>
                </a:solidFill>
                <a:latin typeface="Arial" pitchFamily="34" charset="0"/>
                <a:ea typeface="Arial" pitchFamily="34" charset="-122"/>
                <a:cs typeface="Arial" pitchFamily="34" charset="-120"/>
              </a:rPr>
              <a:t>Hace estas mismas preguntas en un cuestionario y devuelve una lista de riesgos.</a:t>
            </a:r>
            <a:endParaRPr lang="en-US" sz="1900" dirty="0"/>
          </a:p>
        </p:txBody>
      </p:sp>
      <p:sp>
        <p:nvSpPr>
          <p:cNvPr id="8" name="Shape 6"/>
          <p:cNvSpPr/>
          <p:nvPr/>
        </p:nvSpPr>
        <p:spPr>
          <a:xfrm>
            <a:off x="548640" y="3200400"/>
            <a:ext cx="11091672" cy="1280160"/>
          </a:xfrm>
          <a:prstGeom prst="roundRect">
            <a:avLst/>
          </a:prstGeom>
          <a:solidFill>
            <a:srgbClr val="FFF8E1"/>
          </a:solidFill>
          <a:ln w="28575">
            <a:solidFill>
              <a:srgbClr val="FFA000"/>
            </a:solidFill>
            <a:prstDash val="solid"/>
          </a:ln>
        </p:spPr>
      </p:sp>
      <p:sp>
        <p:nvSpPr>
          <p:cNvPr id="9" name="Text 7"/>
          <p:cNvSpPr/>
          <p:nvPr/>
        </p:nvSpPr>
        <p:spPr>
          <a:xfrm>
            <a:off x="822960" y="3310128"/>
            <a:ext cx="10543032" cy="1060704"/>
          </a:xfrm>
          <a:prstGeom prst="rect">
            <a:avLst/>
          </a:prstGeom>
          <a:noFill/>
          <a:ln/>
        </p:spPr>
        <p:txBody>
          <a:bodyPr wrap="square" rtlCol="0" anchor="t"/>
          <a:lstStyle/>
          <a:p>
            <a:pPr indent="0" marL="0">
              <a:buNone/>
            </a:pPr>
            <a:r>
              <a:rPr lang="en-US" sz="2000" b="1" dirty="0">
                <a:solidFill>
                  <a:srgbClr val="1A237E"/>
                </a:solidFill>
                <a:latin typeface="Arial" pitchFamily="34" charset="0"/>
                <a:ea typeface="Arial" pitchFamily="34" charset="-122"/>
                <a:cs typeface="Arial" pitchFamily="34" charset="-120"/>
              </a:rPr>
              <a:t>Hoy no la usas
</a:t>
            </a:r>
            <a:endParaRPr lang="en-US" sz="2000" dirty="0"/>
          </a:p>
          <a:p>
            <a:pPr indent="0" marL="0">
              <a:buNone/>
            </a:pPr>
            <a:r>
              <a:rPr lang="en-US" sz="1900" dirty="0">
                <a:solidFill>
                  <a:srgbClr val="212121"/>
                </a:solidFill>
                <a:latin typeface="Arial" pitchFamily="34" charset="0"/>
                <a:ea typeface="Arial" pitchFamily="34" charset="-122"/>
                <a:cs typeface="Arial" pitchFamily="34" charset="-120"/>
              </a:rPr>
              <a:t>Haces la revisión a mano para ver qué hay dentro de ese cuestionario.</a:t>
            </a:r>
            <a:endParaRPr lang="en-US" sz="2000" dirty="0"/>
          </a:p>
        </p:txBody>
      </p:sp>
      <p:sp>
        <p:nvSpPr>
          <p:cNvPr id="10" name="Shape 8"/>
          <p:cNvSpPr/>
          <p:nvPr/>
        </p:nvSpPr>
        <p:spPr>
          <a:xfrm>
            <a:off x="548640" y="4754880"/>
            <a:ext cx="11091672" cy="1188720"/>
          </a:xfrm>
          <a:prstGeom prst="roundRect">
            <a:avLst/>
          </a:prstGeom>
          <a:solidFill>
            <a:srgbClr val="FFF8E1"/>
          </a:solidFill>
          <a:ln w="19050">
            <a:solidFill>
              <a:srgbClr val="FFA000"/>
            </a:solidFill>
            <a:prstDash val="solid"/>
          </a:ln>
        </p:spPr>
      </p:sp>
      <p:sp>
        <p:nvSpPr>
          <p:cNvPr id="11" name="Text 9"/>
          <p:cNvSpPr/>
          <p:nvPr/>
        </p:nvSpPr>
        <p:spPr>
          <a:xfrm>
            <a:off x="822960" y="4846320"/>
            <a:ext cx="10543032" cy="1005840"/>
          </a:xfrm>
          <a:prstGeom prst="rect">
            <a:avLst/>
          </a:prstGeom>
          <a:noFill/>
          <a:ln/>
        </p:spPr>
        <p:txBody>
          <a:bodyPr wrap="square" rtlCol="0" anchor="ctr"/>
          <a:lstStyle/>
          <a:p>
            <a:pPr indent="0" marL="0">
              <a:buNone/>
            </a:pPr>
            <a:r>
              <a:rPr lang="en-US" sz="2000" dirty="0">
                <a:solidFill>
                  <a:srgbClr val="212121"/>
                </a:solidFill>
                <a:latin typeface="Arial" pitchFamily="34" charset="0"/>
                <a:ea typeface="Arial" pitchFamily="34" charset="-122"/>
                <a:cs typeface="Arial" pitchFamily="34" charset="-120"/>
              </a:rPr>
              <a:t>Con esto ya tienes las piezas para la Actividad 7.1 — Auditoría y mejora, la actividad final del módulo.</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500" b="1" dirty="0">
                <a:solidFill>
                  <a:srgbClr val="FFFFFF"/>
                </a:solidFill>
                <a:latin typeface="Arial" pitchFamily="34" charset="0"/>
                <a:ea typeface="Arial" pitchFamily="34" charset="-122"/>
                <a:cs typeface="Arial" pitchFamily="34" charset="-120"/>
              </a:rPr>
              <a:t>Ideas clave</a:t>
            </a:r>
            <a:endParaRPr lang="en-US" sz="25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7: Well-Architected</a:t>
            </a:r>
            <a:endParaRPr lang="en-US" sz="1100" dirty="0"/>
          </a:p>
        </p:txBody>
      </p:sp>
      <p:sp>
        <p:nvSpPr>
          <p:cNvPr id="5" name="Shape 3"/>
          <p:cNvSpPr/>
          <p:nvPr/>
        </p:nvSpPr>
        <p:spPr>
          <a:xfrm>
            <a:off x="548640" y="1188720"/>
            <a:ext cx="5445252" cy="1097280"/>
          </a:xfrm>
          <a:prstGeom prst="roundRect">
            <a:avLst/>
          </a:prstGeom>
          <a:solidFill>
            <a:srgbClr val="E8EAF6"/>
          </a:solidFill>
          <a:ln w="15875">
            <a:solidFill>
              <a:srgbClr val="3949AB"/>
            </a:solidFill>
            <a:prstDash val="solid"/>
          </a:ln>
        </p:spPr>
      </p:sp>
      <p:sp>
        <p:nvSpPr>
          <p:cNvPr id="6" name="Shape 4"/>
          <p:cNvSpPr/>
          <p:nvPr/>
        </p:nvSpPr>
        <p:spPr>
          <a:xfrm>
            <a:off x="731520" y="1417320"/>
            <a:ext cx="640080" cy="640080"/>
          </a:xfrm>
          <a:prstGeom prst="ellipse">
            <a:avLst/>
          </a:prstGeom>
          <a:solidFill>
            <a:srgbClr val="3949AB"/>
          </a:solidFill>
          <a:ln w="12700">
            <a:solidFill>
              <a:srgbClr val="3949AB"/>
            </a:solidFill>
            <a:prstDash val="solid"/>
          </a:ln>
        </p:spPr>
      </p:sp>
      <p:sp>
        <p:nvSpPr>
          <p:cNvPr id="7" name="Text 5"/>
          <p:cNvSpPr/>
          <p:nvPr/>
        </p:nvSpPr>
        <p:spPr>
          <a:xfrm>
            <a:off x="731520" y="1417320"/>
            <a:ext cx="640080" cy="64008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8" name="Text 6"/>
          <p:cNvSpPr/>
          <p:nvPr/>
        </p:nvSpPr>
        <p:spPr>
          <a:xfrm>
            <a:off x="1508760" y="1188720"/>
            <a:ext cx="4302252" cy="109728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Los seis pilares son seis preguntas para revisar lo que ya tienes, no conceptos nuevos.</a:t>
            </a:r>
            <a:endParaRPr lang="en-US" sz="1500" dirty="0"/>
          </a:p>
        </p:txBody>
      </p:sp>
      <p:sp>
        <p:nvSpPr>
          <p:cNvPr id="9" name="Shape 7"/>
          <p:cNvSpPr/>
          <p:nvPr/>
        </p:nvSpPr>
        <p:spPr>
          <a:xfrm>
            <a:off x="6195060" y="1188720"/>
            <a:ext cx="5445252" cy="1097280"/>
          </a:xfrm>
          <a:prstGeom prst="roundRect">
            <a:avLst/>
          </a:prstGeom>
          <a:solidFill>
            <a:srgbClr val="E8EAF6"/>
          </a:solidFill>
          <a:ln w="15875">
            <a:solidFill>
              <a:srgbClr val="3949AB"/>
            </a:solidFill>
            <a:prstDash val="solid"/>
          </a:ln>
        </p:spPr>
      </p:sp>
      <p:sp>
        <p:nvSpPr>
          <p:cNvPr id="10" name="Shape 8"/>
          <p:cNvSpPr/>
          <p:nvPr/>
        </p:nvSpPr>
        <p:spPr>
          <a:xfrm>
            <a:off x="6377940" y="1417320"/>
            <a:ext cx="640080" cy="640080"/>
          </a:xfrm>
          <a:prstGeom prst="ellipse">
            <a:avLst/>
          </a:prstGeom>
          <a:solidFill>
            <a:srgbClr val="3949AB"/>
          </a:solidFill>
          <a:ln w="12700">
            <a:solidFill>
              <a:srgbClr val="3949AB"/>
            </a:solidFill>
            <a:prstDash val="solid"/>
          </a:ln>
        </p:spPr>
      </p:sp>
      <p:sp>
        <p:nvSpPr>
          <p:cNvPr id="11" name="Text 9"/>
          <p:cNvSpPr/>
          <p:nvPr/>
        </p:nvSpPr>
        <p:spPr>
          <a:xfrm>
            <a:off x="6377940" y="1417320"/>
            <a:ext cx="640080" cy="64008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2" name="Text 10"/>
          <p:cNvSpPr/>
          <p:nvPr/>
        </p:nvSpPr>
        <p:spPr>
          <a:xfrm>
            <a:off x="7155180" y="1188720"/>
            <a:ext cx="4302252" cy="109728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Un hallazgo se anota con su impacto y su esfuerzo. Si un pilar no tiene hallazgos, se anota qué se ha comprobado.</a:t>
            </a:r>
            <a:endParaRPr lang="en-US" sz="1500" dirty="0"/>
          </a:p>
        </p:txBody>
      </p:sp>
      <p:sp>
        <p:nvSpPr>
          <p:cNvPr id="13" name="Shape 11"/>
          <p:cNvSpPr/>
          <p:nvPr/>
        </p:nvSpPr>
        <p:spPr>
          <a:xfrm>
            <a:off x="548640" y="2487168"/>
            <a:ext cx="5445252" cy="1097280"/>
          </a:xfrm>
          <a:prstGeom prst="roundRect">
            <a:avLst/>
          </a:prstGeom>
          <a:solidFill>
            <a:srgbClr val="E8EAF6"/>
          </a:solidFill>
          <a:ln w="15875">
            <a:solidFill>
              <a:srgbClr val="3949AB"/>
            </a:solidFill>
            <a:prstDash val="solid"/>
          </a:ln>
        </p:spPr>
      </p:sp>
      <p:sp>
        <p:nvSpPr>
          <p:cNvPr id="14" name="Shape 12"/>
          <p:cNvSpPr/>
          <p:nvPr/>
        </p:nvSpPr>
        <p:spPr>
          <a:xfrm>
            <a:off x="731520" y="2715768"/>
            <a:ext cx="640080" cy="640080"/>
          </a:xfrm>
          <a:prstGeom prst="ellipse">
            <a:avLst/>
          </a:prstGeom>
          <a:solidFill>
            <a:srgbClr val="3949AB"/>
          </a:solidFill>
          <a:ln w="12700">
            <a:solidFill>
              <a:srgbClr val="3949AB"/>
            </a:solidFill>
            <a:prstDash val="solid"/>
          </a:ln>
        </p:spPr>
      </p:sp>
      <p:sp>
        <p:nvSpPr>
          <p:cNvPr id="15" name="Text 13"/>
          <p:cNvSpPr/>
          <p:nvPr/>
        </p:nvSpPr>
        <p:spPr>
          <a:xfrm>
            <a:off x="731520" y="2715768"/>
            <a:ext cx="640080" cy="64008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6" name="Text 14"/>
          <p:cNvSpPr/>
          <p:nvPr/>
        </p:nvSpPr>
        <p:spPr>
          <a:xfrm>
            <a:off x="1508760" y="2487168"/>
            <a:ext cx="4302252" cy="109728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Mejorar un pilar suele costar en otro: auditar es decidir qué se prioriza en cada caso, no corregirlo todo.</a:t>
            </a:r>
            <a:endParaRPr lang="en-US" sz="1500" dirty="0"/>
          </a:p>
        </p:txBody>
      </p:sp>
      <p:sp>
        <p:nvSpPr>
          <p:cNvPr id="17" name="Shape 15"/>
          <p:cNvSpPr/>
          <p:nvPr/>
        </p:nvSpPr>
        <p:spPr>
          <a:xfrm>
            <a:off x="6195060" y="2487168"/>
            <a:ext cx="5445252" cy="1097280"/>
          </a:xfrm>
          <a:prstGeom prst="roundRect">
            <a:avLst/>
          </a:prstGeom>
          <a:solidFill>
            <a:srgbClr val="E8EAF6"/>
          </a:solidFill>
          <a:ln w="15875">
            <a:solidFill>
              <a:srgbClr val="3949AB"/>
            </a:solidFill>
            <a:prstDash val="solid"/>
          </a:ln>
        </p:spPr>
      </p:sp>
      <p:sp>
        <p:nvSpPr>
          <p:cNvPr id="18" name="Shape 16"/>
          <p:cNvSpPr/>
          <p:nvPr/>
        </p:nvSpPr>
        <p:spPr>
          <a:xfrm>
            <a:off x="6377940" y="2715768"/>
            <a:ext cx="640080" cy="640080"/>
          </a:xfrm>
          <a:prstGeom prst="ellipse">
            <a:avLst/>
          </a:prstGeom>
          <a:solidFill>
            <a:srgbClr val="3949AB"/>
          </a:solidFill>
          <a:ln w="12700">
            <a:solidFill>
              <a:srgbClr val="3949AB"/>
            </a:solidFill>
            <a:prstDash val="solid"/>
          </a:ln>
        </p:spPr>
      </p:sp>
      <p:sp>
        <p:nvSpPr>
          <p:cNvPr id="19" name="Text 17"/>
          <p:cNvSpPr/>
          <p:nvPr/>
        </p:nvSpPr>
        <p:spPr>
          <a:xfrm>
            <a:off x="6377940" y="2715768"/>
            <a:ext cx="640080" cy="64008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20" name="Text 18"/>
          <p:cNvSpPr/>
          <p:nvPr/>
        </p:nvSpPr>
        <p:spPr>
          <a:xfrm>
            <a:off x="7155180" y="2487168"/>
            <a:ext cx="4302252" cy="109728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En serie se multiplican las disponibilidades; en paralelo solo cae si caen todas. Un sistema es tan disponible como su eslabón más débil.</a:t>
            </a:r>
            <a:endParaRPr lang="en-US" sz="1500" dirty="0"/>
          </a:p>
        </p:txBody>
      </p:sp>
      <p:sp>
        <p:nvSpPr>
          <p:cNvPr id="21" name="Shape 19"/>
          <p:cNvSpPr/>
          <p:nvPr/>
        </p:nvSpPr>
        <p:spPr>
          <a:xfrm>
            <a:off x="548640" y="3785616"/>
            <a:ext cx="5445252" cy="1097280"/>
          </a:xfrm>
          <a:prstGeom prst="roundRect">
            <a:avLst/>
          </a:prstGeom>
          <a:solidFill>
            <a:srgbClr val="E8EAF6"/>
          </a:solidFill>
          <a:ln w="15875">
            <a:solidFill>
              <a:srgbClr val="3949AB"/>
            </a:solidFill>
            <a:prstDash val="solid"/>
          </a:ln>
        </p:spPr>
      </p:sp>
      <p:sp>
        <p:nvSpPr>
          <p:cNvPr id="22" name="Shape 20"/>
          <p:cNvSpPr/>
          <p:nvPr/>
        </p:nvSpPr>
        <p:spPr>
          <a:xfrm>
            <a:off x="731520" y="4014216"/>
            <a:ext cx="640080" cy="640080"/>
          </a:xfrm>
          <a:prstGeom prst="ellipse">
            <a:avLst/>
          </a:prstGeom>
          <a:solidFill>
            <a:srgbClr val="3949AB"/>
          </a:solidFill>
          <a:ln w="12700">
            <a:solidFill>
              <a:srgbClr val="3949AB"/>
            </a:solidFill>
            <a:prstDash val="solid"/>
          </a:ln>
        </p:spPr>
      </p:sp>
      <p:sp>
        <p:nvSpPr>
          <p:cNvPr id="23" name="Text 21"/>
          <p:cNvSpPr/>
          <p:nvPr/>
        </p:nvSpPr>
        <p:spPr>
          <a:xfrm>
            <a:off x="731520" y="4014216"/>
            <a:ext cx="640080" cy="64008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5</a:t>
            </a:r>
            <a:endParaRPr lang="en-US" sz="2200" dirty="0"/>
          </a:p>
        </p:txBody>
      </p:sp>
      <p:sp>
        <p:nvSpPr>
          <p:cNvPr id="24" name="Text 22"/>
          <p:cNvSpPr/>
          <p:nvPr/>
        </p:nvSpPr>
        <p:spPr>
          <a:xfrm>
            <a:off x="1508760" y="3785616"/>
            <a:ext cx="4302252" cy="109728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El RTO mide cuánto tiempo caído es aceptable y el RPO cuántos datos recientes puedes perder; los fija el negocio.</a:t>
            </a:r>
            <a:endParaRPr lang="en-US" sz="1500" dirty="0"/>
          </a:p>
        </p:txBody>
      </p:sp>
      <p:sp>
        <p:nvSpPr>
          <p:cNvPr id="25" name="Shape 23"/>
          <p:cNvSpPr/>
          <p:nvPr/>
        </p:nvSpPr>
        <p:spPr>
          <a:xfrm>
            <a:off x="6195060" y="3785616"/>
            <a:ext cx="5445252" cy="1097280"/>
          </a:xfrm>
          <a:prstGeom prst="roundRect">
            <a:avLst/>
          </a:prstGeom>
          <a:solidFill>
            <a:srgbClr val="E8EAF6"/>
          </a:solidFill>
          <a:ln w="15875">
            <a:solidFill>
              <a:srgbClr val="3949AB"/>
            </a:solidFill>
            <a:prstDash val="solid"/>
          </a:ln>
        </p:spPr>
      </p:sp>
      <p:sp>
        <p:nvSpPr>
          <p:cNvPr id="26" name="Shape 24"/>
          <p:cNvSpPr/>
          <p:nvPr/>
        </p:nvSpPr>
        <p:spPr>
          <a:xfrm>
            <a:off x="6377940" y="4014216"/>
            <a:ext cx="640080" cy="640080"/>
          </a:xfrm>
          <a:prstGeom prst="ellipse">
            <a:avLst/>
          </a:prstGeom>
          <a:solidFill>
            <a:srgbClr val="3949AB"/>
          </a:solidFill>
          <a:ln w="12700">
            <a:solidFill>
              <a:srgbClr val="3949AB"/>
            </a:solidFill>
            <a:prstDash val="solid"/>
          </a:ln>
        </p:spPr>
      </p:sp>
      <p:sp>
        <p:nvSpPr>
          <p:cNvPr id="27" name="Text 25"/>
          <p:cNvSpPr/>
          <p:nvPr/>
        </p:nvSpPr>
        <p:spPr>
          <a:xfrm>
            <a:off x="6377940" y="4014216"/>
            <a:ext cx="640080" cy="64008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6</a:t>
            </a:r>
            <a:endParaRPr lang="en-US" sz="2200" dirty="0"/>
          </a:p>
        </p:txBody>
      </p:sp>
      <p:sp>
        <p:nvSpPr>
          <p:cNvPr id="28" name="Text 26"/>
          <p:cNvSpPr/>
          <p:nvPr/>
        </p:nvSpPr>
        <p:spPr>
          <a:xfrm>
            <a:off x="7155180" y="3785616"/>
            <a:ext cx="4302252" cy="109728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Las recomendaciones automáticas son un punto de partida: se contrastan con el contexto real y a veces se descartan, justificándolo.</a:t>
            </a:r>
            <a:endParaRPr lang="en-US" sz="1500" dirty="0"/>
          </a:p>
        </p:txBody>
      </p:sp>
      <p:sp>
        <p:nvSpPr>
          <p:cNvPr id="29" name="Shape 27"/>
          <p:cNvSpPr/>
          <p:nvPr/>
        </p:nvSpPr>
        <p:spPr>
          <a:xfrm>
            <a:off x="548640" y="5084064"/>
            <a:ext cx="5445252" cy="1097280"/>
          </a:xfrm>
          <a:prstGeom prst="roundRect">
            <a:avLst/>
          </a:prstGeom>
          <a:solidFill>
            <a:srgbClr val="E8EAF6"/>
          </a:solidFill>
          <a:ln w="15875">
            <a:solidFill>
              <a:srgbClr val="3949AB"/>
            </a:solidFill>
            <a:prstDash val="solid"/>
          </a:ln>
        </p:spPr>
      </p:sp>
      <p:sp>
        <p:nvSpPr>
          <p:cNvPr id="30" name="Shape 28"/>
          <p:cNvSpPr/>
          <p:nvPr/>
        </p:nvSpPr>
        <p:spPr>
          <a:xfrm>
            <a:off x="731520" y="5312664"/>
            <a:ext cx="640080" cy="640080"/>
          </a:xfrm>
          <a:prstGeom prst="ellipse">
            <a:avLst/>
          </a:prstGeom>
          <a:solidFill>
            <a:srgbClr val="3949AB"/>
          </a:solidFill>
          <a:ln w="12700">
            <a:solidFill>
              <a:srgbClr val="3949AB"/>
            </a:solidFill>
            <a:prstDash val="solid"/>
          </a:ln>
        </p:spPr>
      </p:sp>
      <p:sp>
        <p:nvSpPr>
          <p:cNvPr id="31" name="Text 29"/>
          <p:cNvSpPr/>
          <p:nvPr/>
        </p:nvSpPr>
        <p:spPr>
          <a:xfrm>
            <a:off x="731520" y="5312664"/>
            <a:ext cx="640080" cy="64008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7</a:t>
            </a:r>
            <a:endParaRPr lang="en-US" sz="2200" dirty="0"/>
          </a:p>
        </p:txBody>
      </p:sp>
      <p:sp>
        <p:nvSpPr>
          <p:cNvPr id="32" name="Text 30"/>
          <p:cNvSpPr/>
          <p:nvPr/>
        </p:nvSpPr>
        <p:spPr>
          <a:xfrm>
            <a:off x="1508760" y="5084064"/>
            <a:ext cx="4302252" cy="109728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Se prioriza por impacto y esfuerzo, y un hallazgo que no se corrige se documenta como riesgo aceptado.</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Well-Architected: los seis pilares</dc:title>
  <dc:subject>PptxGenJS Presentation</dc:subject>
  <dc:creator>Introducción a la Nube Pública</dc:creator>
  <cp:lastModifiedBy>Introducción a la Nube Pública</cp:lastModifiedBy>
  <cp:revision>1</cp:revision>
  <dcterms:created xsi:type="dcterms:W3CDTF">2026-10-07T13:40:32Z</dcterms:created>
  <dcterms:modified xsi:type="dcterms:W3CDTF">2026-10-07T13:40:32Z</dcterms:modified>
</cp:coreProperties>
</file>