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3529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5CA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 —  TEMA 2: REDES VIRTUALES Y SERVICIOS DE CÓMPUTO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9167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de la red virtual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5120640"/>
            <a:ext cx="12188952" cy="91440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48640" y="51206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2 — Redes virtuales y servicios de cómputo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de la red virtual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2: Diseño de la red virtual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1672" cy="155448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31520" y="1353312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no necesitó ni una decisión de red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901952"/>
            <a:ext cx="1072591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Viene con su propia conectividad puesta. Eso ha sido la excepción, no la norma.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11091672" cy="1600200"/>
          </a:xfrm>
          <a:prstGeom prst="roundRect">
            <a:avLst/>
          </a:prstGeom>
          <a:solidFill>
            <a:srgbClr val="FFF8E1"/>
          </a:solidFill>
          <a:ln w="28575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822960" y="3310128"/>
            <a:ext cx="10543032" cy="1380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Casi todo lo demás vive dentro de un espacio con reglas propias
</a:t>
            </a:r>
            <a:endParaRPr lang="en-US" sz="2000" dirty="0"/>
          </a:p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Partes abiertas a internet y partes que no lo están nunca. Hoy diseñas ese espacio: primero en papel, después en consola, repartido en dos zonas de disponibilidad.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507492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 Actividad 2.1 lo construyes tú mismo, siguiendo tu propio diseño.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virtual privada: la VPC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2: Diseño de la red virtual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1091672" cy="141732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31520" y="1261872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VPC (Virtual Private Cloud)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1810512"/>
            <a:ext cx="10725912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propio trozo de red dentro de AWS, aislado del resto de clientes por defecto. Como la parcela de un polígono industrial: dentro decides tú, pero nadie de fuera entra sin que abras una puerta.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11091672" cy="1325880"/>
          </a:xfrm>
          <a:prstGeom prst="roundRect">
            <a:avLst/>
          </a:prstGeom>
          <a:solidFill>
            <a:srgbClr val="FFF8E1"/>
          </a:solidFill>
          <a:ln w="28575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822960" y="2898648"/>
            <a:ext cx="10543032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Vacía al crearla
</a:t>
            </a:r>
            <a:endParaRPr lang="en-US" sz="1800" dirty="0"/>
          </a:p>
          <a:p>
            <a:pPr marL="0" indent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 servidores, ni bases de datos, ni salida a internet. Solo el espacio de direcciones IP donde vas a construir todo lo demás.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4297680"/>
            <a:ext cx="11091672" cy="160020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731520" y="4370832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pieza que más vas a repetir: la instancia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4919472"/>
            <a:ext cx="10725912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máquina virtual completa (SO, CPU, memoria, disco), una porción de un servidor físico que alquilas por horas. La lanzas en la 2.1; el detalle de qué plantilla arranca lo ves en «Máquinas virtuales».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CIDR y subnetting aplicado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2: Diseño de la red virtual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091672" cy="91440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1234440"/>
            <a:ext cx="105430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máquina necesita una dirección IP, su matrícula (10.0.5.23). El rango de una VPC se escribe en notación CIDR: una IP + una barra + un prefijo, como 10.0.0.0/16.</a:t>
            </a:r>
            <a:endParaRPr lang="en-US" sz="1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11091672" cy="2011680"/>
        </p:xfrm>
        <a:graphic>
          <a:graphicData uri="http://schemas.openxmlformats.org/drawingml/2006/table">
            <a:tbl>
              <a:tblPr/>
              <a:tblGrid>
                <a:gridCol w="19965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9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458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Prefijo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Direcciones totales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Uso típico en el módulo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/16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65.536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Rango completo de la VPC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/24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256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Una subred individual dentro de la VPC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/28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Subred muy pequeña, para casos puntuales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343400"/>
            <a:ext cx="11091672" cy="118872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731520" y="4416552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la VPC a la subred, con números reales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31520" y="4965192"/>
            <a:ext cx="10725912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10.0.0.0/16 → subredes /24: 10.0.0.0/24, 10.0.1.0/24, 10.0.2.0/24... Con dos o tres ya sobra espacio para todo el módulo.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576072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error típico es repetir sin querer el mismo rango en dos subredes. El reparto debe quedar documentado antes de crear nada.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Subredes públicas y privadas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2: Diseño de la red virtual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091672" cy="91440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1234440"/>
            <a:ext cx="105430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un edificio de oficinas: la recepción tiene puerta a la calle; la sala de servidores está en el sótano. No hay ningún interruptor especial — es solo si tienen puerta a internet o no.</a:t>
            </a:r>
            <a:endParaRPr lang="en-US" sz="1700" dirty="0"/>
          </a:p>
        </p:txBody>
      </p:sp>
      <p:pic>
        <p:nvPicPr>
          <p:cNvPr id="7" name="Image 0" descr="C:/Users/Aitor/Documents/apuntes-profe/introduccion-nube/docs/tema2/img/diagrama_vpc_dos_zon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6956" y="2194560"/>
            <a:ext cx="603504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mismo patrón, repetido en dos zonas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2: Diseño de la red virtual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1091672" cy="137160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31520" y="1261872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 nunca llega directamente a la privada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1810512"/>
            <a:ext cx="10725912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lo que ya está dentro de la VPC —como la instancia de la subred pública— puede alcanzarla. Esa asimetría es intencionada.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5385816" cy="146304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685800" y="2926080"/>
            <a:ext cx="5111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Zona 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3474720"/>
            <a:ext cx="502005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Subred pública + subred privada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54496" y="2834640"/>
            <a:ext cx="5385816" cy="146304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6391656" y="2926080"/>
            <a:ext cx="5111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Zona 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37376" y="3474720"/>
            <a:ext cx="502005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Subred pública + subred privada (el mismo patrón, repetido)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72000"/>
            <a:ext cx="11091672" cy="137160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731520" y="4645152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misma redundancia del Tema 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31520" y="5193792"/>
            <a:ext cx="10725912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una zona entera se cae, la otra sigue funcionando. Diseñar pensando en dos zonas desde el primer día sale mucho más barato que añadir la segunda más adelante.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 de rutas y pasarela de internet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2: Diseño de la red virtual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091672" cy="105156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1234440"/>
            <a:ext cx="105430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hace pública a una subred: una pasarela de internet (IGW) conectada a la VPC, y una entrada 0.0.0.0/0 en su tabla de rutas — el CIDR más amplio que existe: «cualquier dirección de internet».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23160"/>
          <a:ext cx="11091672" cy="3218688"/>
        </p:xfrm>
        <a:graphic>
          <a:graphicData uri="http://schemas.openxmlformats.org/drawingml/2006/table">
            <a:tbl>
              <a:tblPr/>
              <a:tblGrid>
                <a:gridCol w="3327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930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1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46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Elemento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hace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 él, ¿qué pasa?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Pasarela de internet (IGW)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Puerta de entrada/salida entre la VPC e internet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Ninguna subred llega a internet, por muy pública que la creas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Tabla de rutas con 0.0.0.0/0 → IGW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«El tráfico externo sale por aquí»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subred queda aislada aunque la VPC tenga IGW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Tabla de rutas sin esa entrada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tráfico externo no tiene adónde ir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Así se define exactamente una subred privada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error más común de la sesión de hoy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2: Diseño de la red virtual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1091672" cy="1691640"/>
          </a:xfrm>
          <a:prstGeom prst="roundRect">
            <a:avLst/>
          </a:prstGeom>
          <a:solidFill>
            <a:srgbClr val="FFF8E1"/>
          </a:solidFill>
          <a:ln w="28575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1298448"/>
            <a:ext cx="10543032" cy="1472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pública «porque tú la llamaste así»
</a:t>
            </a:r>
            <a:endParaRPr lang="en-US" sz="2000" dirty="0"/>
          </a:p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pública porque su tabla de rutas apunta a la pasarela. Es habitual crear una instancia, asignarle una IP pública y esperar que funcione — y que no responda porque la subred sigue apuntando a ninguna parte. Lo diagnosticarás en la Actividad 2.2.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11091672" cy="182880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31520" y="3182112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ruta no es la única pieza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31520" y="3730752"/>
            <a:ext cx="10725912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próxima sesión añades los grupos de seguridad — un portero que decide quién entra aunque la puerta (la ruta) esté abierta. «No me llega tráfico» tiene más de una causa posible: la ruta, o quién tiene permiso para pasar por ella.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la base de datos nunca vive en pública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2: Diseño de la red virtual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091672" cy="91440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1234440"/>
            <a:ext cx="105430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configuración de acceso a tus datos es responsabilidad tuya. Si algo no necesita que internet lo alcance directamente, no le des un camino para que internet lo alcance.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2464308" cy="128016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594360" y="2423160"/>
            <a:ext cx="23728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Internet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967228" y="2377440"/>
            <a:ext cx="502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424428" y="2377440"/>
            <a:ext cx="2464308" cy="128016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470148" y="2423160"/>
            <a:ext cx="23728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Front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subred pública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843016" y="2377440"/>
            <a:ext cx="502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300216" y="2377440"/>
            <a:ext cx="2464308" cy="128016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6345936" y="2423160"/>
            <a:ext cx="23728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Aplicación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pública o privada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718804" y="2377440"/>
            <a:ext cx="502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176004" y="2377440"/>
            <a:ext cx="2464308" cy="128016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9221724" y="2423160"/>
            <a:ext cx="23728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Base de datos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subred privada, siempre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4023360"/>
            <a:ext cx="11091672" cy="173736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731520" y="4096512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pieza que menos debe estar expuesta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4645152"/>
            <a:ext cx="10725912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la que más daño hace si alguien llega hasta ella sin permiso — por eso va siempre en la subred más protegida, sin excepción, en cualquier arquitectura del módulo.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Diagramar antes de construir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2: Diseño de la red virtual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1091672" cy="1755648"/>
          </a:xfrm>
          <a:prstGeom prst="roundRect">
            <a:avLst/>
          </a:prstGeom>
          <a:solidFill>
            <a:srgbClr val="FFF8E1"/>
          </a:solidFill>
          <a:ln w="28575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1298448"/>
            <a:ext cx="1054303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crear una sola subred en consola, dibuja el reparto en papel
</a:t>
            </a:r>
            <a:endParaRPr lang="en-US" sz="2000" dirty="0"/>
          </a:p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Cuántas subredes, en qué zonas, qué rango CIDR, cuáles públicas y cuáles privadas. Es la única forma de detectar un solapamiento o una subred olvidada antes de que cueste deshacerlo.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plantilla que rellenarás en la actividad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20440"/>
          <a:ext cx="11091672" cy="1645920"/>
        </p:xfrm>
        <a:graphic>
          <a:graphicData uri="http://schemas.openxmlformats.org/drawingml/2006/table">
            <a:tbl>
              <a:tblPr/>
              <a:tblGrid>
                <a:gridCol w="3105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20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38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01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Nombre de la subred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Rango CIDR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Zona de disponibilidad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Pública / privada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54406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esa tabla ya puedes construir la VPC entera sin improvisar sobre la marcha.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clave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2: Diseño de la red virtual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5431536" cy="141732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731520" y="1668780"/>
            <a:ext cx="640080" cy="64008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731520" y="16687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08760" y="1280160"/>
            <a:ext cx="428853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VPC es tu propio espacio de red aislado dentro de AWS — vacío al crearla, con todo por construir dentro.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08776" y="1280160"/>
            <a:ext cx="5431536" cy="141732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6391656" y="1668780"/>
            <a:ext cx="640080" cy="64008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6391656" y="16687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168896" y="1280160"/>
            <a:ext cx="428853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CIDR expresa un rango con un prefijo (/16, /24...): cuanto más pequeño el número, más direcciones caben.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2926080"/>
            <a:ext cx="5431536" cy="141732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731520" y="3314700"/>
            <a:ext cx="640080" cy="64008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731520" y="33147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508760" y="2926080"/>
            <a:ext cx="428853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subred es pública o privada según su tabla de rutas, no según ningún atributo especial.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08776" y="2926080"/>
            <a:ext cx="5431536" cy="141732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6391656" y="3314700"/>
            <a:ext cx="640080" cy="64008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6391656" y="33147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168896" y="2926080"/>
            <a:ext cx="428853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IGW + entrada 0.0.0.0/0 en la tabla de rutas = subred pública. Sin esa combinación, queda aislada.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8640" y="4572000"/>
            <a:ext cx="5431536" cy="141732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731520" y="4960620"/>
            <a:ext cx="640080" cy="64008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731520" y="49606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508760" y="4572000"/>
            <a:ext cx="428853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base de datos va siempre en subred privada — la traducción práctica de la responsabilidad compartida a una regla de red.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08776" y="4572000"/>
            <a:ext cx="5431536" cy="141732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6391656" y="4960620"/>
            <a:ext cx="640080" cy="64008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6391656" y="49606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168896" y="4572000"/>
            <a:ext cx="428853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Diagramar el reparto de subredes en papel antes de construir evita solapamientos y subredes olvidadas.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1268</Words>
  <Application>Microsoft Office PowerPoint</Application>
  <PresentationFormat>Panorámica</PresentationFormat>
  <Paragraphs>128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Diseño de la red virtual</dc:title>
  <dc:subject>PptxGenJS Presentation</dc:subject>
  <dc:creator>Introducción a la Nube Pública</dc:creator>
  <cp:lastModifiedBy>VENTURA EDO, AITOR</cp:lastModifiedBy>
  <cp:revision>2</cp:revision>
  <dcterms:created xsi:type="dcterms:W3CDTF">2026-09-22T17:53:51Z</dcterms:created>
  <dcterms:modified xsi:type="dcterms:W3CDTF">2026-09-22T17:54:59Z</dcterms:modified>
</cp:coreProperties>
</file>