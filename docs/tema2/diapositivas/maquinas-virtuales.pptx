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2: REDES VIRTUALES Y SERVICIOS DE CÓMPUTO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Máquinas virtuales</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Tema 2 — Redes virtuales y servicios de cómputo</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De repetir a mano a plantillas reutilizables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645920"/>
            <a:ext cx="11091672" cy="1920240"/>
          </a:xfrm>
          <a:prstGeom prst="rect">
            <a:avLst/>
          </a:prstGeom>
          <a:noFill/>
          <a:ln/>
        </p:spPr>
        <p:txBody>
          <a:bodyPr wrap="square" rtlCol="0" anchor="t"/>
          <a:lstStyle/>
          <a:p>
            <a:pPr indent="0" marL="0">
              <a:buNone/>
            </a:pPr>
            <a:r>
              <a:rPr lang="en-US" sz="2100" dirty="0">
                <a:solidFill>
                  <a:srgbClr val="212121"/>
                </a:solidFill>
                <a:latin typeface="Arial" pitchFamily="34" charset="0"/>
                <a:ea typeface="Arial" pitchFamily="34" charset="-122"/>
                <a:cs typeface="Arial" pitchFamily="34" charset="-120"/>
              </a:rPr>
              <a:t>Ya sabes que una instancia es una máquina virtual. En las dos sesiones anteriores has lanzado instancias sueltas, una a una, repitiendo a mano los mismos parámetros: la imagen, el tipo, la subred, el grupo de seguridad. Funciona para dos instancias de prueba, pero no escala.</a:t>
            </a:r>
            <a:endParaRPr lang="en-US" sz="2100" dirty="0"/>
          </a:p>
        </p:txBody>
      </p:sp>
      <p:sp>
        <p:nvSpPr>
          <p:cNvPr id="6" name="Shape 4"/>
          <p:cNvSpPr/>
          <p:nvPr/>
        </p:nvSpPr>
        <p:spPr>
          <a:xfrm>
            <a:off x="548640" y="3886200"/>
            <a:ext cx="11091672" cy="1371600"/>
          </a:xfrm>
          <a:prstGeom prst="roundRect">
            <a:avLst/>
          </a:prstGeom>
          <a:solidFill>
            <a:srgbClr val="FFF8E1"/>
          </a:solidFill>
          <a:ln w="19050">
            <a:solidFill>
              <a:srgbClr val="FFA000"/>
            </a:solidFill>
            <a:prstDash val="solid"/>
          </a:ln>
        </p:spPr>
      </p:sp>
      <p:sp>
        <p:nvSpPr>
          <p:cNvPr id="7" name="Text 5"/>
          <p:cNvSpPr/>
          <p:nvPr/>
        </p:nvSpPr>
        <p:spPr>
          <a:xfrm>
            <a:off x="822960" y="3977640"/>
            <a:ext cx="10543032" cy="11887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Hoy dejas de repetir ese proceso a mano: entiendes qué decide su rendimiento y precio, cómo se empaqueta en una imagen reutilizable, y cómo se guarda esa receta en una plantilla que lanzas tantas veces como haga falta.</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Familias y tamaños de instancia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097280"/>
            <a:ext cx="11091672" cy="109728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El nombre de un tipo (t3.micro, m5.large) tiene tres partes: la familia (para qué está optimizada), la generación (cuanto más alto, más reciente) y el tamaño (cuánta CPU y memoria trae) — este último es el que de verdad decide cuánto pagas.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914400"/>
        </p:xfrm>
        <a:graphic>
          <a:graphicData uri="http://schemas.openxmlformats.org/drawingml/2006/table">
            <a:tbl>
              <a:tblPr/>
              <a:tblGrid>
                <a:gridCol w="2883835"/>
                <a:gridCol w="3993002"/>
                <a:gridCol w="4214835"/>
              </a:tblGrid>
              <a:tr h="56692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Familia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Optimizada para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Ejemplo de uso típico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66928">
                <a:tc>
                  <a:txBody>
                    <a:bodyPr/>
                    <a:lstStyle/>
                    <a:p>
                      <a:pPr indent="0" marL="0">
                        <a:buNone/>
                      </a:pPr>
                      <a:r>
                        <a:rPr lang="en-US" sz="1300" b="1" dirty="0">
                          <a:solidFill>
                            <a:srgbClr val="212121"/>
                          </a:solidFill>
                          <a:latin typeface="Arial" pitchFamily="34" charset="0"/>
                          <a:ea typeface="Arial" pitchFamily="34" charset="-122"/>
                          <a:cs typeface="Arial" pitchFamily="34" charset="-120"/>
                        </a:rPr>
                        <a:t>t (general, ráfaga)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Cargas variables, con picos ocasionales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Instancia en desarrollo o pruebas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212121"/>
                          </a:solidFill>
                          <a:latin typeface="Arial" pitchFamily="34" charset="0"/>
                          <a:ea typeface="Arial" pitchFamily="34" charset="-122"/>
                          <a:cs typeface="Arial" pitchFamily="34" charset="-120"/>
                        </a:rPr>
                        <a:t>m (general, equilibrada)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CPU y memoria en proporción estándar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Instancia en producción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300" b="1" dirty="0">
                          <a:solidFill>
                            <a:srgbClr val="212121"/>
                          </a:solidFill>
                          <a:latin typeface="Arial" pitchFamily="34" charset="0"/>
                          <a:ea typeface="Arial" pitchFamily="34" charset="-122"/>
                          <a:cs typeface="Arial" pitchFamily="34" charset="-120"/>
                        </a:rPr>
                        <a:t>c (cómputo)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Mucha CPU, poca memoria relativa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Procesamiento intensivo (fuera del módulo)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212121"/>
                          </a:solidFill>
                          <a:latin typeface="Arial" pitchFamily="34" charset="0"/>
                          <a:ea typeface="Arial" pitchFamily="34" charset="-122"/>
                          <a:cs typeface="Arial" pitchFamily="34" charset="-120"/>
                        </a:rPr>
                        <a:t>r (memoria)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Mucha memoria, poca CPU relativa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Bases de datos en memoria (fuera del módulo)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tamaño no es «solo memoria»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097280"/>
            <a:ext cx="11091672" cy="82296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Es un error frecuente pensar que la letra decide la CPU y el tamaño decide la memoria. Con números reales de la familia t3 (la que vas a usar en este módulo):</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914400"/>
        </p:xfrm>
        <a:graphic>
          <a:graphicData uri="http://schemas.openxmlformats.org/drawingml/2006/table">
            <a:tbl>
              <a:tblPr/>
              <a:tblGrid>
                <a:gridCol w="4436669"/>
                <a:gridCol w="3327502"/>
                <a:gridCol w="3327502"/>
              </a:tblGrid>
              <a:tr h="420624">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Tipo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vCPU</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Memoria RAM</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t3.nano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0,5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t3.micro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1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t3.small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t3.medium</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4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t3.large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8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212121"/>
                          </a:solidFill>
                          <a:latin typeface="Arial" pitchFamily="34" charset="0"/>
                          <a:ea typeface="Arial" pitchFamily="34" charset="-122"/>
                          <a:cs typeface="Arial" pitchFamily="34" charset="-120"/>
                        </a:rPr>
                        <a:t>t3.xlarge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16 GiB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5184648"/>
            <a:ext cx="11091672" cy="457200"/>
          </a:xfrm>
          <a:prstGeom prst="rect">
            <a:avLst/>
          </a:prstGeom>
          <a:noFill/>
          <a:ln/>
        </p:spPr>
        <p:txBody>
          <a:bodyPr wrap="square" rtlCol="0" anchor="t"/>
          <a:lstStyle/>
          <a:p>
            <a:pPr indent="0" marL="0">
              <a:buNone/>
            </a:pPr>
            <a:r>
              <a:rPr lang="en-US" sz="1400" i="1" dirty="0">
                <a:solidFill>
                  <a:srgbClr val="757575"/>
                </a:solidFill>
                <a:latin typeface="Arial" pitchFamily="34" charset="0"/>
                <a:ea typeface="Arial" pitchFamily="34" charset="-122"/>
                <a:cs typeface="Arial" pitchFamily="34" charset="-120"/>
              </a:rPr>
              <a:t>De nano a large la memoria se multiplica por 16 y la vCPU se mantiene igual — solo en xlarge sube también la CPU.</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El coste de sobredimensionar una instancia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Shape 3"/>
          <p:cNvSpPr/>
          <p:nvPr/>
        </p:nvSpPr>
        <p:spPr>
          <a:xfrm>
            <a:off x="548640" y="1737360"/>
            <a:ext cx="11091672" cy="1645920"/>
          </a:xfrm>
          <a:prstGeom prst="roundRect">
            <a:avLst/>
          </a:prstGeom>
          <a:solidFill>
            <a:srgbClr val="FFF8E1"/>
          </a:solidFill>
          <a:ln w="19050">
            <a:solidFill>
              <a:srgbClr val="FFA000"/>
            </a:solidFill>
            <a:prstDash val="solid"/>
          </a:ln>
        </p:spPr>
      </p:sp>
      <p:sp>
        <p:nvSpPr>
          <p:cNvPr id="6" name="Text 4"/>
          <p:cNvSpPr/>
          <p:nvPr/>
        </p:nvSpPr>
        <p:spPr>
          <a:xfrm>
            <a:off x="822960" y="1828800"/>
            <a:ext cx="10543032" cy="1463040"/>
          </a:xfrm>
          <a:prstGeom prst="rect">
            <a:avLst/>
          </a:prstGeom>
          <a:noFill/>
          <a:ln/>
        </p:spPr>
        <p:txBody>
          <a:bodyPr wrap="square" rtlCol="0" anchor="ctr"/>
          <a:lstStyle/>
          <a:p>
            <a:pPr indent="0" marL="0">
              <a:buNone/>
            </a:pPr>
            <a:r>
              <a:rPr lang="en-US" sz="2100" dirty="0">
                <a:solidFill>
                  <a:srgbClr val="212121"/>
                </a:solidFill>
                <a:latin typeface="Arial" pitchFamily="34" charset="0"/>
                <a:ea typeface="Arial" pitchFamily="34" charset="-122"/>
                <a:cs typeface="Arial" pitchFamily="34" charset="-120"/>
              </a:rPr>
              <a:t>Una t3.micro cuesta una fracción de lo que cuesta una t3.large —tres peldaños por encima, con ocho veces más memoria—, y para servir el front estático de una aplicación web durante una clase de treinta alumnos es más que suficiente.</a:t>
            </a:r>
            <a:endParaRPr lang="en-US" sz="2100" dirty="0"/>
          </a:p>
        </p:txBody>
      </p:sp>
      <p:sp>
        <p:nvSpPr>
          <p:cNvPr id="7" name="Text 5"/>
          <p:cNvSpPr/>
          <p:nvPr/>
        </p:nvSpPr>
        <p:spPr>
          <a:xfrm>
            <a:off x="548640" y="3703320"/>
            <a:ext cx="11091672" cy="91440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Sobredimensionar una instancia es tirar presupuesto del laboratorio a la basura sin ninguna mejora perceptible — vas a comparar el coste real de tres familias en la Actividad 2.3.</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Imágenes de máquina (AMI)</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280160"/>
            <a:ext cx="11091672" cy="137160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Una AMI (Amazon Machine Image) es la fotografía completa de un disco de arranque: sistema operativo, paquetes instalados, configuración — todo lo que hace falta para que una instancia nueva arranque ya lista, sin repetir la instalación desde cero.</a:t>
            </a:r>
            <a:endParaRPr lang="en-US" sz="2000" dirty="0"/>
          </a:p>
        </p:txBody>
      </p:sp>
      <p:sp>
        <p:nvSpPr>
          <p:cNvPr id="6" name="Shape 4"/>
          <p:cNvSpPr/>
          <p:nvPr/>
        </p:nvSpPr>
        <p:spPr>
          <a:xfrm>
            <a:off x="548640" y="3017520"/>
            <a:ext cx="2464308" cy="1371600"/>
          </a:xfrm>
          <a:prstGeom prst="roundRect">
            <a:avLst/>
          </a:prstGeom>
          <a:solidFill>
            <a:srgbClr val="E8EAF6"/>
          </a:solidFill>
          <a:ln w="15875">
            <a:solidFill>
              <a:srgbClr val="3949AB"/>
            </a:solidFill>
            <a:prstDash val="solid"/>
          </a:ln>
        </p:spPr>
      </p:sp>
      <p:sp>
        <p:nvSpPr>
          <p:cNvPr id="7" name="Text 5"/>
          <p:cNvSpPr/>
          <p:nvPr/>
        </p:nvSpPr>
        <p:spPr>
          <a:xfrm>
            <a:off x="594360" y="3063240"/>
            <a:ext cx="2372868" cy="12801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Instancia base</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(AMI pública)</a:t>
            </a:r>
            <a:endParaRPr lang="en-US" sz="1600" dirty="0"/>
          </a:p>
        </p:txBody>
      </p:sp>
      <p:sp>
        <p:nvSpPr>
          <p:cNvPr id="8" name="Text 6"/>
          <p:cNvSpPr/>
          <p:nvPr/>
        </p:nvSpPr>
        <p:spPr>
          <a:xfrm>
            <a:off x="2967228" y="3017520"/>
            <a:ext cx="502920" cy="1371600"/>
          </a:xfrm>
          <a:prstGeom prst="rect">
            <a:avLst/>
          </a:prstGeom>
          <a:noFill/>
          <a:ln/>
        </p:spPr>
        <p:txBody>
          <a:bodyPr wrap="square" rtlCol="0" anchor="ctr"/>
          <a:lstStyle/>
          <a:p>
            <a:pPr algn="ctr" indent="0" marL="0">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3424428" y="3017520"/>
            <a:ext cx="2464308" cy="1371600"/>
          </a:xfrm>
          <a:prstGeom prst="roundRect">
            <a:avLst/>
          </a:prstGeom>
          <a:solidFill>
            <a:srgbClr val="E8EAF6"/>
          </a:solidFill>
          <a:ln w="15875">
            <a:solidFill>
              <a:srgbClr val="3949AB"/>
            </a:solidFill>
            <a:prstDash val="solid"/>
          </a:ln>
        </p:spPr>
      </p:sp>
      <p:sp>
        <p:nvSpPr>
          <p:cNvPr id="10" name="Text 8"/>
          <p:cNvSpPr/>
          <p:nvPr/>
        </p:nvSpPr>
        <p:spPr>
          <a:xfrm>
            <a:off x="3470148" y="3063240"/>
            <a:ext cx="2372868" cy="12801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Instalas y configuras</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lo que necesitas</a:t>
            </a:r>
            <a:endParaRPr lang="en-US" sz="1600" dirty="0"/>
          </a:p>
        </p:txBody>
      </p:sp>
      <p:sp>
        <p:nvSpPr>
          <p:cNvPr id="11" name="Text 9"/>
          <p:cNvSpPr/>
          <p:nvPr/>
        </p:nvSpPr>
        <p:spPr>
          <a:xfrm>
            <a:off x="5843016" y="3017520"/>
            <a:ext cx="502920" cy="1371600"/>
          </a:xfrm>
          <a:prstGeom prst="rect">
            <a:avLst/>
          </a:prstGeom>
          <a:noFill/>
          <a:ln/>
        </p:spPr>
        <p:txBody>
          <a:bodyPr wrap="square" rtlCol="0" anchor="ctr"/>
          <a:lstStyle/>
          <a:p>
            <a:pPr algn="ctr" indent="0" marL="0">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6300216" y="3017520"/>
            <a:ext cx="2464308" cy="1371600"/>
          </a:xfrm>
          <a:prstGeom prst="roundRect">
            <a:avLst/>
          </a:prstGeom>
          <a:solidFill>
            <a:srgbClr val="E8EAF6"/>
          </a:solidFill>
          <a:ln w="15875">
            <a:solidFill>
              <a:srgbClr val="3949AB"/>
            </a:solidFill>
            <a:prstDash val="solid"/>
          </a:ln>
        </p:spPr>
      </p:sp>
      <p:sp>
        <p:nvSpPr>
          <p:cNvPr id="13" name="Text 11"/>
          <p:cNvSpPr/>
          <p:nvPr/>
        </p:nvSpPr>
        <p:spPr>
          <a:xfrm>
            <a:off x="6345936" y="3063240"/>
            <a:ext cx="2372868" cy="12801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Creas tu propia</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AMI</a:t>
            </a:r>
            <a:endParaRPr lang="en-US" sz="1600" dirty="0"/>
          </a:p>
        </p:txBody>
      </p:sp>
      <p:sp>
        <p:nvSpPr>
          <p:cNvPr id="14" name="Text 12"/>
          <p:cNvSpPr/>
          <p:nvPr/>
        </p:nvSpPr>
        <p:spPr>
          <a:xfrm>
            <a:off x="8718804" y="3017520"/>
            <a:ext cx="502920" cy="1371600"/>
          </a:xfrm>
          <a:prstGeom prst="rect">
            <a:avLst/>
          </a:prstGeom>
          <a:noFill/>
          <a:ln/>
        </p:spPr>
        <p:txBody>
          <a:bodyPr wrap="square" rtlCol="0" anchor="ctr"/>
          <a:lstStyle/>
          <a:p>
            <a:pPr algn="ctr" indent="0" marL="0">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9176004" y="3017520"/>
            <a:ext cx="2464308" cy="1371600"/>
          </a:xfrm>
          <a:prstGeom prst="roundRect">
            <a:avLst/>
          </a:prstGeom>
          <a:solidFill>
            <a:srgbClr val="E8EAF6"/>
          </a:solidFill>
          <a:ln w="15875">
            <a:solidFill>
              <a:srgbClr val="3949AB"/>
            </a:solidFill>
            <a:prstDash val="solid"/>
          </a:ln>
        </p:spPr>
      </p:sp>
      <p:sp>
        <p:nvSpPr>
          <p:cNvPr id="16" name="Text 14"/>
          <p:cNvSpPr/>
          <p:nvPr/>
        </p:nvSpPr>
        <p:spPr>
          <a:xfrm>
            <a:off x="9221724" y="3063240"/>
            <a:ext cx="2372868" cy="128016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Lanzas N instancias</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idénticas desde tu AMI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Almacenamiento asociado (EBS)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920240"/>
            <a:ext cx="11091672" cy="1645920"/>
          </a:xfrm>
          <a:prstGeom prst="rect">
            <a:avLst/>
          </a:prstGeom>
          <a:noFill/>
          <a:ln/>
        </p:spPr>
        <p:txBody>
          <a:bodyPr wrap="square" rtlCol="0" anchor="t"/>
          <a:lstStyle/>
          <a:p>
            <a:pPr indent="0" marL="0">
              <a:buNone/>
            </a:pPr>
            <a:r>
              <a:rPr lang="en-US" sz="2200" dirty="0">
                <a:solidFill>
                  <a:srgbClr val="212121"/>
                </a:solidFill>
                <a:latin typeface="Arial" pitchFamily="34" charset="0"/>
                <a:ea typeface="Arial" pitchFamily="34" charset="-122"/>
                <a:cs typeface="Arial" pitchFamily="34" charset="-120"/>
              </a:rPr>
              <a:t>Cada instancia EC2 lleva asociado al menos un volumen de disco — un EBS (Elastic Block Store), que existe como recurso independiente de la instancia, aunque normalmente vaya pegado a ella.</a:t>
            </a:r>
            <a:endParaRPr lang="en-US" sz="2200" dirty="0"/>
          </a:p>
        </p:txBody>
      </p:sp>
      <p:sp>
        <p:nvSpPr>
          <p:cNvPr id="6" name="Shape 4"/>
          <p:cNvSpPr/>
          <p:nvPr/>
        </p:nvSpPr>
        <p:spPr>
          <a:xfrm>
            <a:off x="548640" y="3886200"/>
            <a:ext cx="11091672" cy="1280160"/>
          </a:xfrm>
          <a:prstGeom prst="roundRect">
            <a:avLst/>
          </a:prstGeom>
          <a:solidFill>
            <a:srgbClr val="FFF8E1"/>
          </a:solidFill>
          <a:ln w="19050">
            <a:solidFill>
              <a:srgbClr val="FFA000"/>
            </a:solidFill>
            <a:prstDash val="solid"/>
          </a:ln>
        </p:spPr>
      </p:sp>
      <p:sp>
        <p:nvSpPr>
          <p:cNvPr id="7" name="Text 5"/>
          <p:cNvSpPr/>
          <p:nvPr/>
        </p:nvSpPr>
        <p:spPr>
          <a:xfrm>
            <a:off x="822960" y="3977640"/>
            <a:ext cx="10543032" cy="109728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Por defecto, si terminas la instancia, el volumen raíz se borra con ella, pero puedes configurarlo para que sobreviva. El disco de tu instancia no es una parte indivisible de ella: es una pieza aparte que se conecta.</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Ciclo de vida: parar no es terminar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440168"/>
                <a:gridCol w="3105668"/>
                <a:gridCol w="3105668"/>
                <a:gridCol w="2440168"/>
              </a:tblGrid>
              <a:tr h="8686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Estado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pasa con la instancia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pasa con el disco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¿Factura cómputo?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En marcha (running)</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Activa, consumiendo recursos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Activo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Sí</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Parada (stopped)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Apagada, pero sigue existiendo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Sigue existiendo y facturándose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el cómputo, sí el almacenamiento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686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Terminada (terminated)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Eliminada por completo, no se puede recuperar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Se borra (salvo configuración)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nada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46320"/>
            <a:ext cx="11091672" cy="1280160"/>
          </a:xfrm>
          <a:prstGeom prst="roundRect">
            <a:avLst/>
          </a:prstGeom>
          <a:solidFill>
            <a:srgbClr val="FFF8E1"/>
          </a:solidFill>
          <a:ln w="28575">
            <a:solidFill>
              <a:srgbClr val="FFA000"/>
            </a:solidFill>
            <a:prstDash val="solid"/>
          </a:ln>
        </p:spPr>
      </p:sp>
      <p:sp>
        <p:nvSpPr>
          <p:cNvPr id="7" name="Text 4"/>
          <p:cNvSpPr/>
          <p:nvPr/>
        </p:nvSpPr>
        <p:spPr>
          <a:xfrm>
            <a:off x="822960" y="4956048"/>
            <a:ext cx="10543032" cy="1060704"/>
          </a:xfrm>
          <a:prstGeom prst="rect">
            <a:avLst/>
          </a:prstGeom>
          <a:noFill/>
          <a:ln/>
        </p:spPr>
        <p:txBody>
          <a:bodyPr wrap="square" rtlCol="0" anchor="t"/>
          <a:lstStyle/>
          <a:p>
            <a:pPr indent="0" marL="0">
              <a:buNone/>
            </a:pPr>
            <a:r>
              <a:rPr lang="en-US" sz="1700" b="1" dirty="0">
                <a:solidFill>
                  <a:srgbClr val="1A237E"/>
                </a:solidFill>
                <a:latin typeface="Arial" pitchFamily="34" charset="0"/>
                <a:ea typeface="Arial" pitchFamily="34" charset="-122"/>
                <a:cs typeface="Arial" pitchFamily="34" charset="-120"/>
              </a:rPr>
              <a:t>💸 Parar no vacía tu factura, solo la reduce
</a:t>
            </a:r>
            <a:endParaRPr lang="en-US" sz="1700" dirty="0"/>
          </a:p>
          <a:p>
            <a:pPr indent="0" marL="0">
              <a:buNone/>
            </a:pPr>
            <a:r>
              <a:rPr lang="en-US" sz="1600" dirty="0">
                <a:solidFill>
                  <a:srgbClr val="212121"/>
                </a:solidFill>
                <a:latin typeface="Arial" pitchFamily="34" charset="0"/>
                <a:ea typeface="Arial" pitchFamily="34" charset="-122"/>
                <a:cs typeface="Arial" pitchFamily="34" charset="-120"/>
              </a:rPr>
              <a:t>El volumen de disco asociado sigue existiendo y teniendo coste. El ritual de apagado significa parar lo que quieras conservar, y terminar de verdad lo que ya no necesitas.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User data y plantillas de lanzamiento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188720"/>
            <a:ext cx="11091672" cy="146304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User data es un script que se ejecuta automáticamente la primera vez que arranca una instancia. Una plantilla de lanzamiento va un escalón más allá: empaqueta todos los parámetros de una instancia —imagen, tipo, subred, grupo de seguridad, user data— en un único recurso reutilizable.</a:t>
            </a:r>
            <a:endParaRPr lang="en-US" sz="1800" dirty="0"/>
          </a:p>
        </p:txBody>
      </p:sp>
      <p:sp>
        <p:nvSpPr>
          <p:cNvPr id="6" name="Shape 4"/>
          <p:cNvSpPr/>
          <p:nvPr/>
        </p:nvSpPr>
        <p:spPr>
          <a:xfrm>
            <a:off x="3677107" y="2971800"/>
            <a:ext cx="4834738" cy="822960"/>
          </a:xfrm>
          <a:prstGeom prst="roundRect">
            <a:avLst/>
          </a:prstGeom>
          <a:solidFill>
            <a:srgbClr val="E8EAF6"/>
          </a:solidFill>
          <a:ln w="19050">
            <a:solidFill>
              <a:srgbClr val="3949AB"/>
            </a:solidFill>
            <a:prstDash val="solid"/>
          </a:ln>
        </p:spPr>
      </p:sp>
      <p:sp>
        <p:nvSpPr>
          <p:cNvPr id="7" name="Text 5"/>
          <p:cNvSpPr/>
          <p:nvPr/>
        </p:nvSpPr>
        <p:spPr>
          <a:xfrm>
            <a:off x="3677107" y="2971800"/>
            <a:ext cx="4834738" cy="822960"/>
          </a:xfrm>
          <a:prstGeom prst="rect">
            <a:avLst/>
          </a:prstGeom>
          <a:noFill/>
          <a:ln/>
        </p:spPr>
        <p:txBody>
          <a:bodyPr wrap="square" rtlCol="0" anchor="ctr"/>
          <a:lstStyle/>
          <a:p>
            <a:pPr algn="ctr" indent="0" marL="0">
              <a:buNone/>
            </a:pPr>
            <a:r>
              <a:rPr lang="en-US" sz="1700" b="1" dirty="0">
                <a:solidFill>
                  <a:srgbClr val="212121"/>
                </a:solidFill>
                <a:latin typeface="Arial" pitchFamily="34" charset="0"/>
                <a:ea typeface="Arial" pitchFamily="34" charset="-122"/>
                <a:cs typeface="Arial" pitchFamily="34" charset="-120"/>
              </a:rPr>
              <a:t>Plantilla de lanzamiento</a:t>
            </a:r>
            <a:endParaRPr lang="en-US" sz="1700" dirty="0"/>
          </a:p>
          <a:p>
            <a:pPr algn="ctr" indent="0" marL="0">
              <a:buNone/>
            </a:pPr>
            <a:r>
              <a:rPr lang="en-US" sz="1700" b="1" dirty="0">
                <a:solidFill>
                  <a:srgbClr val="212121"/>
                </a:solidFill>
                <a:latin typeface="Arial" pitchFamily="34" charset="0"/>
                <a:ea typeface="Arial" pitchFamily="34" charset="-122"/>
                <a:cs typeface="Arial" pitchFamily="34" charset="-120"/>
              </a:rPr>
              <a:t>imagen + tipo + red + user data</a:t>
            </a:r>
            <a:endParaRPr lang="en-US" sz="1700" dirty="0"/>
          </a:p>
        </p:txBody>
      </p:sp>
      <p:sp>
        <p:nvSpPr>
          <p:cNvPr id="8" name="Shape 6"/>
          <p:cNvSpPr/>
          <p:nvPr/>
        </p:nvSpPr>
        <p:spPr>
          <a:xfrm>
            <a:off x="6094476" y="3794760"/>
            <a:ext cx="914" cy="182880"/>
          </a:xfrm>
          <a:prstGeom prst="line">
            <a:avLst/>
          </a:prstGeom>
          <a:noFill/>
          <a:ln w="15875">
            <a:solidFill>
              <a:srgbClr val="3949AB"/>
            </a:solidFill>
            <a:prstDash val="solid"/>
          </a:ln>
        </p:spPr>
      </p:sp>
      <p:sp>
        <p:nvSpPr>
          <p:cNvPr id="9" name="Shape 7"/>
          <p:cNvSpPr/>
          <p:nvPr/>
        </p:nvSpPr>
        <p:spPr>
          <a:xfrm>
            <a:off x="548640" y="4160520"/>
            <a:ext cx="3453384" cy="731520"/>
          </a:xfrm>
          <a:prstGeom prst="roundRect">
            <a:avLst/>
          </a:prstGeom>
          <a:solidFill>
            <a:srgbClr val="E8EAF6"/>
          </a:solidFill>
          <a:ln w="15875">
            <a:solidFill>
              <a:srgbClr val="3949AB"/>
            </a:solidFill>
            <a:prstDash val="solid"/>
          </a:ln>
        </p:spPr>
      </p:sp>
      <p:sp>
        <p:nvSpPr>
          <p:cNvPr id="10" name="Text 8"/>
          <p:cNvSpPr/>
          <p:nvPr/>
        </p:nvSpPr>
        <p:spPr>
          <a:xfrm>
            <a:off x="594360" y="4160520"/>
            <a:ext cx="3361944" cy="73152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Instancia 1</a:t>
            </a:r>
            <a:endParaRPr lang="en-US" sz="1600" dirty="0"/>
          </a:p>
        </p:txBody>
      </p:sp>
      <p:sp>
        <p:nvSpPr>
          <p:cNvPr id="11" name="Shape 9"/>
          <p:cNvSpPr/>
          <p:nvPr/>
        </p:nvSpPr>
        <p:spPr>
          <a:xfrm>
            <a:off x="2275332" y="3977640"/>
            <a:ext cx="914" cy="182880"/>
          </a:xfrm>
          <a:prstGeom prst="line">
            <a:avLst/>
          </a:prstGeom>
          <a:noFill/>
          <a:ln w="15875">
            <a:solidFill>
              <a:srgbClr val="3949AB"/>
            </a:solidFill>
            <a:prstDash val="solid"/>
          </a:ln>
        </p:spPr>
      </p:sp>
      <p:sp>
        <p:nvSpPr>
          <p:cNvPr id="12" name="Shape 10"/>
          <p:cNvSpPr/>
          <p:nvPr/>
        </p:nvSpPr>
        <p:spPr>
          <a:xfrm>
            <a:off x="4367784" y="4160520"/>
            <a:ext cx="3453384" cy="731520"/>
          </a:xfrm>
          <a:prstGeom prst="roundRect">
            <a:avLst/>
          </a:prstGeom>
          <a:solidFill>
            <a:srgbClr val="E8EAF6"/>
          </a:solidFill>
          <a:ln w="15875">
            <a:solidFill>
              <a:srgbClr val="3949AB"/>
            </a:solidFill>
            <a:prstDash val="solid"/>
          </a:ln>
        </p:spPr>
      </p:sp>
      <p:sp>
        <p:nvSpPr>
          <p:cNvPr id="13" name="Text 11"/>
          <p:cNvSpPr/>
          <p:nvPr/>
        </p:nvSpPr>
        <p:spPr>
          <a:xfrm>
            <a:off x="4413504" y="4160520"/>
            <a:ext cx="3361944" cy="73152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Instancia 2</a:t>
            </a:r>
            <a:endParaRPr lang="en-US" sz="1600" dirty="0"/>
          </a:p>
        </p:txBody>
      </p:sp>
      <p:sp>
        <p:nvSpPr>
          <p:cNvPr id="14" name="Shape 12"/>
          <p:cNvSpPr/>
          <p:nvPr/>
        </p:nvSpPr>
        <p:spPr>
          <a:xfrm>
            <a:off x="6094476" y="3977640"/>
            <a:ext cx="914" cy="182880"/>
          </a:xfrm>
          <a:prstGeom prst="line">
            <a:avLst/>
          </a:prstGeom>
          <a:noFill/>
          <a:ln w="15875">
            <a:solidFill>
              <a:srgbClr val="3949AB"/>
            </a:solidFill>
            <a:prstDash val="solid"/>
          </a:ln>
        </p:spPr>
      </p:sp>
      <p:sp>
        <p:nvSpPr>
          <p:cNvPr id="15" name="Shape 13"/>
          <p:cNvSpPr/>
          <p:nvPr/>
        </p:nvSpPr>
        <p:spPr>
          <a:xfrm>
            <a:off x="8186928" y="4160520"/>
            <a:ext cx="3453384" cy="731520"/>
          </a:xfrm>
          <a:prstGeom prst="roundRect">
            <a:avLst/>
          </a:prstGeom>
          <a:solidFill>
            <a:srgbClr val="E8EAF6"/>
          </a:solidFill>
          <a:ln w="15875">
            <a:solidFill>
              <a:srgbClr val="3949AB"/>
            </a:solidFill>
            <a:prstDash val="solid"/>
          </a:ln>
        </p:spPr>
      </p:sp>
      <p:sp>
        <p:nvSpPr>
          <p:cNvPr id="16" name="Text 14"/>
          <p:cNvSpPr/>
          <p:nvPr/>
        </p:nvSpPr>
        <p:spPr>
          <a:xfrm>
            <a:off x="8232648" y="4160520"/>
            <a:ext cx="3361944" cy="73152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Instancia N...</a:t>
            </a:r>
            <a:endParaRPr lang="en-US" sz="1600" dirty="0"/>
          </a:p>
        </p:txBody>
      </p:sp>
      <p:sp>
        <p:nvSpPr>
          <p:cNvPr id="17" name="Shape 15"/>
          <p:cNvSpPr/>
          <p:nvPr/>
        </p:nvSpPr>
        <p:spPr>
          <a:xfrm>
            <a:off x="9913620" y="3977640"/>
            <a:ext cx="914" cy="182880"/>
          </a:xfrm>
          <a:prstGeom prst="line">
            <a:avLst/>
          </a:prstGeom>
          <a:noFill/>
          <a:ln w="15875">
            <a:solidFill>
              <a:srgbClr val="3949AB"/>
            </a:solidFill>
            <a:prstDash val="solid"/>
          </a:ln>
        </p:spPr>
      </p:sp>
      <p:sp>
        <p:nvSpPr>
          <p:cNvPr id="18" name="Shape 16"/>
          <p:cNvSpPr/>
          <p:nvPr/>
        </p:nvSpPr>
        <p:spPr>
          <a:xfrm>
            <a:off x="2275332" y="3977640"/>
            <a:ext cx="7638288" cy="914"/>
          </a:xfrm>
          <a:prstGeom prst="line">
            <a:avLst/>
          </a:prstGeom>
          <a:noFill/>
          <a:ln w="15875">
            <a:solidFill>
              <a:srgbClr val="3949A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La base del escalado automático del Tema 4</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Shape 3"/>
          <p:cNvSpPr/>
          <p:nvPr/>
        </p:nvSpPr>
        <p:spPr>
          <a:xfrm>
            <a:off x="548640" y="1371600"/>
            <a:ext cx="11091672" cy="1554480"/>
          </a:xfrm>
          <a:prstGeom prst="roundRect">
            <a:avLst/>
          </a:prstGeom>
          <a:solidFill>
            <a:srgbClr val="FFF8E1"/>
          </a:solidFill>
          <a:ln w="19050">
            <a:solidFill>
              <a:srgbClr val="FFA000"/>
            </a:solidFill>
            <a:prstDash val="solid"/>
          </a:ln>
        </p:spPr>
      </p:sp>
      <p:sp>
        <p:nvSpPr>
          <p:cNvPr id="6" name="Text 4"/>
          <p:cNvSpPr/>
          <p:nvPr/>
        </p:nvSpPr>
        <p:spPr>
          <a:xfrm>
            <a:off x="822960" y="1463040"/>
            <a:ext cx="10543032" cy="137160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Una plantilla de lanzamiento parametrizada es exactamente lo que va a usar el grupo de escalado automático del Tema 4 para decidir «necesito una instancia más, ¿con qué características la lanzo?» — sin plantilla, no hay escalado automático posible.</a:t>
            </a:r>
            <a:endParaRPr lang="en-US" sz="2000" dirty="0"/>
          </a:p>
        </p:txBody>
      </p:sp>
      <p:sp>
        <p:nvSpPr>
          <p:cNvPr id="7" name="Shape 5"/>
          <p:cNvSpPr/>
          <p:nvPr/>
        </p:nvSpPr>
        <p:spPr>
          <a:xfrm>
            <a:off x="548640" y="3200400"/>
            <a:ext cx="11091672" cy="1554480"/>
          </a:xfrm>
          <a:prstGeom prst="roundRect">
            <a:avLst/>
          </a:prstGeom>
          <a:solidFill>
            <a:srgbClr val="FFF8E1"/>
          </a:solidFill>
          <a:ln w="28575">
            <a:solidFill>
              <a:srgbClr val="FFA000"/>
            </a:solidFill>
            <a:prstDash val="solid"/>
          </a:ln>
        </p:spPr>
      </p:sp>
      <p:sp>
        <p:nvSpPr>
          <p:cNvPr id="8" name="Text 6"/>
          <p:cNvSpPr/>
          <p:nvPr/>
        </p:nvSpPr>
        <p:spPr>
          <a:xfrm>
            <a:off x="822960" y="3310128"/>
            <a:ext cx="10543032" cy="1335024"/>
          </a:xfrm>
          <a:prstGeom prst="rect">
            <a:avLst/>
          </a:prstGeom>
          <a:noFill/>
          <a:ln/>
        </p:spPr>
        <p:txBody>
          <a:bodyPr wrap="square" rtlCol="0" anchor="t"/>
          <a:lstStyle/>
          <a:p>
            <a:pPr indent="0" marL="0">
              <a:buNone/>
            </a:pPr>
            <a:r>
              <a:rPr lang="en-US" sz="1800" b="1" dirty="0">
                <a:solidFill>
                  <a:srgbClr val="1A237E"/>
                </a:solidFill>
                <a:latin typeface="Arial" pitchFamily="34" charset="0"/>
                <a:ea typeface="Arial" pitchFamily="34" charset="-122"/>
                <a:cs typeface="Arial" pitchFamily="34" charset="-120"/>
              </a:rPr>
              <a:t>⚠️ Una plantilla no crea infraestructura, solo la reutiliza
</a:t>
            </a:r>
            <a:endParaRPr lang="en-US" sz="1800" dirty="0"/>
          </a:p>
          <a:p>
            <a:pPr indent="0" marL="0">
              <a:buNone/>
            </a:pPr>
            <a:r>
              <a:rPr lang="en-US" sz="1700" dirty="0">
                <a:solidFill>
                  <a:srgbClr val="212121"/>
                </a:solidFill>
                <a:latin typeface="Arial" pitchFamily="34" charset="0"/>
                <a:ea typeface="Arial" pitchFamily="34" charset="-122"/>
                <a:cs typeface="Arial" pitchFamily="34" charset="-120"/>
              </a:rPr>
              <a:t>Guarda los ID de tu subred y tu grupo de seguridad, que solo existen en tu cuenta y tu región. Para replicar toda una infraestructura de una cuenta a otra hace falta infraestructura como código (Tema 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2: Máquinas virtuales</a:t>
            </a:r>
            <a:endParaRPr lang="en-US" sz="1100" dirty="0"/>
          </a:p>
        </p:txBody>
      </p:sp>
      <p:sp>
        <p:nvSpPr>
          <p:cNvPr id="5" name="Text 3"/>
          <p:cNvSpPr/>
          <p:nvPr/>
        </p:nvSpPr>
        <p:spPr>
          <a:xfrm>
            <a:off x="548640" y="1554480"/>
            <a:ext cx="11091672" cy="3840480"/>
          </a:xfrm>
          <a:prstGeom prst="rect">
            <a:avLst/>
          </a:prstGeom>
          <a:noFill/>
          <a:ln/>
        </p:spPr>
        <p:txBody>
          <a:bodyPr wrap="square" rtlCol="0" anchor="t"/>
          <a:lstStyle/>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El tipo de instancia combina familia (para qué está optimizada) y tamaño (cuánta CPU/memoria) — más grande no siempre es mejor.</a:t>
            </a:r>
            <a:endParaRPr lang="en-US" sz="2000" dirty="0"/>
          </a:p>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Una AMI es la fotografía completa de un disco de arranque, lista para lanzar instancias idénticas sin reinstalar nada.</a:t>
            </a:r>
            <a:endParaRPr lang="en-US" sz="2000" dirty="0"/>
          </a:p>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El almacenamiento (EBS) es un recurso independiente conectado a la instancia, no una parte indivisible de ella.</a:t>
            </a:r>
            <a:endParaRPr lang="en-US" sz="2000" dirty="0"/>
          </a:p>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Parar conserva la instancia y el disco sin facturar cómputo; terminar la elimina por completo.</a:t>
            </a:r>
            <a:endParaRPr lang="en-US" sz="2000" dirty="0"/>
          </a:p>
          <a:p>
            <a:pPr marL="190500" indent="-190500">
              <a:spcAft>
                <a:spcPts val="2000"/>
              </a:spcAft>
              <a:buSzPct val="100000"/>
              <a:buChar char="•"/>
            </a:pPr>
            <a:r>
              <a:rPr lang="en-US" sz="2000" dirty="0">
                <a:solidFill>
                  <a:srgbClr val="212121"/>
                </a:solidFill>
                <a:latin typeface="Arial" pitchFamily="34" charset="0"/>
                <a:ea typeface="Arial" pitchFamily="34" charset="-122"/>
                <a:cs typeface="Arial" pitchFamily="34" charset="-120"/>
              </a:rPr>
              <a:t>Una plantilla de lanzamiento empaqueta todos los parámetros para lanzar muchas instancias idénticas — la base del escalado automático del Tema 4.</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Máquinas virtuales</dc:title>
  <dc:subject>PptxGenJS Presentation</dc:subject>
  <dc:creator>Introducción a la Nube Pública</dc:creator>
  <cp:lastModifiedBy>Introducción a la Nube Pública</cp:lastModifiedBy>
  <cp:revision>1</cp:revision>
  <dcterms:created xsi:type="dcterms:W3CDTF">2026-09-06T16:05:19Z</dcterms:created>
  <dcterms:modified xsi:type="dcterms:W3CDTF">2026-09-06T16:05:19Z</dcterms:modified>
</cp:coreProperties>
</file>