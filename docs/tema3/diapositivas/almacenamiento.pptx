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934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3: ALMACENAMIENTO, DATOS Y PRIMERA ARQUITECTURA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de almacenamiento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Almacenamiento, datos y primera arquitectura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problemas de almacenamiento, una sesión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usaste S3 en la primera sesión, sin detenerte a pensar en qué tipo de almacenamiento era. Hoy trabajas con la plataforma de gestión de un festival de música, cuyas necesidades ya no encajan todas en S3: las fotos que suben los asistentes, el disco de una instancia que se ha quedado corto, y una carpeta que dos instancias necesitan ver a la vez.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problemas de almacenamiento distintos, en la misma sesión — vas a resolverlos de verdad en la Actividad 3.1.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familias, tres formas de guardar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«el almacenamiento en la nube» en singular — existen tres familias, y cada una guarda y sirve los datos de una forma físicamente distinta por debajo, no solo con un nombre distinto.</a:t>
            </a:r>
            <a:endParaRPr lang="en-US" sz="1700" dirty="0"/>
          </a:p>
        </p:txBody>
      </p:sp>
      <p:pic>
        <p:nvPicPr>
          <p:cNvPr id="6" name="Image 0" descr="C:/Users/Aitor/Documents/apuntes-profe/introduccion-nube/docs/tema3/img/diagrama_tres_familias_almacenamiento.png"/>
          <p:cNvPicPr>
            <a:picLocks noChangeAspect="1"/>
          </p:cNvPicPr>
          <p:nvPr/>
        </p:nvPicPr>
        <p:blipFill>
          <a:blip r:embed="rId3"/>
          <a:srcRect t="12515"/>
          <a:stretch>
            <a:fillRect/>
          </a:stretch>
        </p:blipFill>
        <p:spPr>
          <a:xfrm>
            <a:off x="1557923" y="1787745"/>
            <a:ext cx="9073106" cy="44672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Bloque, objetos y archivos compartidos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206240"/>
        </p:xfrm>
        <a:graphic>
          <a:graphicData uri="http://schemas.openxmlformats.org/drawingml/2006/table">
            <a:tbl>
              <a:tblPr/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accede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Cuántas instancias a la vez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típico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(EBS)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un disco duro, conectado directamente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una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disco raíz de tu instancia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Objetos (S3)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HTTP, a través de una URL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límite práctico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sitio estático en un bucket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Archivos compartidos (EFS)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una carpeta de red, por NFS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Varias, en tiempo real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Ficheros que varias instancias necesitan ver a la vez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bloque lo formatea el sistema operativo de la instancia (ext4, por ejemplo); en S3 el bucket es un espacio plano, sin carpetas de verdad; EFS usa NFS para que varias instancias vean la misma carpeta remota al instante.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festival de música, tres respuestas distintas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5544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espacio de logs de una instancia que se ha quedado corto es el disco de esa máquina — bloque. Los asistentes suben fotos que quieres publicar para que cualquiera las vea desde su navegador — objetos, S3.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91672" cy="13716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Esas mismas fotos las tienen que servir dos instancias a la vez, viendo ambas los mismos ficheros en tiempo real, sin copiárselos a mano — archivos compartidos, EFS.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un volumen EBS: dos partes, no una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creó el volumen, AWS grabó una tabla de particiones en el propio disco, y el sistema operativo la leyó una vez al arrancar y se quedó con ese dato en memoria. Si amplías el volumen por fuera, esa tabla y esa memoria no se actualizan solas.</a:t>
            </a:r>
            <a:endParaRPr lang="en-US" sz="1800" dirty="0"/>
          </a:p>
        </p:txBody>
      </p:sp>
      <p:pic>
        <p:nvPicPr>
          <p:cNvPr id="6" name="Image 0" descr="C:/Users/Aitor/docxgen/img/inu_e1_ebs_ampli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88" y="2834640"/>
            <a:ext cx="10313377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habitual: dar por hecho que ya está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7373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389888"/>
            <a:ext cx="1054303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El sistema operativo no se entera solo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la instancia, un comando como df -h te seguiría mostrando el tamaño antiguo hasta que extiendas la partición y el sistema de ficheros — sin necesidad de reiniciar ni cortar el servicio. Vas a hacer este proceso completo en la Actividad 3.1.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91672" cy="10972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volumen EBS también tiene un tipo que decide su rendimiento (gp3 es el de propósito general, el que usarás por defecto). No hace falta memorizar el catálogo entero.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Durabilidad frente a disponibilidad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Durabilidad: </a:t>
            </a:r>
            <a:endParaRPr lang="en-US" sz="170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de que tus datos sobrevivan con el tiempo. S3 anuncia un 99,999999999 % anual (once nueves).</a:t>
            </a:r>
            <a:endParaRPr lang="en-US" sz="17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</a:t>
            </a:r>
            <a:endParaRPr lang="en-US" sz="1700" dirty="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de que puedas acceder a tus datos en un momento dado — un servicio puede tener datos duraderos y estar temporalmente inaccesible.</a:t>
            </a:r>
            <a:endParaRPr lang="en-US" sz="1700" dirty="0"/>
          </a:p>
        </p:txBody>
      </p:sp>
      <p:pic>
        <p:nvPicPr>
          <p:cNvPr id="6" name="Image 0" descr="C:/Users/Aitor/docxgen/img/inu_e2_durabilidad_disponibi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49" y="3017520"/>
            <a:ext cx="11207180" cy="2384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de acceso: el precio ajustado al uso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Estándar: </a:t>
            </a:r>
            <a:endParaRPr lang="en-US" sz="190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más rápido de S3, cualquier petición se sirve al momento — es la que más cobra por GB guardado.</a:t>
            </a:r>
            <a:endParaRPr lang="en-US" sz="19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infrecuente: </a:t>
            </a:r>
            <a:endParaRPr lang="en-US" sz="190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igual de inmediata, pero cobra una tarifa extra cada vez que recuperas un objeto.</a:t>
            </a:r>
            <a:endParaRPr lang="en-US" sz="19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(Glacier): </a:t>
            </a:r>
            <a:endParaRPr lang="en-US" sz="190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objeto no está listo para leerse — hay que pedir una restauración y esperar antes de poder descargar.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ahorro no sale de la nada: cuanto más barata la clase, menos preparado está el dato para devolvértelo al instante.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de acceso, comparadas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84048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3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por GB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de recuperación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Ninguno, acceso inmediato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que se lee constantemente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infrecuente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Bajo, acceso igual de inmediato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Copias recientes, fotos de hace semanas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Archivo (Glacier)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bajo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Alto, hay que restaurar antes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que casi nunca se tocan pero hay que conservar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Glacier no vale para nada urgente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23774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10543032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 Restaurar lleva tiempo, no es instantáneo
</a:t>
            </a:r>
            <a:endParaRPr lang="en-US" sz="21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alguien te pide una foto de hace seis meses y la tienes en Glacier, no se la puedes enviar en el momento — primero tienes que restaurarla y esperar. Perfecto para lo que no vas a tocar en mucho tiempo, inservible para lo que puedan pedirte de un día para otro.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ciclo de vida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de clase a mano, objeto a objeto, no escala. Las reglas de ciclo de vida son políticas que mueven automáticamente un objeto de una clase a otra —o lo eliminan— pasado cierto tiempo: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292858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2014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Foto recién subida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95778" y="256032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días 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81578" y="2560320"/>
            <a:ext cx="2292858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27298" y="2606040"/>
            <a:ext cx="22014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Acceso infrecuente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28716" y="256032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días  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14516" y="2560320"/>
            <a:ext cx="2292858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60236" y="2606040"/>
            <a:ext cx="22014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 Archivo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61654" y="256032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 días  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47454" y="2560320"/>
            <a:ext cx="2292858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393174" y="2606040"/>
            <a:ext cx="22014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Eliminada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Versionado y cifrado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versionado activado, subir un objeto con un nombre que ya existe no sobrescribe nada: S3 asigna un ID de versión nuevo y conserva las dos. Si alguien borra un objeto, S3 añade un marcador de eliminación — la versión anterior sigue recuperable.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422904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3331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 original)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25824" y="28803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3024" y="2880360"/>
            <a:ext cx="3422904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28744" y="2926080"/>
            <a:ext cx="3331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(sustituye a la 1 en el listado)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60208" y="28803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17408" y="2880360"/>
            <a:ext cx="3422904" cy="12801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63128" y="2926080"/>
            <a:ext cx="33314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Marcador de eliminación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(V1 y V2 siguen recuperables)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Eligiendo familia según el patrón de acceso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pic>
        <p:nvPicPr>
          <p:cNvPr id="5" name="Image 0" descr="C:/Users/Aitor/docxgen/img/inu_e5_eligiendo_famil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777" y="1097280"/>
            <a:ext cx="7730071" cy="40905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instancias necesitan verlo a la vez, y cómo se accede: por HTTP, como disco, o como carpeta compartida?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Servicios de almacenamiento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familias, cada una con un mecanismo físico distinto: bloque (disco de una sola instancia), objetos (espacio plano por HTTP), archivos compartidos (carpeta de red por NFS, varias instancias).</a:t>
            </a:r>
            <a:endParaRPr lang="en-US" sz="18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un volumen EBS son dos pasos: el tamaño en AWS, y la extensión de la partición y el sistema de ficheros dentro de la instancia.</a:t>
            </a:r>
            <a:endParaRPr lang="en-US" sz="18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Durabilidad (que sobrevivan los datos) y disponibilidad (que puedas acceder ahora mismo) son garantías distintas.</a:t>
            </a:r>
            <a:endParaRPr lang="en-US" sz="18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clases de acceso ajustan precio a frecuencia de uso; las reglas de ciclo de vida mueven objetos entre clases automáticamente.</a:t>
            </a:r>
            <a:endParaRPr lang="en-US" sz="18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versionado no sobrescribe ni borra de verdad: asigna IDs de versión y usa marcadores de eliminación — no es una copia de seguridad completa.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Microsoft Office PowerPoint</Application>
  <PresentationFormat>Panorámica</PresentationFormat>
  <Paragraphs>125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Servicios de almacenamiento</dc:title>
  <dc:subject>PptxGenJS Presentation</dc:subject>
  <dc:creator>Introducción a la Nube Pública</dc:creator>
  <cp:lastModifiedBy>VENTURA EDO, AITOR</cp:lastModifiedBy>
  <cp:revision>2</cp:revision>
  <dcterms:created xsi:type="dcterms:W3CDTF">2026-09-06T16:19:59Z</dcterms:created>
  <dcterms:modified xsi:type="dcterms:W3CDTF">2026-09-06T16:34:17Z</dcterms:modified>
</cp:coreProperties>
</file>