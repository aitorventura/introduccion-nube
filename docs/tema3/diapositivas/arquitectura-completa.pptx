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86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5CA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 —  TEMA 3: ALMACENAMIENTO, DATOS Y PRIMERA ARQUITECTURA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arquitectura cloud completa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FFA000"/>
          </a:solidFill>
          <a:ln w="1270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3 — Almacenamiento, datos y primera arquitectura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piezas sueltas, juntas por fin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Tienes ya todas las piezas sueltas: red con capas públicas y privadas, instancias, almacenamiento de objetos y compartido, y una base de datos gestionada sin credenciales en el código. Hoy no aprendes ningún servicio nuevo — hoy las juntas todas en una sola arquitectura.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520440"/>
            <a:ext cx="11091672" cy="10972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cierre natural de todo lo construido desde la primera sesión, y el punto de partida de todo lo que viene: alta disponibilidad, monitorización, coste, automatización.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dos piezas a tres: separas también el front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pic>
        <p:nvPicPr>
          <p:cNvPr id="5" name="Image 0" descr="C:/Users/Aitor/docxgen/img/inu_e9_ahora_vs_h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9722" y="919998"/>
            <a:ext cx="7628678" cy="53273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pieza solo habla con la siguiente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55448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430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front y la aplicación reciben tráfico de internet por caminos distintos —el front directamente desde S3, la aplicación desde su propia instancia—, y solo la aplicación tiene permiso para hablar con la base de datos.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mismo principio de mínimo privilegio que has aplicado con los grupos de seguridad del Tema 2, ahora aplicado a la arquitectura entera.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CORS: por qué el backend necesita permitirlo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front vive en una URL de S3 y la aplicación en la IP de una instancia EC2. Para el navegador son orígenes distintos: un origen se define por protocolo, dominio y puerto — con que uno solo cambie, ya cuentan como orígenes diferentes.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1673" cy="219456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4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240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46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Protocolo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Dominio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 (S3)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escaparate-front-xxx.s3-website-...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 (EC2)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http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3.84.12.9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46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defecto, un script cargado desde un origen no puede leer la respuesta de una petición hecha a otro origen. Esta restricción no protege al servidor: te protege a ti.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banco y la pestaña maliciosa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script puede pedir datos a cualquier URL, aunque no sea la suya.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navegador guarda las cookies por dominio: si tienes sesión en el banco, cualquier petición a ese dominio lleva tu cookie puesta.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petición del script malicioso llega al banco con tu cookie, y el banco responde como si fueras tú.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 actúa la restricción: el navegador deja salir la petición, pero no deja que el script la lea.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Cuándo se comprueba: después de responder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pic>
        <p:nvPicPr>
          <p:cNvPr id="5" name="Image 0" descr="C:/Users/Aitor/docxgen/img/inu_e10_cors_sequ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981" y="994642"/>
            <a:ext cx="9268288" cy="4525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094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servidor responde igual en los dos casos. Es el navegador quien, ya con la respuesta en la mano, decide si se la pasa al script o la descarta.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Separación de responsabilidades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3108960"/>
        </p:xfrm>
        <a:graphic>
          <a:graphicData uri="http://schemas.openxmlformats.org/drawingml/2006/table">
            <a:tbl>
              <a:tblPr/>
              <a:tblGrid>
                <a:gridCol w="22183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Responsabilidad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NO hace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 (S3)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Servir HTML, CSS y JavaScript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ejecuta lógica de negocio, no toca la base de datos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Aplicación (EC2)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Procesar peticiones, aplicar reglas de negocio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sirve el front estático, no almacena datos permanentes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datos (RDS)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Guardar y devolver datos de forma consistente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sabe presentar nada, no toma decisiones de negocio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5262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mañana necesitas escalar solo la aplicación, no tocas ni el front ni la base de datos — están desacoplados. Esa independencia hace posible el Tema 4.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Configuración externa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endpoint de RDS, la ruta del sistema de ficheros, la URL del front: ninguno vive escrito dentro del código. Da igual que el dato sea público o un secreto — los dos llegan a la aplicación como variables de entorno en el arranque.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340407" y="2926080"/>
            <a:ext cx="7508138" cy="914400"/>
          </a:xfrm>
          <a:prstGeom prst="roundRect">
            <a:avLst/>
          </a:prstGeom>
          <a:solidFill>
            <a:srgbClr val="E8EAF6"/>
          </a:solidFill>
          <a:ln w="19050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2340407" y="2926080"/>
            <a:ext cx="750813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de la aplicación (fijo)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Configuración externa (variables de entorno)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094476" y="3840480"/>
            <a:ext cx="914" cy="182880"/>
          </a:xfrm>
          <a:prstGeom prst="line">
            <a:avLst/>
          </a:prstGeom>
          <a:noFill/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4206240"/>
            <a:ext cx="5362956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594360" y="4206240"/>
            <a:ext cx="52715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de producción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230118" y="4023360"/>
            <a:ext cx="914" cy="182880"/>
          </a:xfrm>
          <a:prstGeom prst="line">
            <a:avLst/>
          </a:prstGeom>
          <a:noFill/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277356" y="4206240"/>
            <a:ext cx="5362956" cy="777240"/>
          </a:xfrm>
          <a:prstGeom prst="roundRect">
            <a:avLst/>
          </a:prstGeom>
          <a:solidFill>
            <a:srgbClr val="E8EAF6"/>
          </a:solidFill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323076" y="4206240"/>
            <a:ext cx="52715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Entorno de pruebas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58834" y="4023360"/>
            <a:ext cx="914" cy="182880"/>
          </a:xfrm>
          <a:prstGeom prst="line">
            <a:avLst/>
          </a:prstGeom>
          <a:noFill/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230118" y="4023360"/>
            <a:ext cx="5728716" cy="914"/>
          </a:xfrm>
          <a:prstGeom prst="line">
            <a:avLst/>
          </a:prstGeom>
          <a:noFill/>
          <a:ln w="15875">
            <a:solidFill>
              <a:srgbClr val="3949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Cadena de dependencias entre capas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pic>
        <p:nvPicPr>
          <p:cNvPr id="5" name="Image 0" descr="C:/Users/Aitor/docxgen/img/inu_e12_cadena_depende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691" y="1097280"/>
            <a:ext cx="670157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617720"/>
            <a:ext cx="11091672" cy="100584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470916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base de datos no está lista cuando arranca la aplicación, la aplicación falla al conectarse — la solución casi nunca es cambiar el orden, sino reintentar la conexión unos segundos.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se rompe cuando una pieza se mueve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3291840"/>
        </p:xfrm>
        <a:graphic>
          <a:graphicData uri="http://schemas.openxmlformats.org/drawingml/2006/table">
            <a:tbl>
              <a:tblPr/>
              <a:tblGrid>
                <a:gridCol w="421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se mueve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se rompe si no se actualiza la referencia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Endpoint de la base de datos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aplicación no puede conectar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Ruta del sistema de ficheros compartido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aplicación no encuentra las imágenes de producto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Dirección del front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enlaces del catálogo dejan de resolver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5488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fallo no está en la pieza que se movió — está en la referencia que se quedó apuntando al sitio viejo.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únicos de fallo (SPOF)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punto único de fallo es cualquier pieza tal que, si falla ella sola, se cae el sistema entero. Identificarlos es el objetivo de la Parte B de la actividad de hoy.</a:t>
            </a:r>
            <a:endParaRPr lang="en-US" sz="1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1672" cy="2743200"/>
        </p:xfrm>
        <a:graphic>
          <a:graphicData uri="http://schemas.openxmlformats.org/drawingml/2006/table">
            <a:tbl>
              <a:tblPr/>
              <a:tblGrid>
                <a:gridCol w="4214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8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Pieza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qué es un SPOF hoy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949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instancia EC2 de la aplicación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una sola — si se para, no hay copia que responda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instancia RDS (sin Multi-AZ)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fallo de zona tumba la base de datos entera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región donde despliegas todo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fallo a ese nivel se lleva las tres capas a la vez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Tener SPOF hoy no es un error de diseño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2560320"/>
          </a:xfrm>
          <a:prstGeom prst="roundRect">
            <a:avLst/>
          </a:prstGeom>
          <a:solidFill>
            <a:srgbClr val="FFF8E1"/>
          </a:solidFill>
          <a:ln w="28575">
            <a:solidFill>
              <a:srgbClr val="FFA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10543032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300" b="1" dirty="0">
                <a:solidFill>
                  <a:srgbClr val="1A2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Es el punto de partida
</a:t>
            </a:r>
            <a:endParaRPr lang="en-US" sz="2300" dirty="0"/>
          </a:p>
          <a:p>
            <a:pPr marL="0" indent="0">
              <a:buNone/>
            </a:pPr>
            <a:r>
              <a:rPr lang="en-US" sz="2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arquitectura empieza con puntos únicos de fallo; lo que la hace madura no es no tenerlos desde el primer día, sino saber nombrarlos y decidir cuáles merece la pena resolver primero. Hoy los identificas; en el Tema 4 empiezas a eliminarlos.</a:t>
            </a:r>
            <a:endParaRPr lang="en-US" sz="2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la Nube Pública — Tema 3: Primera arquitectura cloud completa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1091672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de tres capas: front (S3), aplicación (EC2) y datos (RDS) — cada capa solo habla con la siguiente, mínimo privilegio aplicado a toda la arquitectura.</a:t>
            </a:r>
            <a:endParaRPr lang="en-US" sz="16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es la excepción explícita que el backend concede a un origen concreto; el bloqueo lo aplica siempre el navegador, después de que el servidor ya haya respondido.</a:t>
            </a:r>
            <a:endParaRPr lang="en-US" sz="16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separación de responsabilidades permite escalar o cambiar una capa sin tocar las demás.</a:t>
            </a:r>
            <a:endParaRPr lang="en-US" sz="16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configuración externa (variables de entorno) permite que el mismo código sirva para varios entornos.</a:t>
            </a:r>
            <a:endParaRPr lang="en-US" sz="16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una dependencia tarda, la solución habitual es reintentar la conexión, no rehacer el despliegue a ciegas.</a:t>
            </a:r>
            <a:endParaRPr lang="en-US" sz="1600" dirty="0"/>
          </a:p>
          <a:p>
            <a:pPr marL="190500" indent="-1905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punto único de fallo (SPOF) es cualquier pieza cuya caída tumba el sistema entero. Una arquitectura resiliente sigue funcionando cuando uno de esos puntos falla.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1237</Words>
  <Application>Microsoft Office PowerPoint</Application>
  <PresentationFormat>Panorámica</PresentationFormat>
  <Paragraphs>110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Primera arquitectura cloud completa</dc:title>
  <dc:subject>PptxGenJS Presentation</dc:subject>
  <dc:creator>Introducción a la Nube Pública</dc:creator>
  <cp:lastModifiedBy>VENTURA EDO, AITOR</cp:lastModifiedBy>
  <cp:revision>2</cp:revision>
  <dcterms:created xsi:type="dcterms:W3CDTF">2026-09-06T16:24:37Z</dcterms:created>
  <dcterms:modified xsi:type="dcterms:W3CDTF">2026-09-06T16:36:19Z</dcterms:modified>
</cp:coreProperties>
</file>