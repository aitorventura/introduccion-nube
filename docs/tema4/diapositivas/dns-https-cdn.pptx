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37E"/>
        </a:solidFill>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indent="0" marL="0">
              <a:buNone/>
            </a:pPr>
            <a:r>
              <a:rPr lang="en-US" sz="1400" dirty="0">
                <a:solidFill>
                  <a:srgbClr val="C5CAE9"/>
                </a:solidFill>
                <a:latin typeface="Arial" pitchFamily="34" charset="0"/>
                <a:ea typeface="Arial" pitchFamily="34" charset="-122"/>
                <a:cs typeface="Arial" pitchFamily="34" charset="-120"/>
              </a:rPr>
              <a:t>INTRODUCCIÓN A LA NUBE PÚBLICA  —  TEMA 4: ALTA DISPONIBILIDAD, ESCALADO Y ENTREGA DE CONTENIDO</a:t>
            </a:r>
            <a:endParaRPr lang="en-US" sz="1400" dirty="0"/>
          </a:p>
        </p:txBody>
      </p:sp>
      <p:sp>
        <p:nvSpPr>
          <p:cNvPr id="3" name="Text 1"/>
          <p:cNvSpPr/>
          <p:nvPr/>
        </p:nvSpPr>
        <p:spPr>
          <a:xfrm>
            <a:off x="548640" y="1554480"/>
            <a:ext cx="11091672" cy="2377440"/>
          </a:xfrm>
          <a:prstGeom prst="rect">
            <a:avLst/>
          </a:prstGeom>
          <a:noFill/>
          <a:ln/>
        </p:spPr>
        <p:txBody>
          <a:bodyPr wrap="square" rtlCol="0" anchor="ctr"/>
          <a:lstStyle/>
          <a:p>
            <a:pPr algn="l" indent="0" marL="0">
              <a:buNone/>
            </a:pPr>
            <a:r>
              <a:rPr lang="en-US" sz="3600" b="1" dirty="0">
                <a:solidFill>
                  <a:srgbClr val="FFFFFF"/>
                </a:solidFill>
                <a:latin typeface="Arial" pitchFamily="34" charset="0"/>
                <a:ea typeface="Arial" pitchFamily="34" charset="-122"/>
                <a:cs typeface="Arial" pitchFamily="34" charset="-120"/>
              </a:rPr>
              <a:t>DNS, HTTPS y distribución de contenido</a:t>
            </a:r>
            <a:endParaRPr lang="en-US" sz="3600" dirty="0"/>
          </a:p>
        </p:txBody>
      </p:sp>
      <p:sp>
        <p:nvSpPr>
          <p:cNvPr id="4" name="Shape 2"/>
          <p:cNvSpPr/>
          <p:nvPr/>
        </p:nvSpPr>
        <p:spPr>
          <a:xfrm>
            <a:off x="0" y="5120640"/>
            <a:ext cx="12188952" cy="914400"/>
          </a:xfrm>
          <a:prstGeom prst="rect">
            <a:avLst/>
          </a:prstGeom>
          <a:solidFill>
            <a:srgbClr val="FFA000"/>
          </a:solidFill>
          <a:ln w="12700">
            <a:solidFill>
              <a:srgbClr val="FFA000"/>
            </a:solidFill>
            <a:prstDash val="solid"/>
          </a:ln>
        </p:spPr>
      </p:sp>
      <p:sp>
        <p:nvSpPr>
          <p:cNvPr id="5" name="Text 3"/>
          <p:cNvSpPr/>
          <p:nvPr/>
        </p:nvSpPr>
        <p:spPr>
          <a:xfrm>
            <a:off x="548640" y="5120640"/>
            <a:ext cx="11091672" cy="914400"/>
          </a:xfrm>
          <a:prstGeom prst="rect">
            <a:avLst/>
          </a:prstGeom>
          <a:noFill/>
          <a:ln/>
        </p:spPr>
        <p:txBody>
          <a:bodyPr wrap="square" rtlCol="0" anchor="ctr"/>
          <a:lstStyle/>
          <a:p>
            <a:pPr indent="0" marL="0">
              <a:buNone/>
            </a:pPr>
            <a:r>
              <a:rPr lang="en-US" sz="2000" i="1" dirty="0">
                <a:solidFill>
                  <a:srgbClr val="FFFFFF"/>
                </a:solidFill>
                <a:latin typeface="Arial" pitchFamily="34" charset="0"/>
                <a:ea typeface="Arial" pitchFamily="34" charset="-122"/>
                <a:cs typeface="Arial" pitchFamily="34" charset="-120"/>
              </a:rPr>
              <a:t>Tema 4 — Alta disponibilidad, escalado y entrega de contenido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DNS, HTTPS y distribución de contenido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DNS, HTTPS y distribución de contenido</a:t>
            </a:r>
            <a:endParaRPr lang="en-US" sz="1100" dirty="0"/>
          </a:p>
        </p:txBody>
      </p:sp>
      <p:sp>
        <p:nvSpPr>
          <p:cNvPr id="5" name="Shape 3"/>
          <p:cNvSpPr/>
          <p:nvPr/>
        </p:nvSpPr>
        <p:spPr>
          <a:xfrm>
            <a:off x="548640" y="1188720"/>
            <a:ext cx="11091672" cy="1554480"/>
          </a:xfrm>
          <a:prstGeom prst="roundRect">
            <a:avLst/>
          </a:prstGeom>
          <a:solidFill>
            <a:srgbClr val="E8EAF6"/>
          </a:solidFill>
          <a:ln w="15875">
            <a:solidFill>
              <a:srgbClr val="3949AB"/>
            </a:solidFill>
            <a:prstDash val="solid"/>
          </a:ln>
        </p:spPr>
      </p:sp>
      <p:sp>
        <p:nvSpPr>
          <p:cNvPr id="6" name="Text 4"/>
          <p:cNvSpPr/>
          <p:nvPr/>
        </p:nvSpPr>
        <p:spPr>
          <a:xfrm>
            <a:off x="731520" y="1261872"/>
            <a:ext cx="10725912" cy="548640"/>
          </a:xfrm>
          <a:prstGeom prst="rect">
            <a:avLst/>
          </a:prstGeom>
          <a:noFill/>
          <a:ln/>
        </p:spPr>
        <p:txBody>
          <a:bodyPr wrap="square" rtlCol="0" anchor="ctr"/>
          <a:lstStyle/>
          <a:p>
            <a:pPr indent="0" marL="0">
              <a:buNone/>
            </a:pPr>
            <a:r>
              <a:rPr lang="en-US" sz="2000" b="1" dirty="0">
                <a:solidFill>
                  <a:srgbClr val="1A237E"/>
                </a:solidFill>
                <a:latin typeface="Arial" pitchFamily="34" charset="0"/>
                <a:ea typeface="Arial" pitchFamily="34" charset="-122"/>
                <a:cs typeface="Arial" pitchFamily="34" charset="-120"/>
              </a:rPr>
              <a:t>Ya se repone sola, pero le falta identidad</a:t>
            </a:r>
            <a:endParaRPr lang="en-US" sz="2000" dirty="0"/>
          </a:p>
        </p:txBody>
      </p:sp>
      <p:sp>
        <p:nvSpPr>
          <p:cNvPr id="7" name="Text 5"/>
          <p:cNvSpPr/>
          <p:nvPr/>
        </p:nvSpPr>
        <p:spPr>
          <a:xfrm>
            <a:off x="731520" y="1810512"/>
            <a:ext cx="10725912" cy="859536"/>
          </a:xfrm>
          <a:prstGeom prst="rect">
            <a:avLst/>
          </a:prstGeom>
          <a:noFill/>
          <a:ln/>
        </p:spPr>
        <p:txBody>
          <a:bodyPr wrap="square" rtlCol="0" anchor="t"/>
          <a:lstStyle/>
          <a:p>
            <a:pPr indent="0" marL="0">
              <a:buNone/>
            </a:pPr>
            <a:r>
              <a:rPr lang="en-US" sz="1600" dirty="0">
                <a:solidFill>
                  <a:srgbClr val="212121"/>
                </a:solidFill>
                <a:latin typeface="Arial" pitchFamily="34" charset="0"/>
                <a:ea typeface="Arial" pitchFamily="34" charset="-122"/>
                <a:cs typeface="Arial" pitchFamily="34" charset="-120"/>
              </a:rPr>
              <a:t>Una aplicación con balanceador y escalado ya se repone si una instancia falla y escala si sube el tráfico, pero sigue viviendo detrás de una URL genérica de AWS, sin HTTPS propio.</a:t>
            </a:r>
            <a:endParaRPr lang="en-US" sz="1600" dirty="0"/>
          </a:p>
        </p:txBody>
      </p:sp>
      <p:sp>
        <p:nvSpPr>
          <p:cNvPr id="8" name="Text 6"/>
          <p:cNvSpPr/>
          <p:nvPr/>
        </p:nvSpPr>
        <p:spPr>
          <a:xfrm>
            <a:off x="548640" y="288036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Lo que le añades hoy</a:t>
            </a:r>
            <a:endParaRPr lang="en-US" sz="1500" dirty="0"/>
          </a:p>
        </p:txBody>
      </p:sp>
      <p:sp>
        <p:nvSpPr>
          <p:cNvPr id="9" name="Shape 7"/>
          <p:cNvSpPr/>
          <p:nvPr/>
        </p:nvSpPr>
        <p:spPr>
          <a:xfrm>
            <a:off x="548640" y="3291840"/>
            <a:ext cx="3514344" cy="1645920"/>
          </a:xfrm>
          <a:prstGeom prst="roundRect">
            <a:avLst/>
          </a:prstGeom>
          <a:solidFill>
            <a:srgbClr val="E8EAF6"/>
          </a:solidFill>
          <a:ln w="15875">
            <a:solidFill>
              <a:srgbClr val="3949AB"/>
            </a:solidFill>
            <a:prstDash val="solid"/>
          </a:ln>
        </p:spPr>
      </p:sp>
      <p:sp>
        <p:nvSpPr>
          <p:cNvPr id="10" name="Text 8"/>
          <p:cNvSpPr/>
          <p:nvPr/>
        </p:nvSpPr>
        <p:spPr>
          <a:xfrm>
            <a:off x="685800" y="3383280"/>
            <a:ext cx="3240024" cy="548640"/>
          </a:xfrm>
          <a:prstGeom prst="rect">
            <a:avLst/>
          </a:prstGeom>
          <a:noFill/>
          <a:ln/>
        </p:spPr>
        <p:txBody>
          <a:bodyPr wrap="square" rtlCol="0" anchor="ctr"/>
          <a:lstStyle/>
          <a:p>
            <a:pPr algn="ctr" indent="0" marL="0">
              <a:buNone/>
            </a:pPr>
            <a:r>
              <a:rPr lang="en-US" sz="1700" b="1" dirty="0">
                <a:solidFill>
                  <a:srgbClr val="1A237E"/>
                </a:solidFill>
                <a:latin typeface="Arial" pitchFamily="34" charset="0"/>
                <a:ea typeface="Arial" pitchFamily="34" charset="-122"/>
                <a:cs typeface="Arial" pitchFamily="34" charset="-120"/>
              </a:rPr>
              <a:t>Dominio propio</a:t>
            </a:r>
            <a:endParaRPr lang="en-US" sz="1700" dirty="0"/>
          </a:p>
        </p:txBody>
      </p:sp>
      <p:sp>
        <p:nvSpPr>
          <p:cNvPr id="11" name="Text 9"/>
          <p:cNvSpPr/>
          <p:nvPr/>
        </p:nvSpPr>
        <p:spPr>
          <a:xfrm>
            <a:off x="731520" y="3977640"/>
            <a:ext cx="3148584" cy="868680"/>
          </a:xfrm>
          <a:prstGeom prst="rect">
            <a:avLst/>
          </a:prstGeom>
          <a:noFill/>
          <a:ln/>
        </p:spPr>
        <p:txBody>
          <a:bodyPr wrap="square" rtlCol="0" anchor="t"/>
          <a:lstStyle/>
          <a:p>
            <a:pPr algn="ctr" indent="0" marL="0">
              <a:buNone/>
            </a:pPr>
            <a:r>
              <a:rPr lang="en-US" sz="1400" dirty="0">
                <a:solidFill>
                  <a:srgbClr val="212121"/>
                </a:solidFill>
                <a:latin typeface="Arial" pitchFamily="34" charset="0"/>
                <a:ea typeface="Arial" pitchFamily="34" charset="-122"/>
                <a:cs typeface="Arial" pitchFamily="34" charset="-120"/>
              </a:rPr>
              <a:t>Un nombre con el que confiar</a:t>
            </a:r>
            <a:endParaRPr lang="en-US" sz="1400" dirty="0"/>
          </a:p>
        </p:txBody>
      </p:sp>
      <p:sp>
        <p:nvSpPr>
          <p:cNvPr id="12" name="Shape 10"/>
          <p:cNvSpPr/>
          <p:nvPr/>
        </p:nvSpPr>
        <p:spPr>
          <a:xfrm>
            <a:off x="4337304" y="3291840"/>
            <a:ext cx="3514344" cy="1645920"/>
          </a:xfrm>
          <a:prstGeom prst="roundRect">
            <a:avLst/>
          </a:prstGeom>
          <a:solidFill>
            <a:srgbClr val="FFF8E1"/>
          </a:solidFill>
          <a:ln w="25400">
            <a:solidFill>
              <a:srgbClr val="FFA000"/>
            </a:solidFill>
            <a:prstDash val="solid"/>
          </a:ln>
        </p:spPr>
      </p:sp>
      <p:sp>
        <p:nvSpPr>
          <p:cNvPr id="13" name="Text 11"/>
          <p:cNvSpPr/>
          <p:nvPr/>
        </p:nvSpPr>
        <p:spPr>
          <a:xfrm>
            <a:off x="4474464" y="3383280"/>
            <a:ext cx="3240024" cy="548640"/>
          </a:xfrm>
          <a:prstGeom prst="rect">
            <a:avLst/>
          </a:prstGeom>
          <a:noFill/>
          <a:ln/>
        </p:spPr>
        <p:txBody>
          <a:bodyPr wrap="square" rtlCol="0" anchor="ctr"/>
          <a:lstStyle/>
          <a:p>
            <a:pPr algn="ctr" indent="0" marL="0">
              <a:buNone/>
            </a:pPr>
            <a:r>
              <a:rPr lang="en-US" sz="1700" b="1" dirty="0">
                <a:solidFill>
                  <a:srgbClr val="1A237E"/>
                </a:solidFill>
                <a:latin typeface="Arial" pitchFamily="34" charset="0"/>
                <a:ea typeface="Arial" pitchFamily="34" charset="-122"/>
                <a:cs typeface="Arial" pitchFamily="34" charset="-120"/>
              </a:rPr>
              <a:t>HTTPS en el borde</a:t>
            </a:r>
            <a:endParaRPr lang="en-US" sz="1700" dirty="0"/>
          </a:p>
        </p:txBody>
      </p:sp>
      <p:sp>
        <p:nvSpPr>
          <p:cNvPr id="14" name="Text 12"/>
          <p:cNvSpPr/>
          <p:nvPr/>
        </p:nvSpPr>
        <p:spPr>
          <a:xfrm>
            <a:off x="4520184" y="3977640"/>
            <a:ext cx="3148584" cy="868680"/>
          </a:xfrm>
          <a:prstGeom prst="rect">
            <a:avLst/>
          </a:prstGeom>
          <a:noFill/>
          <a:ln/>
        </p:spPr>
        <p:txBody>
          <a:bodyPr wrap="square" rtlCol="0" anchor="t"/>
          <a:lstStyle/>
          <a:p>
            <a:pPr algn="ctr" indent="0" marL="0">
              <a:buNone/>
            </a:pPr>
            <a:r>
              <a:rPr lang="en-US" sz="1400" dirty="0">
                <a:solidFill>
                  <a:srgbClr val="212121"/>
                </a:solidFill>
                <a:latin typeface="Arial" pitchFamily="34" charset="0"/>
                <a:ea typeface="Arial" pitchFamily="34" charset="-122"/>
                <a:cs typeface="Arial" pitchFamily="34" charset="-120"/>
              </a:rPr>
              <a:t>Conexión cifrada garantizada</a:t>
            </a:r>
            <a:endParaRPr lang="en-US" sz="1400" dirty="0"/>
          </a:p>
        </p:txBody>
      </p:sp>
      <p:sp>
        <p:nvSpPr>
          <p:cNvPr id="15" name="Shape 13"/>
          <p:cNvSpPr/>
          <p:nvPr/>
        </p:nvSpPr>
        <p:spPr>
          <a:xfrm>
            <a:off x="8125968" y="3291840"/>
            <a:ext cx="3514344" cy="1645920"/>
          </a:xfrm>
          <a:prstGeom prst="roundRect">
            <a:avLst/>
          </a:prstGeom>
          <a:solidFill>
            <a:srgbClr val="E8EAF6"/>
          </a:solidFill>
          <a:ln w="15875">
            <a:solidFill>
              <a:srgbClr val="3949AB"/>
            </a:solidFill>
            <a:prstDash val="solid"/>
          </a:ln>
        </p:spPr>
      </p:sp>
      <p:sp>
        <p:nvSpPr>
          <p:cNvPr id="16" name="Text 14"/>
          <p:cNvSpPr/>
          <p:nvPr/>
        </p:nvSpPr>
        <p:spPr>
          <a:xfrm>
            <a:off x="8263128" y="3383280"/>
            <a:ext cx="3240024" cy="548640"/>
          </a:xfrm>
          <a:prstGeom prst="rect">
            <a:avLst/>
          </a:prstGeom>
          <a:noFill/>
          <a:ln/>
        </p:spPr>
        <p:txBody>
          <a:bodyPr wrap="square" rtlCol="0" anchor="ctr"/>
          <a:lstStyle/>
          <a:p>
            <a:pPr algn="ctr" indent="0" marL="0">
              <a:buNone/>
            </a:pPr>
            <a:r>
              <a:rPr lang="en-US" sz="1700" b="1" dirty="0">
                <a:solidFill>
                  <a:srgbClr val="1A237E"/>
                </a:solidFill>
                <a:latin typeface="Arial" pitchFamily="34" charset="0"/>
                <a:ea typeface="Arial" pitchFamily="34" charset="-122"/>
                <a:cs typeface="Arial" pitchFamily="34" charset="-120"/>
              </a:rPr>
              <a:t>CDN</a:t>
            </a:r>
            <a:endParaRPr lang="en-US" sz="1700" dirty="0"/>
          </a:p>
        </p:txBody>
      </p:sp>
      <p:sp>
        <p:nvSpPr>
          <p:cNvPr id="17" name="Text 15"/>
          <p:cNvSpPr/>
          <p:nvPr/>
        </p:nvSpPr>
        <p:spPr>
          <a:xfrm>
            <a:off x="8308848" y="3977640"/>
            <a:ext cx="3148584" cy="868680"/>
          </a:xfrm>
          <a:prstGeom prst="rect">
            <a:avLst/>
          </a:prstGeom>
          <a:noFill/>
          <a:ln/>
        </p:spPr>
        <p:txBody>
          <a:bodyPr wrap="square" rtlCol="0" anchor="t"/>
          <a:lstStyle/>
          <a:p>
            <a:pPr algn="ctr" indent="0" marL="0">
              <a:buNone/>
            </a:pPr>
            <a:r>
              <a:rPr lang="en-US" sz="1400" dirty="0">
                <a:solidFill>
                  <a:srgbClr val="212121"/>
                </a:solidFill>
                <a:latin typeface="Arial" pitchFamily="34" charset="0"/>
                <a:ea typeface="Arial" pitchFamily="34" charset="-122"/>
                <a:cs typeface="Arial" pitchFamily="34" charset="-120"/>
              </a:rPr>
              <a:t>Contenido cerca de cada visitante</a:t>
            </a:r>
            <a:endParaRPr lang="en-US" sz="1400" dirty="0"/>
          </a:p>
        </p:txBody>
      </p:sp>
      <p:sp>
        <p:nvSpPr>
          <p:cNvPr id="18" name="Text 16"/>
          <p:cNvSpPr/>
          <p:nvPr/>
        </p:nvSpPr>
        <p:spPr>
          <a:xfrm>
            <a:off x="548640" y="5120640"/>
            <a:ext cx="11091672" cy="731520"/>
          </a:xfrm>
          <a:prstGeom prst="rect">
            <a:avLst/>
          </a:prstGeom>
          <a:noFill/>
          <a:ln/>
        </p:spPr>
        <p:txBody>
          <a:bodyPr wrap="square" rtlCol="0" anchor="t"/>
          <a:lstStyle/>
          <a:p>
            <a:pPr algn="ctr" indent="0" marL="0">
              <a:buNone/>
            </a:pPr>
            <a:r>
              <a:rPr lang="en-US" sz="1400" i="1" dirty="0">
                <a:solidFill>
                  <a:srgbClr val="757575"/>
                </a:solidFill>
                <a:latin typeface="Arial" pitchFamily="34" charset="0"/>
                <a:ea typeface="Arial" pitchFamily="34" charset="-122"/>
                <a:cs typeface="Arial" pitchFamily="34" charset="-120"/>
              </a:rPr>
              <a:t>Se cierra otro punto único de fallo: depender de una única forma de entrar, sin nombre, sin cifrado y sin acercamiento al usuario.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DNS gestionado: una agenda repartida en cuatro papeles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DNS, HTTPS y distribución de contenido</a:t>
            </a:r>
            <a:endParaRPr lang="en-US" sz="1100" dirty="0"/>
          </a:p>
        </p:txBody>
      </p:sp>
      <p:sp>
        <p:nvSpPr>
          <p:cNvPr id="5" name="Shape 3"/>
          <p:cNvSpPr/>
          <p:nvPr/>
        </p:nvSpPr>
        <p:spPr>
          <a:xfrm>
            <a:off x="548640" y="1143000"/>
            <a:ext cx="11091672" cy="73152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548640"/>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El DNS traduce un nombre en una dirección IP — una agenda de contactos gigante, repartida por internet, donde cada papel solo sabe una parte.</a:t>
            </a:r>
            <a:endParaRPr lang="en-US" sz="14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91672" cy="914400"/>
        </p:xfrm>
        <a:graphic>
          <a:graphicData uri="http://schemas.openxmlformats.org/drawingml/2006/table">
            <a:tbl>
              <a:tblPr/>
              <a:tblGrid>
                <a:gridCol w="2662001"/>
                <a:gridCol w="8429671"/>
              </a:tblGrid>
              <a:tr h="59436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Quién</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Qué papel tiene</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594360">
                <a:tc>
                  <a:txBody>
                    <a:bodyPr/>
                    <a:lstStyle/>
                    <a:p>
                      <a:pPr indent="0" marL="0">
                        <a:buNone/>
                      </a:pPr>
                      <a:r>
                        <a:rPr lang="en-US" sz="1250" b="1" dirty="0">
                          <a:solidFill>
                            <a:srgbClr val="212121"/>
                          </a:solidFill>
                          <a:latin typeface="Arial" pitchFamily="34" charset="0"/>
                          <a:ea typeface="Arial" pitchFamily="34" charset="-122"/>
                          <a:cs typeface="Arial" pitchFamily="34" charset="-120"/>
                        </a:rPr>
                        <a:t>Resolver recursivo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Pregunta en tu lugar, saltando de servidor en servidor. Normalmente el de tu operador o tu sistema operativo.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94360">
                <a:tc>
                  <a:txBody>
                    <a:bodyPr/>
                    <a:lstStyle/>
                    <a:p>
                      <a:pPr indent="0" marL="0">
                        <a:buNone/>
                      </a:pPr>
                      <a:r>
                        <a:rPr lang="en-US" sz="1250" b="1" dirty="0">
                          <a:solidFill>
                            <a:srgbClr val="212121"/>
                          </a:solidFill>
                          <a:latin typeface="Arial" pitchFamily="34" charset="0"/>
                          <a:ea typeface="Arial" pitchFamily="34" charset="-122"/>
                          <a:cs typeface="Arial" pitchFamily="34" charset="-120"/>
                        </a:rPr>
                        <a:t>Servidor raíz</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La cima del sistema DNS. No conoce direcciones, pero sabe qué servidor lleva cada terminación (.com, .org...).</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94360">
                <a:tc>
                  <a:txBody>
                    <a:bodyPr/>
                    <a:lstStyle/>
                    <a:p>
                      <a:pPr indent="0" marL="0">
                        <a:buNone/>
                      </a:pPr>
                      <a:r>
                        <a:rPr lang="en-US" sz="1250" b="1" dirty="0">
                          <a:solidFill>
                            <a:srgbClr val="212121"/>
                          </a:solidFill>
                          <a:latin typeface="Arial" pitchFamily="34" charset="0"/>
                          <a:ea typeface="Arial" pitchFamily="34" charset="-122"/>
                          <a:cs typeface="Arial" pitchFamily="34" charset="-120"/>
                        </a:rPr>
                        <a:t>Servidor de .com (TLD)</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Responsable de un dominio de primer nivel. Sabe qué servidor lleva cada dominio registrado bajo él.</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94360">
                <a:tc>
                  <a:txBody>
                    <a:bodyPr/>
                    <a:lstStyle/>
                    <a:p>
                      <a:pPr indent="0" marL="0">
                        <a:buNone/>
                      </a:pPr>
                      <a:r>
                        <a:rPr lang="en-US" sz="1250" b="1" dirty="0">
                          <a:solidFill>
                            <a:srgbClr val="212121"/>
                          </a:solidFill>
                          <a:latin typeface="Arial" pitchFamily="34" charset="0"/>
                          <a:ea typeface="Arial" pitchFamily="34" charset="-122"/>
                          <a:cs typeface="Arial" pitchFamily="34" charset="-120"/>
                        </a:rPr>
                        <a:t>Servidor autoritativo</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50" dirty="0">
                          <a:solidFill>
                            <a:srgbClr val="212121"/>
                          </a:solidFill>
                          <a:latin typeface="Arial" pitchFamily="34" charset="0"/>
                          <a:ea typeface="Arial" pitchFamily="34" charset="-122"/>
                          <a:cs typeface="Arial" pitchFamily="34" charset="-120"/>
                        </a:rPr>
                        <a:t>El único que guarda los registros reales — el papel que cumple Route 53 para tus zonas.</a:t>
                      </a:r>
                      <a:endParaRPr lang="en-US" sz="125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La cadena completa de preguntas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DNS, HTTPS y distribución de contenido</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Tu ordenador solo le habla al resolver recursivo — es él quien sube la cadena</a:t>
            </a:r>
            <a:endParaRPr lang="en-US" sz="1500" dirty="0"/>
          </a:p>
        </p:txBody>
      </p:sp>
      <p:sp>
        <p:nvSpPr>
          <p:cNvPr id="6" name="Shape 4"/>
          <p:cNvSpPr/>
          <p:nvPr/>
        </p:nvSpPr>
        <p:spPr>
          <a:xfrm>
            <a:off x="548640" y="1554480"/>
            <a:ext cx="1962302" cy="1188720"/>
          </a:xfrm>
          <a:prstGeom prst="roundRect">
            <a:avLst/>
          </a:prstGeom>
          <a:solidFill>
            <a:srgbClr val="E8EAF6"/>
          </a:solidFill>
          <a:ln w="15875">
            <a:solidFill>
              <a:srgbClr val="3949AB"/>
            </a:solidFill>
            <a:prstDash val="solid"/>
          </a:ln>
        </p:spPr>
      </p:sp>
      <p:sp>
        <p:nvSpPr>
          <p:cNvPr id="7" name="Text 5"/>
          <p:cNvSpPr/>
          <p:nvPr/>
        </p:nvSpPr>
        <p:spPr>
          <a:xfrm>
            <a:off x="594360" y="1600200"/>
            <a:ext cx="1870862" cy="1097280"/>
          </a:xfrm>
          <a:prstGeom prst="rect">
            <a:avLst/>
          </a:prstGeom>
          <a:noFill/>
          <a:ln/>
        </p:spPr>
        <p:txBody>
          <a:bodyPr wrap="square" rtlCol="0" anchor="ctr"/>
          <a:lstStyle/>
          <a:p>
            <a:pPr algn="ctr" indent="0" marL="0">
              <a:buNone/>
            </a:pPr>
            <a:r>
              <a:rPr lang="en-US" sz="1100" dirty="0">
                <a:solidFill>
                  <a:srgbClr val="212121"/>
                </a:solidFill>
                <a:latin typeface="Arial" pitchFamily="34" charset="0"/>
                <a:ea typeface="Arial" pitchFamily="34" charset="-122"/>
                <a:cs typeface="Arial" pitchFamily="34" charset="-120"/>
              </a:rPr>
              <a:t>Tu ordenador</a:t>
            </a:r>
            <a:endParaRPr lang="en-US" sz="1100" dirty="0"/>
          </a:p>
          <a:p>
            <a:pPr algn="ctr" indent="0" marL="0">
              <a:buNone/>
            </a:pPr>
            <a:r>
              <a:rPr lang="en-US" sz="1100" dirty="0">
                <a:solidFill>
                  <a:srgbClr val="212121"/>
                </a:solidFill>
                <a:latin typeface="Arial" pitchFamily="34" charset="0"/>
                <a:ea typeface="Arial" pitchFamily="34" charset="-122"/>
                <a:cs typeface="Arial" pitchFamily="34" charset="-120"/>
              </a:rPr>
              <a:t>pregunta</a:t>
            </a:r>
            <a:endParaRPr lang="en-US" sz="1100" dirty="0"/>
          </a:p>
        </p:txBody>
      </p:sp>
      <p:sp>
        <p:nvSpPr>
          <p:cNvPr id="8" name="Text 6"/>
          <p:cNvSpPr/>
          <p:nvPr/>
        </p:nvSpPr>
        <p:spPr>
          <a:xfrm>
            <a:off x="2465222" y="1554480"/>
            <a:ext cx="411480" cy="118872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2830982" y="1554480"/>
            <a:ext cx="1962302" cy="1188720"/>
          </a:xfrm>
          <a:prstGeom prst="roundRect">
            <a:avLst/>
          </a:prstGeom>
          <a:solidFill>
            <a:srgbClr val="E8EAF6"/>
          </a:solidFill>
          <a:ln w="15875">
            <a:solidFill>
              <a:srgbClr val="3949AB"/>
            </a:solidFill>
            <a:prstDash val="solid"/>
          </a:ln>
        </p:spPr>
      </p:sp>
      <p:sp>
        <p:nvSpPr>
          <p:cNvPr id="10" name="Text 8"/>
          <p:cNvSpPr/>
          <p:nvPr/>
        </p:nvSpPr>
        <p:spPr>
          <a:xfrm>
            <a:off x="2876702" y="1600200"/>
            <a:ext cx="1870862" cy="1097280"/>
          </a:xfrm>
          <a:prstGeom prst="rect">
            <a:avLst/>
          </a:prstGeom>
          <a:noFill/>
          <a:ln/>
        </p:spPr>
        <p:txBody>
          <a:bodyPr wrap="square" rtlCol="0" anchor="ctr"/>
          <a:lstStyle/>
          <a:p>
            <a:pPr algn="ctr" indent="0" marL="0">
              <a:buNone/>
            </a:pPr>
            <a:r>
              <a:rPr lang="en-US" sz="1100" dirty="0">
                <a:solidFill>
                  <a:srgbClr val="212121"/>
                </a:solidFill>
                <a:latin typeface="Arial" pitchFamily="34" charset="0"/>
                <a:ea typeface="Arial" pitchFamily="34" charset="-122"/>
                <a:cs typeface="Arial" pitchFamily="34" charset="-120"/>
              </a:rPr>
              <a:t>Resolver recursivo</a:t>
            </a:r>
            <a:endParaRPr lang="en-US" sz="1100" dirty="0"/>
          </a:p>
          <a:p>
            <a:pPr algn="ctr" indent="0" marL="0">
              <a:buNone/>
            </a:pPr>
            <a:r>
              <a:rPr lang="en-US" sz="1100" dirty="0">
                <a:solidFill>
                  <a:srgbClr val="212121"/>
                </a:solidFill>
                <a:latin typeface="Arial" pitchFamily="34" charset="0"/>
                <a:ea typeface="Arial" pitchFamily="34" charset="-122"/>
                <a:cs typeface="Arial" pitchFamily="34" charset="-120"/>
              </a:rPr>
              <a:t>pregunta a la raíz</a:t>
            </a:r>
            <a:endParaRPr lang="en-US" sz="1100" dirty="0"/>
          </a:p>
        </p:txBody>
      </p:sp>
      <p:sp>
        <p:nvSpPr>
          <p:cNvPr id="11" name="Text 9"/>
          <p:cNvSpPr/>
          <p:nvPr/>
        </p:nvSpPr>
        <p:spPr>
          <a:xfrm>
            <a:off x="4747565" y="1554480"/>
            <a:ext cx="411480" cy="118872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5113325" y="1554480"/>
            <a:ext cx="1962302" cy="1188720"/>
          </a:xfrm>
          <a:prstGeom prst="roundRect">
            <a:avLst/>
          </a:prstGeom>
          <a:solidFill>
            <a:srgbClr val="E8EAF6"/>
          </a:solidFill>
          <a:ln w="15875">
            <a:solidFill>
              <a:srgbClr val="3949AB"/>
            </a:solidFill>
            <a:prstDash val="solid"/>
          </a:ln>
        </p:spPr>
      </p:sp>
      <p:sp>
        <p:nvSpPr>
          <p:cNvPr id="13" name="Text 11"/>
          <p:cNvSpPr/>
          <p:nvPr/>
        </p:nvSpPr>
        <p:spPr>
          <a:xfrm>
            <a:off x="5159045" y="1600200"/>
            <a:ext cx="1870862" cy="1097280"/>
          </a:xfrm>
          <a:prstGeom prst="rect">
            <a:avLst/>
          </a:prstGeom>
          <a:noFill/>
          <a:ln/>
        </p:spPr>
        <p:txBody>
          <a:bodyPr wrap="square" rtlCol="0" anchor="ctr"/>
          <a:lstStyle/>
          <a:p>
            <a:pPr algn="ctr" indent="0" marL="0">
              <a:buNone/>
            </a:pPr>
            <a:r>
              <a:rPr lang="en-US" sz="1100" dirty="0">
                <a:solidFill>
                  <a:srgbClr val="212121"/>
                </a:solidFill>
                <a:latin typeface="Arial" pitchFamily="34" charset="0"/>
                <a:ea typeface="Arial" pitchFamily="34" charset="-122"/>
                <a:cs typeface="Arial" pitchFamily="34" charset="-120"/>
              </a:rPr>
              <a:t>Servidor raíz</a:t>
            </a:r>
            <a:endParaRPr lang="en-US" sz="1100" dirty="0"/>
          </a:p>
          <a:p>
            <a:pPr algn="ctr" indent="0" marL="0">
              <a:buNone/>
            </a:pPr>
            <a:r>
              <a:rPr lang="en-US" sz="1100" dirty="0">
                <a:solidFill>
                  <a:srgbClr val="212121"/>
                </a:solidFill>
                <a:latin typeface="Arial" pitchFamily="34" charset="0"/>
                <a:ea typeface="Arial" pitchFamily="34" charset="-122"/>
                <a:cs typeface="Arial" pitchFamily="34" charset="-120"/>
              </a:rPr>
              <a:t>indica .com</a:t>
            </a:r>
            <a:endParaRPr lang="en-US" sz="1100" dirty="0"/>
          </a:p>
        </p:txBody>
      </p:sp>
      <p:sp>
        <p:nvSpPr>
          <p:cNvPr id="14" name="Text 12"/>
          <p:cNvSpPr/>
          <p:nvPr/>
        </p:nvSpPr>
        <p:spPr>
          <a:xfrm>
            <a:off x="7029907" y="1554480"/>
            <a:ext cx="411480" cy="118872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5" name="Shape 13"/>
          <p:cNvSpPr/>
          <p:nvPr/>
        </p:nvSpPr>
        <p:spPr>
          <a:xfrm>
            <a:off x="7395667" y="1554480"/>
            <a:ext cx="1962302" cy="1188720"/>
          </a:xfrm>
          <a:prstGeom prst="roundRect">
            <a:avLst/>
          </a:prstGeom>
          <a:solidFill>
            <a:srgbClr val="E8EAF6"/>
          </a:solidFill>
          <a:ln w="15875">
            <a:solidFill>
              <a:srgbClr val="3949AB"/>
            </a:solidFill>
            <a:prstDash val="solid"/>
          </a:ln>
        </p:spPr>
      </p:sp>
      <p:sp>
        <p:nvSpPr>
          <p:cNvPr id="16" name="Text 14"/>
          <p:cNvSpPr/>
          <p:nvPr/>
        </p:nvSpPr>
        <p:spPr>
          <a:xfrm>
            <a:off x="7441387" y="1600200"/>
            <a:ext cx="1870862" cy="1097280"/>
          </a:xfrm>
          <a:prstGeom prst="rect">
            <a:avLst/>
          </a:prstGeom>
          <a:noFill/>
          <a:ln/>
        </p:spPr>
        <p:txBody>
          <a:bodyPr wrap="square" rtlCol="0" anchor="ctr"/>
          <a:lstStyle/>
          <a:p>
            <a:pPr algn="ctr" indent="0" marL="0">
              <a:buNone/>
            </a:pPr>
            <a:r>
              <a:rPr lang="en-US" sz="1100" dirty="0">
                <a:solidFill>
                  <a:srgbClr val="212121"/>
                </a:solidFill>
                <a:latin typeface="Arial" pitchFamily="34" charset="0"/>
                <a:ea typeface="Arial" pitchFamily="34" charset="-122"/>
                <a:cs typeface="Arial" pitchFamily="34" charset="-120"/>
              </a:rPr>
              <a:t>Servidor .com</a:t>
            </a:r>
            <a:endParaRPr lang="en-US" sz="1100" dirty="0"/>
          </a:p>
          <a:p>
            <a:pPr algn="ctr" indent="0" marL="0">
              <a:buNone/>
            </a:pPr>
            <a:r>
              <a:rPr lang="en-US" sz="1100" dirty="0">
                <a:solidFill>
                  <a:srgbClr val="212121"/>
                </a:solidFill>
                <a:latin typeface="Arial" pitchFamily="34" charset="0"/>
                <a:ea typeface="Arial" pitchFamily="34" charset="-122"/>
                <a:cs typeface="Arial" pitchFamily="34" charset="-120"/>
              </a:rPr>
              <a:t>indica Route 53</a:t>
            </a:r>
            <a:endParaRPr lang="en-US" sz="1100" dirty="0"/>
          </a:p>
        </p:txBody>
      </p:sp>
      <p:sp>
        <p:nvSpPr>
          <p:cNvPr id="17" name="Text 15"/>
          <p:cNvSpPr/>
          <p:nvPr/>
        </p:nvSpPr>
        <p:spPr>
          <a:xfrm>
            <a:off x="9312250" y="1554480"/>
            <a:ext cx="411480" cy="118872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8" name="Shape 16"/>
          <p:cNvSpPr/>
          <p:nvPr/>
        </p:nvSpPr>
        <p:spPr>
          <a:xfrm>
            <a:off x="9678010" y="1554480"/>
            <a:ext cx="1962302" cy="1188720"/>
          </a:xfrm>
          <a:prstGeom prst="roundRect">
            <a:avLst/>
          </a:prstGeom>
          <a:solidFill>
            <a:srgbClr val="E8EAF6"/>
          </a:solidFill>
          <a:ln w="15875">
            <a:solidFill>
              <a:srgbClr val="3949AB"/>
            </a:solidFill>
            <a:prstDash val="solid"/>
          </a:ln>
        </p:spPr>
      </p:sp>
      <p:sp>
        <p:nvSpPr>
          <p:cNvPr id="19" name="Text 17"/>
          <p:cNvSpPr/>
          <p:nvPr/>
        </p:nvSpPr>
        <p:spPr>
          <a:xfrm>
            <a:off x="9723730" y="1600200"/>
            <a:ext cx="1870862" cy="1097280"/>
          </a:xfrm>
          <a:prstGeom prst="rect">
            <a:avLst/>
          </a:prstGeom>
          <a:noFill/>
          <a:ln/>
        </p:spPr>
        <p:txBody>
          <a:bodyPr wrap="square" rtlCol="0" anchor="ctr"/>
          <a:lstStyle/>
          <a:p>
            <a:pPr algn="ctr" indent="0" marL="0">
              <a:buNone/>
            </a:pPr>
            <a:r>
              <a:rPr lang="en-US" sz="1100" dirty="0">
                <a:solidFill>
                  <a:srgbClr val="212121"/>
                </a:solidFill>
                <a:latin typeface="Arial" pitchFamily="34" charset="0"/>
                <a:ea typeface="Arial" pitchFamily="34" charset="-122"/>
                <a:cs typeface="Arial" pitchFamily="34" charset="-120"/>
              </a:rPr>
              <a:t>Route 53</a:t>
            </a:r>
            <a:endParaRPr lang="en-US" sz="1100" dirty="0"/>
          </a:p>
          <a:p>
            <a:pPr algn="ctr" indent="0" marL="0">
              <a:buNone/>
            </a:pPr>
            <a:r>
              <a:rPr lang="en-US" sz="1100" dirty="0">
                <a:solidFill>
                  <a:srgbClr val="212121"/>
                </a:solidFill>
                <a:latin typeface="Arial" pitchFamily="34" charset="0"/>
                <a:ea typeface="Arial" pitchFamily="34" charset="-122"/>
                <a:cs typeface="Arial" pitchFamily="34" charset="-120"/>
              </a:rPr>
              <a:t>responde la IP</a:t>
            </a:r>
            <a:endParaRPr lang="en-US" sz="1100" dirty="0"/>
          </a:p>
        </p:txBody>
      </p:sp>
      <p:sp>
        <p:nvSpPr>
          <p:cNvPr id="20" name="Shape 18"/>
          <p:cNvSpPr/>
          <p:nvPr/>
        </p:nvSpPr>
        <p:spPr>
          <a:xfrm>
            <a:off x="548640" y="3017520"/>
            <a:ext cx="11091672" cy="1554480"/>
          </a:xfrm>
          <a:prstGeom prst="roundRect">
            <a:avLst/>
          </a:prstGeom>
          <a:solidFill>
            <a:srgbClr val="FFF8E1"/>
          </a:solidFill>
          <a:ln w="19050">
            <a:solidFill>
              <a:srgbClr val="FFA000"/>
            </a:solidFill>
            <a:prstDash val="solid"/>
          </a:ln>
        </p:spPr>
      </p:sp>
      <p:sp>
        <p:nvSpPr>
          <p:cNvPr id="21" name="Text 19"/>
          <p:cNvSpPr/>
          <p:nvPr/>
        </p:nvSpPr>
        <p:spPr>
          <a:xfrm>
            <a:off x="822960" y="3108960"/>
            <a:ext cx="10543032" cy="1371600"/>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Cada escalón, salvo el último, no contesta la pregunta: solo indica a quién preguntar después. Solo el servidor autoritativo conoce de verdad la dirección. Casi nunca ves esta cadena completa: tu proveedor o tu sistema operativo ya guardan en caché las respuestas más frecuentes.</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Registros DNS: a qué apunta cada tipo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DNS, HTTPS y distribución de contenido</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Dentro de tu zona defines registros: entradas que traducen un nombre en algo conectable</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914400"/>
        </p:xfrm>
        <a:graphic>
          <a:graphicData uri="http://schemas.openxmlformats.org/drawingml/2006/table">
            <a:tbl>
              <a:tblPr/>
              <a:tblGrid>
                <a:gridCol w="2218334"/>
                <a:gridCol w="3549335"/>
                <a:gridCol w="5324003"/>
              </a:tblGrid>
              <a:tr h="640080">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Tipo</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Traduce a</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400" b="1" dirty="0">
                          <a:solidFill>
                            <a:srgbClr val="FFFFFF"/>
                          </a:solidFill>
                          <a:latin typeface="Arial" pitchFamily="34" charset="0"/>
                          <a:ea typeface="Arial" pitchFamily="34" charset="-122"/>
                          <a:cs typeface="Arial" pitchFamily="34" charset="-120"/>
                        </a:rPr>
                        <a:t>Cuándo lo usas</a:t>
                      </a:r>
                      <a:endParaRPr lang="en-US" sz="14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640080">
                <a:tc>
                  <a:txBody>
                    <a:bodyPr/>
                    <a:lstStyle/>
                    <a:p>
                      <a:pPr indent="0" marL="0">
                        <a:buNone/>
                      </a:pPr>
                      <a:r>
                        <a:rPr lang="en-US" sz="1300" b="1" dirty="0">
                          <a:solidFill>
                            <a:srgbClr val="212121"/>
                          </a:solidFill>
                          <a:latin typeface="Arial" pitchFamily="34" charset="0"/>
                          <a:ea typeface="Arial" pitchFamily="34" charset="-122"/>
                          <a:cs typeface="Arial" pitchFamily="34" charset="-120"/>
                        </a:rPr>
                        <a:t>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Una dirección IP</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Apuntar directamente a un recurso con IP fija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640080">
                <a:tc>
                  <a:txBody>
                    <a:bodyPr/>
                    <a:lstStyle/>
                    <a:p>
                      <a:pPr indent="0" marL="0">
                        <a:buNone/>
                      </a:pPr>
                      <a:r>
                        <a:rPr lang="en-US" sz="1300" b="1" dirty="0">
                          <a:solidFill>
                            <a:srgbClr val="212121"/>
                          </a:solidFill>
                          <a:latin typeface="Arial" pitchFamily="34" charset="0"/>
                          <a:ea typeface="Arial" pitchFamily="34" charset="-122"/>
                          <a:cs typeface="Arial" pitchFamily="34" charset="-120"/>
                        </a:rPr>
                        <a:t>CNAME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Otro nombre de dominio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Apuntar a un recurso de AWS con nombre propio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640080">
                <a:tc>
                  <a:txBody>
                    <a:bodyPr/>
                    <a:lstStyle/>
                    <a:p>
                      <a:pPr indent="0" marL="0">
                        <a:buNone/>
                      </a:pPr>
                      <a:r>
                        <a:rPr lang="en-US" sz="1300" b="1" dirty="0">
                          <a:solidFill>
                            <a:srgbClr val="212121"/>
                          </a:solidFill>
                          <a:latin typeface="Arial" pitchFamily="34" charset="0"/>
                          <a:ea typeface="Arial" pitchFamily="34" charset="-122"/>
                          <a:cs typeface="Arial" pitchFamily="34" charset="-120"/>
                        </a:rPr>
                        <a:t>Alias (Route 53)</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Un recurso de AWS, sin coste añadido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300" dirty="0">
                          <a:solidFill>
                            <a:srgbClr val="212121"/>
                          </a:solidFill>
                          <a:latin typeface="Arial" pitchFamily="34" charset="0"/>
                          <a:ea typeface="Arial" pitchFamily="34" charset="-122"/>
                          <a:cs typeface="Arial" pitchFamily="34" charset="-120"/>
                        </a:rPr>
                        <a:t>Apuntar a un balanceador o una CDN — la opción recomendada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4526280"/>
            <a:ext cx="11091672" cy="1463040"/>
          </a:xfrm>
          <a:prstGeom prst="roundRect">
            <a:avLst/>
          </a:prstGeom>
          <a:solidFill>
            <a:srgbClr val="FFF8E1"/>
          </a:solidFill>
          <a:ln w="28575">
            <a:solidFill>
              <a:srgbClr val="FFA000"/>
            </a:solidFill>
            <a:prstDash val="solid"/>
          </a:ln>
        </p:spPr>
      </p:sp>
      <p:sp>
        <p:nvSpPr>
          <p:cNvPr id="8" name="Text 5"/>
          <p:cNvSpPr/>
          <p:nvPr/>
        </p:nvSpPr>
        <p:spPr>
          <a:xfrm>
            <a:off x="822960" y="4636008"/>
            <a:ext cx="10543032" cy="1243584"/>
          </a:xfrm>
          <a:prstGeom prst="rect">
            <a:avLst/>
          </a:prstGeom>
          <a:noFill/>
          <a:ln/>
        </p:spPr>
        <p:txBody>
          <a:bodyPr wrap="square" rtlCol="0" anchor="t"/>
          <a:lstStyle/>
          <a:p>
            <a:pPr indent="0" marL="0">
              <a:buNone/>
            </a:pPr>
            <a:r>
              <a:rPr lang="en-US" sz="1550" b="1" dirty="0">
                <a:solidFill>
                  <a:srgbClr val="1A237E"/>
                </a:solidFill>
                <a:latin typeface="Arial" pitchFamily="34" charset="0"/>
                <a:ea typeface="Arial" pitchFamily="34" charset="-122"/>
                <a:cs typeface="Arial" pitchFamily="34" charset="-120"/>
              </a:rPr>
              <a:t>Por qué un registro Alias y no un CNAME hacia el balanceador
</a:t>
            </a:r>
            <a:endParaRPr lang="en-US" sz="1550" dirty="0"/>
          </a:p>
          <a:p>
            <a:pPr indent="0" marL="0">
              <a:buNone/>
            </a:pPr>
            <a:r>
              <a:rPr lang="en-US" sz="1450" dirty="0">
                <a:solidFill>
                  <a:srgbClr val="212121"/>
                </a:solidFill>
                <a:latin typeface="Arial" pitchFamily="34" charset="0"/>
                <a:ea typeface="Arial" pitchFamily="34" charset="-122"/>
                <a:cs typeface="Arial" pitchFamily="34" charset="-120"/>
              </a:rPr>
              <a:t>El balanceador no tiene IP fija, así que un A no sirve. Un CNAME funcionaría, pero Alias hace lo mismo sin coste de consulta extra y sin la limitación del nombre raíz del dominio. Es lo que usas en la Actividad 4.2.</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Políticas de enrutamiento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DNS, HTTPS y distribución de contenido</a:t>
            </a:r>
            <a:endParaRPr lang="en-US" sz="1100" dirty="0"/>
          </a:p>
        </p:txBody>
      </p:sp>
      <p:sp>
        <p:nvSpPr>
          <p:cNvPr id="5" name="Shape 3"/>
          <p:cNvSpPr/>
          <p:nvPr/>
        </p:nvSpPr>
        <p:spPr>
          <a:xfrm>
            <a:off x="548640" y="1143000"/>
            <a:ext cx="11091672" cy="82296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400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Route 53 no solo traduce nombres — puede comprobar si un destino está sano y decidir a cuál responder según una política.</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1672" cy="914400"/>
        </p:xfrm>
        <a:graphic>
          <a:graphicData uri="http://schemas.openxmlformats.org/drawingml/2006/table">
            <a:tbl>
              <a:tblPr/>
              <a:tblGrid>
                <a:gridCol w="2218334"/>
                <a:gridCol w="3993002"/>
                <a:gridCol w="4880336"/>
              </a:tblGrid>
              <a:tr h="50292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Política</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Qué decide</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Ejemplo de uso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502920">
                <a:tc>
                  <a:txBody>
                    <a:bodyPr/>
                    <a:lstStyle/>
                    <a:p>
                      <a:pPr indent="0" marL="0">
                        <a:buNone/>
                      </a:pPr>
                      <a:r>
                        <a:rPr lang="en-US" sz="1200" b="1" dirty="0">
                          <a:solidFill>
                            <a:srgbClr val="212121"/>
                          </a:solidFill>
                          <a:latin typeface="Arial" pitchFamily="34" charset="0"/>
                          <a:ea typeface="Arial" pitchFamily="34" charset="-122"/>
                          <a:cs typeface="Arial" pitchFamily="34" charset="-120"/>
                        </a:rPr>
                        <a:t>Simple</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Siempre el mismo destino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Un solo balanceador, sin alternativas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121"/>
                          </a:solidFill>
                          <a:latin typeface="Arial" pitchFamily="34" charset="0"/>
                          <a:ea typeface="Arial" pitchFamily="34" charset="-122"/>
                          <a:cs typeface="Arial" pitchFamily="34" charset="-120"/>
                        </a:rPr>
                        <a:t>Latencia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El destino que responda más rápido al usuario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Varias regiones, cada una sirve a los más cercanos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02920">
                <a:tc>
                  <a:txBody>
                    <a:bodyPr/>
                    <a:lstStyle/>
                    <a:p>
                      <a:pPr indent="0" marL="0">
                        <a:buNone/>
                      </a:pPr>
                      <a:r>
                        <a:rPr lang="en-US" sz="1200" b="1" dirty="0">
                          <a:solidFill>
                            <a:srgbClr val="212121"/>
                          </a:solidFill>
                          <a:latin typeface="Arial" pitchFamily="34" charset="0"/>
                          <a:ea typeface="Arial" pitchFamily="34" charset="-122"/>
                          <a:cs typeface="Arial" pitchFamily="34" charset="-120"/>
                        </a:rPr>
                        <a:t>Geolocalización</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El destino según el país o continente</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Contenido distinto según la zona geográfica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121"/>
                          </a:solidFill>
                          <a:latin typeface="Arial" pitchFamily="34" charset="0"/>
                          <a:ea typeface="Arial" pitchFamily="34" charset="-122"/>
                          <a:cs typeface="Arial" pitchFamily="34" charset="-120"/>
                        </a:rPr>
                        <a:t>Conmutación por error</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El principal, y solo si falla, el secundario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Alta disponibilidad a nivel de DNS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8" name="Shape 5"/>
          <p:cNvSpPr/>
          <p:nvPr/>
        </p:nvSpPr>
        <p:spPr>
          <a:xfrm>
            <a:off x="548640" y="5120640"/>
            <a:ext cx="11091672" cy="914400"/>
          </a:xfrm>
          <a:prstGeom prst="roundRect">
            <a:avLst/>
          </a:prstGeom>
          <a:solidFill>
            <a:srgbClr val="FFF8E1"/>
          </a:solidFill>
          <a:ln w="19050">
            <a:solidFill>
              <a:srgbClr val="FFA000"/>
            </a:solidFill>
            <a:prstDash val="solid"/>
          </a:ln>
        </p:spPr>
      </p:sp>
      <p:sp>
        <p:nvSpPr>
          <p:cNvPr id="9" name="Text 6"/>
          <p:cNvSpPr/>
          <p:nvPr/>
        </p:nvSpPr>
        <p:spPr>
          <a:xfrm>
            <a:off x="822960" y="5212080"/>
            <a:ext cx="10543032" cy="73152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Latencia reparte tráfico constantemente entre destinos; conmutación por error usa siempre el principal y solo pasa al secundario si falla — una reparte, la otra sustituye.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Certificados gestionados y HTTPS en el borde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DNS, HTTPS y distribución de contenido</a:t>
            </a:r>
            <a:endParaRPr lang="en-US" sz="1100" dirty="0"/>
          </a:p>
        </p:txBody>
      </p:sp>
      <p:sp>
        <p:nvSpPr>
          <p:cNvPr id="5" name="Shape 3"/>
          <p:cNvSpPr/>
          <p:nvPr/>
        </p:nvSpPr>
        <p:spPr>
          <a:xfrm>
            <a:off x="548640" y="1143000"/>
            <a:ext cx="11091672" cy="114300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960120"/>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AWS Certificate Manager (ACM) emite y renueva certificados de forma gestionada. Antes de emitirlo, valida por DNS: te da un CNAME con un valor único, y en cuanto lo detecta en tu zona, emite el certificado.</a:t>
            </a:r>
            <a:endParaRPr lang="en-US" sz="1450" dirty="0"/>
          </a:p>
        </p:txBody>
      </p:sp>
      <p:sp>
        <p:nvSpPr>
          <p:cNvPr id="7" name="Shape 5"/>
          <p:cNvSpPr/>
          <p:nvPr/>
        </p:nvSpPr>
        <p:spPr>
          <a:xfrm>
            <a:off x="548640" y="2560320"/>
            <a:ext cx="4174236" cy="822960"/>
          </a:xfrm>
          <a:prstGeom prst="roundRect">
            <a:avLst/>
          </a:prstGeom>
          <a:solidFill>
            <a:srgbClr val="E8EAF6"/>
          </a:solidFill>
          <a:ln w="15875">
            <a:solidFill>
              <a:srgbClr val="3949AB"/>
            </a:solidFill>
            <a:prstDash val="solid"/>
          </a:ln>
        </p:spPr>
      </p:sp>
      <p:sp>
        <p:nvSpPr>
          <p:cNvPr id="8" name="Text 6"/>
          <p:cNvSpPr/>
          <p:nvPr/>
        </p:nvSpPr>
        <p:spPr>
          <a:xfrm>
            <a:off x="640080" y="2560320"/>
            <a:ext cx="399135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Cliente</a:t>
            </a:r>
            <a:endParaRPr lang="en-US" sz="1500" dirty="0"/>
          </a:p>
        </p:txBody>
      </p:sp>
      <p:sp>
        <p:nvSpPr>
          <p:cNvPr id="9" name="Shape 7"/>
          <p:cNvSpPr/>
          <p:nvPr/>
        </p:nvSpPr>
        <p:spPr>
          <a:xfrm>
            <a:off x="7466076" y="2560320"/>
            <a:ext cx="4174236" cy="822960"/>
          </a:xfrm>
          <a:prstGeom prst="roundRect">
            <a:avLst/>
          </a:prstGeom>
          <a:solidFill>
            <a:srgbClr val="E8EAF6"/>
          </a:solidFill>
          <a:ln w="15875">
            <a:solidFill>
              <a:srgbClr val="3949AB"/>
            </a:solidFill>
            <a:prstDash val="solid"/>
          </a:ln>
        </p:spPr>
      </p:sp>
      <p:sp>
        <p:nvSpPr>
          <p:cNvPr id="10" name="Text 8"/>
          <p:cNvSpPr/>
          <p:nvPr/>
        </p:nvSpPr>
        <p:spPr>
          <a:xfrm>
            <a:off x="7557516" y="2560320"/>
            <a:ext cx="399135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Balanceador</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(certificado ACM)</a:t>
            </a:r>
            <a:endParaRPr lang="en-US" sz="1500" dirty="0"/>
          </a:p>
        </p:txBody>
      </p:sp>
      <p:sp>
        <p:nvSpPr>
          <p:cNvPr id="11" name="Text 9"/>
          <p:cNvSpPr/>
          <p:nvPr/>
        </p:nvSpPr>
        <p:spPr>
          <a:xfrm>
            <a:off x="4722876" y="2560320"/>
            <a:ext cx="2743200" cy="82296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HTTPS →</a:t>
            </a:r>
            <a:endParaRPr lang="en-US" sz="1300" dirty="0"/>
          </a:p>
        </p:txBody>
      </p:sp>
      <p:sp>
        <p:nvSpPr>
          <p:cNvPr id="12" name="Shape 10"/>
          <p:cNvSpPr/>
          <p:nvPr/>
        </p:nvSpPr>
        <p:spPr>
          <a:xfrm>
            <a:off x="548640" y="3611880"/>
            <a:ext cx="4174236" cy="822960"/>
          </a:xfrm>
          <a:prstGeom prst="roundRect">
            <a:avLst/>
          </a:prstGeom>
          <a:solidFill>
            <a:srgbClr val="E8EAF6"/>
          </a:solidFill>
          <a:ln w="15875">
            <a:solidFill>
              <a:srgbClr val="3949AB"/>
            </a:solidFill>
            <a:prstDash val="solid"/>
          </a:ln>
        </p:spPr>
      </p:sp>
      <p:sp>
        <p:nvSpPr>
          <p:cNvPr id="13" name="Text 11"/>
          <p:cNvSpPr/>
          <p:nvPr/>
        </p:nvSpPr>
        <p:spPr>
          <a:xfrm>
            <a:off x="640080" y="3611880"/>
            <a:ext cx="399135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Balanceador</a:t>
            </a:r>
            <a:endParaRPr lang="en-US" sz="1500" dirty="0"/>
          </a:p>
          <a:p>
            <a:pPr algn="ctr" indent="0" marL="0">
              <a:buNone/>
            </a:pPr>
            <a:r>
              <a:rPr lang="en-US" sz="1500" dirty="0">
                <a:solidFill>
                  <a:srgbClr val="212121"/>
                </a:solidFill>
                <a:latin typeface="Arial" pitchFamily="34" charset="0"/>
                <a:ea typeface="Arial" pitchFamily="34" charset="-122"/>
                <a:cs typeface="Arial" pitchFamily="34" charset="-120"/>
              </a:rPr>
              <a:t>(certificado ACM)</a:t>
            </a:r>
            <a:endParaRPr lang="en-US" sz="1500" dirty="0"/>
          </a:p>
        </p:txBody>
      </p:sp>
      <p:sp>
        <p:nvSpPr>
          <p:cNvPr id="14" name="Shape 12"/>
          <p:cNvSpPr/>
          <p:nvPr/>
        </p:nvSpPr>
        <p:spPr>
          <a:xfrm>
            <a:off x="7466076" y="3611880"/>
            <a:ext cx="4174236" cy="822960"/>
          </a:xfrm>
          <a:prstGeom prst="roundRect">
            <a:avLst/>
          </a:prstGeom>
          <a:solidFill>
            <a:srgbClr val="E8EAF6"/>
          </a:solidFill>
          <a:ln w="15875">
            <a:solidFill>
              <a:srgbClr val="3949AB"/>
            </a:solidFill>
            <a:prstDash val="solid"/>
          </a:ln>
        </p:spPr>
      </p:sp>
      <p:sp>
        <p:nvSpPr>
          <p:cNvPr id="15" name="Text 13"/>
          <p:cNvSpPr/>
          <p:nvPr/>
        </p:nvSpPr>
        <p:spPr>
          <a:xfrm>
            <a:off x="7557516" y="3611880"/>
            <a:ext cx="3991356" cy="822960"/>
          </a:xfrm>
          <a:prstGeom prst="rect">
            <a:avLst/>
          </a:prstGeom>
          <a:noFill/>
          <a:ln/>
        </p:spPr>
        <p:txBody>
          <a:bodyPr wrap="square" rtlCol="0" anchor="ctr"/>
          <a:lstStyle/>
          <a:p>
            <a:pPr algn="ctr" indent="0" marL="0">
              <a:buNone/>
            </a:pPr>
            <a:r>
              <a:rPr lang="en-US" sz="1500" dirty="0">
                <a:solidFill>
                  <a:srgbClr val="212121"/>
                </a:solidFill>
                <a:latin typeface="Arial" pitchFamily="34" charset="0"/>
                <a:ea typeface="Arial" pitchFamily="34" charset="-122"/>
                <a:cs typeface="Arial" pitchFamily="34" charset="-120"/>
              </a:rPr>
              <a:t>⚙️ Aplicación</a:t>
            </a:r>
            <a:endParaRPr lang="en-US" sz="1500" dirty="0"/>
          </a:p>
        </p:txBody>
      </p:sp>
      <p:sp>
        <p:nvSpPr>
          <p:cNvPr id="16" name="Text 14"/>
          <p:cNvSpPr/>
          <p:nvPr/>
        </p:nvSpPr>
        <p:spPr>
          <a:xfrm>
            <a:off x="4722876" y="3611880"/>
            <a:ext cx="2743200" cy="822960"/>
          </a:xfrm>
          <a:prstGeom prst="rect">
            <a:avLst/>
          </a:prstGeom>
          <a:noFill/>
          <a:ln/>
        </p:spPr>
        <p:txBody>
          <a:bodyPr wrap="square" rtlCol="0" anchor="ctr"/>
          <a:lstStyle/>
          <a:p>
            <a:pPr algn="ctr" indent="0" marL="0">
              <a:buNone/>
            </a:pPr>
            <a:r>
              <a:rPr lang="en-US" sz="1300" b="1" i="1" dirty="0">
                <a:solidFill>
                  <a:srgbClr val="3949AB"/>
                </a:solidFill>
                <a:latin typeface="Arial" pitchFamily="34" charset="0"/>
                <a:ea typeface="Arial" pitchFamily="34" charset="-122"/>
                <a:cs typeface="Arial" pitchFamily="34" charset="-120"/>
              </a:rPr>
              <a:t>HTTP interno →</a:t>
            </a:r>
            <a:endParaRPr lang="en-US" sz="1300" dirty="0"/>
          </a:p>
        </p:txBody>
      </p:sp>
      <p:sp>
        <p:nvSpPr>
          <p:cNvPr id="17" name="Shape 15"/>
          <p:cNvSpPr/>
          <p:nvPr/>
        </p:nvSpPr>
        <p:spPr>
          <a:xfrm>
            <a:off x="548640" y="4663440"/>
            <a:ext cx="11091672" cy="1188720"/>
          </a:xfrm>
          <a:prstGeom prst="roundRect">
            <a:avLst/>
          </a:prstGeom>
          <a:solidFill>
            <a:srgbClr val="FFF8E1"/>
          </a:solidFill>
          <a:ln w="19050">
            <a:solidFill>
              <a:srgbClr val="FFA000"/>
            </a:solidFill>
            <a:prstDash val="solid"/>
          </a:ln>
        </p:spPr>
      </p:sp>
      <p:sp>
        <p:nvSpPr>
          <p:cNvPr id="18" name="Text 16"/>
          <p:cNvSpPr/>
          <p:nvPr/>
        </p:nvSpPr>
        <p:spPr>
          <a:xfrm>
            <a:off x="822960" y="4754880"/>
            <a:ext cx="10543032" cy="1005840"/>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El certificado se instala en el balanceador, no en cada instancia. De ahí hacia dentro puede seguir siendo HTTP normal, porque ese tramo ya no sale nunca a internet — cifra el tramo que de verdad viaja por una red que no controlas.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CDN: acercando el contenido al visitante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DNS, HTTPS y distribución de contenido</a:t>
            </a:r>
            <a:endParaRPr lang="en-US" sz="1100" dirty="0"/>
          </a:p>
        </p:txBody>
      </p:sp>
      <p:sp>
        <p:nvSpPr>
          <p:cNvPr id="5" name="Shape 3"/>
          <p:cNvSpPr/>
          <p:nvPr/>
        </p:nvSpPr>
        <p:spPr>
          <a:xfrm>
            <a:off x="548640" y="1143000"/>
            <a:ext cx="11091672" cy="82296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640080"/>
          </a:xfrm>
          <a:prstGeom prst="rect">
            <a:avLst/>
          </a:prstGeom>
          <a:noFill/>
          <a:ln/>
        </p:spPr>
        <p:txBody>
          <a:bodyPr wrap="square" rtlCol="0" anchor="ctr"/>
          <a:lstStyle/>
          <a:p>
            <a:pPr indent="0" marL="0">
              <a:buNone/>
            </a:pPr>
            <a:r>
              <a:rPr lang="en-US" sz="1400" dirty="0">
                <a:solidFill>
                  <a:srgbClr val="212121"/>
                </a:solidFill>
                <a:latin typeface="Arial" pitchFamily="34" charset="0"/>
                <a:ea typeface="Arial" pitchFamily="34" charset="-122"/>
                <a:cs typeface="Arial" pitchFamily="34" charset="-120"/>
              </a:rPr>
              <a:t>Una CDN guarda copias de tu contenido estático en ubicaciones de borde repartidas por el mundo, para que un visitante lejano no espere a que la petición viaje hasta tu región y vuelva.</a:t>
            </a:r>
            <a:endParaRPr lang="en-US" sz="1400" dirty="0"/>
          </a:p>
        </p:txBody>
      </p:sp>
      <p:pic>
        <p:nvPicPr>
          <p:cNvPr id="7" name="Image 0" descr="C:/Users/Aitor/Documents/apuntes-profe/introduccion-nube/docs/tema4/img/diagrama_cdn_borde.png">    </p:cNvPr>
          <p:cNvPicPr>
            <a:picLocks noChangeAspect="1"/>
          </p:cNvPicPr>
          <p:nvPr/>
        </p:nvPicPr>
        <p:blipFill>
          <a:blip r:embed="rId1"/>
          <a:stretch>
            <a:fillRect/>
          </a:stretch>
        </p:blipFill>
        <p:spPr>
          <a:xfrm>
            <a:off x="2885622" y="2103120"/>
            <a:ext cx="6417708" cy="3611880"/>
          </a:xfrm>
          <a:prstGeom prst="rect">
            <a:avLst/>
          </a:prstGeom>
        </p:spPr>
      </p:pic>
      <p:sp>
        <p:nvSpPr>
          <p:cNvPr id="8" name="Text 5"/>
          <p:cNvSpPr/>
          <p:nvPr/>
        </p:nvSpPr>
        <p:spPr>
          <a:xfrm>
            <a:off x="548640" y="5806440"/>
            <a:ext cx="11091672" cy="457200"/>
          </a:xfrm>
          <a:prstGeom prst="rect">
            <a:avLst/>
          </a:prstGeom>
          <a:noFill/>
          <a:ln/>
        </p:spPr>
        <p:txBody>
          <a:bodyPr wrap="square" rtlCol="0" anchor="t"/>
          <a:lstStyle/>
          <a:p>
            <a:pPr algn="ctr" indent="0" marL="0">
              <a:buNone/>
            </a:pPr>
            <a:r>
              <a:rPr lang="en-US" sz="1400" i="1" dirty="0">
                <a:solidFill>
                  <a:srgbClr val="757575"/>
                </a:solidFill>
                <a:latin typeface="Arial" pitchFamily="34" charset="0"/>
                <a:ea typeface="Arial" pitchFamily="34" charset="-122"/>
                <a:cs typeface="Arial" pitchFamily="34" charset="-120"/>
              </a:rPr>
              <a:t>El visitante cercano a la región apenas nota la CDN; el visitante lejano es quien más gana con ella.</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CloudFront: la CDN gestionada de AWS</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DNS, HTTPS y distribución de contenido</a:t>
            </a:r>
            <a:endParaRPr lang="en-US" sz="1100" dirty="0"/>
          </a:p>
        </p:txBody>
      </p:sp>
      <p:sp>
        <p:nvSpPr>
          <p:cNvPr id="5" name="Shape 3"/>
          <p:cNvSpPr/>
          <p:nvPr/>
        </p:nvSpPr>
        <p:spPr>
          <a:xfrm>
            <a:off x="548640" y="1188720"/>
            <a:ext cx="11091672" cy="1965960"/>
          </a:xfrm>
          <a:prstGeom prst="roundRect">
            <a:avLst/>
          </a:prstGeom>
          <a:solidFill>
            <a:srgbClr val="E8EAF6"/>
          </a:solidFill>
          <a:ln w="15875">
            <a:solidFill>
              <a:srgbClr val="3949AB"/>
            </a:solidFill>
            <a:prstDash val="solid"/>
          </a:ln>
        </p:spPr>
      </p:sp>
      <p:sp>
        <p:nvSpPr>
          <p:cNvPr id="6" name="Text 4"/>
          <p:cNvSpPr/>
          <p:nvPr/>
        </p:nvSpPr>
        <p:spPr>
          <a:xfrm>
            <a:off x="731520" y="1261872"/>
            <a:ext cx="10725912" cy="548640"/>
          </a:xfrm>
          <a:prstGeom prst="rect">
            <a:avLst/>
          </a:prstGeom>
          <a:noFill/>
          <a:ln/>
        </p:spPr>
        <p:txBody>
          <a:bodyPr wrap="square" rtlCol="0" anchor="ctr"/>
          <a:lstStyle/>
          <a:p>
            <a:pPr indent="0" marL="0">
              <a:buNone/>
            </a:pPr>
            <a:r>
              <a:rPr lang="en-US" sz="1900" b="1" dirty="0">
                <a:solidFill>
                  <a:srgbClr val="1A237E"/>
                </a:solidFill>
                <a:latin typeface="Arial" pitchFamily="34" charset="0"/>
                <a:ea typeface="Arial" pitchFamily="34" charset="-122"/>
                <a:cs typeface="Arial" pitchFamily="34" charset="-120"/>
              </a:rPr>
              <a:t>Le indicas el origen, y CloudFront hace el resto</a:t>
            </a:r>
            <a:endParaRPr lang="en-US" sz="1900" dirty="0"/>
          </a:p>
        </p:txBody>
      </p:sp>
      <p:sp>
        <p:nvSpPr>
          <p:cNvPr id="7" name="Text 5"/>
          <p:cNvSpPr/>
          <p:nvPr/>
        </p:nvSpPr>
        <p:spPr>
          <a:xfrm>
            <a:off x="731520" y="1810512"/>
            <a:ext cx="10725912" cy="1271016"/>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Un bucket S3, un balanceador, prácticamente cualquier servidor HTTP. CloudFront replica el contenido en sus ubicaciones de borde, gestiona TTL e invalidación desde la consola o por CLI, y añade HTTPS automático con su propio dominio y certificado.</a:t>
            </a:r>
            <a:endParaRPr lang="en-US" sz="1500" dirty="0"/>
          </a:p>
        </p:txBody>
      </p:sp>
      <p:sp>
        <p:nvSpPr>
          <p:cNvPr id="8" name="Shape 6"/>
          <p:cNvSpPr/>
          <p:nvPr/>
        </p:nvSpPr>
        <p:spPr>
          <a:xfrm>
            <a:off x="548640" y="3429000"/>
            <a:ext cx="11091672" cy="1965960"/>
          </a:xfrm>
          <a:prstGeom prst="roundRect">
            <a:avLst/>
          </a:prstGeom>
          <a:solidFill>
            <a:srgbClr val="FFF8E1"/>
          </a:solidFill>
          <a:ln w="28575">
            <a:solidFill>
              <a:srgbClr val="FFA000"/>
            </a:solidFill>
            <a:prstDash val="solid"/>
          </a:ln>
        </p:spPr>
      </p:sp>
      <p:sp>
        <p:nvSpPr>
          <p:cNvPr id="9" name="Text 7"/>
          <p:cNvSpPr/>
          <p:nvPr/>
        </p:nvSpPr>
        <p:spPr>
          <a:xfrm>
            <a:off x="822960" y="3538728"/>
            <a:ext cx="10543032" cy="1746504"/>
          </a:xfrm>
          <a:prstGeom prst="rect">
            <a:avLst/>
          </a:prstGeom>
          <a:noFill/>
          <a:ln/>
        </p:spPr>
        <p:txBody>
          <a:bodyPr wrap="square" rtlCol="0" anchor="t"/>
          <a:lstStyle/>
          <a:p>
            <a:pPr indent="0" marL="0">
              <a:buNone/>
            </a:pPr>
            <a:r>
              <a:rPr lang="en-US" sz="1550" b="1" dirty="0">
                <a:solidFill>
                  <a:srgbClr val="1A237E"/>
                </a:solidFill>
                <a:latin typeface="Arial" pitchFamily="34" charset="0"/>
                <a:ea typeface="Arial" pitchFamily="34" charset="-122"/>
                <a:cs typeface="Arial" pitchFamily="34" charset="-120"/>
              </a:rPr>
              <a:t>CloudFront en el Learner Lab
</a:t>
            </a:r>
            <a:endParaRPr lang="en-US" sz="1550" dirty="0"/>
          </a:p>
          <a:p>
            <a:pPr indent="0" marL="0">
              <a:buNone/>
            </a:pPr>
            <a:r>
              <a:rPr lang="en-US" sz="1450" dirty="0">
                <a:solidFill>
                  <a:srgbClr val="212121"/>
                </a:solidFill>
                <a:latin typeface="Arial" pitchFamily="34" charset="0"/>
                <a:ea typeface="Arial" pitchFamily="34" charset="-122"/>
                <a:cs typeface="Arial" pitchFamily="34" charset="-120"/>
              </a:rPr>
              <a:t>Algunos Learner Labs lo bloquean por control de coste — compruébalo con aws cloudfront list-distributions, que da un error de autorización explícito si está bloqueado. Si es tu caso, la Actividad 4.2 te enseña a construir la misma mecánica de caché con un proxy propio: los conceptos no cambian, solo quién opera la infraestructura.</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TTL e invalidación</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DNS, HTTPS y distribución de contenido</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Dos formas de controlar cuánto dura una copia en caché</a:t>
            </a:r>
            <a:endParaRPr lang="en-US" sz="1500" dirty="0"/>
          </a:p>
        </p:txBody>
      </p:sp>
      <p:sp>
        <p:nvSpPr>
          <p:cNvPr id="6" name="Shape 4"/>
          <p:cNvSpPr/>
          <p:nvPr/>
        </p:nvSpPr>
        <p:spPr>
          <a:xfrm>
            <a:off x="548640" y="1554480"/>
            <a:ext cx="5362956" cy="1828800"/>
          </a:xfrm>
          <a:prstGeom prst="roundRect">
            <a:avLst/>
          </a:prstGeom>
          <a:solidFill>
            <a:srgbClr val="E8EAF6"/>
          </a:solidFill>
          <a:ln w="15875">
            <a:solidFill>
              <a:srgbClr val="3949AB"/>
            </a:solidFill>
            <a:prstDash val="solid"/>
          </a:ln>
        </p:spPr>
      </p:sp>
      <p:sp>
        <p:nvSpPr>
          <p:cNvPr id="7" name="Text 5"/>
          <p:cNvSpPr/>
          <p:nvPr/>
        </p:nvSpPr>
        <p:spPr>
          <a:xfrm>
            <a:off x="731520" y="1627632"/>
            <a:ext cx="4997196" cy="54864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TTL (Time To Live)</a:t>
            </a:r>
            <a:endParaRPr lang="en-US" sz="1800" dirty="0"/>
          </a:p>
        </p:txBody>
      </p:sp>
      <p:sp>
        <p:nvSpPr>
          <p:cNvPr id="8" name="Text 6"/>
          <p:cNvSpPr/>
          <p:nvPr/>
        </p:nvSpPr>
        <p:spPr>
          <a:xfrm>
            <a:off x="731520" y="2176272"/>
            <a:ext cx="4997196" cy="1133856"/>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Cuánto tiempo guarda la CDN una copia antes de volver a pedirla al origen. Alto reduce peticiones, pero retrasa que se vean cambios.</a:t>
            </a:r>
            <a:endParaRPr lang="en-US" sz="1500" dirty="0"/>
          </a:p>
        </p:txBody>
      </p:sp>
      <p:sp>
        <p:nvSpPr>
          <p:cNvPr id="9" name="Shape 7"/>
          <p:cNvSpPr/>
          <p:nvPr/>
        </p:nvSpPr>
        <p:spPr>
          <a:xfrm>
            <a:off x="6277356" y="1554480"/>
            <a:ext cx="5362956" cy="1828800"/>
          </a:xfrm>
          <a:prstGeom prst="roundRect">
            <a:avLst/>
          </a:prstGeom>
          <a:solidFill>
            <a:srgbClr val="E8EAF6"/>
          </a:solidFill>
          <a:ln w="15875">
            <a:solidFill>
              <a:srgbClr val="3949AB"/>
            </a:solidFill>
            <a:prstDash val="solid"/>
          </a:ln>
        </p:spPr>
      </p:sp>
      <p:sp>
        <p:nvSpPr>
          <p:cNvPr id="10" name="Text 8"/>
          <p:cNvSpPr/>
          <p:nvPr/>
        </p:nvSpPr>
        <p:spPr>
          <a:xfrm>
            <a:off x="6460236" y="1627632"/>
            <a:ext cx="4997196" cy="548640"/>
          </a:xfrm>
          <a:prstGeom prst="rect">
            <a:avLst/>
          </a:prstGeom>
          <a:noFill/>
          <a:ln/>
        </p:spPr>
        <p:txBody>
          <a:bodyPr wrap="square" rtlCol="0" anchor="ctr"/>
          <a:lstStyle/>
          <a:p>
            <a:pPr indent="0" marL="0">
              <a:buNone/>
            </a:pPr>
            <a:r>
              <a:rPr lang="en-US" sz="1800" b="1" dirty="0">
                <a:solidFill>
                  <a:srgbClr val="1A237E"/>
                </a:solidFill>
                <a:latin typeface="Arial" pitchFamily="34" charset="0"/>
                <a:ea typeface="Arial" pitchFamily="34" charset="-122"/>
                <a:cs typeface="Arial" pitchFamily="34" charset="-120"/>
              </a:rPr>
              <a:t>Invalidación</a:t>
            </a:r>
            <a:endParaRPr lang="en-US" sz="1800" dirty="0"/>
          </a:p>
        </p:txBody>
      </p:sp>
      <p:sp>
        <p:nvSpPr>
          <p:cNvPr id="11" name="Text 9"/>
          <p:cNvSpPr/>
          <p:nvPr/>
        </p:nvSpPr>
        <p:spPr>
          <a:xfrm>
            <a:off x="6460236" y="2176272"/>
            <a:ext cx="4997196" cy="1133856"/>
          </a:xfrm>
          <a:prstGeom prst="rect">
            <a:avLst/>
          </a:prstGeom>
          <a:noFill/>
          <a:ln/>
        </p:spPr>
        <p:txBody>
          <a:bodyPr wrap="square" rtlCol="0" anchor="t"/>
          <a:lstStyle/>
          <a:p>
            <a:pPr indent="0" marL="0">
              <a:buNone/>
            </a:pPr>
            <a:r>
              <a:rPr lang="en-US" sz="1500" dirty="0">
                <a:solidFill>
                  <a:srgbClr val="212121"/>
                </a:solidFill>
                <a:latin typeface="Arial" pitchFamily="34" charset="0"/>
                <a:ea typeface="Arial" pitchFamily="34" charset="-122"/>
                <a:cs typeface="Arial" pitchFamily="34" charset="-120"/>
              </a:rPr>
              <a:t>Forzar a la CDN a descartar una copia antes de que expire su TTL, para que la próxima petición busque la versión nueva.</a:t>
            </a:r>
            <a:endParaRPr lang="en-US" sz="1500" dirty="0"/>
          </a:p>
        </p:txBody>
      </p:sp>
      <p:sp>
        <p:nvSpPr>
          <p:cNvPr id="12" name="Shape 10"/>
          <p:cNvSpPr/>
          <p:nvPr/>
        </p:nvSpPr>
        <p:spPr>
          <a:xfrm>
            <a:off x="548640" y="3611880"/>
            <a:ext cx="11091672" cy="1371600"/>
          </a:xfrm>
          <a:prstGeom prst="roundRect">
            <a:avLst/>
          </a:prstGeom>
          <a:solidFill>
            <a:srgbClr val="FFF8E1"/>
          </a:solidFill>
          <a:ln w="19050">
            <a:solidFill>
              <a:srgbClr val="FFA000"/>
            </a:solidFill>
            <a:prstDash val="solid"/>
          </a:ln>
        </p:spPr>
      </p:sp>
      <p:sp>
        <p:nvSpPr>
          <p:cNvPr id="13" name="Text 11"/>
          <p:cNvSpPr/>
          <p:nvPr/>
        </p:nvSpPr>
        <p:spPr>
          <a:xfrm>
            <a:off x="822960" y="3703320"/>
            <a:ext cx="10543032" cy="1188720"/>
          </a:xfrm>
          <a:prstGeom prst="rect">
            <a:avLst/>
          </a:prstGeom>
          <a:noFill/>
          <a:ln/>
        </p:spPr>
        <p:txBody>
          <a:bodyPr wrap="square" rtlCol="0" anchor="ctr"/>
          <a:lstStyle/>
          <a:p>
            <a:pPr indent="0" marL="0">
              <a:buNone/>
            </a:pPr>
            <a:r>
              <a:rPr lang="en-US" sz="1450" dirty="0">
                <a:solidFill>
                  <a:srgbClr val="212121"/>
                </a:solidFill>
                <a:latin typeface="Arial" pitchFamily="34" charset="0"/>
                <a:ea typeface="Arial" pitchFamily="34" charset="-122"/>
                <a:cs typeface="Arial" pitchFamily="34" charset="-120"/>
              </a:rPr>
              <a:t>300 segundos en el logo de una tienda son 5 minutos de retraso asumibles; el mismo TTL en el precio de una oferta relámpago no lo es. El TTL correcto depende de cuánto te cuesta que alguien vea una versión antigua.</a:t>
            </a:r>
            <a:endParaRPr lang="en-US" sz="14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Caché fría frente a caché caliente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DNS, HTTPS y distribución de contenido</a:t>
            </a:r>
            <a:endParaRPr lang="en-US" sz="1100" dirty="0"/>
          </a:p>
        </p:txBody>
      </p:sp>
      <p:sp>
        <p:nvSpPr>
          <p:cNvPr id="5" name="Text 3"/>
          <p:cNvSpPr/>
          <p:nvPr/>
        </p:nvSpPr>
        <p:spPr>
          <a:xfrm>
            <a:off x="548640" y="1143000"/>
            <a:ext cx="11091672" cy="365760"/>
          </a:xfrm>
          <a:prstGeom prst="rect">
            <a:avLst/>
          </a:prstGeom>
          <a:noFill/>
          <a:ln/>
        </p:spPr>
        <p:txBody>
          <a:bodyPr wrap="square" rtlCol="0" anchor="ctr"/>
          <a:lstStyle/>
          <a:p>
            <a:pPr indent="0" marL="0">
              <a:buNone/>
            </a:pPr>
            <a:r>
              <a:rPr lang="en-US" sz="1500" b="1" dirty="0">
                <a:solidFill>
                  <a:srgbClr val="3949AB"/>
                </a:solidFill>
                <a:latin typeface="Arial" pitchFamily="34" charset="0"/>
                <a:ea typeface="Arial" pitchFamily="34" charset="-122"/>
                <a:cs typeface="Arial" pitchFamily="34" charset="-120"/>
              </a:rPr>
              <a:t>La misma petición, dos resultados muy distintos</a:t>
            </a:r>
            <a:endParaRPr lang="en-US" sz="1500" dirty="0"/>
          </a:p>
        </p:txBody>
      </p:sp>
      <p:sp>
        <p:nvSpPr>
          <p:cNvPr id="6" name="Shape 4"/>
          <p:cNvSpPr/>
          <p:nvPr/>
        </p:nvSpPr>
        <p:spPr>
          <a:xfrm>
            <a:off x="548640" y="1554480"/>
            <a:ext cx="3483864" cy="914400"/>
          </a:xfrm>
          <a:prstGeom prst="roundRect">
            <a:avLst/>
          </a:prstGeom>
          <a:solidFill>
            <a:srgbClr val="E8EAF6"/>
          </a:solidFill>
          <a:ln w="15875">
            <a:solidFill>
              <a:srgbClr val="3949AB"/>
            </a:solidFill>
            <a:prstDash val="solid"/>
          </a:ln>
        </p:spPr>
      </p:sp>
      <p:sp>
        <p:nvSpPr>
          <p:cNvPr id="7" name="Text 5"/>
          <p:cNvSpPr/>
          <p:nvPr/>
        </p:nvSpPr>
        <p:spPr>
          <a:xfrm>
            <a:off x="594360" y="1600200"/>
            <a:ext cx="3392424"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1ª petición</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(caché fría)</a:t>
            </a:r>
            <a:endParaRPr lang="en-US" sz="1400" dirty="0"/>
          </a:p>
        </p:txBody>
      </p:sp>
      <p:sp>
        <p:nvSpPr>
          <p:cNvPr id="8" name="Text 6"/>
          <p:cNvSpPr/>
          <p:nvPr/>
        </p:nvSpPr>
        <p:spPr>
          <a:xfrm>
            <a:off x="3986784" y="1554480"/>
            <a:ext cx="411480" cy="91440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9" name="Shape 7"/>
          <p:cNvSpPr/>
          <p:nvPr/>
        </p:nvSpPr>
        <p:spPr>
          <a:xfrm>
            <a:off x="4352544" y="1554480"/>
            <a:ext cx="3483864" cy="914400"/>
          </a:xfrm>
          <a:prstGeom prst="roundRect">
            <a:avLst/>
          </a:prstGeom>
          <a:solidFill>
            <a:srgbClr val="E8EAF6"/>
          </a:solidFill>
          <a:ln w="15875">
            <a:solidFill>
              <a:srgbClr val="3949AB"/>
            </a:solidFill>
            <a:prstDash val="solid"/>
          </a:ln>
        </p:spPr>
      </p:sp>
      <p:sp>
        <p:nvSpPr>
          <p:cNvPr id="10" name="Text 8"/>
          <p:cNvSpPr/>
          <p:nvPr/>
        </p:nvSpPr>
        <p:spPr>
          <a:xfrm>
            <a:off x="4398264" y="1600200"/>
            <a:ext cx="3392424"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CDN pide al</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origen (S3)</a:t>
            </a:r>
            <a:endParaRPr lang="en-US" sz="1400" dirty="0"/>
          </a:p>
        </p:txBody>
      </p:sp>
      <p:sp>
        <p:nvSpPr>
          <p:cNvPr id="11" name="Text 9"/>
          <p:cNvSpPr/>
          <p:nvPr/>
        </p:nvSpPr>
        <p:spPr>
          <a:xfrm>
            <a:off x="7790688" y="1554480"/>
            <a:ext cx="411480" cy="91440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2" name="Shape 10"/>
          <p:cNvSpPr/>
          <p:nvPr/>
        </p:nvSpPr>
        <p:spPr>
          <a:xfrm>
            <a:off x="8156448" y="1554480"/>
            <a:ext cx="3483864" cy="914400"/>
          </a:xfrm>
          <a:prstGeom prst="roundRect">
            <a:avLst/>
          </a:prstGeom>
          <a:solidFill>
            <a:srgbClr val="E8EAF6"/>
          </a:solidFill>
          <a:ln w="15875">
            <a:solidFill>
              <a:srgbClr val="3949AB"/>
            </a:solidFill>
            <a:prstDash val="solid"/>
          </a:ln>
        </p:spPr>
      </p:sp>
      <p:sp>
        <p:nvSpPr>
          <p:cNvPr id="13" name="Text 11"/>
          <p:cNvSpPr/>
          <p:nvPr/>
        </p:nvSpPr>
        <p:spPr>
          <a:xfrm>
            <a:off x="8202168" y="1600200"/>
            <a:ext cx="3392424"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Respuesta</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más lenta</a:t>
            </a:r>
            <a:endParaRPr lang="en-US" sz="1400" dirty="0"/>
          </a:p>
        </p:txBody>
      </p:sp>
      <p:sp>
        <p:nvSpPr>
          <p:cNvPr id="14" name="Shape 12"/>
          <p:cNvSpPr/>
          <p:nvPr/>
        </p:nvSpPr>
        <p:spPr>
          <a:xfrm>
            <a:off x="548640" y="2743200"/>
            <a:ext cx="3483864" cy="914400"/>
          </a:xfrm>
          <a:prstGeom prst="roundRect">
            <a:avLst/>
          </a:prstGeom>
          <a:solidFill>
            <a:srgbClr val="E8EAF6"/>
          </a:solidFill>
          <a:ln w="15875">
            <a:solidFill>
              <a:srgbClr val="3949AB"/>
            </a:solidFill>
            <a:prstDash val="solid"/>
          </a:ln>
        </p:spPr>
      </p:sp>
      <p:sp>
        <p:nvSpPr>
          <p:cNvPr id="15" name="Text 13"/>
          <p:cNvSpPr/>
          <p:nvPr/>
        </p:nvSpPr>
        <p:spPr>
          <a:xfrm>
            <a:off x="594360" y="2788920"/>
            <a:ext cx="3392424"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2ª petición</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(caché caliente)</a:t>
            </a:r>
            <a:endParaRPr lang="en-US" sz="1400" dirty="0"/>
          </a:p>
        </p:txBody>
      </p:sp>
      <p:sp>
        <p:nvSpPr>
          <p:cNvPr id="16" name="Text 14"/>
          <p:cNvSpPr/>
          <p:nvPr/>
        </p:nvSpPr>
        <p:spPr>
          <a:xfrm>
            <a:off x="3986784" y="2743200"/>
            <a:ext cx="411480" cy="91440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17" name="Shape 15"/>
          <p:cNvSpPr/>
          <p:nvPr/>
        </p:nvSpPr>
        <p:spPr>
          <a:xfrm>
            <a:off x="4352544" y="2743200"/>
            <a:ext cx="3483864" cy="914400"/>
          </a:xfrm>
          <a:prstGeom prst="roundRect">
            <a:avLst/>
          </a:prstGeom>
          <a:solidFill>
            <a:srgbClr val="E8EAF6"/>
          </a:solidFill>
          <a:ln w="15875">
            <a:solidFill>
              <a:srgbClr val="3949AB"/>
            </a:solidFill>
            <a:prstDash val="solid"/>
          </a:ln>
        </p:spPr>
      </p:sp>
      <p:sp>
        <p:nvSpPr>
          <p:cNvPr id="18" name="Text 16"/>
          <p:cNvSpPr/>
          <p:nvPr/>
        </p:nvSpPr>
        <p:spPr>
          <a:xfrm>
            <a:off x="4398264" y="2788920"/>
            <a:ext cx="3392424"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CDN responde</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directo</a:t>
            </a:r>
            <a:endParaRPr lang="en-US" sz="1400" dirty="0"/>
          </a:p>
        </p:txBody>
      </p:sp>
      <p:sp>
        <p:nvSpPr>
          <p:cNvPr id="19" name="Text 17"/>
          <p:cNvSpPr/>
          <p:nvPr/>
        </p:nvSpPr>
        <p:spPr>
          <a:xfrm>
            <a:off x="7790688" y="2743200"/>
            <a:ext cx="411480" cy="914400"/>
          </a:xfrm>
          <a:prstGeom prst="rect">
            <a:avLst/>
          </a:prstGeom>
          <a:noFill/>
          <a:ln/>
        </p:spPr>
        <p:txBody>
          <a:bodyPr wrap="square" rtlCol="0" anchor="ctr"/>
          <a:lstStyle/>
          <a:p>
            <a:pPr algn="ctr" indent="0" marL="0">
              <a:buNone/>
            </a:pPr>
            <a:r>
              <a:rPr lang="en-US" sz="1800" b="1" dirty="0">
                <a:solidFill>
                  <a:srgbClr val="3949AB"/>
                </a:solidFill>
                <a:latin typeface="Arial" pitchFamily="34" charset="0"/>
                <a:ea typeface="Arial" pitchFamily="34" charset="-122"/>
                <a:cs typeface="Arial" pitchFamily="34" charset="-120"/>
              </a:rPr>
              <a:t>→</a:t>
            </a:r>
            <a:endParaRPr lang="en-US" sz="1800" dirty="0"/>
          </a:p>
        </p:txBody>
      </p:sp>
      <p:sp>
        <p:nvSpPr>
          <p:cNvPr id="20" name="Shape 18"/>
          <p:cNvSpPr/>
          <p:nvPr/>
        </p:nvSpPr>
        <p:spPr>
          <a:xfrm>
            <a:off x="8156448" y="2743200"/>
            <a:ext cx="3483864" cy="914400"/>
          </a:xfrm>
          <a:prstGeom prst="roundRect">
            <a:avLst/>
          </a:prstGeom>
          <a:solidFill>
            <a:srgbClr val="E8EAF6"/>
          </a:solidFill>
          <a:ln w="15875">
            <a:solidFill>
              <a:srgbClr val="3949AB"/>
            </a:solidFill>
            <a:prstDash val="solid"/>
          </a:ln>
        </p:spPr>
      </p:sp>
      <p:sp>
        <p:nvSpPr>
          <p:cNvPr id="21" name="Text 19"/>
          <p:cNvSpPr/>
          <p:nvPr/>
        </p:nvSpPr>
        <p:spPr>
          <a:xfrm>
            <a:off x="8202168" y="2788920"/>
            <a:ext cx="3392424" cy="822960"/>
          </a:xfrm>
          <a:prstGeom prst="rect">
            <a:avLst/>
          </a:prstGeom>
          <a:noFill/>
          <a:ln/>
        </p:spPr>
        <p:txBody>
          <a:bodyPr wrap="square" rtlCol="0" anchor="ctr"/>
          <a:lstStyle/>
          <a:p>
            <a:pPr algn="ctr" indent="0" marL="0">
              <a:buNone/>
            </a:pPr>
            <a:r>
              <a:rPr lang="en-US" sz="1400" dirty="0">
                <a:solidFill>
                  <a:srgbClr val="212121"/>
                </a:solidFill>
                <a:latin typeface="Arial" pitchFamily="34" charset="0"/>
                <a:ea typeface="Arial" pitchFamily="34" charset="-122"/>
                <a:cs typeface="Arial" pitchFamily="34" charset="-120"/>
              </a:rPr>
              <a:t>Respuesta</a:t>
            </a:r>
            <a:endParaRPr lang="en-US" sz="1400" dirty="0"/>
          </a:p>
          <a:p>
            <a:pPr algn="ctr" indent="0" marL="0">
              <a:buNone/>
            </a:pPr>
            <a:r>
              <a:rPr lang="en-US" sz="1400" dirty="0">
                <a:solidFill>
                  <a:srgbClr val="212121"/>
                </a:solidFill>
                <a:latin typeface="Arial" pitchFamily="34" charset="0"/>
                <a:ea typeface="Arial" pitchFamily="34" charset="-122"/>
                <a:cs typeface="Arial" pitchFamily="34" charset="-120"/>
              </a:rPr>
              <a:t>más rápida</a:t>
            </a:r>
            <a:endParaRPr lang="en-US" sz="1400" dirty="0"/>
          </a:p>
        </p:txBody>
      </p:sp>
      <p:sp>
        <p:nvSpPr>
          <p:cNvPr id="22" name="Shape 20"/>
          <p:cNvSpPr/>
          <p:nvPr/>
        </p:nvSpPr>
        <p:spPr>
          <a:xfrm>
            <a:off x="548640" y="3931920"/>
            <a:ext cx="11091672" cy="914400"/>
          </a:xfrm>
          <a:prstGeom prst="roundRect">
            <a:avLst/>
          </a:prstGeom>
          <a:solidFill>
            <a:srgbClr val="FFF8E1"/>
          </a:solidFill>
          <a:ln w="19050">
            <a:solidFill>
              <a:srgbClr val="FFA000"/>
            </a:solidFill>
            <a:prstDash val="solid"/>
          </a:ln>
        </p:spPr>
      </p:sp>
      <p:sp>
        <p:nvSpPr>
          <p:cNvPr id="23" name="Text 21"/>
          <p:cNvSpPr/>
          <p:nvPr/>
        </p:nvSpPr>
        <p:spPr>
          <a:xfrm>
            <a:off x="822960" y="4023360"/>
            <a:ext cx="10543032" cy="73152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Vas a medir esta diferencia de tiempos de verdad en la Actividad 4.2 — caché fría frente a caliente— y qué pasa cuando cambias el contenido sin invalidar.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Qué contenido merece CDN y cuál no</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DNS, HTTPS y distribución de contenido</a:t>
            </a:r>
            <a:endParaRPr lang="en-US" sz="1100" dirty="0"/>
          </a:p>
        </p:txBody>
      </p:sp>
      <p:sp>
        <p:nvSpPr>
          <p:cNvPr id="5" name="Shape 3"/>
          <p:cNvSpPr/>
          <p:nvPr/>
        </p:nvSpPr>
        <p:spPr>
          <a:xfrm>
            <a:off x="548640" y="1143000"/>
            <a:ext cx="11091672" cy="731520"/>
          </a:xfrm>
          <a:prstGeom prst="roundRect">
            <a:avLst/>
          </a:prstGeom>
          <a:solidFill>
            <a:srgbClr val="FFF8E1"/>
          </a:solidFill>
          <a:ln w="19050">
            <a:solidFill>
              <a:srgbClr val="FFA000"/>
            </a:solidFill>
            <a:prstDash val="solid"/>
          </a:ln>
        </p:spPr>
      </p:sp>
      <p:sp>
        <p:nvSpPr>
          <p:cNvPr id="6" name="Text 4"/>
          <p:cNvSpPr/>
          <p:nvPr/>
        </p:nvSpPr>
        <p:spPr>
          <a:xfrm>
            <a:off x="822960" y="1234440"/>
            <a:ext cx="10543032" cy="54864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La regla es sencilla: cuanto más estático y menos personal sea un contenido, más sentido tiene cachearlo cerca del usuario.</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1672" cy="914400"/>
        </p:xfrm>
        <a:graphic>
          <a:graphicData uri="http://schemas.openxmlformats.org/drawingml/2006/table">
            <a:tbl>
              <a:tblPr/>
              <a:tblGrid>
                <a:gridCol w="3993002"/>
                <a:gridCol w="1774668"/>
                <a:gridCol w="5324003"/>
              </a:tblGrid>
              <a:tr h="502920">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Contenido</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¿Merece CDN?</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c>
                  <a:txBody>
                    <a:bodyPr/>
                    <a:lstStyle/>
                    <a:p>
                      <a:pPr algn="ctr" indent="0" marL="0">
                        <a:buNone/>
                      </a:pPr>
                      <a:r>
                        <a:rPr lang="en-US" sz="1300" b="1" dirty="0">
                          <a:solidFill>
                            <a:srgbClr val="FFFFFF"/>
                          </a:solidFill>
                          <a:latin typeface="Arial" pitchFamily="34" charset="0"/>
                          <a:ea typeface="Arial" pitchFamily="34" charset="-122"/>
                          <a:cs typeface="Arial" pitchFamily="34" charset="-120"/>
                        </a:rPr>
                        <a:t>Por qué</a:t>
                      </a:r>
                      <a:endParaRPr lang="en-US" sz="13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949AB"/>
                    </a:solidFill>
                  </a:tcPr>
                </a:tc>
              </a:tr>
              <a:tr h="502920">
                <a:tc>
                  <a:txBody>
                    <a:bodyPr/>
                    <a:lstStyle/>
                    <a:p>
                      <a:pPr indent="0" marL="0">
                        <a:buNone/>
                      </a:pPr>
                      <a:r>
                        <a:rPr lang="en-US" sz="1200" b="1" dirty="0">
                          <a:solidFill>
                            <a:srgbClr val="212121"/>
                          </a:solidFill>
                          <a:latin typeface="Arial" pitchFamily="34" charset="0"/>
                          <a:ea typeface="Arial" pitchFamily="34" charset="-122"/>
                          <a:cs typeface="Arial" pitchFamily="34" charset="-120"/>
                        </a:rPr>
                        <a:t>Front estático (HTML, CSS, JS)</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Sí</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Igual para todos los visitantes, cambia poco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121"/>
                          </a:solidFill>
                          <a:latin typeface="Arial" pitchFamily="34" charset="0"/>
                          <a:ea typeface="Arial" pitchFamily="34" charset="-122"/>
                          <a:cs typeface="Arial" pitchFamily="34" charset="-120"/>
                        </a:rPr>
                        <a:t>Imágenes de producto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Sí</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Igual para todos, se benefician de estar cerca del usuario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r h="502920">
                <a:tc>
                  <a:txBody>
                    <a:bodyPr/>
                    <a:lstStyle/>
                    <a:p>
                      <a:pPr indent="0" marL="0">
                        <a:buNone/>
                      </a:pPr>
                      <a:r>
                        <a:rPr lang="en-US" sz="1200" b="1" dirty="0">
                          <a:solidFill>
                            <a:srgbClr val="212121"/>
                          </a:solidFill>
                          <a:latin typeface="Arial" pitchFamily="34" charset="0"/>
                          <a:ea typeface="Arial" pitchFamily="34" charset="-122"/>
                          <a:cs typeface="Arial" pitchFamily="34" charset="-120"/>
                        </a:rPr>
                        <a:t>Respuesta con datos del carrito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Distinta para cada usuario, no tiene sentido cachearla</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121"/>
                          </a:solidFill>
                          <a:latin typeface="Arial" pitchFamily="34" charset="0"/>
                          <a:ea typeface="Arial" pitchFamily="34" charset="-122"/>
                          <a:cs typeface="Arial" pitchFamily="34" charset="-120"/>
                        </a:rPr>
                        <a:t>Endpoint /api/salud</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No</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indent="0" marL="0">
                        <a:buNone/>
                      </a:pPr>
                      <a:r>
                        <a:rPr lang="en-US" sz="1200" dirty="0">
                          <a:solidFill>
                            <a:srgbClr val="212121"/>
                          </a:solidFill>
                          <a:latin typeface="Arial" pitchFamily="34" charset="0"/>
                          <a:ea typeface="Arial" pitchFamily="34" charset="-122"/>
                          <a:cs typeface="Arial" pitchFamily="34" charset="-120"/>
                        </a:rPr>
                        <a:t>Necesita reflejar el estado real en cada instante</a:t>
                      </a:r>
                      <a:endParaRPr lang="en-US" sz="1200" dirty="0">
                        <a:latin typeface="Arial" charset="0"/>
                        <a:ea typeface="Arial" charset="0"/>
                        <a:cs typeface="Arial" charset="0"/>
                      </a:endParaRPr>
                    </a:p>
                  </a:txBody>
                  <a:tcPr marL="91440" marR="91440" marT="45720" marB="45720"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r>
            </a:tbl>
          </a:graphicData>
        </a:graphic>
      </p:graphicFrame>
      <p:sp>
        <p:nvSpPr>
          <p:cNvPr id="8" name="Shape 5"/>
          <p:cNvSpPr/>
          <p:nvPr/>
        </p:nvSpPr>
        <p:spPr>
          <a:xfrm>
            <a:off x="548640" y="5029200"/>
            <a:ext cx="11091672" cy="1234440"/>
          </a:xfrm>
          <a:prstGeom prst="roundRect">
            <a:avLst/>
          </a:prstGeom>
          <a:solidFill>
            <a:srgbClr val="FFF8E1"/>
          </a:solidFill>
          <a:ln w="28575">
            <a:solidFill>
              <a:srgbClr val="FFA000"/>
            </a:solidFill>
            <a:prstDash val="solid"/>
          </a:ln>
        </p:spPr>
      </p:sp>
      <p:sp>
        <p:nvSpPr>
          <p:cNvPr id="9" name="Text 6"/>
          <p:cNvSpPr/>
          <p:nvPr/>
        </p:nvSpPr>
        <p:spPr>
          <a:xfrm>
            <a:off x="822960" y="5138928"/>
            <a:ext cx="10543032" cy="1014984"/>
          </a:xfrm>
          <a:prstGeom prst="rect">
            <a:avLst/>
          </a:prstGeom>
          <a:noFill/>
          <a:ln/>
        </p:spPr>
        <p:txBody>
          <a:bodyPr wrap="square" rtlCol="0" anchor="t"/>
          <a:lstStyle/>
          <a:p>
            <a:pPr indent="0" marL="0">
              <a:buNone/>
            </a:pPr>
            <a:r>
              <a:rPr lang="en-US" sz="1450" b="1" dirty="0">
                <a:solidFill>
                  <a:srgbClr val="1A237E"/>
                </a:solidFill>
                <a:latin typeface="Arial" pitchFamily="34" charset="0"/>
                <a:ea typeface="Arial" pitchFamily="34" charset="-122"/>
                <a:cs typeface="Arial" pitchFamily="34" charset="-120"/>
              </a:rPr>
              <a:t>Cachear contenido que cambia por usuario es un error real, no solo ineficiente
</a:t>
            </a:r>
            <a:endParaRPr lang="en-US" sz="1450" dirty="0"/>
          </a:p>
          <a:p>
            <a:pPr indent="0" marL="0">
              <a:buNone/>
            </a:pPr>
            <a:r>
              <a:rPr lang="en-US" sz="1350" dirty="0">
                <a:solidFill>
                  <a:srgbClr val="212121"/>
                </a:solidFill>
                <a:latin typeface="Arial" pitchFamily="34" charset="0"/>
                <a:ea typeface="Arial" pitchFamily="34" charset="-122"/>
                <a:cs typeface="Arial" pitchFamily="34" charset="-120"/>
              </a:rPr>
              <a:t>Si una CDN cachea por error una respuesta que debería ser distinta para cada visitante, un usuario podría ver datos que no le corresponden. La pregunta nunca es solo «¿es más rápido?», también «¿es lo mismo para todo el mundo?».</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1A237E"/>
          </a:solidFill>
          <a:ln w="12700">
            <a:solidFill>
              <a:srgbClr val="1A237E"/>
            </a:solidFill>
            <a:prstDash val="solid"/>
          </a:ln>
        </p:spPr>
      </p:sp>
      <p:sp>
        <p:nvSpPr>
          <p:cNvPr id="3" name="Text 1"/>
          <p:cNvSpPr/>
          <p:nvPr/>
        </p:nvSpPr>
        <p:spPr>
          <a:xfrm>
            <a:off x="365760" y="0"/>
            <a:ext cx="11457432" cy="777240"/>
          </a:xfrm>
          <a:prstGeom prst="rect">
            <a:avLst/>
          </a:prstGeom>
          <a:noFill/>
          <a:ln/>
        </p:spPr>
        <p:txBody>
          <a:bodyPr wrap="square" rtlCol="0" anchor="ctr"/>
          <a:lstStyle/>
          <a:p>
            <a:pPr indent="0" marL="0">
              <a:buNone/>
            </a:pPr>
            <a:r>
              <a:rPr lang="en-US" sz="2300" b="1" dirty="0">
                <a:solidFill>
                  <a:srgbClr val="FFFFFF"/>
                </a:solidFill>
                <a:latin typeface="Arial" pitchFamily="34" charset="0"/>
                <a:ea typeface="Arial" pitchFamily="34" charset="-122"/>
                <a:cs typeface="Arial" pitchFamily="34" charset="-120"/>
              </a:rPr>
              <a:t>Ideas clave</a:t>
            </a:r>
            <a:endParaRPr lang="en-US" sz="2300" dirty="0"/>
          </a:p>
        </p:txBody>
      </p:sp>
      <p:sp>
        <p:nvSpPr>
          <p:cNvPr id="4" name="Text 2"/>
          <p:cNvSpPr/>
          <p:nvPr/>
        </p:nvSpPr>
        <p:spPr>
          <a:xfrm>
            <a:off x="548640" y="6473952"/>
            <a:ext cx="11091672" cy="292608"/>
          </a:xfrm>
          <a:prstGeom prst="rect">
            <a:avLst/>
          </a:prstGeom>
          <a:noFill/>
          <a:ln/>
        </p:spPr>
        <p:txBody>
          <a:bodyPr wrap="square" rtlCol="0" anchor="ctr"/>
          <a:lstStyle/>
          <a:p>
            <a:pPr algn="r" indent="0" marL="0">
              <a:buNone/>
            </a:pPr>
            <a:r>
              <a:rPr lang="en-US" sz="1100" dirty="0">
                <a:solidFill>
                  <a:srgbClr val="757575"/>
                </a:solidFill>
                <a:latin typeface="Arial" pitchFamily="34" charset="0"/>
                <a:ea typeface="Arial" pitchFamily="34" charset="-122"/>
                <a:cs typeface="Arial" pitchFamily="34" charset="-120"/>
              </a:rPr>
              <a:t>Introducción a la Nube Pública — Tema 4: DNS, HTTPS y distribución de contenido</a:t>
            </a:r>
            <a:endParaRPr lang="en-US" sz="1100" dirty="0"/>
          </a:p>
        </p:txBody>
      </p:sp>
      <p:sp>
        <p:nvSpPr>
          <p:cNvPr id="5" name="Shape 3"/>
          <p:cNvSpPr/>
          <p:nvPr/>
        </p:nvSpPr>
        <p:spPr>
          <a:xfrm>
            <a:off x="548640" y="1280160"/>
            <a:ext cx="5431536" cy="1325880"/>
          </a:xfrm>
          <a:prstGeom prst="roundRect">
            <a:avLst/>
          </a:prstGeom>
          <a:solidFill>
            <a:srgbClr val="E8EAF6"/>
          </a:solidFill>
          <a:ln w="15875">
            <a:solidFill>
              <a:srgbClr val="3949AB"/>
            </a:solidFill>
            <a:prstDash val="solid"/>
          </a:ln>
        </p:spPr>
      </p:sp>
      <p:sp>
        <p:nvSpPr>
          <p:cNvPr id="6" name="Shape 4"/>
          <p:cNvSpPr/>
          <p:nvPr/>
        </p:nvSpPr>
        <p:spPr>
          <a:xfrm>
            <a:off x="731520" y="1623060"/>
            <a:ext cx="640080" cy="640080"/>
          </a:xfrm>
          <a:prstGeom prst="ellipse">
            <a:avLst/>
          </a:prstGeom>
          <a:solidFill>
            <a:srgbClr val="3949AB"/>
          </a:solidFill>
          <a:ln w="12700">
            <a:solidFill>
              <a:srgbClr val="3949AB"/>
            </a:solidFill>
            <a:prstDash val="solid"/>
          </a:ln>
        </p:spPr>
      </p:sp>
      <p:sp>
        <p:nvSpPr>
          <p:cNvPr id="7" name="Text 5"/>
          <p:cNvSpPr/>
          <p:nvPr/>
        </p:nvSpPr>
        <p:spPr>
          <a:xfrm>
            <a:off x="731520" y="1623060"/>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8" name="Text 6"/>
          <p:cNvSpPr/>
          <p:nvPr/>
        </p:nvSpPr>
        <p:spPr>
          <a:xfrm>
            <a:off x="1508760" y="1280160"/>
            <a:ext cx="4288536" cy="13258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Resolver un nombre es una cadena de preguntas (resolver → raíz → TLD → autoritativo); alojar la zona no es lo mismo que ser dueño del dominio.</a:t>
            </a:r>
            <a:endParaRPr lang="en-US" sz="1500" dirty="0"/>
          </a:p>
        </p:txBody>
      </p:sp>
      <p:sp>
        <p:nvSpPr>
          <p:cNvPr id="9" name="Shape 7"/>
          <p:cNvSpPr/>
          <p:nvPr/>
        </p:nvSpPr>
        <p:spPr>
          <a:xfrm>
            <a:off x="6208776" y="1280160"/>
            <a:ext cx="5431536" cy="1325880"/>
          </a:xfrm>
          <a:prstGeom prst="roundRect">
            <a:avLst/>
          </a:prstGeom>
          <a:solidFill>
            <a:srgbClr val="E8EAF6"/>
          </a:solidFill>
          <a:ln w="15875">
            <a:solidFill>
              <a:srgbClr val="3949AB"/>
            </a:solidFill>
            <a:prstDash val="solid"/>
          </a:ln>
        </p:spPr>
      </p:sp>
      <p:sp>
        <p:nvSpPr>
          <p:cNvPr id="10" name="Shape 8"/>
          <p:cNvSpPr/>
          <p:nvPr/>
        </p:nvSpPr>
        <p:spPr>
          <a:xfrm>
            <a:off x="6391656" y="1623060"/>
            <a:ext cx="640080" cy="640080"/>
          </a:xfrm>
          <a:prstGeom prst="ellipse">
            <a:avLst/>
          </a:prstGeom>
          <a:solidFill>
            <a:srgbClr val="3949AB"/>
          </a:solidFill>
          <a:ln w="12700">
            <a:solidFill>
              <a:srgbClr val="3949AB"/>
            </a:solidFill>
            <a:prstDash val="solid"/>
          </a:ln>
        </p:spPr>
      </p:sp>
      <p:sp>
        <p:nvSpPr>
          <p:cNvPr id="11" name="Text 9"/>
          <p:cNvSpPr/>
          <p:nvPr/>
        </p:nvSpPr>
        <p:spPr>
          <a:xfrm>
            <a:off x="6391656" y="1623060"/>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2" name="Text 10"/>
          <p:cNvSpPr/>
          <p:nvPr/>
        </p:nvSpPr>
        <p:spPr>
          <a:xfrm>
            <a:off x="7168896" y="1280160"/>
            <a:ext cx="4288536" cy="13258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registro Alias es la forma recomendada de apuntar a un balanceador dentro de AWS, porque su dirección puede cambiar.</a:t>
            </a:r>
            <a:endParaRPr lang="en-US" sz="1500" dirty="0"/>
          </a:p>
        </p:txBody>
      </p:sp>
      <p:sp>
        <p:nvSpPr>
          <p:cNvPr id="13" name="Shape 11"/>
          <p:cNvSpPr/>
          <p:nvPr/>
        </p:nvSpPr>
        <p:spPr>
          <a:xfrm>
            <a:off x="548640" y="2834640"/>
            <a:ext cx="5431536" cy="1325880"/>
          </a:xfrm>
          <a:prstGeom prst="roundRect">
            <a:avLst/>
          </a:prstGeom>
          <a:solidFill>
            <a:srgbClr val="E8EAF6"/>
          </a:solidFill>
          <a:ln w="15875">
            <a:solidFill>
              <a:srgbClr val="3949AB"/>
            </a:solidFill>
            <a:prstDash val="solid"/>
          </a:ln>
        </p:spPr>
      </p:sp>
      <p:sp>
        <p:nvSpPr>
          <p:cNvPr id="14" name="Shape 12"/>
          <p:cNvSpPr/>
          <p:nvPr/>
        </p:nvSpPr>
        <p:spPr>
          <a:xfrm>
            <a:off x="731520" y="3177540"/>
            <a:ext cx="640080" cy="640080"/>
          </a:xfrm>
          <a:prstGeom prst="ellipse">
            <a:avLst/>
          </a:prstGeom>
          <a:solidFill>
            <a:srgbClr val="3949AB"/>
          </a:solidFill>
          <a:ln w="12700">
            <a:solidFill>
              <a:srgbClr val="3949AB"/>
            </a:solidFill>
            <a:prstDash val="solid"/>
          </a:ln>
        </p:spPr>
      </p:sp>
      <p:sp>
        <p:nvSpPr>
          <p:cNvPr id="15" name="Text 13"/>
          <p:cNvSpPr/>
          <p:nvPr/>
        </p:nvSpPr>
        <p:spPr>
          <a:xfrm>
            <a:off x="731520" y="3177540"/>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6" name="Text 14"/>
          <p:cNvSpPr/>
          <p:nvPr/>
        </p:nvSpPr>
        <p:spPr>
          <a:xfrm>
            <a:off x="1508760" y="2834640"/>
            <a:ext cx="4288536" cy="13258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Las políticas de enrutamiento deciden a qué destino responder: simple, por latencia, por geolocalización, o con conmutación por error.</a:t>
            </a:r>
            <a:endParaRPr lang="en-US" sz="1500" dirty="0"/>
          </a:p>
        </p:txBody>
      </p:sp>
      <p:sp>
        <p:nvSpPr>
          <p:cNvPr id="17" name="Shape 15"/>
          <p:cNvSpPr/>
          <p:nvPr/>
        </p:nvSpPr>
        <p:spPr>
          <a:xfrm>
            <a:off x="6208776" y="2834640"/>
            <a:ext cx="5431536" cy="1325880"/>
          </a:xfrm>
          <a:prstGeom prst="roundRect">
            <a:avLst/>
          </a:prstGeom>
          <a:solidFill>
            <a:srgbClr val="E8EAF6"/>
          </a:solidFill>
          <a:ln w="15875">
            <a:solidFill>
              <a:srgbClr val="3949AB"/>
            </a:solidFill>
            <a:prstDash val="solid"/>
          </a:ln>
        </p:spPr>
      </p:sp>
      <p:sp>
        <p:nvSpPr>
          <p:cNvPr id="18" name="Shape 16"/>
          <p:cNvSpPr/>
          <p:nvPr/>
        </p:nvSpPr>
        <p:spPr>
          <a:xfrm>
            <a:off x="6391656" y="3177540"/>
            <a:ext cx="640080" cy="640080"/>
          </a:xfrm>
          <a:prstGeom prst="ellipse">
            <a:avLst/>
          </a:prstGeom>
          <a:solidFill>
            <a:srgbClr val="3949AB"/>
          </a:solidFill>
          <a:ln w="12700">
            <a:solidFill>
              <a:srgbClr val="3949AB"/>
            </a:solidFill>
            <a:prstDash val="solid"/>
          </a:ln>
        </p:spPr>
      </p:sp>
      <p:sp>
        <p:nvSpPr>
          <p:cNvPr id="19" name="Text 17"/>
          <p:cNvSpPr/>
          <p:nvPr/>
        </p:nvSpPr>
        <p:spPr>
          <a:xfrm>
            <a:off x="6391656" y="3177540"/>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0" name="Text 18"/>
          <p:cNvSpPr/>
          <p:nvPr/>
        </p:nvSpPr>
        <p:spPr>
          <a:xfrm>
            <a:off x="7168896" y="2834640"/>
            <a:ext cx="4288536" cy="13258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 certificado gestionado (ACM) habilita HTTPS en el borde — se instala en el balanceador, y el tramo interno puede seguir siendo HTTP.</a:t>
            </a:r>
            <a:endParaRPr lang="en-US" sz="1500" dirty="0"/>
          </a:p>
        </p:txBody>
      </p:sp>
      <p:sp>
        <p:nvSpPr>
          <p:cNvPr id="21" name="Shape 19"/>
          <p:cNvSpPr/>
          <p:nvPr/>
        </p:nvSpPr>
        <p:spPr>
          <a:xfrm>
            <a:off x="548640" y="4389120"/>
            <a:ext cx="5431536" cy="1325880"/>
          </a:xfrm>
          <a:prstGeom prst="roundRect">
            <a:avLst/>
          </a:prstGeom>
          <a:solidFill>
            <a:srgbClr val="E8EAF6"/>
          </a:solidFill>
          <a:ln w="15875">
            <a:solidFill>
              <a:srgbClr val="3949AB"/>
            </a:solidFill>
            <a:prstDash val="solid"/>
          </a:ln>
        </p:spPr>
      </p:sp>
      <p:sp>
        <p:nvSpPr>
          <p:cNvPr id="22" name="Shape 20"/>
          <p:cNvSpPr/>
          <p:nvPr/>
        </p:nvSpPr>
        <p:spPr>
          <a:xfrm>
            <a:off x="731520" y="4732020"/>
            <a:ext cx="640080" cy="640080"/>
          </a:xfrm>
          <a:prstGeom prst="ellipse">
            <a:avLst/>
          </a:prstGeom>
          <a:solidFill>
            <a:srgbClr val="3949AB"/>
          </a:solidFill>
          <a:ln w="12700">
            <a:solidFill>
              <a:srgbClr val="3949AB"/>
            </a:solidFill>
            <a:prstDash val="solid"/>
          </a:ln>
        </p:spPr>
      </p:sp>
      <p:sp>
        <p:nvSpPr>
          <p:cNvPr id="23" name="Text 21"/>
          <p:cNvSpPr/>
          <p:nvPr/>
        </p:nvSpPr>
        <p:spPr>
          <a:xfrm>
            <a:off x="731520" y="4732020"/>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4" name="Text 22"/>
          <p:cNvSpPr/>
          <p:nvPr/>
        </p:nvSpPr>
        <p:spPr>
          <a:xfrm>
            <a:off x="1508760" y="4389120"/>
            <a:ext cx="4288536" cy="13258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Una CDN guarda copias en el borde; el TTL decide cuánto dura la copia, y la invalidación fuerza a descartarla antes de tiempo.</a:t>
            </a:r>
            <a:endParaRPr lang="en-US" sz="1500" dirty="0"/>
          </a:p>
        </p:txBody>
      </p:sp>
      <p:sp>
        <p:nvSpPr>
          <p:cNvPr id="25" name="Shape 23"/>
          <p:cNvSpPr/>
          <p:nvPr/>
        </p:nvSpPr>
        <p:spPr>
          <a:xfrm>
            <a:off x="6208776" y="4389120"/>
            <a:ext cx="5431536" cy="1325880"/>
          </a:xfrm>
          <a:prstGeom prst="roundRect">
            <a:avLst/>
          </a:prstGeom>
          <a:solidFill>
            <a:srgbClr val="E8EAF6"/>
          </a:solidFill>
          <a:ln w="15875">
            <a:solidFill>
              <a:srgbClr val="3949AB"/>
            </a:solidFill>
            <a:prstDash val="solid"/>
          </a:ln>
        </p:spPr>
      </p:sp>
      <p:sp>
        <p:nvSpPr>
          <p:cNvPr id="26" name="Shape 24"/>
          <p:cNvSpPr/>
          <p:nvPr/>
        </p:nvSpPr>
        <p:spPr>
          <a:xfrm>
            <a:off x="6391656" y="4732020"/>
            <a:ext cx="640080" cy="640080"/>
          </a:xfrm>
          <a:prstGeom prst="ellipse">
            <a:avLst/>
          </a:prstGeom>
          <a:solidFill>
            <a:srgbClr val="3949AB"/>
          </a:solidFill>
          <a:ln w="12700">
            <a:solidFill>
              <a:srgbClr val="3949AB"/>
            </a:solidFill>
            <a:prstDash val="solid"/>
          </a:ln>
        </p:spPr>
      </p:sp>
      <p:sp>
        <p:nvSpPr>
          <p:cNvPr id="27" name="Text 25"/>
          <p:cNvSpPr/>
          <p:nvPr/>
        </p:nvSpPr>
        <p:spPr>
          <a:xfrm>
            <a:off x="6391656" y="4732020"/>
            <a:ext cx="640080" cy="6400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28" name="Text 26"/>
          <p:cNvSpPr/>
          <p:nvPr/>
        </p:nvSpPr>
        <p:spPr>
          <a:xfrm>
            <a:off x="7168896" y="4389120"/>
            <a:ext cx="4288536" cy="1325880"/>
          </a:xfrm>
          <a:prstGeom prst="rect">
            <a:avLst/>
          </a:prstGeom>
          <a:noFill/>
          <a:ln/>
        </p:spPr>
        <p:txBody>
          <a:bodyPr wrap="square" rtlCol="0" anchor="ctr"/>
          <a:lstStyle/>
          <a:p>
            <a:pPr indent="0" marL="0">
              <a:buNone/>
            </a:pPr>
            <a:r>
              <a:rPr lang="en-US" sz="1500" dirty="0">
                <a:solidFill>
                  <a:srgbClr val="212121"/>
                </a:solidFill>
                <a:latin typeface="Arial" pitchFamily="34" charset="0"/>
                <a:ea typeface="Arial" pitchFamily="34" charset="-122"/>
                <a:cs typeface="Arial" pitchFamily="34" charset="-120"/>
              </a:rPr>
              <a:t>Solo merece CDN el contenido igual para todos los visitantes — nunca datos que deban ser distintos para cada usuario.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DNS, HTTPS y distribución de contenido</dc:title>
  <dc:subject>PptxGenJS Presentation</dc:subject>
  <dc:creator>Introducción a la Nube Pública</dc:creator>
  <cp:lastModifiedBy>Introducción a la Nube Pública</cp:lastModifiedBy>
  <cp:revision>1</cp:revision>
  <dcterms:created xsi:type="dcterms:W3CDTF">2026-09-23T09:51:56Z</dcterms:created>
  <dcterms:modified xsi:type="dcterms:W3CDTF">2026-09-23T09:51:56Z</dcterms:modified>
</cp:coreProperties>
</file>