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3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5CAE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 —  TEMA 4: ALTA DISPONIBILIDAD Y ENTREGA DE CONTENIDO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1109167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Balanceo de carga y escalado automático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0" y="5120640"/>
            <a:ext cx="12188952" cy="914400"/>
          </a:xfrm>
          <a:prstGeom prst="rect">
            <a:avLst/>
          </a:prstGeom>
          <a:solidFill>
            <a:srgbClr val="FFA000"/>
          </a:solidFill>
          <a:ln w="12700">
            <a:solidFill>
              <a:srgbClr val="FFA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12064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Tema 4 — Alta disponibilidad y entrega de contenido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mismo punto único de fallo, resuelto de verdad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4: Balanceo de carga y escalado automático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1109167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Cualquier aplicación desplegada sobre una única instancia tiene el mismo punto único de fallo: si esa instancia se cae, se cae la aplicación entera.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48640" y="3337560"/>
            <a:ext cx="11091672" cy="13716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A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429000"/>
            <a:ext cx="1054303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 resuelves justo ese punto — no añadiendo «una instancia más por si acaso», sino un mecanismo que reparte el tráfico entre varias copias y repone automáticamente la que falle.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Balanceador de carga: nunca hablas con una instancia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4: Balanceo de carga y escalado automático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1109167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cliente nunca habla directamente con una instancia concreta — habla con el balanceador, y es él quien decide a cuál mandar cada petición. Hoy usas el ALB (Application Load Balancer), pensado para tráfico HTTP/HTTPS.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340407" y="2743200"/>
            <a:ext cx="7508138" cy="822960"/>
          </a:xfrm>
          <a:prstGeom prst="roundRect">
            <a:avLst/>
          </a:prstGeom>
          <a:solidFill>
            <a:srgbClr val="E8EAF6"/>
          </a:solidFill>
          <a:ln w="19050">
            <a:solidFill>
              <a:srgbClr val="3949A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340407" y="2743200"/>
            <a:ext cx="750813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🌍 Internet → ⚖️ Balanceador de carga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094476" y="3566160"/>
            <a:ext cx="914" cy="182880"/>
          </a:xfrm>
          <a:prstGeom prst="line">
            <a:avLst/>
          </a:prstGeom>
          <a:noFill/>
          <a:ln w="15875">
            <a:solidFill>
              <a:srgbClr val="3949A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3931920"/>
            <a:ext cx="5362956" cy="731520"/>
          </a:xfrm>
          <a:prstGeom prst="roundRect">
            <a:avLst/>
          </a:prstGeom>
          <a:solidFill>
            <a:srgbClr val="E8EAF6"/>
          </a:solidFill>
          <a:ln w="15875">
            <a:solidFill>
              <a:srgbClr val="3949A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3931920"/>
            <a:ext cx="527151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Instancia 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230118" y="3749040"/>
            <a:ext cx="914" cy="182880"/>
          </a:xfrm>
          <a:prstGeom prst="line">
            <a:avLst/>
          </a:prstGeom>
          <a:noFill/>
          <a:ln w="15875">
            <a:solidFill>
              <a:srgbClr val="3949A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77356" y="3931920"/>
            <a:ext cx="5362956" cy="731520"/>
          </a:xfrm>
          <a:prstGeom prst="roundRect">
            <a:avLst/>
          </a:prstGeom>
          <a:solidFill>
            <a:srgbClr val="E8EAF6"/>
          </a:solidFill>
          <a:ln w="15875">
            <a:solidFill>
              <a:srgbClr val="3949A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3076" y="3931920"/>
            <a:ext cx="527151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Instancia B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958834" y="3749040"/>
            <a:ext cx="914" cy="182880"/>
          </a:xfrm>
          <a:prstGeom prst="line">
            <a:avLst/>
          </a:prstGeom>
          <a:noFill/>
          <a:ln w="15875">
            <a:solidFill>
              <a:srgbClr val="3949A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30118" y="3749040"/>
            <a:ext cx="5728716" cy="914"/>
          </a:xfrm>
          <a:prstGeom prst="line">
            <a:avLst/>
          </a:prstGeom>
          <a:noFill/>
          <a:ln w="15875">
            <a:solidFill>
              <a:srgbClr val="3949AB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Listener, grupo de destino y comprobación de salud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4: Balanceo de carga y escalado automático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8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Listener: </a:t>
            </a:r>
            <a:endParaRPr lang="en-US" sz="18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regla del balanceador — «todo lo que llegue por el puerto 443 en HTTPS, mándalo a este grupo de destino». Puede haber varios a la vez.</a:t>
            </a:r>
            <a:endParaRPr lang="en-US" sz="1800" dirty="0"/>
          </a:p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8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de destino (Target Group): </a:t>
            </a:r>
            <a:endParaRPr lang="en-US" sz="18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conjunto de instancias detrás del balanceador.</a:t>
            </a:r>
            <a:endParaRPr lang="en-US" sz="1800" dirty="0"/>
          </a:p>
          <a:p>
            <a:pPr marL="190500" indent="-190500">
              <a:spcAft>
                <a:spcPts val="1200"/>
              </a:spcAft>
              <a:buSzPct val="100000"/>
              <a:buChar char="•"/>
            </a:pPr>
            <a:r>
              <a:rPr lang="en-US" sz="18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Comprobación de salud (Health Check): </a:t>
            </a:r>
            <a:endParaRPr lang="en-US" sz="1800" dirty="0"/>
          </a:p>
          <a:p>
            <a:pPr lvl="1" indent="0" marL="0">
              <a:spcAft>
                <a:spcPts val="1200"/>
              </a:spcAft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petición HTTP periódica a una ruta concreta que debe responder correctamente para seguir recibiendo tráfico.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qué la comprobación de salud importa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4: Balanceo de carga y escalado automático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11091672" cy="173736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A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737360"/>
            <a:ext cx="10543032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Imagina una instancia que sigue «encendida» pero cuya aplicación se ha colgado — responde al ping de red, pero no sirve ninguna página. Sin comprobación de salud, el balanceador seguiría mandándole tráfico igualmente.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la comprobación activa, el balanceador la retira del grupo de destino en cuanto deja de responder, y solo la vuelve a incluir cuando se recupera.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grupo de seguridad cambia con el balanceador delante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4: Balanceo de carga y escalado automático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1109167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 no tiene sentido que el puerto de la aplicación siga abierto a 0.0.0.0/0: el puerto de la aplicación solo acepta tráfico desde el grupo de seguridad del propio balanceador, y es el balanceador el único con su puerto abierto a internet.</a:t>
            </a:r>
            <a:endParaRPr lang="en-US" sz="1800" dirty="0"/>
          </a:p>
        </p:txBody>
      </p:sp>
      <p:pic>
        <p:nvPicPr>
          <p:cNvPr id="6" name="Image 0" descr="C:/Users/Aitor/docxgen/img/inu_t4_sg_al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5453" y="2560320"/>
            <a:ext cx="9598047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Retirar una instancia sin cortar en seco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4: Balanceo de carga y escalado automático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11091672" cy="173736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A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280160"/>
            <a:ext cx="10543032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retraso de anulación de registro (deregistration delay) deja de mandar peticiones nuevas a una instancia retirada, pero espera a que termine las que ya tenía en curso — sin ese margen, un usuario a mitad de petición vería la conexión cortada de golpe.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20040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exige al menos dos subredes en dos zonas de disponibilidad para crear el ALB: el propio balanceador es un servicio distribuido, para no convertirse él mismo en el punto único de fallo.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Escalado vertical frente a horizontal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4: Balanceo de carga y escalado automático</a:t>
            </a:r>
            <a:endParaRPr lang="en-US" sz="11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2662001"/>
                <a:gridCol w="4214835"/>
                <a:gridCol w="4214835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Vertical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Horizontal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haces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Cambias la instancia por un tipo más grande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Añades más instancias iguales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Límite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tamaño de instancia más grande que existe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Prácticamente ninguno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¿Corte de servicio?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Sí — normalmente hay que parar la instancia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No, si está bien orquestado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Encaja con balanceador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lo necesita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 la base de todo lo de hoy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539496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escalado horizontal es el que hace posible la alta disponibilidad: con varias instancias más pequeñas repartidas, la caída de una no tumba el servicio.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Grupos de escalado automático (ASG)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4: Balanceo de carga y escalado automático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ASG mantiene un número de instancias saludables detrás del balanceador, añadiendo o quitando automáticamente según haga falta. Se define con tres números: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3422904" cy="1188720"/>
          </a:xfrm>
          <a:prstGeom prst="roundRect">
            <a:avLst/>
          </a:prstGeom>
          <a:solidFill>
            <a:srgbClr val="E8EAF6"/>
          </a:solidFill>
          <a:ln w="15875">
            <a:solidFill>
              <a:srgbClr val="3949A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331720"/>
            <a:ext cx="333146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Mínima: 2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menos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925824" y="2286000"/>
            <a:ext cx="502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94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383024" y="2286000"/>
            <a:ext cx="3422904" cy="1188720"/>
          </a:xfrm>
          <a:prstGeom prst="roundRect">
            <a:avLst/>
          </a:prstGeom>
          <a:solidFill>
            <a:srgbClr val="E8EAF6"/>
          </a:solidFill>
          <a:ln w="15875">
            <a:solidFill>
              <a:srgbClr val="3949A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28744" y="2331720"/>
            <a:ext cx="333146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Deseada: 2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condiciones normales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760208" y="2286000"/>
            <a:ext cx="502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94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217408" y="2286000"/>
            <a:ext cx="3422904" cy="1188720"/>
          </a:xfrm>
          <a:prstGeom prst="roundRect">
            <a:avLst/>
          </a:prstGeom>
          <a:solidFill>
            <a:srgbClr val="E8EAF6"/>
          </a:solidFill>
          <a:ln w="15875">
            <a:solidFill>
              <a:srgbClr val="3949A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63128" y="2331720"/>
            <a:ext cx="3331464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Máxima: 5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más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548640" y="379476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ASG necesita una plantilla de lanzamiento (Tema 2) — sin ella no sabría con qué imagen y configuración lanzar una instancia nueva.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capas de comprobación de salud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4: Balanceo de carga y escalado automático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1672" cy="914400"/>
        </p:xfrm>
        <a:graphic>
          <a:graphicData uri="http://schemas.openxmlformats.org/drawingml/2006/table">
            <a:tbl>
              <a:tblPr/>
              <a:tblGrid>
                <a:gridCol w="2218334"/>
                <a:gridCol w="4436669"/>
                <a:gridCol w="4436669"/>
              </a:tblGrid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Comprobación EC2 (por defecto)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Comprobación del grupo de destino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49AB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mira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Estado del hardware y la red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Respuesta HTTP de la propia aplicación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Detecta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Instancia parada o con fallo de host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Aplicación colgada, aunque esté «viva»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Quién la aporta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propio servicio EC2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balanceador de carga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489204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las dos activas, el ASG detecta tanto una instancia caída de verdad como una que sigue viva pero colgada por dentro.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repone el ASG una instancia caída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4: Balanceo de carga y escalado automático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1889150" cy="1737360"/>
          </a:xfrm>
          <a:prstGeom prst="roundRect">
            <a:avLst/>
          </a:prstGeom>
          <a:solidFill>
            <a:srgbClr val="E8EAF6"/>
          </a:solidFill>
          <a:ln w="15875">
            <a:solidFill>
              <a:srgbClr val="3949A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691640"/>
            <a:ext cx="179771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Falla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(EC2 o grupo destino)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392070" y="1645920"/>
            <a:ext cx="5029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94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849270" y="1645920"/>
            <a:ext cx="1889150" cy="1737360"/>
          </a:xfrm>
          <a:prstGeom prst="roundRect">
            <a:avLst/>
          </a:prstGeom>
          <a:solidFill>
            <a:srgbClr val="E8EAF6"/>
          </a:solidFill>
          <a:ln w="15875">
            <a:solidFill>
              <a:srgbClr val="3949A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94990" y="1691640"/>
            <a:ext cx="179771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El ASG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detecta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92701" y="1645920"/>
            <a:ext cx="5029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94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149901" y="1645920"/>
            <a:ext cx="1889150" cy="1737360"/>
          </a:xfrm>
          <a:prstGeom prst="roundRect">
            <a:avLst/>
          </a:prstGeom>
          <a:solidFill>
            <a:srgbClr val="E8EAF6"/>
          </a:solidFill>
          <a:ln w="15875">
            <a:solidFill>
              <a:srgbClr val="3949A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95621" y="1691640"/>
            <a:ext cx="179771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⚖️ Compara sanas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vs. deseada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93331" y="1645920"/>
            <a:ext cx="5029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94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450531" y="1645920"/>
            <a:ext cx="1889150" cy="1737360"/>
          </a:xfrm>
          <a:prstGeom prst="roundRect">
            <a:avLst/>
          </a:prstGeom>
          <a:solidFill>
            <a:srgbClr val="E8EAF6"/>
          </a:solidFill>
          <a:ln w="15875">
            <a:solidFill>
              <a:srgbClr val="3949A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6251" y="1691640"/>
            <a:ext cx="179771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Lanza nueva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desde la plantilla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93962" y="1645920"/>
            <a:ext cx="5029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94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9751162" y="1645920"/>
            <a:ext cx="1889150" cy="1737360"/>
          </a:xfrm>
          <a:prstGeom prst="roundRect">
            <a:avLst/>
          </a:prstGeom>
          <a:solidFill>
            <a:srgbClr val="E8EAF6"/>
          </a:solidFill>
          <a:ln w="15875">
            <a:solidFill>
              <a:srgbClr val="3949A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96882" y="1691640"/>
            <a:ext cx="179771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Vuelve a la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capacidad deseada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3749040"/>
            <a:ext cx="11091672" cy="9144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FA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840480"/>
            <a:ext cx="105430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 a provocar esto tú mismo en el reto de la Actividad 4.1: terminar una instancia a mano y cronometrar cuánto tarda el grupo en reponerla.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Periodo de calentamiento: sin él, escalado en espiral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4: Balanceo de carga y escalado automático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1109167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ASG sigue una política de escalado basada en una métrica: «si la CPU media supera el 70 % durante varios minutos, añade una instancia; si baja del 30 %, quita una».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548640" y="2651760"/>
            <a:ext cx="11091672" cy="1645920"/>
          </a:xfrm>
          <a:prstGeom prst="roundRect">
            <a:avLst/>
          </a:prstGeom>
          <a:solidFill>
            <a:srgbClr val="FFF8E1"/>
          </a:solidFill>
          <a:ln w="28575">
            <a:solidFill>
              <a:srgbClr val="FFA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61488"/>
            <a:ext cx="10543032" cy="1426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El periodo de calentamiento existe para esto
</a:t>
            </a:r>
            <a:endParaRPr lang="en-US" sz="2000" dirty="0"/>
          </a:p>
          <a:p>
            <a:pPr indent="0" marL="0">
              <a:buNone/>
            </a:pPr>
            <a:r>
              <a:rPr lang="en-US" sz="19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el ASG evaluara la métrica justo después de lanzar una instancia nueva —que todavía está arrancando, sin servir tráfico— seguiría viendo la CPU alta y lanzaría otra, y otra, hasta la capacidad máxima.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elasticidad reflejada en la factura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4: Balanceo de carga y escalado automático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ASG no factura una capacidad fija, sino la que realmente está en marcha en cada momento: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3422904" cy="1005840"/>
          </a:xfrm>
          <a:prstGeom prst="roundRect">
            <a:avLst/>
          </a:prstGeom>
          <a:solidFill>
            <a:srgbClr val="E8EAF6"/>
          </a:solidFill>
          <a:ln w="15875">
            <a:solidFill>
              <a:srgbClr val="3949A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194560"/>
            <a:ext cx="333146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 Tráfico sube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925824" y="214884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94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383024" y="2148840"/>
            <a:ext cx="3422904" cy="1005840"/>
          </a:xfrm>
          <a:prstGeom prst="roundRect">
            <a:avLst/>
          </a:prstGeom>
          <a:solidFill>
            <a:srgbClr val="E8EAF6"/>
          </a:solidFill>
          <a:ln w="15875">
            <a:solidFill>
              <a:srgbClr val="3949A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28744" y="2194560"/>
            <a:ext cx="333146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ASG añade instancias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760208" y="214884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94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217408" y="2148840"/>
            <a:ext cx="3422904" cy="1005840"/>
          </a:xfrm>
          <a:prstGeom prst="roundRect">
            <a:avLst/>
          </a:prstGeom>
          <a:solidFill>
            <a:srgbClr val="E8EAF6"/>
          </a:solidFill>
          <a:ln w="15875">
            <a:solidFill>
              <a:srgbClr val="3949A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63128" y="2194560"/>
            <a:ext cx="333146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💶 Factura sube esa hora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3429000"/>
            <a:ext cx="3422904" cy="1005840"/>
          </a:xfrm>
          <a:prstGeom prst="roundRect">
            <a:avLst/>
          </a:prstGeom>
          <a:solidFill>
            <a:srgbClr val="E8EAF6"/>
          </a:solidFill>
          <a:ln w="15875">
            <a:solidFill>
              <a:srgbClr val="3949A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" y="3474720"/>
            <a:ext cx="333146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📉 Tráfico baja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925824" y="342900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94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4383024" y="3429000"/>
            <a:ext cx="3422904" cy="1005840"/>
          </a:xfrm>
          <a:prstGeom prst="roundRect">
            <a:avLst/>
          </a:prstGeom>
          <a:solidFill>
            <a:srgbClr val="E8EAF6"/>
          </a:solidFill>
          <a:ln w="15875">
            <a:solidFill>
              <a:srgbClr val="3949A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28744" y="3474720"/>
            <a:ext cx="333146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ASG retira instancias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760208" y="342900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949A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8217408" y="3429000"/>
            <a:ext cx="3422904" cy="1005840"/>
          </a:xfrm>
          <a:prstGeom prst="roundRect">
            <a:avLst/>
          </a:prstGeom>
          <a:solidFill>
            <a:srgbClr val="E8EAF6"/>
          </a:solidFill>
          <a:ln w="15875">
            <a:solidFill>
              <a:srgbClr val="3949A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63128" y="3474720"/>
            <a:ext cx="333146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💶 Factura vuelve a bajar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48640" y="475488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balanceador, en cambio, tiene un coste base fijo por existir más un cargo por tráfico (LCU) — es la pieza no elástica de esta arquitectura.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Ideas clave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Introducción a la Nube Pública — Tema 4: Balanceo de carga y escalado automático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188720"/>
            <a:ext cx="1109167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ALB reparte tráfico entre instancias de un grupo de destino, comprobando su salud antes de mandarles peticiones; exige al menos dos zonas de disponibilidad.</a:t>
            </a:r>
            <a:endParaRPr lang="en-US" sz="1600" dirty="0"/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balanceador delante, el puerto de la aplicación solo acepta tráfico del grupo de seguridad del propio balanceador.</a:t>
            </a:r>
            <a:endParaRPr lang="en-US" sz="1600" dirty="0"/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retraso de anulación de registro evita cortes en seco al retirar una instancia.</a:t>
            </a:r>
            <a:endParaRPr lang="en-US" sz="1600" dirty="0"/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Escalado horizontal (más instancias) es la base de la alta disponibilidad; el vertical tiene límite y suele cortar servicio.</a:t>
            </a:r>
            <a:endParaRPr lang="en-US" sz="1600" dirty="0"/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ASG combina la comprobación de EC2 y la del grupo de destino para detectar tanto una instancia caída como una colgada por dentro.</a:t>
            </a:r>
            <a:endParaRPr lang="en-US" sz="1600" dirty="0"/>
          </a:p>
          <a:p>
            <a:pPr marL="190500" indent="-1905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periodo de calentamiento evita que el ASG escale en espiral. La factura de las instancias sigue la demanda real; el balanceador tiene coste fijo (LCU).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Balanceo de carga y escalado automático</dc:title>
  <dc:subject>PptxGenJS Presentation</dc:subject>
  <dc:creator>Introducción a la Nube Pública</dc:creator>
  <cp:lastModifiedBy>Introducción a la Nube Pública</cp:lastModifiedBy>
  <cp:revision>1</cp:revision>
  <dcterms:created xsi:type="dcterms:W3CDTF">2026-09-06T16:33:55Z</dcterms:created>
  <dcterms:modified xsi:type="dcterms:W3CDTF">2026-09-06T16:33:55Z</dcterms:modified>
</cp:coreProperties>
</file>