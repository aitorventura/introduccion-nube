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7E"/>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400" dirty="0">
                <a:solidFill>
                  <a:srgbClr val="C5CAE9"/>
                </a:solidFill>
                <a:latin typeface="Arial" pitchFamily="34" charset="0"/>
                <a:ea typeface="Arial" pitchFamily="34" charset="-122"/>
                <a:cs typeface="Arial" pitchFamily="34" charset="-120"/>
              </a:rPr>
              <a:t>INTRODUCCIÓN A LA NUBE PÚBLICA  —  TEMA 4: ALTA DISPONIBILIDAD, ESCALADO Y ENTREGA DE CONTENIDO</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Balanceo de carga y escalado automático</a:t>
            </a:r>
            <a:endParaRPr lang="en-US" sz="3600" dirty="0"/>
          </a:p>
        </p:txBody>
      </p:sp>
      <p:sp>
        <p:nvSpPr>
          <p:cNvPr id="4" name="Shape 2"/>
          <p:cNvSpPr/>
          <p:nvPr/>
        </p:nvSpPr>
        <p:spPr>
          <a:xfrm>
            <a:off x="0" y="5120640"/>
            <a:ext cx="12188952" cy="914400"/>
          </a:xfrm>
          <a:prstGeom prst="rect">
            <a:avLst/>
          </a:prstGeom>
          <a:solidFill>
            <a:srgbClr val="FFA000"/>
          </a:solidFill>
          <a:ln w="12700">
            <a:solidFill>
              <a:srgbClr val="FFA000"/>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2000" i="1" dirty="0">
                <a:solidFill>
                  <a:srgbClr val="FFFFFF"/>
                </a:solidFill>
                <a:latin typeface="Arial" pitchFamily="34" charset="0"/>
                <a:ea typeface="Arial" pitchFamily="34" charset="-122"/>
                <a:cs typeface="Arial" pitchFamily="34" charset="-120"/>
              </a:rPr>
              <a:t>Tema 4 — Alta disponibilidad, escalado y entrega de contenido</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Balanceo de carga y escalado automático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Balanceo de carga y escalado automático</a:t>
            </a:r>
            <a:endParaRPr lang="en-US" sz="1100" dirty="0"/>
          </a:p>
        </p:txBody>
      </p:sp>
      <p:sp>
        <p:nvSpPr>
          <p:cNvPr id="5" name="Shape 3"/>
          <p:cNvSpPr/>
          <p:nvPr/>
        </p:nvSpPr>
        <p:spPr>
          <a:xfrm>
            <a:off x="548640" y="1188720"/>
            <a:ext cx="11091672" cy="1463040"/>
          </a:xfrm>
          <a:prstGeom prst="roundRect">
            <a:avLst/>
          </a:prstGeom>
          <a:solidFill>
            <a:srgbClr val="E8EAF6"/>
          </a:solidFill>
          <a:ln w="15875">
            <a:solidFill>
              <a:srgbClr val="3949AB"/>
            </a:solidFill>
            <a:prstDash val="solid"/>
          </a:ln>
        </p:spPr>
      </p:sp>
      <p:sp>
        <p:nvSpPr>
          <p:cNvPr id="6" name="Text 4"/>
          <p:cNvSpPr/>
          <p:nvPr/>
        </p:nvSpPr>
        <p:spPr>
          <a:xfrm>
            <a:off x="731520" y="1261872"/>
            <a:ext cx="10725912" cy="548640"/>
          </a:xfrm>
          <a:prstGeom prst="rect">
            <a:avLst/>
          </a:prstGeom>
          <a:noFill/>
          <a:ln/>
        </p:spPr>
        <p:txBody>
          <a:bodyPr wrap="square" rtlCol="0" anchor="ctr"/>
          <a:lstStyle/>
          <a:p>
            <a:pPr indent="0" marL="0">
              <a:buNone/>
            </a:pPr>
            <a:r>
              <a:rPr lang="en-US" sz="2000" b="1" dirty="0">
                <a:solidFill>
                  <a:srgbClr val="1A237E"/>
                </a:solidFill>
                <a:latin typeface="Arial" pitchFamily="34" charset="0"/>
                <a:ea typeface="Arial" pitchFamily="34" charset="-122"/>
                <a:cs typeface="Arial" pitchFamily="34" charset="-120"/>
              </a:rPr>
              <a:t>Un único punto de fallo, para cualquier app</a:t>
            </a:r>
            <a:endParaRPr lang="en-US" sz="2000" dirty="0"/>
          </a:p>
        </p:txBody>
      </p:sp>
      <p:sp>
        <p:nvSpPr>
          <p:cNvPr id="7" name="Text 5"/>
          <p:cNvSpPr/>
          <p:nvPr/>
        </p:nvSpPr>
        <p:spPr>
          <a:xfrm>
            <a:off x="731520" y="1810512"/>
            <a:ext cx="10725912" cy="768096"/>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Cualquier aplicación en una única instancia tiene el mismo problema: si esa instancia se cae, se cae la aplicación entera. Hoy lo resuelves repartiendo tráfico entre varias copias, con reposición automática.</a:t>
            </a:r>
            <a:endParaRPr lang="en-US" sz="1600" dirty="0"/>
          </a:p>
        </p:txBody>
      </p:sp>
      <p:sp>
        <p:nvSpPr>
          <p:cNvPr id="8" name="Text 6"/>
          <p:cNvSpPr/>
          <p:nvPr/>
        </p:nvSpPr>
        <p:spPr>
          <a:xfrm>
            <a:off x="548640" y="278892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Lo que montas hoy</a:t>
            </a:r>
            <a:endParaRPr lang="en-US" sz="1500" dirty="0"/>
          </a:p>
        </p:txBody>
      </p:sp>
      <p:sp>
        <p:nvSpPr>
          <p:cNvPr id="9" name="Shape 7"/>
          <p:cNvSpPr/>
          <p:nvPr/>
        </p:nvSpPr>
        <p:spPr>
          <a:xfrm>
            <a:off x="548640" y="3200400"/>
            <a:ext cx="3514344" cy="1737360"/>
          </a:xfrm>
          <a:prstGeom prst="roundRect">
            <a:avLst/>
          </a:prstGeom>
          <a:solidFill>
            <a:srgbClr val="E8EAF6"/>
          </a:solidFill>
          <a:ln w="15875">
            <a:solidFill>
              <a:srgbClr val="3949AB"/>
            </a:solidFill>
            <a:prstDash val="solid"/>
          </a:ln>
        </p:spPr>
      </p:sp>
      <p:sp>
        <p:nvSpPr>
          <p:cNvPr id="10" name="Text 8"/>
          <p:cNvSpPr/>
          <p:nvPr/>
        </p:nvSpPr>
        <p:spPr>
          <a:xfrm>
            <a:off x="685800" y="3291840"/>
            <a:ext cx="3240024" cy="640080"/>
          </a:xfrm>
          <a:prstGeom prst="rect">
            <a:avLst/>
          </a:prstGeom>
          <a:noFill/>
          <a:ln/>
        </p:spPr>
        <p:txBody>
          <a:bodyPr wrap="square" rtlCol="0" anchor="ctr"/>
          <a:lstStyle/>
          <a:p>
            <a:pPr algn="ctr" indent="0" marL="0">
              <a:buNone/>
            </a:pPr>
            <a:r>
              <a:rPr lang="en-US" sz="1700" b="1" dirty="0">
                <a:solidFill>
                  <a:srgbClr val="1A237E"/>
                </a:solidFill>
                <a:latin typeface="Arial" pitchFamily="34" charset="0"/>
                <a:ea typeface="Arial" pitchFamily="34" charset="-122"/>
                <a:cs typeface="Arial" pitchFamily="34" charset="-120"/>
              </a:rPr>
              <a:t>Balanceador de carga</a:t>
            </a:r>
            <a:endParaRPr lang="en-US" sz="1700" dirty="0"/>
          </a:p>
        </p:txBody>
      </p:sp>
      <p:sp>
        <p:nvSpPr>
          <p:cNvPr id="11" name="Text 9"/>
          <p:cNvSpPr/>
          <p:nvPr/>
        </p:nvSpPr>
        <p:spPr>
          <a:xfrm>
            <a:off x="731520" y="3977640"/>
            <a:ext cx="3148584" cy="868680"/>
          </a:xfrm>
          <a:prstGeom prst="rect">
            <a:avLst/>
          </a:prstGeom>
          <a:noFill/>
          <a:ln/>
        </p:spPr>
        <p:txBody>
          <a:bodyPr wrap="square" rtlCol="0" anchor="t"/>
          <a:lstStyle/>
          <a:p>
            <a:pPr algn="ctr" indent="0" marL="0">
              <a:buNone/>
            </a:pPr>
            <a:r>
              <a:rPr lang="en-US" sz="1400" dirty="0">
                <a:solidFill>
                  <a:srgbClr val="212121"/>
                </a:solidFill>
                <a:latin typeface="Arial" pitchFamily="34" charset="0"/>
                <a:ea typeface="Arial" pitchFamily="34" charset="-122"/>
                <a:cs typeface="Arial" pitchFamily="34" charset="-120"/>
              </a:rPr>
              <a:t>Reparte el tráfico entre copias</a:t>
            </a:r>
            <a:endParaRPr lang="en-US" sz="1400" dirty="0"/>
          </a:p>
        </p:txBody>
      </p:sp>
      <p:sp>
        <p:nvSpPr>
          <p:cNvPr id="12" name="Shape 10"/>
          <p:cNvSpPr/>
          <p:nvPr/>
        </p:nvSpPr>
        <p:spPr>
          <a:xfrm>
            <a:off x="4337304" y="3200400"/>
            <a:ext cx="3514344" cy="1737360"/>
          </a:xfrm>
          <a:prstGeom prst="roundRect">
            <a:avLst/>
          </a:prstGeom>
          <a:solidFill>
            <a:srgbClr val="E8EAF6"/>
          </a:solidFill>
          <a:ln w="15875">
            <a:solidFill>
              <a:srgbClr val="3949AB"/>
            </a:solidFill>
            <a:prstDash val="solid"/>
          </a:ln>
        </p:spPr>
      </p:sp>
      <p:sp>
        <p:nvSpPr>
          <p:cNvPr id="13" name="Text 11"/>
          <p:cNvSpPr/>
          <p:nvPr/>
        </p:nvSpPr>
        <p:spPr>
          <a:xfrm>
            <a:off x="4474464" y="3291840"/>
            <a:ext cx="3240024" cy="640080"/>
          </a:xfrm>
          <a:prstGeom prst="rect">
            <a:avLst/>
          </a:prstGeom>
          <a:noFill/>
          <a:ln/>
        </p:spPr>
        <p:txBody>
          <a:bodyPr wrap="square" rtlCol="0" anchor="ctr"/>
          <a:lstStyle/>
          <a:p>
            <a:pPr algn="ctr" indent="0" marL="0">
              <a:buNone/>
            </a:pPr>
            <a:r>
              <a:rPr lang="en-US" sz="1700" b="1" dirty="0">
                <a:solidFill>
                  <a:srgbClr val="1A237E"/>
                </a:solidFill>
                <a:latin typeface="Arial" pitchFamily="34" charset="0"/>
                <a:ea typeface="Arial" pitchFamily="34" charset="-122"/>
                <a:cs typeface="Arial" pitchFamily="34" charset="-120"/>
              </a:rPr>
              <a:t>Varias instancias</a:t>
            </a:r>
            <a:endParaRPr lang="en-US" sz="1700" dirty="0"/>
          </a:p>
        </p:txBody>
      </p:sp>
      <p:sp>
        <p:nvSpPr>
          <p:cNvPr id="14" name="Text 12"/>
          <p:cNvSpPr/>
          <p:nvPr/>
        </p:nvSpPr>
        <p:spPr>
          <a:xfrm>
            <a:off x="4520184" y="3977640"/>
            <a:ext cx="3148584" cy="868680"/>
          </a:xfrm>
          <a:prstGeom prst="rect">
            <a:avLst/>
          </a:prstGeom>
          <a:noFill/>
          <a:ln/>
        </p:spPr>
        <p:txBody>
          <a:bodyPr wrap="square" rtlCol="0" anchor="t"/>
          <a:lstStyle/>
          <a:p>
            <a:pPr algn="ctr" indent="0" marL="0">
              <a:buNone/>
            </a:pPr>
            <a:r>
              <a:rPr lang="en-US" sz="1400" dirty="0">
                <a:solidFill>
                  <a:srgbClr val="212121"/>
                </a:solidFill>
                <a:latin typeface="Arial" pitchFamily="34" charset="0"/>
                <a:ea typeface="Arial" pitchFamily="34" charset="-122"/>
                <a:cs typeface="Arial" pitchFamily="34" charset="-120"/>
              </a:rPr>
              <a:t>Copias idénticas, detrás del balanceador</a:t>
            </a:r>
            <a:endParaRPr lang="en-US" sz="1400" dirty="0"/>
          </a:p>
        </p:txBody>
      </p:sp>
      <p:sp>
        <p:nvSpPr>
          <p:cNvPr id="15" name="Shape 13"/>
          <p:cNvSpPr/>
          <p:nvPr/>
        </p:nvSpPr>
        <p:spPr>
          <a:xfrm>
            <a:off x="8125968" y="3200400"/>
            <a:ext cx="3514344" cy="1737360"/>
          </a:xfrm>
          <a:prstGeom prst="roundRect">
            <a:avLst/>
          </a:prstGeom>
          <a:solidFill>
            <a:srgbClr val="E8EAF6"/>
          </a:solidFill>
          <a:ln w="15875">
            <a:solidFill>
              <a:srgbClr val="3949AB"/>
            </a:solidFill>
            <a:prstDash val="solid"/>
          </a:ln>
        </p:spPr>
      </p:sp>
      <p:sp>
        <p:nvSpPr>
          <p:cNvPr id="16" name="Text 14"/>
          <p:cNvSpPr/>
          <p:nvPr/>
        </p:nvSpPr>
        <p:spPr>
          <a:xfrm>
            <a:off x="8263128" y="3291840"/>
            <a:ext cx="3240024" cy="640080"/>
          </a:xfrm>
          <a:prstGeom prst="rect">
            <a:avLst/>
          </a:prstGeom>
          <a:noFill/>
          <a:ln/>
        </p:spPr>
        <p:txBody>
          <a:bodyPr wrap="square" rtlCol="0" anchor="ctr"/>
          <a:lstStyle/>
          <a:p>
            <a:pPr algn="ctr" indent="0" marL="0">
              <a:buNone/>
            </a:pPr>
            <a:r>
              <a:rPr lang="en-US" sz="1700" b="1" dirty="0">
                <a:solidFill>
                  <a:srgbClr val="1A237E"/>
                </a:solidFill>
                <a:latin typeface="Arial" pitchFamily="34" charset="0"/>
                <a:ea typeface="Arial" pitchFamily="34" charset="-122"/>
                <a:cs typeface="Arial" pitchFamily="34" charset="-120"/>
              </a:rPr>
              <a:t>Auto Scaling Group</a:t>
            </a:r>
            <a:endParaRPr lang="en-US" sz="1700" dirty="0"/>
          </a:p>
        </p:txBody>
      </p:sp>
      <p:sp>
        <p:nvSpPr>
          <p:cNvPr id="17" name="Text 15"/>
          <p:cNvSpPr/>
          <p:nvPr/>
        </p:nvSpPr>
        <p:spPr>
          <a:xfrm>
            <a:off x="8308848" y="3977640"/>
            <a:ext cx="3148584" cy="868680"/>
          </a:xfrm>
          <a:prstGeom prst="rect">
            <a:avLst/>
          </a:prstGeom>
          <a:noFill/>
          <a:ln/>
        </p:spPr>
        <p:txBody>
          <a:bodyPr wrap="square" rtlCol="0" anchor="t"/>
          <a:lstStyle/>
          <a:p>
            <a:pPr algn="ctr" indent="0" marL="0">
              <a:buNone/>
            </a:pPr>
            <a:r>
              <a:rPr lang="en-US" sz="1400" dirty="0">
                <a:solidFill>
                  <a:srgbClr val="212121"/>
                </a:solidFill>
                <a:latin typeface="Arial" pitchFamily="34" charset="0"/>
                <a:ea typeface="Arial" pitchFamily="34" charset="-122"/>
                <a:cs typeface="Arial" pitchFamily="34" charset="-120"/>
              </a:rPr>
              <a:t>Repone las que fallan, sin que mires la pantalla</a:t>
            </a:r>
            <a:endParaRPr lang="en-US" sz="1400" dirty="0"/>
          </a:p>
        </p:txBody>
      </p:sp>
      <p:sp>
        <p:nvSpPr>
          <p:cNvPr id="18" name="Text 16"/>
          <p:cNvSpPr/>
          <p:nvPr/>
        </p:nvSpPr>
        <p:spPr>
          <a:xfrm>
            <a:off x="548640" y="5120640"/>
            <a:ext cx="11091672" cy="457200"/>
          </a:xfrm>
          <a:prstGeom prst="rect">
            <a:avLst/>
          </a:prstGeom>
          <a:noFill/>
          <a:ln/>
        </p:spPr>
        <p:txBody>
          <a:bodyPr wrap="square" rtlCol="0" anchor="t"/>
          <a:lstStyle/>
          <a:p>
            <a:pPr algn="ctr" indent="0" marL="0">
              <a:buNone/>
            </a:pPr>
            <a:r>
              <a:rPr lang="en-US" sz="1500" i="1" dirty="0">
                <a:solidFill>
                  <a:srgbClr val="757575"/>
                </a:solidFill>
                <a:latin typeface="Arial" pitchFamily="34" charset="0"/>
                <a:ea typeface="Arial" pitchFamily="34" charset="-122"/>
                <a:cs typeface="Arial" pitchFamily="34" charset="-120"/>
              </a:rPr>
              <a:t>No es «una instancia más por si acaso» — es un mecanismo que repara solo.</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Un balanceador delante de tus instancias</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Balanceo de carga y escalado automático</a:t>
            </a:r>
            <a:endParaRPr lang="en-US" sz="1100" dirty="0"/>
          </a:p>
        </p:txBody>
      </p:sp>
      <p:sp>
        <p:nvSpPr>
          <p:cNvPr id="5" name="Shape 3"/>
          <p:cNvSpPr/>
          <p:nvPr/>
        </p:nvSpPr>
        <p:spPr>
          <a:xfrm>
            <a:off x="548640" y="1143000"/>
            <a:ext cx="11091672" cy="86868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68580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Un balanceador de carga se coloca delante de tus instancias y reparte el tráfico entre ellas — el cliente nunca habla con una instancia concreta, habla con el balanceador.</a:t>
            </a:r>
            <a:endParaRPr lang="en-US" sz="1500" dirty="0"/>
          </a:p>
        </p:txBody>
      </p:sp>
      <p:sp>
        <p:nvSpPr>
          <p:cNvPr id="7" name="Shape 5"/>
          <p:cNvSpPr/>
          <p:nvPr/>
        </p:nvSpPr>
        <p:spPr>
          <a:xfrm>
            <a:off x="548640" y="2148840"/>
            <a:ext cx="5385816" cy="868680"/>
          </a:xfrm>
          <a:prstGeom prst="roundRect">
            <a:avLst/>
          </a:prstGeom>
          <a:solidFill>
            <a:srgbClr val="E8EAF6"/>
          </a:solidFill>
          <a:ln w="15875">
            <a:solidFill>
              <a:srgbClr val="3949AB"/>
            </a:solidFill>
            <a:prstDash val="solid"/>
          </a:ln>
        </p:spPr>
      </p:sp>
      <p:sp>
        <p:nvSpPr>
          <p:cNvPr id="8" name="Text 6"/>
          <p:cNvSpPr/>
          <p:nvPr/>
        </p:nvSpPr>
        <p:spPr>
          <a:xfrm>
            <a:off x="594360" y="2194560"/>
            <a:ext cx="5294376" cy="777240"/>
          </a:xfrm>
          <a:prstGeom prst="rect">
            <a:avLst/>
          </a:prstGeom>
          <a:noFill/>
          <a:ln/>
        </p:spPr>
        <p:txBody>
          <a:bodyPr wrap="square" rtlCol="0" anchor="ctr"/>
          <a:lstStyle/>
          <a:p>
            <a:pPr algn="ctr" indent="0" marL="0">
              <a:buNone/>
            </a:pPr>
            <a:r>
              <a:rPr lang="en-US" sz="1600" dirty="0">
                <a:solidFill>
                  <a:srgbClr val="212121"/>
                </a:solidFill>
                <a:latin typeface="Arial" pitchFamily="34" charset="0"/>
                <a:ea typeface="Arial" pitchFamily="34" charset="-122"/>
                <a:cs typeface="Arial" pitchFamily="34" charset="-120"/>
              </a:rPr>
              <a:t>🌍 Internet</a:t>
            </a:r>
            <a:endParaRPr lang="en-US" sz="1600" dirty="0"/>
          </a:p>
        </p:txBody>
      </p:sp>
      <p:sp>
        <p:nvSpPr>
          <p:cNvPr id="9" name="Text 7"/>
          <p:cNvSpPr/>
          <p:nvPr/>
        </p:nvSpPr>
        <p:spPr>
          <a:xfrm>
            <a:off x="5888736" y="2148840"/>
            <a:ext cx="411480" cy="868680"/>
          </a:xfrm>
          <a:prstGeom prst="rect">
            <a:avLst/>
          </a:prstGeom>
          <a:noFill/>
          <a:ln/>
        </p:spPr>
        <p:txBody>
          <a:bodyPr wrap="square" rtlCol="0" anchor="ctr"/>
          <a:lstStyle/>
          <a:p>
            <a:pPr algn="ctr" indent="0" marL="0">
              <a:buNone/>
            </a:pPr>
            <a:r>
              <a:rPr lang="en-US" sz="1800" b="1" dirty="0">
                <a:solidFill>
                  <a:srgbClr val="3949AB"/>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6254496" y="2148840"/>
            <a:ext cx="5385816" cy="868680"/>
          </a:xfrm>
          <a:prstGeom prst="roundRect">
            <a:avLst/>
          </a:prstGeom>
          <a:solidFill>
            <a:srgbClr val="E8EAF6"/>
          </a:solidFill>
          <a:ln w="15875">
            <a:solidFill>
              <a:srgbClr val="3949AB"/>
            </a:solidFill>
            <a:prstDash val="solid"/>
          </a:ln>
        </p:spPr>
      </p:sp>
      <p:sp>
        <p:nvSpPr>
          <p:cNvPr id="11" name="Text 9"/>
          <p:cNvSpPr/>
          <p:nvPr/>
        </p:nvSpPr>
        <p:spPr>
          <a:xfrm>
            <a:off x="6300216" y="2194560"/>
            <a:ext cx="5294376" cy="777240"/>
          </a:xfrm>
          <a:prstGeom prst="rect">
            <a:avLst/>
          </a:prstGeom>
          <a:noFill/>
          <a:ln/>
        </p:spPr>
        <p:txBody>
          <a:bodyPr wrap="square" rtlCol="0" anchor="ctr"/>
          <a:lstStyle/>
          <a:p>
            <a:pPr algn="ctr" indent="0" marL="0">
              <a:buNone/>
            </a:pPr>
            <a:r>
              <a:rPr lang="en-US" sz="1600" dirty="0">
                <a:solidFill>
                  <a:srgbClr val="212121"/>
                </a:solidFill>
                <a:latin typeface="Arial" pitchFamily="34" charset="0"/>
                <a:ea typeface="Arial" pitchFamily="34" charset="-122"/>
                <a:cs typeface="Arial" pitchFamily="34" charset="-120"/>
              </a:rPr>
              <a:t>⚖️ Balanceador de carga</a:t>
            </a:r>
            <a:endParaRPr lang="en-US" sz="1600" dirty="0"/>
          </a:p>
          <a:p>
            <a:pPr algn="ctr" indent="0" marL="0">
              <a:buNone/>
            </a:pPr>
            <a:r>
              <a:rPr lang="en-US" sz="1600" dirty="0">
                <a:solidFill>
                  <a:srgbClr val="212121"/>
                </a:solidFill>
                <a:latin typeface="Arial" pitchFamily="34" charset="0"/>
                <a:ea typeface="Arial" pitchFamily="34" charset="-122"/>
                <a:cs typeface="Arial" pitchFamily="34" charset="-120"/>
              </a:rPr>
              <a:t>(ALB)</a:t>
            </a:r>
            <a:endParaRPr lang="en-US" sz="1600" dirty="0"/>
          </a:p>
        </p:txBody>
      </p:sp>
      <p:sp>
        <p:nvSpPr>
          <p:cNvPr id="12" name="Shape 10"/>
          <p:cNvSpPr/>
          <p:nvPr/>
        </p:nvSpPr>
        <p:spPr>
          <a:xfrm>
            <a:off x="548640" y="3291840"/>
            <a:ext cx="5362956" cy="914400"/>
          </a:xfrm>
          <a:prstGeom prst="roundRect">
            <a:avLst/>
          </a:prstGeom>
          <a:solidFill>
            <a:srgbClr val="E8EAF6"/>
          </a:solidFill>
          <a:ln w="15875">
            <a:solidFill>
              <a:srgbClr val="3949AB"/>
            </a:solidFill>
            <a:prstDash val="solid"/>
          </a:ln>
        </p:spPr>
      </p:sp>
      <p:sp>
        <p:nvSpPr>
          <p:cNvPr id="13" name="Text 11"/>
          <p:cNvSpPr/>
          <p:nvPr/>
        </p:nvSpPr>
        <p:spPr>
          <a:xfrm>
            <a:off x="685800" y="3383280"/>
            <a:ext cx="5088636" cy="640080"/>
          </a:xfrm>
          <a:prstGeom prst="rect">
            <a:avLst/>
          </a:prstGeom>
          <a:noFill/>
          <a:ln/>
        </p:spPr>
        <p:txBody>
          <a:bodyPr wrap="square" rtlCol="0" anchor="ctr"/>
          <a:lstStyle/>
          <a:p>
            <a:pPr algn="ctr" indent="0" marL="0">
              <a:buNone/>
            </a:pPr>
            <a:r>
              <a:rPr lang="en-US" sz="1700" b="1" dirty="0">
                <a:solidFill>
                  <a:srgbClr val="1A237E"/>
                </a:solidFill>
                <a:latin typeface="Arial" pitchFamily="34" charset="0"/>
                <a:ea typeface="Arial" pitchFamily="34" charset="-122"/>
                <a:cs typeface="Arial" pitchFamily="34" charset="-120"/>
              </a:rPr>
              <a:t>Instancia A</a:t>
            </a:r>
            <a:endParaRPr lang="en-US" sz="1700" dirty="0"/>
          </a:p>
        </p:txBody>
      </p:sp>
      <p:sp>
        <p:nvSpPr>
          <p:cNvPr id="14" name="Text 12"/>
          <p:cNvSpPr/>
          <p:nvPr/>
        </p:nvSpPr>
        <p:spPr>
          <a:xfrm>
            <a:off x="731520" y="4069080"/>
            <a:ext cx="4997196" cy="45720"/>
          </a:xfrm>
          <a:prstGeom prst="rect">
            <a:avLst/>
          </a:prstGeom>
          <a:noFill/>
          <a:ln/>
        </p:spPr>
        <p:txBody>
          <a:bodyPr wrap="square" rtlCol="0" anchor="t"/>
          <a:lstStyle/>
          <a:p>
            <a:pPr algn="ctr" indent="0" marL="0">
              <a:buNone/>
            </a:pPr>
            <a:endParaRPr lang="en-US" sz="100" dirty="0"/>
          </a:p>
        </p:txBody>
      </p:sp>
      <p:sp>
        <p:nvSpPr>
          <p:cNvPr id="15" name="Shape 13"/>
          <p:cNvSpPr/>
          <p:nvPr/>
        </p:nvSpPr>
        <p:spPr>
          <a:xfrm>
            <a:off x="6277356" y="3291840"/>
            <a:ext cx="5362956" cy="914400"/>
          </a:xfrm>
          <a:prstGeom prst="roundRect">
            <a:avLst/>
          </a:prstGeom>
          <a:solidFill>
            <a:srgbClr val="E8EAF6"/>
          </a:solidFill>
          <a:ln w="15875">
            <a:solidFill>
              <a:srgbClr val="3949AB"/>
            </a:solidFill>
            <a:prstDash val="solid"/>
          </a:ln>
        </p:spPr>
      </p:sp>
      <p:sp>
        <p:nvSpPr>
          <p:cNvPr id="16" name="Text 14"/>
          <p:cNvSpPr/>
          <p:nvPr/>
        </p:nvSpPr>
        <p:spPr>
          <a:xfrm>
            <a:off x="6414516" y="3383280"/>
            <a:ext cx="5088636" cy="640080"/>
          </a:xfrm>
          <a:prstGeom prst="rect">
            <a:avLst/>
          </a:prstGeom>
          <a:noFill/>
          <a:ln/>
        </p:spPr>
        <p:txBody>
          <a:bodyPr wrap="square" rtlCol="0" anchor="ctr"/>
          <a:lstStyle/>
          <a:p>
            <a:pPr algn="ctr" indent="0" marL="0">
              <a:buNone/>
            </a:pPr>
            <a:r>
              <a:rPr lang="en-US" sz="1700" b="1" dirty="0">
                <a:solidFill>
                  <a:srgbClr val="1A237E"/>
                </a:solidFill>
                <a:latin typeface="Arial" pitchFamily="34" charset="0"/>
                <a:ea typeface="Arial" pitchFamily="34" charset="-122"/>
                <a:cs typeface="Arial" pitchFamily="34" charset="-120"/>
              </a:rPr>
              <a:t>Instancia B</a:t>
            </a:r>
            <a:endParaRPr lang="en-US" sz="1700" dirty="0"/>
          </a:p>
        </p:txBody>
      </p:sp>
      <p:sp>
        <p:nvSpPr>
          <p:cNvPr id="17" name="Text 15"/>
          <p:cNvSpPr/>
          <p:nvPr/>
        </p:nvSpPr>
        <p:spPr>
          <a:xfrm>
            <a:off x="6460236" y="4069080"/>
            <a:ext cx="4997196" cy="45720"/>
          </a:xfrm>
          <a:prstGeom prst="rect">
            <a:avLst/>
          </a:prstGeom>
          <a:noFill/>
          <a:ln/>
        </p:spPr>
        <p:txBody>
          <a:bodyPr wrap="square" rtlCol="0" anchor="t"/>
          <a:lstStyle/>
          <a:p>
            <a:pPr algn="ctr" indent="0" marL="0">
              <a:buNone/>
            </a:pPr>
            <a:endParaRPr lang="en-US" sz="100" dirty="0"/>
          </a:p>
        </p:txBody>
      </p:sp>
      <p:sp>
        <p:nvSpPr>
          <p:cNvPr id="18" name="Shape 16"/>
          <p:cNvSpPr/>
          <p:nvPr/>
        </p:nvSpPr>
        <p:spPr>
          <a:xfrm>
            <a:off x="548640" y="4480560"/>
            <a:ext cx="11091672" cy="822960"/>
          </a:xfrm>
          <a:prstGeom prst="roundRect">
            <a:avLst/>
          </a:prstGeom>
          <a:solidFill>
            <a:srgbClr val="FFF8E1"/>
          </a:solidFill>
          <a:ln w="19050">
            <a:solidFill>
              <a:srgbClr val="FFA000"/>
            </a:solidFill>
            <a:prstDash val="solid"/>
          </a:ln>
        </p:spPr>
      </p:sp>
      <p:sp>
        <p:nvSpPr>
          <p:cNvPr id="19" name="Text 17"/>
          <p:cNvSpPr/>
          <p:nvPr/>
        </p:nvSpPr>
        <p:spPr>
          <a:xfrm>
            <a:off x="822960" y="4572000"/>
            <a:ext cx="10543032" cy="6400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Hoy usas el ALB (Application Load Balancer) — pensado justo para tráfico HTTP/HTTPS como el de la API de Escaparate.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Listener, grupo de destino y comprobación de salud</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Balanceo de carga y escalado automático</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Un listener conecta un puerto con un grupo de destino</a:t>
            </a:r>
            <a:endParaRPr lang="en-US" sz="1500" dirty="0"/>
          </a:p>
        </p:txBody>
      </p:sp>
      <p:sp>
        <p:nvSpPr>
          <p:cNvPr id="6" name="Shape 4"/>
          <p:cNvSpPr/>
          <p:nvPr/>
        </p:nvSpPr>
        <p:spPr>
          <a:xfrm>
            <a:off x="548640" y="1554480"/>
            <a:ext cx="4174236" cy="822960"/>
          </a:xfrm>
          <a:prstGeom prst="roundRect">
            <a:avLst/>
          </a:prstGeom>
          <a:solidFill>
            <a:srgbClr val="E8EAF6"/>
          </a:solidFill>
          <a:ln w="15875">
            <a:solidFill>
              <a:srgbClr val="3949AB"/>
            </a:solidFill>
            <a:prstDash val="solid"/>
          </a:ln>
        </p:spPr>
      </p:sp>
      <p:sp>
        <p:nvSpPr>
          <p:cNvPr id="7" name="Text 5"/>
          <p:cNvSpPr/>
          <p:nvPr/>
        </p:nvSpPr>
        <p:spPr>
          <a:xfrm>
            <a:off x="640080" y="1554480"/>
            <a:ext cx="3991356" cy="82296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Puerto 443</a:t>
            </a:r>
            <a:endParaRPr lang="en-US" sz="1500" dirty="0"/>
          </a:p>
          <a:p>
            <a:pPr algn="ctr" indent="0" marL="0">
              <a:buNone/>
            </a:pPr>
            <a:r>
              <a:rPr lang="en-US" sz="1500" dirty="0">
                <a:solidFill>
                  <a:srgbClr val="212121"/>
                </a:solidFill>
                <a:latin typeface="Arial" pitchFamily="34" charset="0"/>
                <a:ea typeface="Arial" pitchFamily="34" charset="-122"/>
                <a:cs typeface="Arial" pitchFamily="34" charset="-120"/>
              </a:rPr>
              <a:t>HTTPS</a:t>
            </a:r>
            <a:endParaRPr lang="en-US" sz="1500" dirty="0"/>
          </a:p>
        </p:txBody>
      </p:sp>
      <p:sp>
        <p:nvSpPr>
          <p:cNvPr id="8" name="Shape 6"/>
          <p:cNvSpPr/>
          <p:nvPr/>
        </p:nvSpPr>
        <p:spPr>
          <a:xfrm>
            <a:off x="7466076" y="1554480"/>
            <a:ext cx="4174236" cy="822960"/>
          </a:xfrm>
          <a:prstGeom prst="roundRect">
            <a:avLst/>
          </a:prstGeom>
          <a:solidFill>
            <a:srgbClr val="E8EAF6"/>
          </a:solidFill>
          <a:ln w="15875">
            <a:solidFill>
              <a:srgbClr val="3949AB"/>
            </a:solidFill>
            <a:prstDash val="solid"/>
          </a:ln>
        </p:spPr>
      </p:sp>
      <p:sp>
        <p:nvSpPr>
          <p:cNvPr id="9" name="Text 7"/>
          <p:cNvSpPr/>
          <p:nvPr/>
        </p:nvSpPr>
        <p:spPr>
          <a:xfrm>
            <a:off x="7557516" y="1554480"/>
            <a:ext cx="3991356" cy="82296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Grupo de destino</a:t>
            </a:r>
            <a:endParaRPr lang="en-US" sz="1500" dirty="0"/>
          </a:p>
          <a:p>
            <a:pPr algn="ctr" indent="0" marL="0">
              <a:buNone/>
            </a:pPr>
            <a:r>
              <a:rPr lang="en-US" sz="1500" dirty="0">
                <a:solidFill>
                  <a:srgbClr val="212121"/>
                </a:solidFill>
                <a:latin typeface="Arial" pitchFamily="34" charset="0"/>
                <a:ea typeface="Arial" pitchFamily="34" charset="-122"/>
                <a:cs typeface="Arial" pitchFamily="34" charset="-120"/>
              </a:rPr>
              <a:t>(Target Group)</a:t>
            </a:r>
            <a:endParaRPr lang="en-US" sz="1500" dirty="0"/>
          </a:p>
        </p:txBody>
      </p:sp>
      <p:sp>
        <p:nvSpPr>
          <p:cNvPr id="10" name="Text 8"/>
          <p:cNvSpPr/>
          <p:nvPr/>
        </p:nvSpPr>
        <p:spPr>
          <a:xfrm>
            <a:off x="4722876" y="1554480"/>
            <a:ext cx="2743200" cy="822960"/>
          </a:xfrm>
          <a:prstGeom prst="rect">
            <a:avLst/>
          </a:prstGeom>
          <a:noFill/>
          <a:ln/>
        </p:spPr>
        <p:txBody>
          <a:bodyPr wrap="square" rtlCol="0" anchor="ctr"/>
          <a:lstStyle/>
          <a:p>
            <a:pPr algn="ctr" indent="0" marL="0">
              <a:buNone/>
            </a:pPr>
            <a:r>
              <a:rPr lang="en-US" sz="1300" b="1" i="1" dirty="0">
                <a:solidFill>
                  <a:srgbClr val="3949AB"/>
                </a:solidFill>
                <a:latin typeface="Arial" pitchFamily="34" charset="0"/>
                <a:ea typeface="Arial" pitchFamily="34" charset="-122"/>
                <a:cs typeface="Arial" pitchFamily="34" charset="-120"/>
              </a:rPr>
              <a:t>escucha →</a:t>
            </a:r>
            <a:endParaRPr lang="en-US" sz="1300" dirty="0"/>
          </a:p>
        </p:txBody>
      </p:sp>
      <p:sp>
        <p:nvSpPr>
          <p:cNvPr id="11" name="Shape 9"/>
          <p:cNvSpPr/>
          <p:nvPr/>
        </p:nvSpPr>
        <p:spPr>
          <a:xfrm>
            <a:off x="548640" y="2651760"/>
            <a:ext cx="11091672" cy="960120"/>
          </a:xfrm>
          <a:prstGeom prst="roundRect">
            <a:avLst/>
          </a:prstGeom>
          <a:solidFill>
            <a:srgbClr val="FFF8E1"/>
          </a:solidFill>
          <a:ln w="19050">
            <a:solidFill>
              <a:srgbClr val="FFA000"/>
            </a:solidFill>
            <a:prstDash val="solid"/>
          </a:ln>
        </p:spPr>
      </p:sp>
      <p:sp>
        <p:nvSpPr>
          <p:cNvPr id="12" name="Text 10"/>
          <p:cNvSpPr/>
          <p:nvPr/>
        </p:nvSpPr>
        <p:spPr>
          <a:xfrm>
            <a:off x="822960" y="2743200"/>
            <a:ext cx="10543032" cy="777240"/>
          </a:xfrm>
          <a:prstGeom prst="rect">
            <a:avLst/>
          </a:prstGeom>
          <a:noFill/>
          <a:ln/>
        </p:spPr>
        <p:txBody>
          <a:bodyPr wrap="square" rtlCol="0" anchor="ctr"/>
          <a:lstStyle/>
          <a:p>
            <a:pPr indent="0" marL="0">
              <a:buNone/>
            </a:pPr>
            <a:r>
              <a:rPr lang="en-US" sz="1450" dirty="0">
                <a:solidFill>
                  <a:srgbClr val="212121"/>
                </a:solidFill>
                <a:latin typeface="Arial" pitchFamily="34" charset="0"/>
                <a:ea typeface="Arial" pitchFamily="34" charset="-122"/>
                <a:cs typeface="Arial" pitchFamily="34" charset="-120"/>
              </a:rPr>
              <a:t>El balanceador no manda tráfico a ciegas: antes comprueba, con una petición HTTP a una ruta concreta, si cada instancia está en condiciones de atender peticiones.</a:t>
            </a:r>
            <a:endParaRPr lang="en-US" sz="1450" dirty="0"/>
          </a:p>
        </p:txBody>
      </p:sp>
      <p:sp>
        <p:nvSpPr>
          <p:cNvPr id="13" name="Shape 11"/>
          <p:cNvSpPr/>
          <p:nvPr/>
        </p:nvSpPr>
        <p:spPr>
          <a:xfrm>
            <a:off x="548640" y="3886200"/>
            <a:ext cx="11091672" cy="1965960"/>
          </a:xfrm>
          <a:prstGeom prst="roundRect">
            <a:avLst/>
          </a:prstGeom>
          <a:solidFill>
            <a:srgbClr val="FFF8E1"/>
          </a:solidFill>
          <a:ln w="28575">
            <a:solidFill>
              <a:srgbClr val="FFA000"/>
            </a:solidFill>
            <a:prstDash val="solid"/>
          </a:ln>
        </p:spPr>
      </p:sp>
      <p:sp>
        <p:nvSpPr>
          <p:cNvPr id="14" name="Text 12"/>
          <p:cNvSpPr/>
          <p:nvPr/>
        </p:nvSpPr>
        <p:spPr>
          <a:xfrm>
            <a:off x="822960" y="3995928"/>
            <a:ext cx="10543032" cy="1746504"/>
          </a:xfrm>
          <a:prstGeom prst="rect">
            <a:avLst/>
          </a:prstGeom>
          <a:noFill/>
          <a:ln/>
        </p:spPr>
        <p:txBody>
          <a:bodyPr wrap="square" rtlCol="0" anchor="t"/>
          <a:lstStyle/>
          <a:p>
            <a:pPr indent="0" marL="0">
              <a:buNone/>
            </a:pPr>
            <a:r>
              <a:rPr lang="en-US" sz="1600" b="1" dirty="0">
                <a:solidFill>
                  <a:srgbClr val="1A237E"/>
                </a:solidFill>
                <a:latin typeface="Arial" pitchFamily="34" charset="0"/>
                <a:ea typeface="Arial" pitchFamily="34" charset="-122"/>
                <a:cs typeface="Arial" pitchFamily="34" charset="-120"/>
              </a:rPr>
              <a:t>Por qué la comprobación de salud importa más de lo que parece
</a:t>
            </a:r>
            <a:endParaRPr lang="en-US" sz="1600" dirty="0"/>
          </a:p>
          <a:p>
            <a:pPr indent="0" marL="0">
              <a:buNone/>
            </a:pPr>
            <a:r>
              <a:rPr lang="en-US" sz="1500" dirty="0">
                <a:solidFill>
                  <a:srgbClr val="212121"/>
                </a:solidFill>
                <a:latin typeface="Arial" pitchFamily="34" charset="0"/>
                <a:ea typeface="Arial" pitchFamily="34" charset="-122"/>
                <a:cs typeface="Arial" pitchFamily="34" charset="-120"/>
              </a:rPr>
              <a:t>Una instancia puede seguir «encendida» pero con la aplicación colgada — responde al ping, pero no sirve ninguna página. Sin comprobación, el balanceador seguiría mandándole tráfico. Con ella activa, la retira del grupo de destino en cuanto deja de responder, y solo la reincluye cuando se recupera.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El grupo de seguridad cambia con el balanceador</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Balanceo de carga y escalado automático</a:t>
            </a:r>
            <a:endParaRPr lang="en-US" sz="1100" dirty="0"/>
          </a:p>
        </p:txBody>
      </p:sp>
      <p:sp>
        <p:nvSpPr>
          <p:cNvPr id="5" name="Shape 3"/>
          <p:cNvSpPr/>
          <p:nvPr/>
        </p:nvSpPr>
        <p:spPr>
          <a:xfrm>
            <a:off x="548640" y="1143000"/>
            <a:ext cx="11091672" cy="96012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77724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Ya no tiene sentido que el puerto de la aplicación siga abierto a 0.0.0.0/0 como en el Tema 3 — nadie de fuera necesita hablar con una instancia directamente, todo el mundo pasa por el balanceador.</a:t>
            </a:r>
            <a:endParaRPr lang="en-US" sz="1500" dirty="0"/>
          </a:p>
        </p:txBody>
      </p:sp>
      <p:sp>
        <p:nvSpPr>
          <p:cNvPr id="7" name="Shape 5"/>
          <p:cNvSpPr/>
          <p:nvPr/>
        </p:nvSpPr>
        <p:spPr>
          <a:xfrm>
            <a:off x="548640" y="2331720"/>
            <a:ext cx="4174236" cy="822960"/>
          </a:xfrm>
          <a:prstGeom prst="roundRect">
            <a:avLst/>
          </a:prstGeom>
          <a:solidFill>
            <a:srgbClr val="E8EAF6"/>
          </a:solidFill>
          <a:ln w="15875">
            <a:solidFill>
              <a:srgbClr val="3949AB"/>
            </a:solidFill>
            <a:prstDash val="solid"/>
          </a:ln>
        </p:spPr>
      </p:sp>
      <p:sp>
        <p:nvSpPr>
          <p:cNvPr id="8" name="Text 6"/>
          <p:cNvSpPr/>
          <p:nvPr/>
        </p:nvSpPr>
        <p:spPr>
          <a:xfrm>
            <a:off x="640080" y="2331720"/>
            <a:ext cx="3991356" cy="82296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Internet</a:t>
            </a:r>
            <a:endParaRPr lang="en-US" sz="1400" dirty="0"/>
          </a:p>
        </p:txBody>
      </p:sp>
      <p:sp>
        <p:nvSpPr>
          <p:cNvPr id="9" name="Shape 7"/>
          <p:cNvSpPr/>
          <p:nvPr/>
        </p:nvSpPr>
        <p:spPr>
          <a:xfrm>
            <a:off x="7466076" y="2331720"/>
            <a:ext cx="4174236" cy="822960"/>
          </a:xfrm>
          <a:prstGeom prst="roundRect">
            <a:avLst/>
          </a:prstGeom>
          <a:solidFill>
            <a:srgbClr val="E8EAF6"/>
          </a:solidFill>
          <a:ln w="15875">
            <a:solidFill>
              <a:srgbClr val="3949AB"/>
            </a:solidFill>
            <a:prstDash val="solid"/>
          </a:ln>
        </p:spPr>
      </p:sp>
      <p:sp>
        <p:nvSpPr>
          <p:cNvPr id="10" name="Text 8"/>
          <p:cNvSpPr/>
          <p:nvPr/>
        </p:nvSpPr>
        <p:spPr>
          <a:xfrm>
            <a:off x="7557516" y="2331720"/>
            <a:ext cx="3991356" cy="82296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ALB</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(SG abierto a internet)</a:t>
            </a:r>
            <a:endParaRPr lang="en-US" sz="1400" dirty="0"/>
          </a:p>
        </p:txBody>
      </p:sp>
      <p:sp>
        <p:nvSpPr>
          <p:cNvPr id="11" name="Text 9"/>
          <p:cNvSpPr/>
          <p:nvPr/>
        </p:nvSpPr>
        <p:spPr>
          <a:xfrm>
            <a:off x="4722876" y="2331720"/>
            <a:ext cx="2743200" cy="822960"/>
          </a:xfrm>
          <a:prstGeom prst="rect">
            <a:avLst/>
          </a:prstGeom>
          <a:noFill/>
          <a:ln/>
        </p:spPr>
        <p:txBody>
          <a:bodyPr wrap="square" rtlCol="0" anchor="ctr"/>
          <a:lstStyle/>
          <a:p>
            <a:pPr algn="ctr" indent="0" marL="0">
              <a:buNone/>
            </a:pPr>
            <a:r>
              <a:rPr lang="en-US" sz="1300" b="1" i="1" dirty="0">
                <a:solidFill>
                  <a:srgbClr val="3949AB"/>
                </a:solidFill>
                <a:latin typeface="Arial" pitchFamily="34" charset="0"/>
                <a:ea typeface="Arial" pitchFamily="34" charset="-122"/>
                <a:cs typeface="Arial" pitchFamily="34" charset="-120"/>
              </a:rPr>
              <a:t>443 →</a:t>
            </a:r>
            <a:endParaRPr lang="en-US" sz="1300" dirty="0"/>
          </a:p>
        </p:txBody>
      </p:sp>
      <p:sp>
        <p:nvSpPr>
          <p:cNvPr id="12" name="Shape 10"/>
          <p:cNvSpPr/>
          <p:nvPr/>
        </p:nvSpPr>
        <p:spPr>
          <a:xfrm>
            <a:off x="548640" y="3383280"/>
            <a:ext cx="4174236" cy="822960"/>
          </a:xfrm>
          <a:prstGeom prst="roundRect">
            <a:avLst/>
          </a:prstGeom>
          <a:solidFill>
            <a:srgbClr val="E8EAF6"/>
          </a:solidFill>
          <a:ln w="15875">
            <a:solidFill>
              <a:srgbClr val="3949AB"/>
            </a:solidFill>
            <a:prstDash val="solid"/>
          </a:ln>
        </p:spPr>
      </p:sp>
      <p:sp>
        <p:nvSpPr>
          <p:cNvPr id="13" name="Text 11"/>
          <p:cNvSpPr/>
          <p:nvPr/>
        </p:nvSpPr>
        <p:spPr>
          <a:xfrm>
            <a:off x="640080" y="3383280"/>
            <a:ext cx="3991356" cy="82296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ALB</a:t>
            </a:r>
            <a:endParaRPr lang="en-US" sz="1400" dirty="0"/>
          </a:p>
        </p:txBody>
      </p:sp>
      <p:sp>
        <p:nvSpPr>
          <p:cNvPr id="14" name="Shape 12"/>
          <p:cNvSpPr/>
          <p:nvPr/>
        </p:nvSpPr>
        <p:spPr>
          <a:xfrm>
            <a:off x="7466076" y="3383280"/>
            <a:ext cx="4174236" cy="822960"/>
          </a:xfrm>
          <a:prstGeom prst="roundRect">
            <a:avLst/>
          </a:prstGeom>
          <a:solidFill>
            <a:srgbClr val="E8EAF6"/>
          </a:solidFill>
          <a:ln w="15875">
            <a:solidFill>
              <a:srgbClr val="3949AB"/>
            </a:solidFill>
            <a:prstDash val="solid"/>
          </a:ln>
        </p:spPr>
      </p:sp>
      <p:sp>
        <p:nvSpPr>
          <p:cNvPr id="15" name="Text 13"/>
          <p:cNvSpPr/>
          <p:nvPr/>
        </p:nvSpPr>
        <p:spPr>
          <a:xfrm>
            <a:off x="7557516" y="3383280"/>
            <a:ext cx="3991356" cy="82296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Instancias</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(SG de la app)</a:t>
            </a:r>
            <a:endParaRPr lang="en-US" sz="1400" dirty="0"/>
          </a:p>
        </p:txBody>
      </p:sp>
      <p:sp>
        <p:nvSpPr>
          <p:cNvPr id="16" name="Text 14"/>
          <p:cNvSpPr/>
          <p:nvPr/>
        </p:nvSpPr>
        <p:spPr>
          <a:xfrm>
            <a:off x="4722876" y="3383280"/>
            <a:ext cx="2743200" cy="822960"/>
          </a:xfrm>
          <a:prstGeom prst="rect">
            <a:avLst/>
          </a:prstGeom>
          <a:noFill/>
          <a:ln/>
        </p:spPr>
        <p:txBody>
          <a:bodyPr wrap="square" rtlCol="0" anchor="ctr"/>
          <a:lstStyle/>
          <a:p>
            <a:pPr algn="ctr" indent="0" marL="0">
              <a:buNone/>
            </a:pPr>
            <a:r>
              <a:rPr lang="en-US" sz="1300" b="1" i="1" dirty="0">
                <a:solidFill>
                  <a:srgbClr val="3949AB"/>
                </a:solidFill>
                <a:latin typeface="Arial" pitchFamily="34" charset="0"/>
                <a:ea typeface="Arial" pitchFamily="34" charset="-122"/>
                <a:cs typeface="Arial" pitchFamily="34" charset="-120"/>
              </a:rPr>
              <a:t>solo desde</a:t>
            </a:r>
            <a:endParaRPr lang="en-US" sz="1300" dirty="0"/>
          </a:p>
          <a:p>
            <a:pPr algn="ctr" indent="0" marL="0">
              <a:buNone/>
            </a:pPr>
            <a:r>
              <a:rPr lang="en-US" sz="1300" b="1" i="1" dirty="0">
                <a:solidFill>
                  <a:srgbClr val="3949AB"/>
                </a:solidFill>
                <a:latin typeface="Arial" pitchFamily="34" charset="0"/>
                <a:ea typeface="Arial" pitchFamily="34" charset="-122"/>
                <a:cs typeface="Arial" pitchFamily="34" charset="-120"/>
              </a:rPr>
              <a:t>el SG del ALB →</a:t>
            </a:r>
            <a:endParaRPr lang="en-US" sz="1300" dirty="0"/>
          </a:p>
        </p:txBody>
      </p:sp>
      <p:sp>
        <p:nvSpPr>
          <p:cNvPr id="17" name="Shape 15"/>
          <p:cNvSpPr/>
          <p:nvPr/>
        </p:nvSpPr>
        <p:spPr>
          <a:xfrm>
            <a:off x="548640" y="4434840"/>
            <a:ext cx="11091672" cy="731520"/>
          </a:xfrm>
          <a:prstGeom prst="roundRect">
            <a:avLst/>
          </a:prstGeom>
          <a:solidFill>
            <a:srgbClr val="FFF8E1"/>
          </a:solidFill>
          <a:ln w="19050">
            <a:solidFill>
              <a:srgbClr val="FFA000"/>
            </a:solidFill>
            <a:prstDash val="solid"/>
          </a:ln>
        </p:spPr>
      </p:sp>
      <p:sp>
        <p:nvSpPr>
          <p:cNvPr id="18" name="Text 16"/>
          <p:cNvSpPr/>
          <p:nvPr/>
        </p:nvSpPr>
        <p:spPr>
          <a:xfrm>
            <a:off x="822960" y="4526280"/>
            <a:ext cx="10543032" cy="548640"/>
          </a:xfrm>
          <a:prstGeom prst="rect">
            <a:avLst/>
          </a:prstGeom>
          <a:noFill/>
          <a:ln/>
        </p:spPr>
        <p:txBody>
          <a:bodyPr wrap="square" rtlCol="0" anchor="ctr"/>
          <a:lstStyle/>
          <a:p>
            <a:pPr indent="0" marL="0">
              <a:buNone/>
            </a:pPr>
            <a:r>
              <a:rPr lang="en-US" sz="1600" dirty="0">
                <a:solidFill>
                  <a:srgbClr val="212121"/>
                </a:solidFill>
                <a:latin typeface="Arial" pitchFamily="34" charset="0"/>
                <a:ea typeface="Arial" pitchFamily="34" charset="-122"/>
                <a:cs typeface="Arial" pitchFamily="34" charset="-120"/>
              </a:rPr>
              <a:t>El mismo principio de mínimo privilegio del Tema 3, aplicado un escalón más.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Detalles que importan del ALB</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Balanceo de carga y escalado automático</a:t>
            </a:r>
            <a:endParaRPr lang="en-US" sz="1100" dirty="0"/>
          </a:p>
        </p:txBody>
      </p:sp>
      <p:sp>
        <p:nvSpPr>
          <p:cNvPr id="5" name="Shape 3"/>
          <p:cNvSpPr/>
          <p:nvPr/>
        </p:nvSpPr>
        <p:spPr>
          <a:xfrm>
            <a:off x="548640" y="1188720"/>
            <a:ext cx="11091672" cy="1691640"/>
          </a:xfrm>
          <a:prstGeom prst="roundRect">
            <a:avLst/>
          </a:prstGeom>
          <a:solidFill>
            <a:srgbClr val="FFF8E1"/>
          </a:solidFill>
          <a:ln w="28575">
            <a:solidFill>
              <a:srgbClr val="FFA000"/>
            </a:solidFill>
            <a:prstDash val="solid"/>
          </a:ln>
        </p:spPr>
      </p:sp>
      <p:sp>
        <p:nvSpPr>
          <p:cNvPr id="6" name="Text 4"/>
          <p:cNvSpPr/>
          <p:nvPr/>
        </p:nvSpPr>
        <p:spPr>
          <a:xfrm>
            <a:off x="822960" y="1298448"/>
            <a:ext cx="10543032" cy="1472184"/>
          </a:xfrm>
          <a:prstGeom prst="rect">
            <a:avLst/>
          </a:prstGeom>
          <a:noFill/>
          <a:ln/>
        </p:spPr>
        <p:txBody>
          <a:bodyPr wrap="square" rtlCol="0" anchor="t"/>
          <a:lstStyle/>
          <a:p>
            <a:pPr indent="0" marL="0">
              <a:buNone/>
            </a:pPr>
            <a:r>
              <a:rPr lang="en-US" sz="1600" b="1" dirty="0">
                <a:solidFill>
                  <a:srgbClr val="1A237E"/>
                </a:solidFill>
                <a:latin typeface="Arial" pitchFamily="34" charset="0"/>
                <a:ea typeface="Arial" pitchFamily="34" charset="-122"/>
                <a:cs typeface="Arial" pitchFamily="34" charset="-120"/>
              </a:rPr>
              <a:t>Retirar una instancia no corta las peticiones en marcha, si le das tiempo
</a:t>
            </a:r>
            <a:endParaRPr lang="en-US" sz="1600" dirty="0"/>
          </a:p>
          <a:p>
            <a:pPr indent="0" marL="0">
              <a:buNone/>
            </a:pPr>
            <a:r>
              <a:rPr lang="en-US" sz="1500" dirty="0">
                <a:solidFill>
                  <a:srgbClr val="212121"/>
                </a:solidFill>
                <a:latin typeface="Arial" pitchFamily="34" charset="0"/>
                <a:ea typeface="Arial" pitchFamily="34" charset="-122"/>
                <a:cs typeface="Arial" pitchFamily="34" charset="-120"/>
              </a:rPr>
              <a:t>Cuando el balanceador retira una instancia, no la mata en el acto: durante el retraso de anulación de registro (deregistration delay), deja de mandarle peticiones nuevas pero espera a que termine las que ya tenía en curso.</a:t>
            </a:r>
            <a:endParaRPr lang="en-US" sz="1600" dirty="0"/>
          </a:p>
        </p:txBody>
      </p:sp>
      <p:sp>
        <p:nvSpPr>
          <p:cNvPr id="7" name="Shape 5"/>
          <p:cNvSpPr/>
          <p:nvPr/>
        </p:nvSpPr>
        <p:spPr>
          <a:xfrm>
            <a:off x="548640" y="3154680"/>
            <a:ext cx="11091672" cy="2011680"/>
          </a:xfrm>
          <a:prstGeom prst="roundRect">
            <a:avLst/>
          </a:prstGeom>
          <a:solidFill>
            <a:srgbClr val="E8EAF6"/>
          </a:solidFill>
          <a:ln w="15875">
            <a:solidFill>
              <a:srgbClr val="3949AB"/>
            </a:solidFill>
            <a:prstDash val="solid"/>
          </a:ln>
        </p:spPr>
      </p:sp>
      <p:sp>
        <p:nvSpPr>
          <p:cNvPr id="8" name="Text 6"/>
          <p:cNvSpPr/>
          <p:nvPr/>
        </p:nvSpPr>
        <p:spPr>
          <a:xfrm>
            <a:off x="731520" y="3227832"/>
            <a:ext cx="10725912" cy="548640"/>
          </a:xfrm>
          <a:prstGeom prst="rect">
            <a:avLst/>
          </a:prstGeom>
          <a:noFill/>
          <a:ln/>
        </p:spPr>
        <p:txBody>
          <a:bodyPr wrap="square" rtlCol="0" anchor="ctr"/>
          <a:lstStyle/>
          <a:p>
            <a:pPr indent="0" marL="0">
              <a:buNone/>
            </a:pPr>
            <a:r>
              <a:rPr lang="en-US" sz="1900" b="1" dirty="0">
                <a:solidFill>
                  <a:srgbClr val="1A237E"/>
                </a:solidFill>
                <a:latin typeface="Arial" pitchFamily="34" charset="0"/>
                <a:ea typeface="Arial" pitchFamily="34" charset="-122"/>
                <a:cs typeface="Arial" pitchFamily="34" charset="-120"/>
              </a:rPr>
              <a:t>Por qué el ALB exige al menos dos zonas</a:t>
            </a:r>
            <a:endParaRPr lang="en-US" sz="1900" dirty="0"/>
          </a:p>
        </p:txBody>
      </p:sp>
      <p:sp>
        <p:nvSpPr>
          <p:cNvPr id="9" name="Text 7"/>
          <p:cNvSpPr/>
          <p:nvPr/>
        </p:nvSpPr>
        <p:spPr>
          <a:xfrm>
            <a:off x="731520" y="3776472"/>
            <a:ext cx="10725912" cy="1316736"/>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AWS no te deja elegir una sola subred al crear el balanceador: el propio ALB es un servicio distribuido, con nodos redundantes repartidos entre zonas de disponibilidad, para no convertirse él mismo en el nuevo punto único de fallo. Si una zona entera cae, el ALB sigue funcionando con los nodos de la otra.</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Escalado vertical frente a horizontal</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Balanceo de carga y escalado automático</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Dos formas de responder cuando una instancia se queda corta — no son intercambiables</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440168"/>
                <a:gridCol w="4325752"/>
                <a:gridCol w="4325752"/>
              </a:tblGrid>
              <a:tr h="594360">
                <a:tc>
                  <a:txBody>
                    <a:bodyPr/>
                    <a:lstStyle/>
                    <a:p>
                      <a:pPr algn="ctr" indent="0" marL="0">
                        <a:buNone/>
                      </a:pP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Vertical</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Horizontal</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594360">
                <a:tc>
                  <a:txBody>
                    <a:bodyPr/>
                    <a:lstStyle/>
                    <a:p>
                      <a:pPr indent="0" marL="0">
                        <a:buNone/>
                      </a:pPr>
                      <a:r>
                        <a:rPr lang="en-US" sz="1300" b="1" dirty="0">
                          <a:solidFill>
                            <a:srgbClr val="212121"/>
                          </a:solidFill>
                          <a:latin typeface="Arial" pitchFamily="34" charset="0"/>
                          <a:ea typeface="Arial" pitchFamily="34" charset="-122"/>
                          <a:cs typeface="Arial" pitchFamily="34" charset="-120"/>
                        </a:rPr>
                        <a:t>Qué haces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Cambias la instancia por un tipo más grande</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Añades más instancias iguales</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212121"/>
                          </a:solidFill>
                          <a:latin typeface="Arial" pitchFamily="34" charset="0"/>
                          <a:ea typeface="Arial" pitchFamily="34" charset="-122"/>
                          <a:cs typeface="Arial" pitchFamily="34" charset="-120"/>
                        </a:rPr>
                        <a:t>Límite</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El tamaño de instancia más grande que existe</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Prácticamente ninguno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94360">
                <a:tc>
                  <a:txBody>
                    <a:bodyPr/>
                    <a:lstStyle/>
                    <a:p>
                      <a:pPr indent="0" marL="0">
                        <a:buNone/>
                      </a:pPr>
                      <a:r>
                        <a:rPr lang="en-US" sz="1300" b="1" dirty="0">
                          <a:solidFill>
                            <a:srgbClr val="212121"/>
                          </a:solidFill>
                          <a:latin typeface="Arial" pitchFamily="34" charset="0"/>
                          <a:ea typeface="Arial" pitchFamily="34" charset="-122"/>
                          <a:cs typeface="Arial" pitchFamily="34" charset="-120"/>
                        </a:rPr>
                        <a:t>¿Corte de servicio?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Sí — normalmente hay que parar la instancia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No, si está bien orquestado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94360">
                <a:tc>
                  <a:txBody>
                    <a:bodyPr/>
                    <a:lstStyle/>
                    <a:p>
                      <a:pPr indent="0" marL="0">
                        <a:buNone/>
                      </a:pPr>
                      <a:r>
                        <a:rPr lang="en-US" sz="1300" b="1" dirty="0">
                          <a:solidFill>
                            <a:srgbClr val="212121"/>
                          </a:solidFill>
                          <a:latin typeface="Arial" pitchFamily="34" charset="0"/>
                          <a:ea typeface="Arial" pitchFamily="34" charset="-122"/>
                          <a:cs typeface="Arial" pitchFamily="34" charset="-120"/>
                        </a:rPr>
                        <a:t>Encaja con balanceador</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No lo necesita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Es la base de todo lo de hoy</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7" name="Shape 4"/>
          <p:cNvSpPr/>
          <p:nvPr/>
        </p:nvSpPr>
        <p:spPr>
          <a:xfrm>
            <a:off x="548640" y="5029200"/>
            <a:ext cx="11091672" cy="1051560"/>
          </a:xfrm>
          <a:prstGeom prst="roundRect">
            <a:avLst/>
          </a:prstGeom>
          <a:solidFill>
            <a:srgbClr val="FFF8E1"/>
          </a:solidFill>
          <a:ln w="19050">
            <a:solidFill>
              <a:srgbClr val="FFA000"/>
            </a:solidFill>
            <a:prstDash val="solid"/>
          </a:ln>
        </p:spPr>
      </p:sp>
      <p:sp>
        <p:nvSpPr>
          <p:cNvPr id="8" name="Text 5"/>
          <p:cNvSpPr/>
          <p:nvPr/>
        </p:nvSpPr>
        <p:spPr>
          <a:xfrm>
            <a:off x="822960" y="5120640"/>
            <a:ext cx="10543032" cy="8686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El escalado horizontal es el que hace posible la alta disponibilidad: con varias instancias más pequeñas repartidas, la caída de una no tumba el servicio.</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Grupos de escalado automático (ASG)</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Balanceo de carga y escalado automático</a:t>
            </a:r>
            <a:endParaRPr lang="en-US" sz="1100" dirty="0"/>
          </a:p>
        </p:txBody>
      </p:sp>
      <p:sp>
        <p:nvSpPr>
          <p:cNvPr id="5" name="Shape 3"/>
          <p:cNvSpPr/>
          <p:nvPr/>
        </p:nvSpPr>
        <p:spPr>
          <a:xfrm>
            <a:off x="548640" y="1143000"/>
            <a:ext cx="11091672" cy="86868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68580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Un ASG mantiene un número de instancias saludables detrás del balanceador, añadiendo o quitando automáticamente según haga falta. Se define con tres números.</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11091672" cy="914400"/>
        </p:xfrm>
        <a:graphic>
          <a:graphicData uri="http://schemas.openxmlformats.org/drawingml/2006/table">
            <a:tbl>
              <a:tblPr/>
              <a:tblGrid>
                <a:gridCol w="3105668"/>
                <a:gridCol w="7986004"/>
              </a:tblGrid>
              <a:tr h="594360">
                <a:tc>
                  <a:txBody>
                    <a:bodyPr/>
                    <a:lstStyle/>
                    <a:p>
                      <a:pPr algn="ctr" indent="0" marL="0">
                        <a:buNone/>
                      </a:pPr>
                      <a:r>
                        <a:rPr lang="en-US" sz="1450" b="1" dirty="0">
                          <a:solidFill>
                            <a:srgbClr val="FFFFFF"/>
                          </a:solidFill>
                          <a:latin typeface="Arial" pitchFamily="34" charset="0"/>
                          <a:ea typeface="Arial" pitchFamily="34" charset="-122"/>
                          <a:cs typeface="Arial" pitchFamily="34" charset="-120"/>
                        </a:rPr>
                        <a:t>Parámetro</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50" b="1" dirty="0">
                          <a:solidFill>
                            <a:srgbClr val="FFFFFF"/>
                          </a:solidFill>
                          <a:latin typeface="Arial" pitchFamily="34" charset="0"/>
                          <a:ea typeface="Arial" pitchFamily="34" charset="-122"/>
                          <a:cs typeface="Arial" pitchFamily="34" charset="-120"/>
                        </a:rPr>
                        <a:t>Qué significa</a:t>
                      </a:r>
                      <a:endParaRPr lang="en-US" sz="14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594360">
                <a:tc>
                  <a:txBody>
                    <a:bodyPr/>
                    <a:lstStyle/>
                    <a:p>
                      <a:pPr indent="0" marL="0">
                        <a:buNone/>
                      </a:pPr>
                      <a:r>
                        <a:rPr lang="en-US" sz="1350" b="1" dirty="0">
                          <a:solidFill>
                            <a:srgbClr val="212121"/>
                          </a:solidFill>
                          <a:latin typeface="Arial" pitchFamily="34" charset="0"/>
                          <a:ea typeface="Arial" pitchFamily="34" charset="-122"/>
                          <a:cs typeface="Arial" pitchFamily="34" charset="-120"/>
                        </a:rPr>
                        <a:t>Capacidad mínima</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Nunca hay menos instancias que esta, pase lo que pase</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94360">
                <a:tc>
                  <a:txBody>
                    <a:bodyPr/>
                    <a:lstStyle/>
                    <a:p>
                      <a:pPr indent="0" marL="0">
                        <a:buNone/>
                      </a:pPr>
                      <a:r>
                        <a:rPr lang="en-US" sz="1350" b="1" dirty="0">
                          <a:solidFill>
                            <a:srgbClr val="212121"/>
                          </a:solidFill>
                          <a:latin typeface="Arial" pitchFamily="34" charset="0"/>
                          <a:ea typeface="Arial" pitchFamily="34" charset="-122"/>
                          <a:cs typeface="Arial" pitchFamily="34" charset="-120"/>
                        </a:rPr>
                        <a:t>Capacidad deseada</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El número que el grupo intenta mantener en condiciones normales</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94360">
                <a:tc>
                  <a:txBody>
                    <a:bodyPr/>
                    <a:lstStyle/>
                    <a:p>
                      <a:pPr indent="0" marL="0">
                        <a:buNone/>
                      </a:pPr>
                      <a:r>
                        <a:rPr lang="en-US" sz="1350" b="1" dirty="0">
                          <a:solidFill>
                            <a:srgbClr val="212121"/>
                          </a:solidFill>
                          <a:latin typeface="Arial" pitchFamily="34" charset="0"/>
                          <a:ea typeface="Arial" pitchFamily="34" charset="-122"/>
                          <a:cs typeface="Arial" pitchFamily="34" charset="-120"/>
                        </a:rPr>
                        <a:t>Capacidad máxima</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50" dirty="0">
                          <a:solidFill>
                            <a:srgbClr val="212121"/>
                          </a:solidFill>
                          <a:latin typeface="Arial" pitchFamily="34" charset="0"/>
                          <a:ea typeface="Arial" pitchFamily="34" charset="-122"/>
                          <a:cs typeface="Arial" pitchFamily="34" charset="-120"/>
                        </a:rPr>
                        <a:t>Nunca hay más instancias que esta, por mucho que suba la demanda</a:t>
                      </a:r>
                      <a:endParaRPr lang="en-US" sz="13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892040"/>
            <a:ext cx="3483864" cy="685800"/>
          </a:xfrm>
          <a:prstGeom prst="roundRect">
            <a:avLst/>
          </a:prstGeom>
          <a:solidFill>
            <a:srgbClr val="E8EAF6"/>
          </a:solidFill>
          <a:ln w="15875">
            <a:solidFill>
              <a:srgbClr val="3949AB"/>
            </a:solidFill>
            <a:prstDash val="solid"/>
          </a:ln>
        </p:spPr>
      </p:sp>
      <p:sp>
        <p:nvSpPr>
          <p:cNvPr id="9" name="Text 6"/>
          <p:cNvSpPr/>
          <p:nvPr/>
        </p:nvSpPr>
        <p:spPr>
          <a:xfrm>
            <a:off x="594360" y="4937760"/>
            <a:ext cx="3392424" cy="59436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Mínima: 2</a:t>
            </a:r>
            <a:endParaRPr lang="en-US" sz="1500" dirty="0"/>
          </a:p>
        </p:txBody>
      </p:sp>
      <p:sp>
        <p:nvSpPr>
          <p:cNvPr id="10" name="Text 7"/>
          <p:cNvSpPr/>
          <p:nvPr/>
        </p:nvSpPr>
        <p:spPr>
          <a:xfrm>
            <a:off x="3986784" y="4892040"/>
            <a:ext cx="411480" cy="685800"/>
          </a:xfrm>
          <a:prstGeom prst="rect">
            <a:avLst/>
          </a:prstGeom>
          <a:noFill/>
          <a:ln/>
        </p:spPr>
        <p:txBody>
          <a:bodyPr wrap="square" rtlCol="0" anchor="ctr"/>
          <a:lstStyle/>
          <a:p>
            <a:pPr algn="ctr" indent="0" marL="0">
              <a:buNone/>
            </a:pPr>
            <a:r>
              <a:rPr lang="en-US" sz="1800" b="1" dirty="0">
                <a:solidFill>
                  <a:srgbClr val="3949AB"/>
                </a:solidFill>
                <a:latin typeface="Arial" pitchFamily="34" charset="0"/>
                <a:ea typeface="Arial" pitchFamily="34" charset="-122"/>
                <a:cs typeface="Arial" pitchFamily="34" charset="-120"/>
              </a:rPr>
              <a:t>→</a:t>
            </a:r>
            <a:endParaRPr lang="en-US" sz="1800" dirty="0"/>
          </a:p>
        </p:txBody>
      </p:sp>
      <p:sp>
        <p:nvSpPr>
          <p:cNvPr id="11" name="Shape 8"/>
          <p:cNvSpPr/>
          <p:nvPr/>
        </p:nvSpPr>
        <p:spPr>
          <a:xfrm>
            <a:off x="4352544" y="4892040"/>
            <a:ext cx="3483864" cy="685800"/>
          </a:xfrm>
          <a:prstGeom prst="roundRect">
            <a:avLst/>
          </a:prstGeom>
          <a:solidFill>
            <a:srgbClr val="E8EAF6"/>
          </a:solidFill>
          <a:ln w="15875">
            <a:solidFill>
              <a:srgbClr val="3949AB"/>
            </a:solidFill>
            <a:prstDash val="solid"/>
          </a:ln>
        </p:spPr>
      </p:sp>
      <p:sp>
        <p:nvSpPr>
          <p:cNvPr id="12" name="Text 9"/>
          <p:cNvSpPr/>
          <p:nvPr/>
        </p:nvSpPr>
        <p:spPr>
          <a:xfrm>
            <a:off x="4398264" y="4937760"/>
            <a:ext cx="3392424" cy="59436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Deseada: 2</a:t>
            </a:r>
            <a:endParaRPr lang="en-US" sz="1500" dirty="0"/>
          </a:p>
        </p:txBody>
      </p:sp>
      <p:sp>
        <p:nvSpPr>
          <p:cNvPr id="13" name="Text 10"/>
          <p:cNvSpPr/>
          <p:nvPr/>
        </p:nvSpPr>
        <p:spPr>
          <a:xfrm>
            <a:off x="7790688" y="4892040"/>
            <a:ext cx="411480" cy="685800"/>
          </a:xfrm>
          <a:prstGeom prst="rect">
            <a:avLst/>
          </a:prstGeom>
          <a:noFill/>
          <a:ln/>
        </p:spPr>
        <p:txBody>
          <a:bodyPr wrap="square" rtlCol="0" anchor="ctr"/>
          <a:lstStyle/>
          <a:p>
            <a:pPr algn="ctr" indent="0" marL="0">
              <a:buNone/>
            </a:pPr>
            <a:r>
              <a:rPr lang="en-US" sz="1800" b="1" dirty="0">
                <a:solidFill>
                  <a:srgbClr val="3949AB"/>
                </a:solidFill>
                <a:latin typeface="Arial" pitchFamily="34" charset="0"/>
                <a:ea typeface="Arial" pitchFamily="34" charset="-122"/>
                <a:cs typeface="Arial" pitchFamily="34" charset="-120"/>
              </a:rPr>
              <a:t>→</a:t>
            </a:r>
            <a:endParaRPr lang="en-US" sz="1800" dirty="0"/>
          </a:p>
        </p:txBody>
      </p:sp>
      <p:sp>
        <p:nvSpPr>
          <p:cNvPr id="14" name="Shape 11"/>
          <p:cNvSpPr/>
          <p:nvPr/>
        </p:nvSpPr>
        <p:spPr>
          <a:xfrm>
            <a:off x="8156448" y="4892040"/>
            <a:ext cx="3483864" cy="685800"/>
          </a:xfrm>
          <a:prstGeom prst="roundRect">
            <a:avLst/>
          </a:prstGeom>
          <a:solidFill>
            <a:srgbClr val="E8EAF6"/>
          </a:solidFill>
          <a:ln w="15875">
            <a:solidFill>
              <a:srgbClr val="3949AB"/>
            </a:solidFill>
            <a:prstDash val="solid"/>
          </a:ln>
        </p:spPr>
      </p:sp>
      <p:sp>
        <p:nvSpPr>
          <p:cNvPr id="15" name="Text 12"/>
          <p:cNvSpPr/>
          <p:nvPr/>
        </p:nvSpPr>
        <p:spPr>
          <a:xfrm>
            <a:off x="8202168" y="4937760"/>
            <a:ext cx="3392424" cy="59436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Máxima: 5</a:t>
            </a:r>
            <a:endParaRPr lang="en-US" sz="1500" dirty="0"/>
          </a:p>
        </p:txBody>
      </p:sp>
      <p:sp>
        <p:nvSpPr>
          <p:cNvPr id="16" name="Text 13"/>
          <p:cNvSpPr/>
          <p:nvPr/>
        </p:nvSpPr>
        <p:spPr>
          <a:xfrm>
            <a:off x="548640" y="5715000"/>
            <a:ext cx="11091672" cy="502920"/>
          </a:xfrm>
          <a:prstGeom prst="rect">
            <a:avLst/>
          </a:prstGeom>
          <a:noFill/>
          <a:ln/>
        </p:spPr>
        <p:txBody>
          <a:bodyPr wrap="square" rtlCol="0" anchor="t"/>
          <a:lstStyle/>
          <a:p>
            <a:pPr algn="ctr" indent="0" marL="0">
              <a:buNone/>
            </a:pPr>
            <a:r>
              <a:rPr lang="en-US" sz="1350" i="1" dirty="0">
                <a:solidFill>
                  <a:srgbClr val="757575"/>
                </a:solidFill>
                <a:latin typeface="Arial" pitchFamily="34" charset="0"/>
                <a:ea typeface="Arial" pitchFamily="34" charset="-122"/>
                <a:cs typeface="Arial" pitchFamily="34" charset="-120"/>
              </a:rPr>
              <a:t>Necesita una plantilla de lanzamiento (Tema 2) para saber cómo lanzar una instancia nueva.</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Dos capas de comprobación de salud</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Balanceo de carga y escalado automático</a:t>
            </a:r>
            <a:endParaRPr lang="en-US" sz="1100" dirty="0"/>
          </a:p>
        </p:txBody>
      </p:sp>
      <p:sp>
        <p:nvSpPr>
          <p:cNvPr id="5" name="Shape 3"/>
          <p:cNvSpPr/>
          <p:nvPr/>
        </p:nvSpPr>
        <p:spPr>
          <a:xfrm>
            <a:off x="548640" y="1143000"/>
            <a:ext cx="11091672" cy="96012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777240"/>
          </a:xfrm>
          <a:prstGeom prst="rect">
            <a:avLst/>
          </a:prstGeom>
          <a:noFill/>
          <a:ln/>
        </p:spPr>
        <p:txBody>
          <a:bodyPr wrap="square" rtlCol="0" anchor="ctr"/>
          <a:lstStyle/>
          <a:p>
            <a:pPr indent="0" marL="0">
              <a:buNone/>
            </a:pPr>
            <a:r>
              <a:rPr lang="en-US" sz="1450" dirty="0">
                <a:solidFill>
                  <a:srgbClr val="212121"/>
                </a:solidFill>
                <a:latin typeface="Arial" pitchFamily="34" charset="0"/>
                <a:ea typeface="Arial" pitchFamily="34" charset="-122"/>
                <a:cs typeface="Arial" pitchFamily="34" charset="-120"/>
              </a:rPr>
              <a:t>El ASG trae por defecto la comprobación básica del estado del sistema EC2 — pero una instancia puede estar sana a ese nivel y aun así tener la aplicación colgada por dentro.</a:t>
            </a:r>
            <a:endParaRPr lang="en-US" sz="14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91672" cy="914400"/>
        </p:xfrm>
        <a:graphic>
          <a:graphicData uri="http://schemas.openxmlformats.org/drawingml/2006/table">
            <a:tbl>
              <a:tblPr/>
              <a:tblGrid>
                <a:gridCol w="1996501"/>
                <a:gridCol w="4547586"/>
                <a:gridCol w="4547586"/>
              </a:tblGrid>
              <a:tr h="640080">
                <a:tc>
                  <a:txBody>
                    <a:bodyPr/>
                    <a:lstStyle/>
                    <a:p>
                      <a:pPr algn="ctr" indent="0" marL="0">
                        <a:buNone/>
                      </a:pP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Comprobación EC2 (por defecto)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Comprobación del grupo de destino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640080">
                <a:tc>
                  <a:txBody>
                    <a:bodyPr/>
                    <a:lstStyle/>
                    <a:p>
                      <a:pPr indent="0" marL="0">
                        <a:buNone/>
                      </a:pPr>
                      <a:r>
                        <a:rPr lang="en-US" sz="1250" b="1" dirty="0">
                          <a:solidFill>
                            <a:srgbClr val="212121"/>
                          </a:solidFill>
                          <a:latin typeface="Arial" pitchFamily="34" charset="0"/>
                          <a:ea typeface="Arial" pitchFamily="34" charset="-122"/>
                          <a:cs typeface="Arial" pitchFamily="34" charset="-120"/>
                        </a:rPr>
                        <a:t>Qué mira</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Estado del hardware y la red</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Respuesta HTTP de la aplicación</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40080">
                <a:tc>
                  <a:txBody>
                    <a:bodyPr/>
                    <a:lstStyle/>
                    <a:p>
                      <a:pPr indent="0" marL="0">
                        <a:buNone/>
                      </a:pPr>
                      <a:r>
                        <a:rPr lang="en-US" sz="1250" b="1" dirty="0">
                          <a:solidFill>
                            <a:srgbClr val="212121"/>
                          </a:solidFill>
                          <a:latin typeface="Arial" pitchFamily="34" charset="0"/>
                          <a:ea typeface="Arial" pitchFamily="34" charset="-122"/>
                          <a:cs typeface="Arial" pitchFamily="34" charset="-120"/>
                        </a:rPr>
                        <a:t>Detecta</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Instancia parada o con fallo de host</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Aplicación colgada, aunque esté «viva»</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40080">
                <a:tc>
                  <a:txBody>
                    <a:bodyPr/>
                    <a:lstStyle/>
                    <a:p>
                      <a:pPr indent="0" marL="0">
                        <a:buNone/>
                      </a:pPr>
                      <a:r>
                        <a:rPr lang="en-US" sz="1250" b="1" dirty="0">
                          <a:solidFill>
                            <a:srgbClr val="212121"/>
                          </a:solidFill>
                          <a:latin typeface="Arial" pitchFamily="34" charset="0"/>
                          <a:ea typeface="Arial" pitchFamily="34" charset="-122"/>
                          <a:cs typeface="Arial" pitchFamily="34" charset="-120"/>
                        </a:rPr>
                        <a:t>Quién la aporta</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El propio servicio EC2</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El balanceador de carga</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074920"/>
            <a:ext cx="11091672" cy="868680"/>
          </a:xfrm>
          <a:prstGeom prst="roundRect">
            <a:avLst/>
          </a:prstGeom>
          <a:solidFill>
            <a:srgbClr val="FFF8E1"/>
          </a:solidFill>
          <a:ln w="19050">
            <a:solidFill>
              <a:srgbClr val="FFA000"/>
            </a:solidFill>
            <a:prstDash val="solid"/>
          </a:ln>
        </p:spPr>
      </p:sp>
      <p:sp>
        <p:nvSpPr>
          <p:cNvPr id="9" name="Text 6"/>
          <p:cNvSpPr/>
          <p:nvPr/>
        </p:nvSpPr>
        <p:spPr>
          <a:xfrm>
            <a:off x="822960" y="5166360"/>
            <a:ext cx="10543032" cy="68580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Con las dos activas, el ASG detecta y repone tanto una instancia caída de verdad como una que sigue viva pero colgada por dentro.</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Cómo repone el ASG una instancia caída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Balanceo de carga y escalado automático</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El ASG no espera a que hagas nada</a:t>
            </a:r>
            <a:endParaRPr lang="en-US" sz="1500" dirty="0"/>
          </a:p>
        </p:txBody>
      </p:sp>
      <p:sp>
        <p:nvSpPr>
          <p:cNvPr id="6" name="Shape 4"/>
          <p:cNvSpPr/>
          <p:nvPr/>
        </p:nvSpPr>
        <p:spPr>
          <a:xfrm>
            <a:off x="548640" y="1554480"/>
            <a:ext cx="1962302" cy="1188720"/>
          </a:xfrm>
          <a:prstGeom prst="roundRect">
            <a:avLst/>
          </a:prstGeom>
          <a:solidFill>
            <a:srgbClr val="E8EAF6"/>
          </a:solidFill>
          <a:ln w="15875">
            <a:solidFill>
              <a:srgbClr val="3949AB"/>
            </a:solidFill>
            <a:prstDash val="solid"/>
          </a:ln>
        </p:spPr>
      </p:sp>
      <p:sp>
        <p:nvSpPr>
          <p:cNvPr id="7" name="Text 5"/>
          <p:cNvSpPr/>
          <p:nvPr/>
        </p:nvSpPr>
        <p:spPr>
          <a:xfrm>
            <a:off x="594360" y="1600200"/>
            <a:ext cx="1870862" cy="1097280"/>
          </a:xfrm>
          <a:prstGeom prst="rect">
            <a:avLst/>
          </a:prstGeom>
          <a:noFill/>
          <a:ln/>
        </p:spPr>
        <p:txBody>
          <a:bodyPr wrap="square" rtlCol="0" anchor="ctr"/>
          <a:lstStyle/>
          <a:p>
            <a:pPr algn="ctr" indent="0" marL="0">
              <a:buNone/>
            </a:pPr>
            <a:r>
              <a:rPr lang="en-US" sz="1150" dirty="0">
                <a:solidFill>
                  <a:srgbClr val="212121"/>
                </a:solidFill>
                <a:latin typeface="Arial" pitchFamily="34" charset="0"/>
                <a:ea typeface="Arial" pitchFamily="34" charset="-122"/>
                <a:cs typeface="Arial" pitchFamily="34" charset="-120"/>
              </a:rPr>
              <a:t>❌ Instancia falla</a:t>
            </a:r>
            <a:endParaRPr lang="en-US" sz="1150" dirty="0"/>
          </a:p>
          <a:p>
            <a:pPr algn="ctr" indent="0" marL="0">
              <a:buNone/>
            </a:pPr>
            <a:r>
              <a:rPr lang="en-US" sz="1150" dirty="0">
                <a:solidFill>
                  <a:srgbClr val="212121"/>
                </a:solidFill>
                <a:latin typeface="Arial" pitchFamily="34" charset="0"/>
                <a:ea typeface="Arial" pitchFamily="34" charset="-122"/>
                <a:cs typeface="Arial" pitchFamily="34" charset="-120"/>
              </a:rPr>
              <a:t>(EC2 o target group)</a:t>
            </a:r>
            <a:endParaRPr lang="en-US" sz="1150" dirty="0"/>
          </a:p>
        </p:txBody>
      </p:sp>
      <p:sp>
        <p:nvSpPr>
          <p:cNvPr id="8" name="Text 6"/>
          <p:cNvSpPr/>
          <p:nvPr/>
        </p:nvSpPr>
        <p:spPr>
          <a:xfrm>
            <a:off x="2465222" y="1554480"/>
            <a:ext cx="411480" cy="1188720"/>
          </a:xfrm>
          <a:prstGeom prst="rect">
            <a:avLst/>
          </a:prstGeom>
          <a:noFill/>
          <a:ln/>
        </p:spPr>
        <p:txBody>
          <a:bodyPr wrap="square" rtlCol="0" anchor="ctr"/>
          <a:lstStyle/>
          <a:p>
            <a:pPr algn="ctr" indent="0" marL="0">
              <a:buNone/>
            </a:pPr>
            <a:r>
              <a:rPr lang="en-US" sz="1800" b="1" dirty="0">
                <a:solidFill>
                  <a:srgbClr val="3949AB"/>
                </a:solidFill>
                <a:latin typeface="Arial" pitchFamily="34" charset="0"/>
                <a:ea typeface="Arial" pitchFamily="34" charset="-122"/>
                <a:cs typeface="Arial" pitchFamily="34" charset="-120"/>
              </a:rPr>
              <a:t>→</a:t>
            </a:r>
            <a:endParaRPr lang="en-US" sz="1800" dirty="0"/>
          </a:p>
        </p:txBody>
      </p:sp>
      <p:sp>
        <p:nvSpPr>
          <p:cNvPr id="9" name="Shape 7"/>
          <p:cNvSpPr/>
          <p:nvPr/>
        </p:nvSpPr>
        <p:spPr>
          <a:xfrm>
            <a:off x="2830982" y="1554480"/>
            <a:ext cx="1962302" cy="1188720"/>
          </a:xfrm>
          <a:prstGeom prst="roundRect">
            <a:avLst/>
          </a:prstGeom>
          <a:solidFill>
            <a:srgbClr val="E8EAF6"/>
          </a:solidFill>
          <a:ln w="15875">
            <a:solidFill>
              <a:srgbClr val="3949AB"/>
            </a:solidFill>
            <a:prstDash val="solid"/>
          </a:ln>
        </p:spPr>
      </p:sp>
      <p:sp>
        <p:nvSpPr>
          <p:cNvPr id="10" name="Text 8"/>
          <p:cNvSpPr/>
          <p:nvPr/>
        </p:nvSpPr>
        <p:spPr>
          <a:xfrm>
            <a:off x="2876702" y="1600200"/>
            <a:ext cx="1870862" cy="1097280"/>
          </a:xfrm>
          <a:prstGeom prst="rect">
            <a:avLst/>
          </a:prstGeom>
          <a:noFill/>
          <a:ln/>
        </p:spPr>
        <p:txBody>
          <a:bodyPr wrap="square" rtlCol="0" anchor="ctr"/>
          <a:lstStyle/>
          <a:p>
            <a:pPr algn="ctr" indent="0" marL="0">
              <a:buNone/>
            </a:pPr>
            <a:r>
              <a:rPr lang="en-US" sz="1150" dirty="0">
                <a:solidFill>
                  <a:srgbClr val="212121"/>
                </a:solidFill>
                <a:latin typeface="Arial" pitchFamily="34" charset="0"/>
                <a:ea typeface="Arial" pitchFamily="34" charset="-122"/>
                <a:cs typeface="Arial" pitchFamily="34" charset="-120"/>
              </a:rPr>
              <a:t>🔍 El ASG</a:t>
            </a:r>
            <a:endParaRPr lang="en-US" sz="1150" dirty="0"/>
          </a:p>
          <a:p>
            <a:pPr algn="ctr" indent="0" marL="0">
              <a:buNone/>
            </a:pPr>
            <a:r>
              <a:rPr lang="en-US" sz="1150" dirty="0">
                <a:solidFill>
                  <a:srgbClr val="212121"/>
                </a:solidFill>
                <a:latin typeface="Arial" pitchFamily="34" charset="0"/>
                <a:ea typeface="Arial" pitchFamily="34" charset="-122"/>
                <a:cs typeface="Arial" pitchFamily="34" charset="-120"/>
              </a:rPr>
              <a:t>lo detecta</a:t>
            </a:r>
            <a:endParaRPr lang="en-US" sz="1150" dirty="0"/>
          </a:p>
        </p:txBody>
      </p:sp>
      <p:sp>
        <p:nvSpPr>
          <p:cNvPr id="11" name="Text 9"/>
          <p:cNvSpPr/>
          <p:nvPr/>
        </p:nvSpPr>
        <p:spPr>
          <a:xfrm>
            <a:off x="4747565" y="1554480"/>
            <a:ext cx="411480" cy="1188720"/>
          </a:xfrm>
          <a:prstGeom prst="rect">
            <a:avLst/>
          </a:prstGeom>
          <a:noFill/>
          <a:ln/>
        </p:spPr>
        <p:txBody>
          <a:bodyPr wrap="square" rtlCol="0" anchor="ctr"/>
          <a:lstStyle/>
          <a:p>
            <a:pPr algn="ctr" indent="0" marL="0">
              <a:buNone/>
            </a:pPr>
            <a:r>
              <a:rPr lang="en-US" sz="1800" b="1" dirty="0">
                <a:solidFill>
                  <a:srgbClr val="3949AB"/>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5113325" y="1554480"/>
            <a:ext cx="1962302" cy="1188720"/>
          </a:xfrm>
          <a:prstGeom prst="roundRect">
            <a:avLst/>
          </a:prstGeom>
          <a:solidFill>
            <a:srgbClr val="E8EAF6"/>
          </a:solidFill>
          <a:ln w="15875">
            <a:solidFill>
              <a:srgbClr val="3949AB"/>
            </a:solidFill>
            <a:prstDash val="solid"/>
          </a:ln>
        </p:spPr>
      </p:sp>
      <p:sp>
        <p:nvSpPr>
          <p:cNvPr id="13" name="Text 11"/>
          <p:cNvSpPr/>
          <p:nvPr/>
        </p:nvSpPr>
        <p:spPr>
          <a:xfrm>
            <a:off x="5159045" y="1600200"/>
            <a:ext cx="1870862" cy="1097280"/>
          </a:xfrm>
          <a:prstGeom prst="rect">
            <a:avLst/>
          </a:prstGeom>
          <a:noFill/>
          <a:ln/>
        </p:spPr>
        <p:txBody>
          <a:bodyPr wrap="square" rtlCol="0" anchor="ctr"/>
          <a:lstStyle/>
          <a:p>
            <a:pPr algn="ctr" indent="0" marL="0">
              <a:buNone/>
            </a:pPr>
            <a:r>
              <a:rPr lang="en-US" sz="1150" dirty="0">
                <a:solidFill>
                  <a:srgbClr val="212121"/>
                </a:solidFill>
                <a:latin typeface="Arial" pitchFamily="34" charset="0"/>
                <a:ea typeface="Arial" pitchFamily="34" charset="-122"/>
                <a:cs typeface="Arial" pitchFamily="34" charset="-120"/>
              </a:rPr>
              <a:t>⚖️ Compara sanas</a:t>
            </a:r>
            <a:endParaRPr lang="en-US" sz="1150" dirty="0"/>
          </a:p>
          <a:p>
            <a:pPr algn="ctr" indent="0" marL="0">
              <a:buNone/>
            </a:pPr>
            <a:r>
              <a:rPr lang="en-US" sz="1150" dirty="0">
                <a:solidFill>
                  <a:srgbClr val="212121"/>
                </a:solidFill>
                <a:latin typeface="Arial" pitchFamily="34" charset="0"/>
                <a:ea typeface="Arial" pitchFamily="34" charset="-122"/>
                <a:cs typeface="Arial" pitchFamily="34" charset="-120"/>
              </a:rPr>
              <a:t>vs. deseada</a:t>
            </a:r>
            <a:endParaRPr lang="en-US" sz="1150" dirty="0"/>
          </a:p>
        </p:txBody>
      </p:sp>
      <p:sp>
        <p:nvSpPr>
          <p:cNvPr id="14" name="Text 12"/>
          <p:cNvSpPr/>
          <p:nvPr/>
        </p:nvSpPr>
        <p:spPr>
          <a:xfrm>
            <a:off x="7029907" y="1554480"/>
            <a:ext cx="411480" cy="1188720"/>
          </a:xfrm>
          <a:prstGeom prst="rect">
            <a:avLst/>
          </a:prstGeom>
          <a:noFill/>
          <a:ln/>
        </p:spPr>
        <p:txBody>
          <a:bodyPr wrap="square" rtlCol="0" anchor="ctr"/>
          <a:lstStyle/>
          <a:p>
            <a:pPr algn="ctr" indent="0" marL="0">
              <a:buNone/>
            </a:pPr>
            <a:r>
              <a:rPr lang="en-US" sz="1800" b="1" dirty="0">
                <a:solidFill>
                  <a:srgbClr val="3949AB"/>
                </a:solidFill>
                <a:latin typeface="Arial" pitchFamily="34" charset="0"/>
                <a:ea typeface="Arial" pitchFamily="34" charset="-122"/>
                <a:cs typeface="Arial" pitchFamily="34" charset="-120"/>
              </a:rPr>
              <a:t>→</a:t>
            </a:r>
            <a:endParaRPr lang="en-US" sz="1800" dirty="0"/>
          </a:p>
        </p:txBody>
      </p:sp>
      <p:sp>
        <p:nvSpPr>
          <p:cNvPr id="15" name="Shape 13"/>
          <p:cNvSpPr/>
          <p:nvPr/>
        </p:nvSpPr>
        <p:spPr>
          <a:xfrm>
            <a:off x="7395667" y="1554480"/>
            <a:ext cx="1962302" cy="1188720"/>
          </a:xfrm>
          <a:prstGeom prst="roundRect">
            <a:avLst/>
          </a:prstGeom>
          <a:solidFill>
            <a:srgbClr val="E8EAF6"/>
          </a:solidFill>
          <a:ln w="15875">
            <a:solidFill>
              <a:srgbClr val="3949AB"/>
            </a:solidFill>
            <a:prstDash val="solid"/>
          </a:ln>
        </p:spPr>
      </p:sp>
      <p:sp>
        <p:nvSpPr>
          <p:cNvPr id="16" name="Text 14"/>
          <p:cNvSpPr/>
          <p:nvPr/>
        </p:nvSpPr>
        <p:spPr>
          <a:xfrm>
            <a:off x="7441387" y="1600200"/>
            <a:ext cx="1870862" cy="1097280"/>
          </a:xfrm>
          <a:prstGeom prst="rect">
            <a:avLst/>
          </a:prstGeom>
          <a:noFill/>
          <a:ln/>
        </p:spPr>
        <p:txBody>
          <a:bodyPr wrap="square" rtlCol="0" anchor="ctr"/>
          <a:lstStyle/>
          <a:p>
            <a:pPr algn="ctr" indent="0" marL="0">
              <a:buNone/>
            </a:pPr>
            <a:r>
              <a:rPr lang="en-US" sz="1150" dirty="0">
                <a:solidFill>
                  <a:srgbClr val="212121"/>
                </a:solidFill>
                <a:latin typeface="Arial" pitchFamily="34" charset="0"/>
                <a:ea typeface="Arial" pitchFamily="34" charset="-122"/>
                <a:cs typeface="Arial" pitchFamily="34" charset="-120"/>
              </a:rPr>
              <a:t>🚀 Lanza una nueva</a:t>
            </a:r>
            <a:endParaRPr lang="en-US" sz="1150" dirty="0"/>
          </a:p>
          <a:p>
            <a:pPr algn="ctr" indent="0" marL="0">
              <a:buNone/>
            </a:pPr>
            <a:r>
              <a:rPr lang="en-US" sz="1150" dirty="0">
                <a:solidFill>
                  <a:srgbClr val="212121"/>
                </a:solidFill>
                <a:latin typeface="Arial" pitchFamily="34" charset="0"/>
                <a:ea typeface="Arial" pitchFamily="34" charset="-122"/>
                <a:cs typeface="Arial" pitchFamily="34" charset="-120"/>
              </a:rPr>
              <a:t>desde la plantilla</a:t>
            </a:r>
            <a:endParaRPr lang="en-US" sz="1150" dirty="0"/>
          </a:p>
        </p:txBody>
      </p:sp>
      <p:sp>
        <p:nvSpPr>
          <p:cNvPr id="17" name="Text 15"/>
          <p:cNvSpPr/>
          <p:nvPr/>
        </p:nvSpPr>
        <p:spPr>
          <a:xfrm>
            <a:off x="9312250" y="1554480"/>
            <a:ext cx="411480" cy="1188720"/>
          </a:xfrm>
          <a:prstGeom prst="rect">
            <a:avLst/>
          </a:prstGeom>
          <a:noFill/>
          <a:ln/>
        </p:spPr>
        <p:txBody>
          <a:bodyPr wrap="square" rtlCol="0" anchor="ctr"/>
          <a:lstStyle/>
          <a:p>
            <a:pPr algn="ctr" indent="0" marL="0">
              <a:buNone/>
            </a:pPr>
            <a:r>
              <a:rPr lang="en-US" sz="1800" b="1" dirty="0">
                <a:solidFill>
                  <a:srgbClr val="3949AB"/>
                </a:solidFill>
                <a:latin typeface="Arial" pitchFamily="34" charset="0"/>
                <a:ea typeface="Arial" pitchFamily="34" charset="-122"/>
                <a:cs typeface="Arial" pitchFamily="34" charset="-120"/>
              </a:rPr>
              <a:t>→</a:t>
            </a:r>
            <a:endParaRPr lang="en-US" sz="1800" dirty="0"/>
          </a:p>
        </p:txBody>
      </p:sp>
      <p:sp>
        <p:nvSpPr>
          <p:cNvPr id="18" name="Shape 16"/>
          <p:cNvSpPr/>
          <p:nvPr/>
        </p:nvSpPr>
        <p:spPr>
          <a:xfrm>
            <a:off x="9678010" y="1554480"/>
            <a:ext cx="1962302" cy="1188720"/>
          </a:xfrm>
          <a:prstGeom prst="roundRect">
            <a:avLst/>
          </a:prstGeom>
          <a:solidFill>
            <a:srgbClr val="E8EAF6"/>
          </a:solidFill>
          <a:ln w="15875">
            <a:solidFill>
              <a:srgbClr val="3949AB"/>
            </a:solidFill>
            <a:prstDash val="solid"/>
          </a:ln>
        </p:spPr>
      </p:sp>
      <p:sp>
        <p:nvSpPr>
          <p:cNvPr id="19" name="Text 17"/>
          <p:cNvSpPr/>
          <p:nvPr/>
        </p:nvSpPr>
        <p:spPr>
          <a:xfrm>
            <a:off x="9723730" y="1600200"/>
            <a:ext cx="1870862" cy="1097280"/>
          </a:xfrm>
          <a:prstGeom prst="rect">
            <a:avLst/>
          </a:prstGeom>
          <a:noFill/>
          <a:ln/>
        </p:spPr>
        <p:txBody>
          <a:bodyPr wrap="square" rtlCol="0" anchor="ctr"/>
          <a:lstStyle/>
          <a:p>
            <a:pPr algn="ctr" indent="0" marL="0">
              <a:buNone/>
            </a:pPr>
            <a:r>
              <a:rPr lang="en-US" sz="1150" dirty="0">
                <a:solidFill>
                  <a:srgbClr val="212121"/>
                </a:solidFill>
                <a:latin typeface="Arial" pitchFamily="34" charset="0"/>
                <a:ea typeface="Arial" pitchFamily="34" charset="-122"/>
                <a:cs typeface="Arial" pitchFamily="34" charset="-120"/>
              </a:rPr>
              <a:t>✅ Vuelve a la</a:t>
            </a:r>
            <a:endParaRPr lang="en-US" sz="1150" dirty="0"/>
          </a:p>
          <a:p>
            <a:pPr algn="ctr" indent="0" marL="0">
              <a:buNone/>
            </a:pPr>
            <a:r>
              <a:rPr lang="en-US" sz="1150" dirty="0">
                <a:solidFill>
                  <a:srgbClr val="212121"/>
                </a:solidFill>
                <a:latin typeface="Arial" pitchFamily="34" charset="0"/>
                <a:ea typeface="Arial" pitchFamily="34" charset="-122"/>
                <a:cs typeface="Arial" pitchFamily="34" charset="-120"/>
              </a:rPr>
              <a:t>capacidad deseada</a:t>
            </a:r>
            <a:endParaRPr lang="en-US" sz="1150" dirty="0"/>
          </a:p>
        </p:txBody>
      </p:sp>
      <p:sp>
        <p:nvSpPr>
          <p:cNvPr id="20" name="Shape 18"/>
          <p:cNvSpPr/>
          <p:nvPr/>
        </p:nvSpPr>
        <p:spPr>
          <a:xfrm>
            <a:off x="548640" y="3017520"/>
            <a:ext cx="11091672" cy="1371600"/>
          </a:xfrm>
          <a:prstGeom prst="roundRect">
            <a:avLst/>
          </a:prstGeom>
          <a:solidFill>
            <a:srgbClr val="E8EAF6"/>
          </a:solidFill>
          <a:ln w="15875">
            <a:solidFill>
              <a:srgbClr val="3949AB"/>
            </a:solidFill>
            <a:prstDash val="solid"/>
          </a:ln>
        </p:spPr>
      </p:sp>
      <p:sp>
        <p:nvSpPr>
          <p:cNvPr id="21" name="Text 19"/>
          <p:cNvSpPr/>
          <p:nvPr/>
        </p:nvSpPr>
        <p:spPr>
          <a:xfrm>
            <a:off x="731520" y="3090672"/>
            <a:ext cx="10725912" cy="548640"/>
          </a:xfrm>
          <a:prstGeom prst="rect">
            <a:avLst/>
          </a:prstGeom>
          <a:noFill/>
          <a:ln/>
        </p:spPr>
        <p:txBody>
          <a:bodyPr wrap="square" rtlCol="0" anchor="ctr"/>
          <a:lstStyle/>
          <a:p>
            <a:pPr indent="0" marL="0">
              <a:buNone/>
            </a:pPr>
            <a:r>
              <a:rPr lang="en-US" sz="1800" b="1" dirty="0">
                <a:solidFill>
                  <a:srgbClr val="1A237E"/>
                </a:solidFill>
                <a:latin typeface="Arial" pitchFamily="34" charset="0"/>
                <a:ea typeface="Arial" pitchFamily="34" charset="-122"/>
                <a:cs typeface="Arial" pitchFamily="34" charset="-120"/>
              </a:rPr>
              <a:t>Siempre la misma plantilla</a:t>
            </a:r>
            <a:endParaRPr lang="en-US" sz="1800" dirty="0"/>
          </a:p>
        </p:txBody>
      </p:sp>
      <p:sp>
        <p:nvSpPr>
          <p:cNvPr id="22" name="Text 20"/>
          <p:cNvSpPr/>
          <p:nvPr/>
        </p:nvSpPr>
        <p:spPr>
          <a:xfrm>
            <a:off x="731520" y="3639312"/>
            <a:ext cx="10725912" cy="676656"/>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La instancia nueva se lanza con la misma AMI, el mismo tipo de instancia y los mismos datos de usuario que las demás — nada que configurar a mano.</a:t>
            </a:r>
            <a:endParaRPr lang="en-US" sz="1500" dirty="0"/>
          </a:p>
        </p:txBody>
      </p:sp>
      <p:sp>
        <p:nvSpPr>
          <p:cNvPr id="23" name="Text 21"/>
          <p:cNvSpPr/>
          <p:nvPr/>
        </p:nvSpPr>
        <p:spPr>
          <a:xfrm>
            <a:off x="548640" y="4617720"/>
            <a:ext cx="11091672" cy="822960"/>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Lo vas a provocar tú mismo en el reto de la Actividad 4.1: terminas una instancia a mano y cronometras cuánto tarda el grupo en reponerla.</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Políticas por métrica y periodo de calentamiento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Balanceo de carga y escalado automático</a:t>
            </a:r>
            <a:endParaRPr lang="en-US" sz="1100" dirty="0"/>
          </a:p>
        </p:txBody>
      </p:sp>
      <p:sp>
        <p:nvSpPr>
          <p:cNvPr id="5" name="Shape 3"/>
          <p:cNvSpPr/>
          <p:nvPr/>
        </p:nvSpPr>
        <p:spPr>
          <a:xfrm>
            <a:off x="548640" y="1143000"/>
            <a:ext cx="11091672" cy="96012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77724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El ASG sigue una política de escalado basada en una métrica: «si la CPU media supera el 70 % varios minutos, añade una instancia; si baja del 30 %, quita una».</a:t>
            </a:r>
            <a:endParaRPr lang="en-US" sz="1500" dirty="0"/>
          </a:p>
        </p:txBody>
      </p:sp>
      <p:sp>
        <p:nvSpPr>
          <p:cNvPr id="7" name="Shape 5"/>
          <p:cNvSpPr/>
          <p:nvPr/>
        </p:nvSpPr>
        <p:spPr>
          <a:xfrm>
            <a:off x="548640" y="2377440"/>
            <a:ext cx="11091672" cy="1600200"/>
          </a:xfrm>
          <a:prstGeom prst="roundRect">
            <a:avLst/>
          </a:prstGeom>
          <a:solidFill>
            <a:srgbClr val="FFF8E1"/>
          </a:solidFill>
          <a:ln w="28575">
            <a:solidFill>
              <a:srgbClr val="FFA000"/>
            </a:solidFill>
            <a:prstDash val="solid"/>
          </a:ln>
        </p:spPr>
      </p:sp>
      <p:sp>
        <p:nvSpPr>
          <p:cNvPr id="8" name="Text 6"/>
          <p:cNvSpPr/>
          <p:nvPr/>
        </p:nvSpPr>
        <p:spPr>
          <a:xfrm>
            <a:off x="822960" y="2487168"/>
            <a:ext cx="10543032" cy="1380744"/>
          </a:xfrm>
          <a:prstGeom prst="rect">
            <a:avLst/>
          </a:prstGeom>
          <a:noFill/>
          <a:ln/>
        </p:spPr>
        <p:txBody>
          <a:bodyPr wrap="square" rtlCol="0" anchor="t"/>
          <a:lstStyle/>
          <a:p>
            <a:pPr indent="0" marL="0">
              <a:buNone/>
            </a:pPr>
            <a:r>
              <a:rPr lang="en-US" sz="1600" b="1" dirty="0">
                <a:solidFill>
                  <a:srgbClr val="1A237E"/>
                </a:solidFill>
                <a:latin typeface="Arial" pitchFamily="34" charset="0"/>
                <a:ea typeface="Arial" pitchFamily="34" charset="-122"/>
                <a:cs typeface="Arial" pitchFamily="34" charset="-120"/>
              </a:rPr>
              <a:t>Sin periodo de calentamiento, el escalado se dispara sin control
</a:t>
            </a:r>
            <a:endParaRPr lang="en-US" sz="1600" dirty="0"/>
          </a:p>
          <a:p>
            <a:pPr indent="0" marL="0">
              <a:buNone/>
            </a:pPr>
            <a:r>
              <a:rPr lang="en-US" sz="1500" dirty="0">
                <a:solidFill>
                  <a:srgbClr val="212121"/>
                </a:solidFill>
                <a:latin typeface="Arial" pitchFamily="34" charset="0"/>
                <a:ea typeface="Arial" pitchFamily="34" charset="-122"/>
                <a:cs typeface="Arial" pitchFamily="34" charset="-120"/>
              </a:rPr>
              <a:t>Si el ASG evaluara la métrica justo tras lanzar una instancia nueva —todavía arrancando, sin servir tráfico— seguiría viendo la CPU alta y lanzaría otra, y otra, hasta la capacidad máxima.</a:t>
            </a:r>
            <a:endParaRPr lang="en-US" sz="1600" dirty="0"/>
          </a:p>
        </p:txBody>
      </p:sp>
      <p:sp>
        <p:nvSpPr>
          <p:cNvPr id="9" name="Shape 7"/>
          <p:cNvSpPr/>
          <p:nvPr/>
        </p:nvSpPr>
        <p:spPr>
          <a:xfrm>
            <a:off x="548640" y="4251960"/>
            <a:ext cx="11091672" cy="1280160"/>
          </a:xfrm>
          <a:prstGeom prst="roundRect">
            <a:avLst/>
          </a:prstGeom>
          <a:solidFill>
            <a:srgbClr val="E8EAF6"/>
          </a:solidFill>
          <a:ln w="15875">
            <a:solidFill>
              <a:srgbClr val="3949AB"/>
            </a:solidFill>
            <a:prstDash val="solid"/>
          </a:ln>
        </p:spPr>
      </p:sp>
      <p:sp>
        <p:nvSpPr>
          <p:cNvPr id="10" name="Text 8"/>
          <p:cNvSpPr/>
          <p:nvPr/>
        </p:nvSpPr>
        <p:spPr>
          <a:xfrm>
            <a:off x="731520" y="4325112"/>
            <a:ext cx="10725912" cy="548640"/>
          </a:xfrm>
          <a:prstGeom prst="rect">
            <a:avLst/>
          </a:prstGeom>
          <a:noFill/>
          <a:ln/>
        </p:spPr>
        <p:txBody>
          <a:bodyPr wrap="square" rtlCol="0" anchor="ctr"/>
          <a:lstStyle/>
          <a:p>
            <a:pPr indent="0" marL="0">
              <a:buNone/>
            </a:pPr>
            <a:r>
              <a:rPr lang="en-US" sz="1800" b="1" dirty="0">
                <a:solidFill>
                  <a:srgbClr val="1A237E"/>
                </a:solidFill>
                <a:latin typeface="Arial" pitchFamily="34" charset="0"/>
                <a:ea typeface="Arial" pitchFamily="34" charset="-122"/>
                <a:cs typeface="Arial" pitchFamily="34" charset="-120"/>
              </a:rPr>
              <a:t>Qué gana con el margen</a:t>
            </a:r>
            <a:endParaRPr lang="en-US" sz="1800" dirty="0"/>
          </a:p>
        </p:txBody>
      </p:sp>
      <p:sp>
        <p:nvSpPr>
          <p:cNvPr id="11" name="Text 9"/>
          <p:cNvSpPr/>
          <p:nvPr/>
        </p:nvSpPr>
        <p:spPr>
          <a:xfrm>
            <a:off x="731520" y="4873752"/>
            <a:ext cx="10725912" cy="585216"/>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Le da tiempo a la instancia recién lanzada a arrancar y empezar a servir tráfico de verdad antes de contarla como «ya está ayudando».</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La elasticidad reflejada en la factura</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Balanceo de carga y escalado automático</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Un ASG no factura una capacidad fija, sino la que realmente está en marcha</a:t>
            </a:r>
            <a:endParaRPr lang="en-US" sz="1500" dirty="0"/>
          </a:p>
        </p:txBody>
      </p:sp>
      <p:sp>
        <p:nvSpPr>
          <p:cNvPr id="6" name="Shape 4"/>
          <p:cNvSpPr/>
          <p:nvPr/>
        </p:nvSpPr>
        <p:spPr>
          <a:xfrm>
            <a:off x="548640" y="1554480"/>
            <a:ext cx="3483864" cy="868680"/>
          </a:xfrm>
          <a:prstGeom prst="roundRect">
            <a:avLst/>
          </a:prstGeom>
          <a:solidFill>
            <a:srgbClr val="E8EAF6"/>
          </a:solidFill>
          <a:ln w="15875">
            <a:solidFill>
              <a:srgbClr val="3949AB"/>
            </a:solidFill>
            <a:prstDash val="solid"/>
          </a:ln>
        </p:spPr>
      </p:sp>
      <p:sp>
        <p:nvSpPr>
          <p:cNvPr id="7" name="Text 5"/>
          <p:cNvSpPr/>
          <p:nvPr/>
        </p:nvSpPr>
        <p:spPr>
          <a:xfrm>
            <a:off x="594360" y="1600200"/>
            <a:ext cx="3392424" cy="7772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Tráfico sube</a:t>
            </a:r>
            <a:endParaRPr lang="en-US" sz="1400" dirty="0"/>
          </a:p>
        </p:txBody>
      </p:sp>
      <p:sp>
        <p:nvSpPr>
          <p:cNvPr id="8" name="Text 6"/>
          <p:cNvSpPr/>
          <p:nvPr/>
        </p:nvSpPr>
        <p:spPr>
          <a:xfrm>
            <a:off x="3986784" y="1554480"/>
            <a:ext cx="411480" cy="868680"/>
          </a:xfrm>
          <a:prstGeom prst="rect">
            <a:avLst/>
          </a:prstGeom>
          <a:noFill/>
          <a:ln/>
        </p:spPr>
        <p:txBody>
          <a:bodyPr wrap="square" rtlCol="0" anchor="ctr"/>
          <a:lstStyle/>
          <a:p>
            <a:pPr algn="ctr" indent="0" marL="0">
              <a:buNone/>
            </a:pPr>
            <a:r>
              <a:rPr lang="en-US" sz="1800" b="1" dirty="0">
                <a:solidFill>
                  <a:srgbClr val="3949AB"/>
                </a:solidFill>
                <a:latin typeface="Arial" pitchFamily="34" charset="0"/>
                <a:ea typeface="Arial" pitchFamily="34" charset="-122"/>
                <a:cs typeface="Arial" pitchFamily="34" charset="-120"/>
              </a:rPr>
              <a:t>→</a:t>
            </a:r>
            <a:endParaRPr lang="en-US" sz="1800" dirty="0"/>
          </a:p>
        </p:txBody>
      </p:sp>
      <p:sp>
        <p:nvSpPr>
          <p:cNvPr id="9" name="Shape 7"/>
          <p:cNvSpPr/>
          <p:nvPr/>
        </p:nvSpPr>
        <p:spPr>
          <a:xfrm>
            <a:off x="4352544" y="1554480"/>
            <a:ext cx="3483864" cy="868680"/>
          </a:xfrm>
          <a:prstGeom prst="roundRect">
            <a:avLst/>
          </a:prstGeom>
          <a:solidFill>
            <a:srgbClr val="E8EAF6"/>
          </a:solidFill>
          <a:ln w="15875">
            <a:solidFill>
              <a:srgbClr val="3949AB"/>
            </a:solidFill>
            <a:prstDash val="solid"/>
          </a:ln>
        </p:spPr>
      </p:sp>
      <p:sp>
        <p:nvSpPr>
          <p:cNvPr id="10" name="Text 8"/>
          <p:cNvSpPr/>
          <p:nvPr/>
        </p:nvSpPr>
        <p:spPr>
          <a:xfrm>
            <a:off x="4398264" y="1600200"/>
            <a:ext cx="3392424" cy="7772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ASG añade instancias</a:t>
            </a:r>
            <a:endParaRPr lang="en-US" sz="1400" dirty="0"/>
          </a:p>
        </p:txBody>
      </p:sp>
      <p:sp>
        <p:nvSpPr>
          <p:cNvPr id="11" name="Text 9"/>
          <p:cNvSpPr/>
          <p:nvPr/>
        </p:nvSpPr>
        <p:spPr>
          <a:xfrm>
            <a:off x="7790688" y="1554480"/>
            <a:ext cx="411480" cy="868680"/>
          </a:xfrm>
          <a:prstGeom prst="rect">
            <a:avLst/>
          </a:prstGeom>
          <a:noFill/>
          <a:ln/>
        </p:spPr>
        <p:txBody>
          <a:bodyPr wrap="square" rtlCol="0" anchor="ctr"/>
          <a:lstStyle/>
          <a:p>
            <a:pPr algn="ctr" indent="0" marL="0">
              <a:buNone/>
            </a:pPr>
            <a:r>
              <a:rPr lang="en-US" sz="1800" b="1" dirty="0">
                <a:solidFill>
                  <a:srgbClr val="3949AB"/>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8156448" y="1554480"/>
            <a:ext cx="3483864" cy="868680"/>
          </a:xfrm>
          <a:prstGeom prst="roundRect">
            <a:avLst/>
          </a:prstGeom>
          <a:solidFill>
            <a:srgbClr val="E8EAF6"/>
          </a:solidFill>
          <a:ln w="15875">
            <a:solidFill>
              <a:srgbClr val="3949AB"/>
            </a:solidFill>
            <a:prstDash val="solid"/>
          </a:ln>
        </p:spPr>
      </p:sp>
      <p:sp>
        <p:nvSpPr>
          <p:cNvPr id="13" name="Text 11"/>
          <p:cNvSpPr/>
          <p:nvPr/>
        </p:nvSpPr>
        <p:spPr>
          <a:xfrm>
            <a:off x="8202168" y="1600200"/>
            <a:ext cx="3392424" cy="7772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Factura sube esa hora</a:t>
            </a:r>
            <a:endParaRPr lang="en-US" sz="1400" dirty="0"/>
          </a:p>
        </p:txBody>
      </p:sp>
      <p:sp>
        <p:nvSpPr>
          <p:cNvPr id="14" name="Shape 12"/>
          <p:cNvSpPr/>
          <p:nvPr/>
        </p:nvSpPr>
        <p:spPr>
          <a:xfrm>
            <a:off x="548640" y="2697480"/>
            <a:ext cx="3483864" cy="868680"/>
          </a:xfrm>
          <a:prstGeom prst="roundRect">
            <a:avLst/>
          </a:prstGeom>
          <a:solidFill>
            <a:srgbClr val="E8EAF6"/>
          </a:solidFill>
          <a:ln w="15875">
            <a:solidFill>
              <a:srgbClr val="3949AB"/>
            </a:solidFill>
            <a:prstDash val="solid"/>
          </a:ln>
        </p:spPr>
      </p:sp>
      <p:sp>
        <p:nvSpPr>
          <p:cNvPr id="15" name="Text 13"/>
          <p:cNvSpPr/>
          <p:nvPr/>
        </p:nvSpPr>
        <p:spPr>
          <a:xfrm>
            <a:off x="594360" y="2743200"/>
            <a:ext cx="3392424" cy="7772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Tráfico baja</a:t>
            </a:r>
            <a:endParaRPr lang="en-US" sz="1400" dirty="0"/>
          </a:p>
        </p:txBody>
      </p:sp>
      <p:sp>
        <p:nvSpPr>
          <p:cNvPr id="16" name="Text 14"/>
          <p:cNvSpPr/>
          <p:nvPr/>
        </p:nvSpPr>
        <p:spPr>
          <a:xfrm>
            <a:off x="3986784" y="2697480"/>
            <a:ext cx="411480" cy="868680"/>
          </a:xfrm>
          <a:prstGeom prst="rect">
            <a:avLst/>
          </a:prstGeom>
          <a:noFill/>
          <a:ln/>
        </p:spPr>
        <p:txBody>
          <a:bodyPr wrap="square" rtlCol="0" anchor="ctr"/>
          <a:lstStyle/>
          <a:p>
            <a:pPr algn="ctr" indent="0" marL="0">
              <a:buNone/>
            </a:pPr>
            <a:r>
              <a:rPr lang="en-US" sz="1800" b="1" dirty="0">
                <a:solidFill>
                  <a:srgbClr val="3949AB"/>
                </a:solidFill>
                <a:latin typeface="Arial" pitchFamily="34" charset="0"/>
                <a:ea typeface="Arial" pitchFamily="34" charset="-122"/>
                <a:cs typeface="Arial" pitchFamily="34" charset="-120"/>
              </a:rPr>
              <a:t>→</a:t>
            </a:r>
            <a:endParaRPr lang="en-US" sz="1800" dirty="0"/>
          </a:p>
        </p:txBody>
      </p:sp>
      <p:sp>
        <p:nvSpPr>
          <p:cNvPr id="17" name="Shape 15"/>
          <p:cNvSpPr/>
          <p:nvPr/>
        </p:nvSpPr>
        <p:spPr>
          <a:xfrm>
            <a:off x="4352544" y="2697480"/>
            <a:ext cx="3483864" cy="868680"/>
          </a:xfrm>
          <a:prstGeom prst="roundRect">
            <a:avLst/>
          </a:prstGeom>
          <a:solidFill>
            <a:srgbClr val="E8EAF6"/>
          </a:solidFill>
          <a:ln w="15875">
            <a:solidFill>
              <a:srgbClr val="3949AB"/>
            </a:solidFill>
            <a:prstDash val="solid"/>
          </a:ln>
        </p:spPr>
      </p:sp>
      <p:sp>
        <p:nvSpPr>
          <p:cNvPr id="18" name="Text 16"/>
          <p:cNvSpPr/>
          <p:nvPr/>
        </p:nvSpPr>
        <p:spPr>
          <a:xfrm>
            <a:off x="4398264" y="2743200"/>
            <a:ext cx="3392424" cy="7772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ASG retira instancias</a:t>
            </a:r>
            <a:endParaRPr lang="en-US" sz="1400" dirty="0"/>
          </a:p>
        </p:txBody>
      </p:sp>
      <p:sp>
        <p:nvSpPr>
          <p:cNvPr id="19" name="Text 17"/>
          <p:cNvSpPr/>
          <p:nvPr/>
        </p:nvSpPr>
        <p:spPr>
          <a:xfrm>
            <a:off x="7790688" y="2697480"/>
            <a:ext cx="411480" cy="868680"/>
          </a:xfrm>
          <a:prstGeom prst="rect">
            <a:avLst/>
          </a:prstGeom>
          <a:noFill/>
          <a:ln/>
        </p:spPr>
        <p:txBody>
          <a:bodyPr wrap="square" rtlCol="0" anchor="ctr"/>
          <a:lstStyle/>
          <a:p>
            <a:pPr algn="ctr" indent="0" marL="0">
              <a:buNone/>
            </a:pPr>
            <a:r>
              <a:rPr lang="en-US" sz="1800" b="1" dirty="0">
                <a:solidFill>
                  <a:srgbClr val="3949AB"/>
                </a:solidFill>
                <a:latin typeface="Arial" pitchFamily="34" charset="0"/>
                <a:ea typeface="Arial" pitchFamily="34" charset="-122"/>
                <a:cs typeface="Arial" pitchFamily="34" charset="-120"/>
              </a:rPr>
              <a:t>→</a:t>
            </a:r>
            <a:endParaRPr lang="en-US" sz="1800" dirty="0"/>
          </a:p>
        </p:txBody>
      </p:sp>
      <p:sp>
        <p:nvSpPr>
          <p:cNvPr id="20" name="Shape 18"/>
          <p:cNvSpPr/>
          <p:nvPr/>
        </p:nvSpPr>
        <p:spPr>
          <a:xfrm>
            <a:off x="8156448" y="2697480"/>
            <a:ext cx="3483864" cy="868680"/>
          </a:xfrm>
          <a:prstGeom prst="roundRect">
            <a:avLst/>
          </a:prstGeom>
          <a:solidFill>
            <a:srgbClr val="E8EAF6"/>
          </a:solidFill>
          <a:ln w="15875">
            <a:solidFill>
              <a:srgbClr val="3949AB"/>
            </a:solidFill>
            <a:prstDash val="solid"/>
          </a:ln>
        </p:spPr>
      </p:sp>
      <p:sp>
        <p:nvSpPr>
          <p:cNvPr id="21" name="Text 19"/>
          <p:cNvSpPr/>
          <p:nvPr/>
        </p:nvSpPr>
        <p:spPr>
          <a:xfrm>
            <a:off x="8202168" y="2743200"/>
            <a:ext cx="3392424" cy="77724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 Factura vuelve a bajar</a:t>
            </a:r>
            <a:endParaRPr lang="en-US" sz="1400" dirty="0"/>
          </a:p>
        </p:txBody>
      </p:sp>
      <p:sp>
        <p:nvSpPr>
          <p:cNvPr id="22" name="Shape 20"/>
          <p:cNvSpPr/>
          <p:nvPr/>
        </p:nvSpPr>
        <p:spPr>
          <a:xfrm>
            <a:off x="548640" y="3840480"/>
            <a:ext cx="11091672" cy="822960"/>
          </a:xfrm>
          <a:prstGeom prst="roundRect">
            <a:avLst/>
          </a:prstGeom>
          <a:solidFill>
            <a:srgbClr val="FFF8E1"/>
          </a:solidFill>
          <a:ln w="19050">
            <a:solidFill>
              <a:srgbClr val="FFA000"/>
            </a:solidFill>
            <a:prstDash val="solid"/>
          </a:ln>
        </p:spPr>
      </p:sp>
      <p:sp>
        <p:nvSpPr>
          <p:cNvPr id="23" name="Text 21"/>
          <p:cNvSpPr/>
          <p:nvPr/>
        </p:nvSpPr>
        <p:spPr>
          <a:xfrm>
            <a:off x="822960" y="3931920"/>
            <a:ext cx="10543032" cy="6400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Un pico de tráfico de una hora sube el gasto solo esa hora — lo vas a medir de primera mano en la Actividad 4.1.</a:t>
            </a:r>
            <a:endParaRPr lang="en-US" sz="1500" dirty="0"/>
          </a:p>
        </p:txBody>
      </p:sp>
      <p:sp>
        <p:nvSpPr>
          <p:cNvPr id="24" name="Shape 22"/>
          <p:cNvSpPr/>
          <p:nvPr/>
        </p:nvSpPr>
        <p:spPr>
          <a:xfrm>
            <a:off x="548640" y="4937760"/>
            <a:ext cx="11091672" cy="1325880"/>
          </a:xfrm>
          <a:prstGeom prst="roundRect">
            <a:avLst/>
          </a:prstGeom>
          <a:solidFill>
            <a:srgbClr val="FFF8E1"/>
          </a:solidFill>
          <a:ln w="28575">
            <a:solidFill>
              <a:srgbClr val="FFA000"/>
            </a:solidFill>
            <a:prstDash val="solid"/>
          </a:ln>
        </p:spPr>
      </p:sp>
      <p:sp>
        <p:nvSpPr>
          <p:cNvPr id="25" name="Text 23"/>
          <p:cNvSpPr/>
          <p:nvPr/>
        </p:nvSpPr>
        <p:spPr>
          <a:xfrm>
            <a:off x="822960" y="5047488"/>
            <a:ext cx="10543032" cy="1106424"/>
          </a:xfrm>
          <a:prstGeom prst="rect">
            <a:avLst/>
          </a:prstGeom>
          <a:noFill/>
          <a:ln/>
        </p:spPr>
        <p:txBody>
          <a:bodyPr wrap="square" rtlCol="0" anchor="t"/>
          <a:lstStyle/>
          <a:p>
            <a:pPr indent="0" marL="0">
              <a:buNone/>
            </a:pPr>
            <a:r>
              <a:rPr lang="en-US" sz="1500" b="1" dirty="0">
                <a:solidFill>
                  <a:srgbClr val="1A237E"/>
                </a:solidFill>
                <a:latin typeface="Arial" pitchFamily="34" charset="0"/>
                <a:ea typeface="Arial" pitchFamily="34" charset="-122"/>
                <a:cs typeface="Arial" pitchFamily="34" charset="-120"/>
              </a:rPr>
              <a:t>El balanceador no escala como las instancias
</a:t>
            </a:r>
            <a:endParaRPr lang="en-US" sz="1500" dirty="0"/>
          </a:p>
          <a:p>
            <a:pPr indent="0" marL="0">
              <a:buNone/>
            </a:pPr>
            <a:r>
              <a:rPr lang="en-US" sz="1400" dirty="0">
                <a:solidFill>
                  <a:srgbClr val="212121"/>
                </a:solidFill>
                <a:latin typeface="Arial" pitchFamily="34" charset="0"/>
                <a:ea typeface="Arial" pitchFamily="34" charset="-122"/>
                <a:cs typeface="Arial" pitchFamily="34" charset="-120"/>
              </a:rPr>
              <a:t>El ALB tiene un coste base por hora simplemente por existir, más un cargo según el tráfico que procesa (LCU) — independientemente de cuántas instancias haya detrás. Es la pieza fija; las instancias son la pieza elástica.</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Ideas clave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Balanceo de carga y escalado automático</a:t>
            </a:r>
            <a:endParaRPr lang="en-US" sz="1100" dirty="0"/>
          </a:p>
        </p:txBody>
      </p:sp>
      <p:sp>
        <p:nvSpPr>
          <p:cNvPr id="5" name="Shape 3"/>
          <p:cNvSpPr/>
          <p:nvPr/>
        </p:nvSpPr>
        <p:spPr>
          <a:xfrm>
            <a:off x="548640" y="1280160"/>
            <a:ext cx="5463540" cy="1005840"/>
          </a:xfrm>
          <a:prstGeom prst="roundRect">
            <a:avLst/>
          </a:prstGeom>
          <a:solidFill>
            <a:srgbClr val="E8EAF6"/>
          </a:solidFill>
          <a:ln w="15875">
            <a:solidFill>
              <a:srgbClr val="3949AB"/>
            </a:solidFill>
            <a:prstDash val="solid"/>
          </a:ln>
        </p:spPr>
      </p:sp>
      <p:sp>
        <p:nvSpPr>
          <p:cNvPr id="6" name="Shape 4"/>
          <p:cNvSpPr/>
          <p:nvPr/>
        </p:nvSpPr>
        <p:spPr>
          <a:xfrm>
            <a:off x="731520" y="1490472"/>
            <a:ext cx="566928" cy="566928"/>
          </a:xfrm>
          <a:prstGeom prst="ellipse">
            <a:avLst/>
          </a:prstGeom>
          <a:solidFill>
            <a:srgbClr val="3949AB"/>
          </a:solidFill>
          <a:ln w="12700">
            <a:solidFill>
              <a:srgbClr val="3949AB"/>
            </a:solidFill>
            <a:prstDash val="solid"/>
          </a:ln>
        </p:spPr>
      </p:sp>
      <p:sp>
        <p:nvSpPr>
          <p:cNvPr id="7" name="Text 5"/>
          <p:cNvSpPr/>
          <p:nvPr/>
        </p:nvSpPr>
        <p:spPr>
          <a:xfrm>
            <a:off x="731520" y="1490472"/>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1</a:t>
            </a:r>
            <a:endParaRPr lang="en-US" sz="1700" dirty="0"/>
          </a:p>
        </p:txBody>
      </p:sp>
      <p:sp>
        <p:nvSpPr>
          <p:cNvPr id="8" name="Text 6"/>
          <p:cNvSpPr/>
          <p:nvPr/>
        </p:nvSpPr>
        <p:spPr>
          <a:xfrm>
            <a:off x="1417320" y="1280160"/>
            <a:ext cx="4411980" cy="1005840"/>
          </a:xfrm>
          <a:prstGeom prst="rect">
            <a:avLst/>
          </a:prstGeom>
          <a:noFill/>
          <a:ln/>
        </p:spPr>
        <p:txBody>
          <a:bodyPr wrap="square" rtlCol="0" anchor="ctr"/>
          <a:lstStyle/>
          <a:p>
            <a:pPr indent="0" marL="0">
              <a:buNone/>
            </a:pPr>
            <a:r>
              <a:rPr lang="en-US" sz="1350" dirty="0">
                <a:solidFill>
                  <a:srgbClr val="212121"/>
                </a:solidFill>
                <a:latin typeface="Arial" pitchFamily="34" charset="0"/>
                <a:ea typeface="Arial" pitchFamily="34" charset="-122"/>
                <a:cs typeface="Arial" pitchFamily="34" charset="-120"/>
              </a:rPr>
              <a:t>Un ALB reparte tráfico entre instancias de un grupo de destino, comprobando su salud antes de mandarles peticiones; exige al menos dos zonas para no ser él mismo un SPOF.</a:t>
            </a:r>
            <a:endParaRPr lang="en-US" sz="1350" dirty="0"/>
          </a:p>
        </p:txBody>
      </p:sp>
      <p:sp>
        <p:nvSpPr>
          <p:cNvPr id="9" name="Shape 7"/>
          <p:cNvSpPr/>
          <p:nvPr/>
        </p:nvSpPr>
        <p:spPr>
          <a:xfrm>
            <a:off x="6176772" y="1280160"/>
            <a:ext cx="5463540" cy="1005840"/>
          </a:xfrm>
          <a:prstGeom prst="roundRect">
            <a:avLst/>
          </a:prstGeom>
          <a:solidFill>
            <a:srgbClr val="E8EAF6"/>
          </a:solidFill>
          <a:ln w="15875">
            <a:solidFill>
              <a:srgbClr val="3949AB"/>
            </a:solidFill>
            <a:prstDash val="solid"/>
          </a:ln>
        </p:spPr>
      </p:sp>
      <p:sp>
        <p:nvSpPr>
          <p:cNvPr id="10" name="Shape 8"/>
          <p:cNvSpPr/>
          <p:nvPr/>
        </p:nvSpPr>
        <p:spPr>
          <a:xfrm>
            <a:off x="6359652" y="1490472"/>
            <a:ext cx="566928" cy="566928"/>
          </a:xfrm>
          <a:prstGeom prst="ellipse">
            <a:avLst/>
          </a:prstGeom>
          <a:solidFill>
            <a:srgbClr val="3949AB"/>
          </a:solidFill>
          <a:ln w="12700">
            <a:solidFill>
              <a:srgbClr val="3949AB"/>
            </a:solidFill>
            <a:prstDash val="solid"/>
          </a:ln>
        </p:spPr>
      </p:sp>
      <p:sp>
        <p:nvSpPr>
          <p:cNvPr id="11" name="Text 9"/>
          <p:cNvSpPr/>
          <p:nvPr/>
        </p:nvSpPr>
        <p:spPr>
          <a:xfrm>
            <a:off x="6359652" y="1490472"/>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2</a:t>
            </a:r>
            <a:endParaRPr lang="en-US" sz="1700" dirty="0"/>
          </a:p>
        </p:txBody>
      </p:sp>
      <p:sp>
        <p:nvSpPr>
          <p:cNvPr id="12" name="Text 10"/>
          <p:cNvSpPr/>
          <p:nvPr/>
        </p:nvSpPr>
        <p:spPr>
          <a:xfrm>
            <a:off x="7045452" y="1280160"/>
            <a:ext cx="4411980" cy="1005840"/>
          </a:xfrm>
          <a:prstGeom prst="rect">
            <a:avLst/>
          </a:prstGeom>
          <a:noFill/>
          <a:ln/>
        </p:spPr>
        <p:txBody>
          <a:bodyPr wrap="square" rtlCol="0" anchor="ctr"/>
          <a:lstStyle/>
          <a:p>
            <a:pPr indent="0" marL="0">
              <a:buNone/>
            </a:pPr>
            <a:r>
              <a:rPr lang="en-US" sz="1350" dirty="0">
                <a:solidFill>
                  <a:srgbClr val="212121"/>
                </a:solidFill>
                <a:latin typeface="Arial" pitchFamily="34" charset="0"/>
                <a:ea typeface="Arial" pitchFamily="34" charset="-122"/>
                <a:cs typeface="Arial" pitchFamily="34" charset="-120"/>
              </a:rPr>
              <a:t>Con el balanceador delante, el puerto de la aplicación solo acepta tráfico del SG del propio balanceador — mínimo privilegio, un escalón más.</a:t>
            </a:r>
            <a:endParaRPr lang="en-US" sz="1350" dirty="0"/>
          </a:p>
        </p:txBody>
      </p:sp>
      <p:sp>
        <p:nvSpPr>
          <p:cNvPr id="13" name="Shape 11"/>
          <p:cNvSpPr/>
          <p:nvPr/>
        </p:nvSpPr>
        <p:spPr>
          <a:xfrm>
            <a:off x="548640" y="2450592"/>
            <a:ext cx="5463540" cy="1005840"/>
          </a:xfrm>
          <a:prstGeom prst="roundRect">
            <a:avLst/>
          </a:prstGeom>
          <a:solidFill>
            <a:srgbClr val="E8EAF6"/>
          </a:solidFill>
          <a:ln w="15875">
            <a:solidFill>
              <a:srgbClr val="3949AB"/>
            </a:solidFill>
            <a:prstDash val="solid"/>
          </a:ln>
        </p:spPr>
      </p:sp>
      <p:sp>
        <p:nvSpPr>
          <p:cNvPr id="14" name="Shape 12"/>
          <p:cNvSpPr/>
          <p:nvPr/>
        </p:nvSpPr>
        <p:spPr>
          <a:xfrm>
            <a:off x="731520" y="2660904"/>
            <a:ext cx="566928" cy="566928"/>
          </a:xfrm>
          <a:prstGeom prst="ellipse">
            <a:avLst/>
          </a:prstGeom>
          <a:solidFill>
            <a:srgbClr val="3949AB"/>
          </a:solidFill>
          <a:ln w="12700">
            <a:solidFill>
              <a:srgbClr val="3949AB"/>
            </a:solidFill>
            <a:prstDash val="solid"/>
          </a:ln>
        </p:spPr>
      </p:sp>
      <p:sp>
        <p:nvSpPr>
          <p:cNvPr id="15" name="Text 13"/>
          <p:cNvSpPr/>
          <p:nvPr/>
        </p:nvSpPr>
        <p:spPr>
          <a:xfrm>
            <a:off x="731520" y="2660904"/>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3</a:t>
            </a:r>
            <a:endParaRPr lang="en-US" sz="1700" dirty="0"/>
          </a:p>
        </p:txBody>
      </p:sp>
      <p:sp>
        <p:nvSpPr>
          <p:cNvPr id="16" name="Text 14"/>
          <p:cNvSpPr/>
          <p:nvPr/>
        </p:nvSpPr>
        <p:spPr>
          <a:xfrm>
            <a:off x="1417320" y="2450592"/>
            <a:ext cx="4411980" cy="1005840"/>
          </a:xfrm>
          <a:prstGeom prst="rect">
            <a:avLst/>
          </a:prstGeom>
          <a:noFill/>
          <a:ln/>
        </p:spPr>
        <p:txBody>
          <a:bodyPr wrap="square" rtlCol="0" anchor="ctr"/>
          <a:lstStyle/>
          <a:p>
            <a:pPr indent="0" marL="0">
              <a:buNone/>
            </a:pPr>
            <a:r>
              <a:rPr lang="en-US" sz="1350" dirty="0">
                <a:solidFill>
                  <a:srgbClr val="212121"/>
                </a:solidFill>
                <a:latin typeface="Arial" pitchFamily="34" charset="0"/>
                <a:ea typeface="Arial" pitchFamily="34" charset="-122"/>
                <a:cs typeface="Arial" pitchFamily="34" charset="-120"/>
              </a:rPr>
              <a:t>El retraso de anulación de registro deja que una instancia retirada termine las peticiones en marcha antes de dejar de recibir tráfico nuevo.</a:t>
            </a:r>
            <a:endParaRPr lang="en-US" sz="1350" dirty="0"/>
          </a:p>
        </p:txBody>
      </p:sp>
      <p:sp>
        <p:nvSpPr>
          <p:cNvPr id="17" name="Shape 15"/>
          <p:cNvSpPr/>
          <p:nvPr/>
        </p:nvSpPr>
        <p:spPr>
          <a:xfrm>
            <a:off x="6176772" y="2450592"/>
            <a:ext cx="5463540" cy="1005840"/>
          </a:xfrm>
          <a:prstGeom prst="roundRect">
            <a:avLst/>
          </a:prstGeom>
          <a:solidFill>
            <a:srgbClr val="E8EAF6"/>
          </a:solidFill>
          <a:ln w="15875">
            <a:solidFill>
              <a:srgbClr val="3949AB"/>
            </a:solidFill>
            <a:prstDash val="solid"/>
          </a:ln>
        </p:spPr>
      </p:sp>
      <p:sp>
        <p:nvSpPr>
          <p:cNvPr id="18" name="Shape 16"/>
          <p:cNvSpPr/>
          <p:nvPr/>
        </p:nvSpPr>
        <p:spPr>
          <a:xfrm>
            <a:off x="6359652" y="2660904"/>
            <a:ext cx="566928" cy="566928"/>
          </a:xfrm>
          <a:prstGeom prst="ellipse">
            <a:avLst/>
          </a:prstGeom>
          <a:solidFill>
            <a:srgbClr val="3949AB"/>
          </a:solidFill>
          <a:ln w="12700">
            <a:solidFill>
              <a:srgbClr val="3949AB"/>
            </a:solidFill>
            <a:prstDash val="solid"/>
          </a:ln>
        </p:spPr>
      </p:sp>
      <p:sp>
        <p:nvSpPr>
          <p:cNvPr id="19" name="Text 17"/>
          <p:cNvSpPr/>
          <p:nvPr/>
        </p:nvSpPr>
        <p:spPr>
          <a:xfrm>
            <a:off x="6359652" y="2660904"/>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4</a:t>
            </a:r>
            <a:endParaRPr lang="en-US" sz="1700" dirty="0"/>
          </a:p>
        </p:txBody>
      </p:sp>
      <p:sp>
        <p:nvSpPr>
          <p:cNvPr id="20" name="Text 18"/>
          <p:cNvSpPr/>
          <p:nvPr/>
        </p:nvSpPr>
        <p:spPr>
          <a:xfrm>
            <a:off x="7045452" y="2450592"/>
            <a:ext cx="4411980" cy="1005840"/>
          </a:xfrm>
          <a:prstGeom prst="rect">
            <a:avLst/>
          </a:prstGeom>
          <a:noFill/>
          <a:ln/>
        </p:spPr>
        <p:txBody>
          <a:bodyPr wrap="square" rtlCol="0" anchor="ctr"/>
          <a:lstStyle/>
          <a:p>
            <a:pPr indent="0" marL="0">
              <a:buNone/>
            </a:pPr>
            <a:r>
              <a:rPr lang="en-US" sz="1350" dirty="0">
                <a:solidFill>
                  <a:srgbClr val="212121"/>
                </a:solidFill>
                <a:latin typeface="Arial" pitchFamily="34" charset="0"/>
                <a:ea typeface="Arial" pitchFamily="34" charset="-122"/>
                <a:cs typeface="Arial" pitchFamily="34" charset="-120"/>
              </a:rPr>
              <a:t>Escalado vertical tiene límite y suele cortar servicio; escalado horizontal es la base de la alta disponibilidad.</a:t>
            </a:r>
            <a:endParaRPr lang="en-US" sz="1350" dirty="0"/>
          </a:p>
        </p:txBody>
      </p:sp>
      <p:sp>
        <p:nvSpPr>
          <p:cNvPr id="21" name="Shape 19"/>
          <p:cNvSpPr/>
          <p:nvPr/>
        </p:nvSpPr>
        <p:spPr>
          <a:xfrm>
            <a:off x="548640" y="3621024"/>
            <a:ext cx="5463540" cy="1005840"/>
          </a:xfrm>
          <a:prstGeom prst="roundRect">
            <a:avLst/>
          </a:prstGeom>
          <a:solidFill>
            <a:srgbClr val="E8EAF6"/>
          </a:solidFill>
          <a:ln w="15875">
            <a:solidFill>
              <a:srgbClr val="3949AB"/>
            </a:solidFill>
            <a:prstDash val="solid"/>
          </a:ln>
        </p:spPr>
      </p:sp>
      <p:sp>
        <p:nvSpPr>
          <p:cNvPr id="22" name="Shape 20"/>
          <p:cNvSpPr/>
          <p:nvPr/>
        </p:nvSpPr>
        <p:spPr>
          <a:xfrm>
            <a:off x="731520" y="3831336"/>
            <a:ext cx="566928" cy="566928"/>
          </a:xfrm>
          <a:prstGeom prst="ellipse">
            <a:avLst/>
          </a:prstGeom>
          <a:solidFill>
            <a:srgbClr val="3949AB"/>
          </a:solidFill>
          <a:ln w="12700">
            <a:solidFill>
              <a:srgbClr val="3949AB"/>
            </a:solidFill>
            <a:prstDash val="solid"/>
          </a:ln>
        </p:spPr>
      </p:sp>
      <p:sp>
        <p:nvSpPr>
          <p:cNvPr id="23" name="Text 21"/>
          <p:cNvSpPr/>
          <p:nvPr/>
        </p:nvSpPr>
        <p:spPr>
          <a:xfrm>
            <a:off x="731520" y="3831336"/>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5</a:t>
            </a:r>
            <a:endParaRPr lang="en-US" sz="1700" dirty="0"/>
          </a:p>
        </p:txBody>
      </p:sp>
      <p:sp>
        <p:nvSpPr>
          <p:cNvPr id="24" name="Text 22"/>
          <p:cNvSpPr/>
          <p:nvPr/>
        </p:nvSpPr>
        <p:spPr>
          <a:xfrm>
            <a:off x="1417320" y="3621024"/>
            <a:ext cx="4411980" cy="1005840"/>
          </a:xfrm>
          <a:prstGeom prst="rect">
            <a:avLst/>
          </a:prstGeom>
          <a:noFill/>
          <a:ln/>
        </p:spPr>
        <p:txBody>
          <a:bodyPr wrap="square" rtlCol="0" anchor="ctr"/>
          <a:lstStyle/>
          <a:p>
            <a:pPr indent="0" marL="0">
              <a:buNone/>
            </a:pPr>
            <a:r>
              <a:rPr lang="en-US" sz="1350" dirty="0">
                <a:solidFill>
                  <a:srgbClr val="212121"/>
                </a:solidFill>
                <a:latin typeface="Arial" pitchFamily="34" charset="0"/>
                <a:ea typeface="Arial" pitchFamily="34" charset="-122"/>
                <a:cs typeface="Arial" pitchFamily="34" charset="-120"/>
              </a:rPr>
              <a:t>Un ASG se define con capacidad mínima, deseada y máxima, y usa una plantilla de lanzamiento para saber cómo lanzar instancias nuevas.</a:t>
            </a:r>
            <a:endParaRPr lang="en-US" sz="1350" dirty="0"/>
          </a:p>
        </p:txBody>
      </p:sp>
      <p:sp>
        <p:nvSpPr>
          <p:cNvPr id="25" name="Shape 23"/>
          <p:cNvSpPr/>
          <p:nvPr/>
        </p:nvSpPr>
        <p:spPr>
          <a:xfrm>
            <a:off x="6176772" y="3621024"/>
            <a:ext cx="5463540" cy="1005840"/>
          </a:xfrm>
          <a:prstGeom prst="roundRect">
            <a:avLst/>
          </a:prstGeom>
          <a:solidFill>
            <a:srgbClr val="E8EAF6"/>
          </a:solidFill>
          <a:ln w="15875">
            <a:solidFill>
              <a:srgbClr val="3949AB"/>
            </a:solidFill>
            <a:prstDash val="solid"/>
          </a:ln>
        </p:spPr>
      </p:sp>
      <p:sp>
        <p:nvSpPr>
          <p:cNvPr id="26" name="Shape 24"/>
          <p:cNvSpPr/>
          <p:nvPr/>
        </p:nvSpPr>
        <p:spPr>
          <a:xfrm>
            <a:off x="6359652" y="3831336"/>
            <a:ext cx="566928" cy="566928"/>
          </a:xfrm>
          <a:prstGeom prst="ellipse">
            <a:avLst/>
          </a:prstGeom>
          <a:solidFill>
            <a:srgbClr val="3949AB"/>
          </a:solidFill>
          <a:ln w="12700">
            <a:solidFill>
              <a:srgbClr val="3949AB"/>
            </a:solidFill>
            <a:prstDash val="solid"/>
          </a:ln>
        </p:spPr>
      </p:sp>
      <p:sp>
        <p:nvSpPr>
          <p:cNvPr id="27" name="Text 25"/>
          <p:cNvSpPr/>
          <p:nvPr/>
        </p:nvSpPr>
        <p:spPr>
          <a:xfrm>
            <a:off x="6359652" y="3831336"/>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6</a:t>
            </a:r>
            <a:endParaRPr lang="en-US" sz="1700" dirty="0"/>
          </a:p>
        </p:txBody>
      </p:sp>
      <p:sp>
        <p:nvSpPr>
          <p:cNvPr id="28" name="Text 26"/>
          <p:cNvSpPr/>
          <p:nvPr/>
        </p:nvSpPr>
        <p:spPr>
          <a:xfrm>
            <a:off x="7045452" y="3621024"/>
            <a:ext cx="4411980" cy="1005840"/>
          </a:xfrm>
          <a:prstGeom prst="rect">
            <a:avLst/>
          </a:prstGeom>
          <a:noFill/>
          <a:ln/>
        </p:spPr>
        <p:txBody>
          <a:bodyPr wrap="square" rtlCol="0" anchor="ctr"/>
          <a:lstStyle/>
          <a:p>
            <a:pPr indent="0" marL="0">
              <a:buNone/>
            </a:pPr>
            <a:r>
              <a:rPr lang="en-US" sz="1350" dirty="0">
                <a:solidFill>
                  <a:srgbClr val="212121"/>
                </a:solidFill>
                <a:latin typeface="Arial" pitchFamily="34" charset="0"/>
                <a:ea typeface="Arial" pitchFamily="34" charset="-122"/>
                <a:cs typeface="Arial" pitchFamily="34" charset="-120"/>
              </a:rPr>
              <a:t>El ASG combina la comprobación EC2 (hardware/red) con la del grupo de destino (respuesta HTTP) para detectar tanto una caída real como una app colgada.</a:t>
            </a:r>
            <a:endParaRPr lang="en-US" sz="1350" dirty="0"/>
          </a:p>
        </p:txBody>
      </p:sp>
      <p:sp>
        <p:nvSpPr>
          <p:cNvPr id="29" name="Shape 27"/>
          <p:cNvSpPr/>
          <p:nvPr/>
        </p:nvSpPr>
        <p:spPr>
          <a:xfrm>
            <a:off x="548640" y="4791456"/>
            <a:ext cx="5463540" cy="1005840"/>
          </a:xfrm>
          <a:prstGeom prst="roundRect">
            <a:avLst/>
          </a:prstGeom>
          <a:solidFill>
            <a:srgbClr val="E8EAF6"/>
          </a:solidFill>
          <a:ln w="15875">
            <a:solidFill>
              <a:srgbClr val="3949AB"/>
            </a:solidFill>
            <a:prstDash val="solid"/>
          </a:ln>
        </p:spPr>
      </p:sp>
      <p:sp>
        <p:nvSpPr>
          <p:cNvPr id="30" name="Shape 28"/>
          <p:cNvSpPr/>
          <p:nvPr/>
        </p:nvSpPr>
        <p:spPr>
          <a:xfrm>
            <a:off x="731520" y="5001768"/>
            <a:ext cx="566928" cy="566928"/>
          </a:xfrm>
          <a:prstGeom prst="ellipse">
            <a:avLst/>
          </a:prstGeom>
          <a:solidFill>
            <a:srgbClr val="3949AB"/>
          </a:solidFill>
          <a:ln w="12700">
            <a:solidFill>
              <a:srgbClr val="3949AB"/>
            </a:solidFill>
            <a:prstDash val="solid"/>
          </a:ln>
        </p:spPr>
      </p:sp>
      <p:sp>
        <p:nvSpPr>
          <p:cNvPr id="31" name="Text 29"/>
          <p:cNvSpPr/>
          <p:nvPr/>
        </p:nvSpPr>
        <p:spPr>
          <a:xfrm>
            <a:off x="731520" y="5001768"/>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7</a:t>
            </a:r>
            <a:endParaRPr lang="en-US" sz="1700" dirty="0"/>
          </a:p>
        </p:txBody>
      </p:sp>
      <p:sp>
        <p:nvSpPr>
          <p:cNvPr id="32" name="Text 30"/>
          <p:cNvSpPr/>
          <p:nvPr/>
        </p:nvSpPr>
        <p:spPr>
          <a:xfrm>
            <a:off x="1417320" y="4791456"/>
            <a:ext cx="4411980" cy="1005840"/>
          </a:xfrm>
          <a:prstGeom prst="rect">
            <a:avLst/>
          </a:prstGeom>
          <a:noFill/>
          <a:ln/>
        </p:spPr>
        <p:txBody>
          <a:bodyPr wrap="square" rtlCol="0" anchor="ctr"/>
          <a:lstStyle/>
          <a:p>
            <a:pPr indent="0" marL="0">
              <a:buNone/>
            </a:pPr>
            <a:r>
              <a:rPr lang="en-US" sz="1350" dirty="0">
                <a:solidFill>
                  <a:srgbClr val="212121"/>
                </a:solidFill>
                <a:latin typeface="Arial" pitchFamily="34" charset="0"/>
                <a:ea typeface="Arial" pitchFamily="34" charset="-122"/>
                <a:cs typeface="Arial" pitchFamily="34" charset="-120"/>
              </a:rPr>
              <a:t>El periodo de calentamiento evita que el ASG escale en espiral mientras una instancia nueva todavía está arrancando.</a:t>
            </a:r>
            <a:endParaRPr lang="en-US" sz="1350" dirty="0"/>
          </a:p>
        </p:txBody>
      </p:sp>
      <p:sp>
        <p:nvSpPr>
          <p:cNvPr id="33" name="Shape 31"/>
          <p:cNvSpPr/>
          <p:nvPr/>
        </p:nvSpPr>
        <p:spPr>
          <a:xfrm>
            <a:off x="6176772" y="4791456"/>
            <a:ext cx="5463540" cy="1005840"/>
          </a:xfrm>
          <a:prstGeom prst="roundRect">
            <a:avLst/>
          </a:prstGeom>
          <a:solidFill>
            <a:srgbClr val="E8EAF6"/>
          </a:solidFill>
          <a:ln w="15875">
            <a:solidFill>
              <a:srgbClr val="3949AB"/>
            </a:solidFill>
            <a:prstDash val="solid"/>
          </a:ln>
        </p:spPr>
      </p:sp>
      <p:sp>
        <p:nvSpPr>
          <p:cNvPr id="34" name="Shape 32"/>
          <p:cNvSpPr/>
          <p:nvPr/>
        </p:nvSpPr>
        <p:spPr>
          <a:xfrm>
            <a:off x="6359652" y="5001768"/>
            <a:ext cx="566928" cy="566928"/>
          </a:xfrm>
          <a:prstGeom prst="ellipse">
            <a:avLst/>
          </a:prstGeom>
          <a:solidFill>
            <a:srgbClr val="3949AB"/>
          </a:solidFill>
          <a:ln w="12700">
            <a:solidFill>
              <a:srgbClr val="3949AB"/>
            </a:solidFill>
            <a:prstDash val="solid"/>
          </a:ln>
        </p:spPr>
      </p:sp>
      <p:sp>
        <p:nvSpPr>
          <p:cNvPr id="35" name="Text 33"/>
          <p:cNvSpPr/>
          <p:nvPr/>
        </p:nvSpPr>
        <p:spPr>
          <a:xfrm>
            <a:off x="6359652" y="5001768"/>
            <a:ext cx="566928" cy="566928"/>
          </a:xfrm>
          <a:prstGeom prst="rect">
            <a:avLst/>
          </a:prstGeom>
          <a:noFill/>
          <a:ln/>
        </p:spPr>
        <p:txBody>
          <a:bodyPr wrap="square"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8</a:t>
            </a:r>
            <a:endParaRPr lang="en-US" sz="1700" dirty="0"/>
          </a:p>
        </p:txBody>
      </p:sp>
      <p:sp>
        <p:nvSpPr>
          <p:cNvPr id="36" name="Text 34"/>
          <p:cNvSpPr/>
          <p:nvPr/>
        </p:nvSpPr>
        <p:spPr>
          <a:xfrm>
            <a:off x="7045452" y="4791456"/>
            <a:ext cx="4411980" cy="1005840"/>
          </a:xfrm>
          <a:prstGeom prst="rect">
            <a:avLst/>
          </a:prstGeom>
          <a:noFill/>
          <a:ln/>
        </p:spPr>
        <p:txBody>
          <a:bodyPr wrap="square" rtlCol="0" anchor="ctr"/>
          <a:lstStyle/>
          <a:p>
            <a:pPr indent="0" marL="0">
              <a:buNone/>
            </a:pPr>
            <a:r>
              <a:rPr lang="en-US" sz="1350" dirty="0">
                <a:solidFill>
                  <a:srgbClr val="212121"/>
                </a:solidFill>
                <a:latin typeface="Arial" pitchFamily="34" charset="0"/>
                <a:ea typeface="Arial" pitchFamily="34" charset="-122"/>
                <a:cs typeface="Arial" pitchFamily="34" charset="-120"/>
              </a:rPr>
              <a:t>Se paga por la capacidad real en marcha, no por una fija reservada — salvo el ALB, que tiene un coste base fijo más tráfico (LCU).</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Balanceo de carga y escalado automático</dc:title>
  <dc:subject>PptxGenJS Presentation</dc:subject>
  <dc:creator>Introducción a la Nube Pública</dc:creator>
  <cp:lastModifiedBy>Introducción a la Nube Pública</cp:lastModifiedBy>
  <cp:revision>1</cp:revision>
  <dcterms:created xsi:type="dcterms:W3CDTF">2026-09-23T10:05:26Z</dcterms:created>
  <dcterms:modified xsi:type="dcterms:W3CDTF">2026-09-23T10:05:26Z</dcterms:modified>
</cp:coreProperties>
</file>