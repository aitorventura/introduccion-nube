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7E"/>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C5CAE9"/>
                </a:solidFill>
                <a:latin typeface="Arial" pitchFamily="34" charset="0"/>
                <a:ea typeface="Arial" pitchFamily="34" charset="-122"/>
                <a:cs typeface="Arial" pitchFamily="34" charset="-120"/>
              </a:rPr>
              <a:t>INTRODUCCIÓN A LA NUBE PÚBLICA  —  TEMA 5: GOBIERNO DE LA NUBE</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3800" b="1" dirty="0">
                <a:solidFill>
                  <a:srgbClr val="FFFFFF"/>
                </a:solidFill>
                <a:latin typeface="Arial" pitchFamily="34" charset="0"/>
                <a:ea typeface="Arial" pitchFamily="34" charset="-122"/>
                <a:cs typeface="Arial" pitchFamily="34" charset="-120"/>
              </a:rPr>
              <a:t>Identidad y gestión de accesos</a:t>
            </a:r>
            <a:endParaRPr lang="en-US" sz="38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2000" i="1" dirty="0">
                <a:solidFill>
                  <a:srgbClr val="FFFFFF"/>
                </a:solidFill>
                <a:latin typeface="Arial" pitchFamily="34" charset="0"/>
                <a:ea typeface="Arial" pitchFamily="34" charset="-122"/>
                <a:cs typeface="Arial" pitchFamily="34" charset="-120"/>
              </a:rPr>
              <a:t>Tema 5 — Gobierno de la nube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Identidad y gestión de accesos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Shape 3"/>
          <p:cNvSpPr/>
          <p:nvPr/>
        </p:nvSpPr>
        <p:spPr>
          <a:xfrm>
            <a:off x="548640" y="1188720"/>
            <a:ext cx="11091672" cy="1554480"/>
          </a:xfrm>
          <a:prstGeom prst="roundRect">
            <a:avLst/>
          </a:prstGeom>
          <a:solidFill>
            <a:srgbClr val="E8EAF6"/>
          </a:solidFill>
          <a:ln w="15875">
            <a:solidFill>
              <a:srgbClr val="3949AB"/>
            </a:solidFill>
            <a:prstDash val="solid"/>
          </a:ln>
        </p:spPr>
      </p:sp>
      <p:sp>
        <p:nvSpPr>
          <p:cNvPr id="6" name="Text 4"/>
          <p:cNvSpPr/>
          <p:nvPr/>
        </p:nvSpPr>
        <p:spPr>
          <a:xfrm>
            <a:off x="731520" y="1261872"/>
            <a:ext cx="10725912" cy="548640"/>
          </a:xfrm>
          <a:prstGeom prst="rect">
            <a:avLst/>
          </a:prstGeom>
          <a:noFill/>
          <a:ln/>
        </p:spPr>
        <p:txBody>
          <a:bodyPr wrap="square" rtlCol="0" anchor="ctr"/>
          <a:lstStyle/>
          <a:p>
            <a:pPr indent="0" marL="0">
              <a:buNone/>
            </a:pPr>
            <a:r>
              <a:rPr lang="en-US" sz="2000" b="1" dirty="0">
                <a:solidFill>
                  <a:srgbClr val="1A237E"/>
                </a:solidFill>
                <a:latin typeface="Arial" pitchFamily="34" charset="0"/>
                <a:ea typeface="Arial" pitchFamily="34" charset="-122"/>
                <a:cs typeface="Arial" pitchFamily="34" charset="-120"/>
              </a:rPr>
              <a:t>De caja negra a herramienta que usas de verdad</a:t>
            </a:r>
            <a:endParaRPr lang="en-US" sz="2000" dirty="0"/>
          </a:p>
        </p:txBody>
      </p:sp>
      <p:sp>
        <p:nvSpPr>
          <p:cNvPr id="7" name="Text 5"/>
          <p:cNvSpPr/>
          <p:nvPr/>
        </p:nvSpPr>
        <p:spPr>
          <a:xfrm>
            <a:off x="731520" y="1810512"/>
            <a:ext cx="10725912" cy="859536"/>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Tu rol en el Learner Lab está preasignado y no puedes crear usuarios ni roles nuevos. Hoy no cambia esa regla — pero dejas de tratar IAM como algo que «ya viene configurado».</a:t>
            </a:r>
            <a:endParaRPr lang="en-US" sz="1600" dirty="0"/>
          </a:p>
        </p:txBody>
      </p:sp>
      <p:sp>
        <p:nvSpPr>
          <p:cNvPr id="8" name="Shape 6"/>
          <p:cNvSpPr/>
          <p:nvPr/>
        </p:nvSpPr>
        <p:spPr>
          <a:xfrm>
            <a:off x="548640" y="3063240"/>
            <a:ext cx="5362956" cy="1691640"/>
          </a:xfrm>
          <a:prstGeom prst="roundRect">
            <a:avLst/>
          </a:prstGeom>
          <a:solidFill>
            <a:srgbClr val="E8EAF6"/>
          </a:solidFill>
          <a:ln w="15875">
            <a:solidFill>
              <a:srgbClr val="3949AB"/>
            </a:solidFill>
            <a:prstDash val="solid"/>
          </a:ln>
        </p:spPr>
      </p:sp>
      <p:sp>
        <p:nvSpPr>
          <p:cNvPr id="9" name="Text 7"/>
          <p:cNvSpPr/>
          <p:nvPr/>
        </p:nvSpPr>
        <p:spPr>
          <a:xfrm>
            <a:off x="685800" y="3154680"/>
            <a:ext cx="5088636" cy="594360"/>
          </a:xfrm>
          <a:prstGeom prst="rect">
            <a:avLst/>
          </a:prstGeom>
          <a:noFill/>
          <a:ln/>
        </p:spPr>
        <p:txBody>
          <a:bodyPr wrap="square" rtlCol="0" anchor="ctr"/>
          <a:lstStyle/>
          <a:p>
            <a:pPr algn="ctr" indent="0" marL="0">
              <a:buNone/>
            </a:pPr>
            <a:r>
              <a:rPr lang="en-US" sz="1800" b="1" dirty="0">
                <a:solidFill>
                  <a:srgbClr val="1A237E"/>
                </a:solidFill>
                <a:latin typeface="Arial" pitchFamily="34" charset="0"/>
                <a:ea typeface="Arial" pitchFamily="34" charset="-122"/>
                <a:cs typeface="Arial" pitchFamily="34" charset="-120"/>
              </a:rPr>
              <a:t>Aplicar un rol existente</a:t>
            </a:r>
            <a:endParaRPr lang="en-US" sz="1800" dirty="0"/>
          </a:p>
        </p:txBody>
      </p:sp>
      <p:sp>
        <p:nvSpPr>
          <p:cNvPr id="10" name="Text 8"/>
          <p:cNvSpPr/>
          <p:nvPr/>
        </p:nvSpPr>
        <p:spPr>
          <a:xfrm>
            <a:off x="731520" y="3794760"/>
            <a:ext cx="4997196" cy="868680"/>
          </a:xfrm>
          <a:prstGeom prst="rect">
            <a:avLst/>
          </a:prstGeom>
          <a:noFill/>
          <a:ln/>
        </p:spPr>
        <p:txBody>
          <a:bodyPr wrap="square" rtlCol="0" anchor="t"/>
          <a:lstStyle/>
          <a:p>
            <a:pPr algn="ctr" indent="0" marL="0">
              <a:buNone/>
            </a:pPr>
            <a:r>
              <a:rPr lang="en-US" sz="1500" dirty="0">
                <a:solidFill>
                  <a:srgbClr val="212121"/>
                </a:solidFill>
                <a:latin typeface="Arial" pitchFamily="34" charset="0"/>
                <a:ea typeface="Arial" pitchFamily="34" charset="-122"/>
                <a:cs typeface="Arial" pitchFamily="34" charset="-120"/>
              </a:rPr>
              <a:t>Para que una instancia acceda a otros servicios sin credenciales</a:t>
            </a:r>
            <a:endParaRPr lang="en-US" sz="1500" dirty="0"/>
          </a:p>
        </p:txBody>
      </p:sp>
      <p:sp>
        <p:nvSpPr>
          <p:cNvPr id="11" name="Shape 9"/>
          <p:cNvSpPr/>
          <p:nvPr/>
        </p:nvSpPr>
        <p:spPr>
          <a:xfrm>
            <a:off x="6277356" y="3063240"/>
            <a:ext cx="5362956" cy="1691640"/>
          </a:xfrm>
          <a:prstGeom prst="roundRect">
            <a:avLst/>
          </a:prstGeom>
          <a:solidFill>
            <a:srgbClr val="FFF8E1"/>
          </a:solidFill>
          <a:ln w="25400">
            <a:solidFill>
              <a:srgbClr val="FFA000"/>
            </a:solidFill>
            <a:prstDash val="solid"/>
          </a:ln>
        </p:spPr>
      </p:sp>
      <p:sp>
        <p:nvSpPr>
          <p:cNvPr id="12" name="Text 10"/>
          <p:cNvSpPr/>
          <p:nvPr/>
        </p:nvSpPr>
        <p:spPr>
          <a:xfrm>
            <a:off x="6414516" y="3154680"/>
            <a:ext cx="5088636" cy="594360"/>
          </a:xfrm>
          <a:prstGeom prst="rect">
            <a:avLst/>
          </a:prstGeom>
          <a:noFill/>
          <a:ln/>
        </p:spPr>
        <p:txBody>
          <a:bodyPr wrap="square" rtlCol="0" anchor="ctr"/>
          <a:lstStyle/>
          <a:p>
            <a:pPr algn="ctr" indent="0" marL="0">
              <a:buNone/>
            </a:pPr>
            <a:r>
              <a:rPr lang="en-US" sz="1800" b="1" dirty="0">
                <a:solidFill>
                  <a:srgbClr val="1A237E"/>
                </a:solidFill>
                <a:latin typeface="Arial" pitchFamily="34" charset="0"/>
                <a:ea typeface="Arial" pitchFamily="34" charset="-122"/>
                <a:cs typeface="Arial" pitchFamily="34" charset="-120"/>
              </a:rPr>
              <a:t>Detectar políticas mal escritas</a:t>
            </a:r>
            <a:endParaRPr lang="en-US" sz="1800" dirty="0"/>
          </a:p>
        </p:txBody>
      </p:sp>
      <p:sp>
        <p:nvSpPr>
          <p:cNvPr id="13" name="Text 11"/>
          <p:cNvSpPr/>
          <p:nvPr/>
        </p:nvSpPr>
        <p:spPr>
          <a:xfrm>
            <a:off x="6460236" y="3794760"/>
            <a:ext cx="4997196" cy="868680"/>
          </a:xfrm>
          <a:prstGeom prst="rect">
            <a:avLst/>
          </a:prstGeom>
          <a:noFill/>
          <a:ln/>
        </p:spPr>
        <p:txBody>
          <a:bodyPr wrap="square" rtlCol="0" anchor="t"/>
          <a:lstStyle/>
          <a:p>
            <a:pPr algn="ctr" indent="0" marL="0">
              <a:buNone/>
            </a:pPr>
            <a:r>
              <a:rPr lang="en-US" sz="1500" dirty="0">
                <a:solidFill>
                  <a:srgbClr val="212121"/>
                </a:solidFill>
                <a:latin typeface="Arial" pitchFamily="34" charset="0"/>
                <a:ea typeface="Arial" pitchFamily="34" charset="-122"/>
                <a:cs typeface="Arial" pitchFamily="34" charset="-120"/>
              </a:rPr>
              <a:t>Antes de que causen un problema real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Usuarios, roles, políticas y credenciales temporales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Ya llevas semanas usando una de estas piezas sin nombrarla</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218334"/>
                <a:gridCol w="4658502"/>
                <a:gridCol w="4214835"/>
              </a:tblGrid>
              <a:tr h="594360">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Pieza</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Qué es</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350" b="1" dirty="0">
                          <a:solidFill>
                            <a:srgbClr val="FFFFFF"/>
                          </a:solidFill>
                          <a:latin typeface="Arial" pitchFamily="34" charset="0"/>
                          <a:ea typeface="Arial" pitchFamily="34" charset="-122"/>
                          <a:cs typeface="Arial" pitchFamily="34" charset="-120"/>
                        </a:rPr>
                        <a:t>En el Learner Lab</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594360">
                <a:tc>
                  <a:txBody>
                    <a:bodyPr/>
                    <a:lstStyle/>
                    <a:p>
                      <a:pPr indent="0" marL="0">
                        <a:buNone/>
                      </a:pPr>
                      <a:r>
                        <a:rPr lang="en-US" sz="1250" b="1" dirty="0">
                          <a:solidFill>
                            <a:srgbClr val="212121"/>
                          </a:solidFill>
                          <a:latin typeface="Arial" pitchFamily="34" charset="0"/>
                          <a:ea typeface="Arial" pitchFamily="34" charset="-122"/>
                          <a:cs typeface="Arial" pitchFamily="34" charset="-120"/>
                        </a:rPr>
                        <a:t>Usuario</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Identidad fija, con credenciales de larga duración</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No puedes crear ninguno — no lo necesitas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94360">
                <a:tc>
                  <a:txBody>
                    <a:bodyPr/>
                    <a:lstStyle/>
                    <a:p>
                      <a:pPr indent="0" marL="0">
                        <a:buNone/>
                      </a:pPr>
                      <a:r>
                        <a:rPr lang="en-US" sz="1250" b="1" dirty="0">
                          <a:solidFill>
                            <a:srgbClr val="212121"/>
                          </a:solidFill>
                          <a:latin typeface="Arial" pitchFamily="34" charset="0"/>
                          <a:ea typeface="Arial" pitchFamily="34" charset="-122"/>
                          <a:cs typeface="Arial" pitchFamily="34" charset="-120"/>
                        </a:rPr>
                        <a:t>Rol</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Identidad que se presta temporalmente a quien la asume</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Tienes uno preasignado (assumed-role)</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94360">
                <a:tc>
                  <a:txBody>
                    <a:bodyPr/>
                    <a:lstStyle/>
                    <a:p>
                      <a:pPr indent="0" marL="0">
                        <a:buNone/>
                      </a:pPr>
                      <a:r>
                        <a:rPr lang="en-US" sz="1250" b="1" dirty="0">
                          <a:solidFill>
                            <a:srgbClr val="212121"/>
                          </a:solidFill>
                          <a:latin typeface="Arial" pitchFamily="34" charset="0"/>
                          <a:ea typeface="Arial" pitchFamily="34" charset="-122"/>
                          <a:cs typeface="Arial" pitchFamily="34" charset="-120"/>
                        </a:rPr>
                        <a:t>Política</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Documento que dice qué acciones están permitidas o denegadas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Puedes leerlas y corregirlas, no crear roles nuevos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94360">
                <a:tc>
                  <a:txBody>
                    <a:bodyPr/>
                    <a:lstStyle/>
                    <a:p>
                      <a:pPr indent="0" marL="0">
                        <a:buNone/>
                      </a:pPr>
                      <a:r>
                        <a:rPr lang="en-US" sz="1250" b="1" dirty="0">
                          <a:solidFill>
                            <a:srgbClr val="212121"/>
                          </a:solidFill>
                          <a:latin typeface="Arial" pitchFamily="34" charset="0"/>
                          <a:ea typeface="Arial" pitchFamily="34" charset="-122"/>
                          <a:cs typeface="Arial" pitchFamily="34" charset="-120"/>
                        </a:rPr>
                        <a:t>Credenciales temporales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Claves de acceso con caducidad, al asumir un rol</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Es lo que usa tu sesión ahora mismo</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7" name="Shape 4"/>
          <p:cNvSpPr/>
          <p:nvPr/>
        </p:nvSpPr>
        <p:spPr>
          <a:xfrm>
            <a:off x="548640" y="5029200"/>
            <a:ext cx="11091672" cy="777240"/>
          </a:xfrm>
          <a:prstGeom prst="roundRect">
            <a:avLst/>
          </a:prstGeom>
          <a:solidFill>
            <a:srgbClr val="FFF8E1"/>
          </a:solidFill>
          <a:ln w="19050">
            <a:solidFill>
              <a:srgbClr val="FFA000"/>
            </a:solidFill>
            <a:prstDash val="solid"/>
          </a:ln>
        </p:spPr>
      </p:sp>
      <p:sp>
        <p:nvSpPr>
          <p:cNvPr id="8" name="Text 5"/>
          <p:cNvSpPr/>
          <p:nvPr/>
        </p:nvSpPr>
        <p:spPr>
          <a:xfrm>
            <a:off x="822960" y="5120640"/>
            <a:ext cx="10543032" cy="59436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Toda llamada a la API va firmada con una credencial — la pregunta es de dónde sale, y ahí es donde un rol resuelve algo que un usuario no puede.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Por qué un rol resuelve lo que un usuario no puede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Shape 3"/>
          <p:cNvSpPr/>
          <p:nvPr/>
        </p:nvSpPr>
        <p:spPr>
          <a:xfrm>
            <a:off x="548640" y="1143000"/>
            <a:ext cx="11091672" cy="100584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82296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Si una instancia necesitara las claves fijas de un usuario, esas claves tendrían que vivir guardadas dentro de la instancia — el mismo problema de «credenciales en el código» que ya evitaste en el Tema 3.</a:t>
            </a:r>
            <a:endParaRPr lang="en-US" sz="1500" dirty="0"/>
          </a:p>
        </p:txBody>
      </p:sp>
      <p:sp>
        <p:nvSpPr>
          <p:cNvPr id="7" name="Shape 5"/>
          <p:cNvSpPr/>
          <p:nvPr/>
        </p:nvSpPr>
        <p:spPr>
          <a:xfrm>
            <a:off x="548640" y="2377440"/>
            <a:ext cx="2567178" cy="1188720"/>
          </a:xfrm>
          <a:prstGeom prst="roundRect">
            <a:avLst/>
          </a:prstGeom>
          <a:solidFill>
            <a:srgbClr val="E8EAF6"/>
          </a:solidFill>
          <a:ln w="15875">
            <a:solidFill>
              <a:srgbClr val="3949AB"/>
            </a:solidFill>
            <a:prstDash val="solid"/>
          </a:ln>
        </p:spPr>
      </p:sp>
      <p:sp>
        <p:nvSpPr>
          <p:cNvPr id="8" name="Text 6"/>
          <p:cNvSpPr/>
          <p:nvPr/>
        </p:nvSpPr>
        <p:spPr>
          <a:xfrm>
            <a:off x="594360" y="2423160"/>
            <a:ext cx="2475738" cy="1097280"/>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 Rol asignado</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a la instancia</a:t>
            </a:r>
            <a:endParaRPr lang="en-US" sz="1200" dirty="0"/>
          </a:p>
        </p:txBody>
      </p:sp>
      <p:sp>
        <p:nvSpPr>
          <p:cNvPr id="9" name="Text 7"/>
          <p:cNvSpPr/>
          <p:nvPr/>
        </p:nvSpPr>
        <p:spPr>
          <a:xfrm>
            <a:off x="3070098" y="2377440"/>
            <a:ext cx="365760" cy="1188720"/>
          </a:xfrm>
          <a:prstGeom prst="rect">
            <a:avLst/>
          </a:prstGeom>
          <a:noFill/>
          <a:ln/>
        </p:spPr>
        <p:txBody>
          <a:bodyPr wrap="square" rtlCol="0" anchor="ctr"/>
          <a:lstStyle/>
          <a:p>
            <a:pPr algn="ctr" indent="0" marL="0">
              <a:buNone/>
            </a:pPr>
            <a:r>
              <a:rPr lang="en-US" sz="1600" b="1" dirty="0">
                <a:solidFill>
                  <a:srgbClr val="3949AB"/>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3390138" y="2377440"/>
            <a:ext cx="2567178" cy="1188720"/>
          </a:xfrm>
          <a:prstGeom prst="roundRect">
            <a:avLst/>
          </a:prstGeom>
          <a:solidFill>
            <a:srgbClr val="E8EAF6"/>
          </a:solidFill>
          <a:ln w="15875">
            <a:solidFill>
              <a:srgbClr val="3949AB"/>
            </a:solidFill>
            <a:prstDash val="solid"/>
          </a:ln>
        </p:spPr>
      </p:sp>
      <p:sp>
        <p:nvSpPr>
          <p:cNvPr id="11" name="Text 9"/>
          <p:cNvSpPr/>
          <p:nvPr/>
        </p:nvSpPr>
        <p:spPr>
          <a:xfrm>
            <a:off x="3435858" y="2423160"/>
            <a:ext cx="2475738" cy="1097280"/>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 Credenciales temporales</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caducan y se renuevan solas</a:t>
            </a:r>
            <a:endParaRPr lang="en-US" sz="1200" dirty="0"/>
          </a:p>
        </p:txBody>
      </p:sp>
      <p:sp>
        <p:nvSpPr>
          <p:cNvPr id="12" name="Text 10"/>
          <p:cNvSpPr/>
          <p:nvPr/>
        </p:nvSpPr>
        <p:spPr>
          <a:xfrm>
            <a:off x="5911596" y="2377440"/>
            <a:ext cx="365760" cy="1188720"/>
          </a:xfrm>
          <a:prstGeom prst="rect">
            <a:avLst/>
          </a:prstGeom>
          <a:noFill/>
          <a:ln/>
        </p:spPr>
        <p:txBody>
          <a:bodyPr wrap="square" rtlCol="0" anchor="ctr"/>
          <a:lstStyle/>
          <a:p>
            <a:pPr algn="ctr" indent="0" marL="0">
              <a:buNone/>
            </a:pPr>
            <a:r>
              <a:rPr lang="en-US" sz="1600" b="1" dirty="0">
                <a:solidFill>
                  <a:srgbClr val="3949AB"/>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6231636" y="2377440"/>
            <a:ext cx="2567178" cy="1188720"/>
          </a:xfrm>
          <a:prstGeom prst="roundRect">
            <a:avLst/>
          </a:prstGeom>
          <a:solidFill>
            <a:srgbClr val="E8EAF6"/>
          </a:solidFill>
          <a:ln w="15875">
            <a:solidFill>
              <a:srgbClr val="3949AB"/>
            </a:solidFill>
            <a:prstDash val="solid"/>
          </a:ln>
        </p:spPr>
      </p:sp>
      <p:sp>
        <p:nvSpPr>
          <p:cNvPr id="14" name="Text 12"/>
          <p:cNvSpPr/>
          <p:nvPr/>
        </p:nvSpPr>
        <p:spPr>
          <a:xfrm>
            <a:off x="6277356" y="2423160"/>
            <a:ext cx="2475738" cy="1097280"/>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 169.254.169.254</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servicio de metadatos</a:t>
            </a:r>
            <a:endParaRPr lang="en-US" sz="1200" dirty="0"/>
          </a:p>
        </p:txBody>
      </p:sp>
      <p:sp>
        <p:nvSpPr>
          <p:cNvPr id="15" name="Text 13"/>
          <p:cNvSpPr/>
          <p:nvPr/>
        </p:nvSpPr>
        <p:spPr>
          <a:xfrm>
            <a:off x="8753094" y="2377440"/>
            <a:ext cx="365760" cy="1188720"/>
          </a:xfrm>
          <a:prstGeom prst="rect">
            <a:avLst/>
          </a:prstGeom>
          <a:noFill/>
          <a:ln/>
        </p:spPr>
        <p:txBody>
          <a:bodyPr wrap="square" rtlCol="0" anchor="ctr"/>
          <a:lstStyle/>
          <a:p>
            <a:pPr algn="ctr" indent="0" marL="0">
              <a:buNone/>
            </a:pPr>
            <a:r>
              <a:rPr lang="en-US" sz="1600" b="1" dirty="0">
                <a:solidFill>
                  <a:srgbClr val="3949AB"/>
                </a:solidFill>
                <a:latin typeface="Arial" pitchFamily="34" charset="0"/>
                <a:ea typeface="Arial" pitchFamily="34" charset="-122"/>
                <a:cs typeface="Arial" pitchFamily="34" charset="-120"/>
              </a:rPr>
              <a:t>→</a:t>
            </a:r>
            <a:endParaRPr lang="en-US" sz="1600" dirty="0"/>
          </a:p>
        </p:txBody>
      </p:sp>
      <p:sp>
        <p:nvSpPr>
          <p:cNvPr id="16" name="Shape 14"/>
          <p:cNvSpPr/>
          <p:nvPr/>
        </p:nvSpPr>
        <p:spPr>
          <a:xfrm>
            <a:off x="9073134" y="2377440"/>
            <a:ext cx="2567178" cy="1188720"/>
          </a:xfrm>
          <a:prstGeom prst="roundRect">
            <a:avLst/>
          </a:prstGeom>
          <a:solidFill>
            <a:srgbClr val="E8EAF6"/>
          </a:solidFill>
          <a:ln w="15875">
            <a:solidFill>
              <a:srgbClr val="3949AB"/>
            </a:solidFill>
            <a:prstDash val="solid"/>
          </a:ln>
        </p:spPr>
      </p:sp>
      <p:sp>
        <p:nvSpPr>
          <p:cNvPr id="17" name="Text 15"/>
          <p:cNvSpPr/>
          <p:nvPr/>
        </p:nvSpPr>
        <p:spPr>
          <a:xfrm>
            <a:off x="9118854" y="2423160"/>
            <a:ext cx="2475738" cy="1097280"/>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 El SDK las usa</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sin que tu código las pida</a:t>
            </a:r>
            <a:endParaRPr lang="en-US" sz="1200" dirty="0"/>
          </a:p>
        </p:txBody>
      </p:sp>
      <p:sp>
        <p:nvSpPr>
          <p:cNvPr id="18" name="Shape 16"/>
          <p:cNvSpPr/>
          <p:nvPr/>
        </p:nvSpPr>
        <p:spPr>
          <a:xfrm>
            <a:off x="548640" y="3794760"/>
            <a:ext cx="11091672" cy="731520"/>
          </a:xfrm>
          <a:prstGeom prst="roundRect">
            <a:avLst/>
          </a:prstGeom>
          <a:solidFill>
            <a:srgbClr val="FFF8E1"/>
          </a:solidFill>
          <a:ln w="19050">
            <a:solidFill>
              <a:srgbClr val="FFA000"/>
            </a:solidFill>
            <a:prstDash val="solid"/>
          </a:ln>
        </p:spPr>
      </p:sp>
      <p:sp>
        <p:nvSpPr>
          <p:cNvPr id="19" name="Text 17"/>
          <p:cNvSpPr/>
          <p:nvPr/>
        </p:nvSpPr>
        <p:spPr>
          <a:xfrm>
            <a:off x="822960" y="3886200"/>
            <a:ext cx="10543032" cy="54864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Tu código nunca necesita saber dónde están esas claves ni pedirlas explícitamente.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Por qué S3Storage no tiene ninguna clave de acceso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Shape 3"/>
          <p:cNvSpPr/>
          <p:nvPr/>
        </p:nvSpPr>
        <p:spPr>
          <a:xfrm>
            <a:off x="548640" y="1280160"/>
            <a:ext cx="11091672" cy="2103120"/>
          </a:xfrm>
          <a:prstGeom prst="roundRect">
            <a:avLst/>
          </a:prstGeom>
          <a:solidFill>
            <a:srgbClr val="E8EAF6"/>
          </a:solidFill>
          <a:ln w="15875">
            <a:solidFill>
              <a:srgbClr val="3949AB"/>
            </a:solidFill>
            <a:prstDash val="solid"/>
          </a:ln>
        </p:spPr>
      </p:sp>
      <p:sp>
        <p:nvSpPr>
          <p:cNvPr id="6" name="Text 4"/>
          <p:cNvSpPr/>
          <p:nvPr/>
        </p:nvSpPr>
        <p:spPr>
          <a:xfrm>
            <a:off x="731520" y="1353312"/>
            <a:ext cx="10725912" cy="548640"/>
          </a:xfrm>
          <a:prstGeom prst="rect">
            <a:avLst/>
          </a:prstGeom>
          <a:noFill/>
          <a:ln/>
        </p:spPr>
        <p:txBody>
          <a:bodyPr wrap="square" rtlCol="0" anchor="ctr"/>
          <a:lstStyle/>
          <a:p>
            <a:pPr indent="0" marL="0">
              <a:buNone/>
            </a:pPr>
            <a:r>
              <a:rPr lang="en-US" sz="1800" b="1" dirty="0">
                <a:solidFill>
                  <a:srgbClr val="1A237E"/>
                </a:solidFill>
                <a:latin typeface="Courier New" pitchFamily="34" charset="0"/>
                <a:ea typeface="Courier New" pitchFamily="34" charset="-122"/>
                <a:cs typeface="Courier New" pitchFamily="34" charset="-120"/>
              </a:rPr>
              <a:t>S3Client.builder().build()</a:t>
            </a:r>
            <a:endParaRPr lang="en-US" sz="1800" dirty="0"/>
          </a:p>
        </p:txBody>
      </p:sp>
      <p:sp>
        <p:nvSpPr>
          <p:cNvPr id="7" name="Text 5"/>
          <p:cNvSpPr/>
          <p:nvPr/>
        </p:nvSpPr>
        <p:spPr>
          <a:xfrm>
            <a:off x="731520" y="1901952"/>
            <a:ext cx="10725912" cy="1408176"/>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En la Actividad 5.2, la clase que guarda las fotos de Escaparate en S3 crea su cliente así, sin pasarle ninguna credencial. El SDK pregunta solo al servicio de metadatos qué credenciales temporales tiene la instancia ahora mismo, y las usa.</a:t>
            </a:r>
            <a:endParaRPr lang="en-US" sz="1600" dirty="0"/>
          </a:p>
        </p:txBody>
      </p:sp>
      <p:sp>
        <p:nvSpPr>
          <p:cNvPr id="8" name="Shape 6"/>
          <p:cNvSpPr/>
          <p:nvPr/>
        </p:nvSpPr>
        <p:spPr>
          <a:xfrm>
            <a:off x="548640" y="3566160"/>
            <a:ext cx="11091672" cy="1371600"/>
          </a:xfrm>
          <a:prstGeom prst="roundRect">
            <a:avLst/>
          </a:prstGeom>
          <a:solidFill>
            <a:srgbClr val="E8EAF6"/>
          </a:solidFill>
          <a:ln w="15875">
            <a:solidFill>
              <a:srgbClr val="3949AB"/>
            </a:solidFill>
            <a:prstDash val="solid"/>
          </a:ln>
        </p:spPr>
      </p:sp>
      <p:sp>
        <p:nvSpPr>
          <p:cNvPr id="9" name="Text 7"/>
          <p:cNvSpPr/>
          <p:nvPr/>
        </p:nvSpPr>
        <p:spPr>
          <a:xfrm>
            <a:off x="731520" y="3639312"/>
            <a:ext cx="10725912" cy="548640"/>
          </a:xfrm>
          <a:prstGeom prst="rect">
            <a:avLst/>
          </a:prstGeom>
          <a:noFill/>
          <a:ln/>
        </p:spPr>
        <p:txBody>
          <a:bodyPr wrap="square" rtlCol="0" anchor="ctr"/>
          <a:lstStyle/>
          <a:p>
            <a:pPr indent="0" marL="0">
              <a:buNone/>
            </a:pPr>
            <a:r>
              <a:rPr lang="en-US" sz="1800" b="1" dirty="0">
                <a:solidFill>
                  <a:srgbClr val="1A237E"/>
                </a:solidFill>
                <a:latin typeface="Arial" pitchFamily="34" charset="0"/>
                <a:ea typeface="Arial" pitchFamily="34" charset="-122"/>
                <a:cs typeface="Arial" pitchFamily="34" charset="-120"/>
              </a:rPr>
              <a:t>Si la instancia cambia, nada se rompe</a:t>
            </a:r>
            <a:endParaRPr lang="en-US" sz="1800" dirty="0"/>
          </a:p>
        </p:txBody>
      </p:sp>
      <p:sp>
        <p:nvSpPr>
          <p:cNvPr id="10" name="Text 8"/>
          <p:cNvSpPr/>
          <p:nvPr/>
        </p:nvSpPr>
        <p:spPr>
          <a:xfrm>
            <a:off x="731520" y="4187952"/>
            <a:ext cx="10725912" cy="676656"/>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Si esa instancia se termina y otra la sustituye, la nueva pregunta lo mismo y recibe sus propias credenciales — nadie ha copiado ni rotado ninguna clave a mano.</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Anatomía de una política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El mismo formato JSON de la sesión 1 — con una estructura fija</a:t>
            </a:r>
            <a:endParaRPr lang="en-US" sz="1500" dirty="0"/>
          </a:p>
        </p:txBody>
      </p:sp>
      <p:sp>
        <p:nvSpPr>
          <p:cNvPr id="6" name="Shape 4"/>
          <p:cNvSpPr/>
          <p:nvPr/>
        </p:nvSpPr>
        <p:spPr>
          <a:xfrm>
            <a:off x="548640" y="1554480"/>
            <a:ext cx="11091672" cy="1463040"/>
          </a:xfrm>
          <a:prstGeom prst="rect">
            <a:avLst/>
          </a:prstGeom>
          <a:solidFill>
            <a:srgbClr val="ECEFF1"/>
          </a:solidFill>
          <a:ln w="12700">
            <a:solidFill>
              <a:srgbClr val="EEEEEE"/>
            </a:solidFill>
            <a:prstDash val="solid"/>
          </a:ln>
        </p:spPr>
      </p:sp>
      <p:sp>
        <p:nvSpPr>
          <p:cNvPr id="7" name="Shape 5"/>
          <p:cNvSpPr/>
          <p:nvPr/>
        </p:nvSpPr>
        <p:spPr>
          <a:xfrm>
            <a:off x="548640" y="1554480"/>
            <a:ext cx="73152" cy="1463040"/>
          </a:xfrm>
          <a:prstGeom prst="rect">
            <a:avLst/>
          </a:prstGeom>
          <a:solidFill>
            <a:srgbClr val="FFA000"/>
          </a:solidFill>
          <a:ln w="12700">
            <a:solidFill>
              <a:srgbClr val="FFA000"/>
            </a:solidFill>
            <a:prstDash val="solid"/>
          </a:ln>
        </p:spPr>
      </p:sp>
      <p:sp>
        <p:nvSpPr>
          <p:cNvPr id="8" name="Text 6"/>
          <p:cNvSpPr/>
          <p:nvPr/>
        </p:nvSpPr>
        <p:spPr>
          <a:xfrm>
            <a:off x="822960" y="1645920"/>
            <a:ext cx="10634472" cy="1280160"/>
          </a:xfrm>
          <a:prstGeom prst="rect">
            <a:avLst/>
          </a:prstGeom>
          <a:noFill/>
          <a:ln/>
        </p:spPr>
        <p:txBody>
          <a:bodyPr wrap="square" rtlCol="0" anchor="t"/>
          <a:lstStyle/>
          <a:p>
            <a:pPr indent="0" marL="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"Effect": "Allow",</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"Action": ["s3:GetObject", "s3:PutObject"],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"Resource": "arn:aws:s3:::escaparate-imagenes-&lt;id&gt;/*",</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"Condition": { "Bool": { "aws:SecureTransport": "true" } }</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3291840"/>
          <a:ext cx="11091672" cy="914400"/>
        </p:xfrm>
        <a:graphic>
          <a:graphicData uri="http://schemas.openxmlformats.org/drawingml/2006/table">
            <a:tbl>
              <a:tblPr/>
              <a:tblGrid>
                <a:gridCol w="1774668"/>
                <a:gridCol w="3549335"/>
                <a:gridCol w="5767669"/>
              </a:tblGrid>
              <a:tr h="457200">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Campo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Responde 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En el ejemplo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457200">
                <a:tc>
                  <a:txBody>
                    <a:bodyPr/>
                    <a:lstStyle/>
                    <a:p>
                      <a:pPr indent="0" marL="0">
                        <a:buNone/>
                      </a:pPr>
                      <a:r>
                        <a:rPr lang="en-US" sz="1200" b="1" dirty="0">
                          <a:solidFill>
                            <a:srgbClr val="212121"/>
                          </a:solidFill>
                          <a:latin typeface="Arial" pitchFamily="34" charset="0"/>
                          <a:ea typeface="Arial" pitchFamily="34" charset="-122"/>
                          <a:cs typeface="Arial" pitchFamily="34" charset="-120"/>
                        </a:rPr>
                        <a:t>Effect</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¿Permite o deniega?</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Allow</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121"/>
                          </a:solidFill>
                          <a:latin typeface="Arial" pitchFamily="34" charset="0"/>
                          <a:ea typeface="Arial" pitchFamily="34" charset="-122"/>
                          <a:cs typeface="Arial" pitchFamily="34" charset="-120"/>
                        </a:rPr>
                        <a:t>Action</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¿Qué operación?</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GetObject y PutObject (leer y escribir)</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457200">
                <a:tc>
                  <a:txBody>
                    <a:bodyPr/>
                    <a:lstStyle/>
                    <a:p>
                      <a:pPr indent="0" marL="0">
                        <a:buNone/>
                      </a:pPr>
                      <a:r>
                        <a:rPr lang="en-US" sz="1200" b="1" dirty="0">
                          <a:solidFill>
                            <a:srgbClr val="212121"/>
                          </a:solidFill>
                          <a:latin typeface="Arial" pitchFamily="34" charset="0"/>
                          <a:ea typeface="Arial" pitchFamily="34" charset="-122"/>
                          <a:cs typeface="Arial" pitchFamily="34" charset="-120"/>
                        </a:rPr>
                        <a:t>Resource</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¿Sobre qué recurso concreto?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Objetos del bucket de imágenes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121"/>
                          </a:solidFill>
                          <a:latin typeface="Arial" pitchFamily="34" charset="0"/>
                          <a:ea typeface="Arial" pitchFamily="34" charset="-122"/>
                          <a:cs typeface="Arial" pitchFamily="34" charset="-120"/>
                        </a:rPr>
                        <a:t>Condition</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¿Bajo qué circunstancia adicional?</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Solo si la petición viaja cifrada (HTTPS)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Leer una política, y comprobarlo con el simulador</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Shape 3"/>
          <p:cNvSpPr/>
          <p:nvPr/>
        </p:nvSpPr>
        <p:spPr>
          <a:xfrm>
            <a:off x="548640" y="1143000"/>
            <a:ext cx="11091672" cy="86868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68580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«Permite leer y escribir objetos del bucket de imágenes, pero solo si la conexión va cifrada» — cuatro campos, una frase.</a:t>
            </a:r>
            <a:endParaRPr lang="en-US" sz="1500" dirty="0"/>
          </a:p>
        </p:txBody>
      </p:sp>
      <p:sp>
        <p:nvSpPr>
          <p:cNvPr id="7" name="Shape 5"/>
          <p:cNvSpPr/>
          <p:nvPr/>
        </p:nvSpPr>
        <p:spPr>
          <a:xfrm>
            <a:off x="548640" y="2286000"/>
            <a:ext cx="11091672" cy="1508760"/>
          </a:xfrm>
          <a:prstGeom prst="roundRect">
            <a:avLst/>
          </a:prstGeom>
          <a:solidFill>
            <a:srgbClr val="E8EAF6"/>
          </a:solidFill>
          <a:ln w="15875">
            <a:solidFill>
              <a:srgbClr val="3949AB"/>
            </a:solidFill>
            <a:prstDash val="solid"/>
          </a:ln>
        </p:spPr>
      </p:sp>
      <p:sp>
        <p:nvSpPr>
          <p:cNvPr id="8" name="Text 6"/>
          <p:cNvSpPr/>
          <p:nvPr/>
        </p:nvSpPr>
        <p:spPr>
          <a:xfrm>
            <a:off x="731520" y="2359152"/>
            <a:ext cx="10725912" cy="548640"/>
          </a:xfrm>
          <a:prstGeom prst="rect">
            <a:avLst/>
          </a:prstGeom>
          <a:noFill/>
          <a:ln/>
        </p:spPr>
        <p:txBody>
          <a:bodyPr wrap="square" rtlCol="0" anchor="ctr"/>
          <a:lstStyle/>
          <a:p>
            <a:pPr indent="0" marL="0">
              <a:buNone/>
            </a:pPr>
            <a:r>
              <a:rPr lang="en-US" sz="1800" b="1" dirty="0">
                <a:solidFill>
                  <a:srgbClr val="1A237E"/>
                </a:solidFill>
                <a:latin typeface="Arial" pitchFamily="34" charset="0"/>
                <a:ea typeface="Arial" pitchFamily="34" charset="-122"/>
                <a:cs typeface="Arial" pitchFamily="34" charset="-120"/>
              </a:rPr>
              <a:t>Simulador de políticas de IAM</a:t>
            </a:r>
            <a:endParaRPr lang="en-US" sz="1800" dirty="0"/>
          </a:p>
        </p:txBody>
      </p:sp>
      <p:sp>
        <p:nvSpPr>
          <p:cNvPr id="9" name="Text 7"/>
          <p:cNvSpPr/>
          <p:nvPr/>
        </p:nvSpPr>
        <p:spPr>
          <a:xfrm>
            <a:off x="731520" y="2907792"/>
            <a:ext cx="10725912" cy="813816"/>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Eliges una política, una acción y un recurso concretos, y te responde «permitido» o «denegado» — sin ejecutar nada de verdad contra tu cuenta.</a:t>
            </a:r>
            <a:endParaRPr lang="en-US" sz="1600" dirty="0"/>
          </a:p>
        </p:txBody>
      </p:sp>
      <p:sp>
        <p:nvSpPr>
          <p:cNvPr id="10" name="Shape 8"/>
          <p:cNvSpPr/>
          <p:nvPr/>
        </p:nvSpPr>
        <p:spPr>
          <a:xfrm>
            <a:off x="548640" y="4069080"/>
            <a:ext cx="11091672" cy="1188720"/>
          </a:xfrm>
          <a:prstGeom prst="roundRect">
            <a:avLst/>
          </a:prstGeom>
          <a:solidFill>
            <a:srgbClr val="FFF8E1"/>
          </a:solidFill>
          <a:ln w="19050">
            <a:solidFill>
              <a:srgbClr val="FFA000"/>
            </a:solidFill>
            <a:prstDash val="solid"/>
          </a:ln>
        </p:spPr>
      </p:sp>
      <p:sp>
        <p:nvSpPr>
          <p:cNvPr id="11" name="Text 9"/>
          <p:cNvSpPr/>
          <p:nvPr/>
        </p:nvSpPr>
        <p:spPr>
          <a:xfrm>
            <a:off x="822960" y="4160520"/>
            <a:ext cx="10543032" cy="1005840"/>
          </a:xfrm>
          <a:prstGeom prst="rect">
            <a:avLst/>
          </a:prstGeom>
          <a:noFill/>
          <a:ln/>
        </p:spPr>
        <p:txBody>
          <a:bodyPr wrap="square" rtlCol="0" anchor="ctr"/>
          <a:lstStyle/>
          <a:p>
            <a:pPr indent="0" marL="0">
              <a:buNone/>
            </a:pPr>
            <a:r>
              <a:rPr lang="en-US" sz="1450" dirty="0">
                <a:solidFill>
                  <a:srgbClr val="212121"/>
                </a:solidFill>
                <a:latin typeface="Arial" pitchFamily="34" charset="0"/>
                <a:ea typeface="Arial" pitchFamily="34" charset="-122"/>
                <a:cs typeface="Arial" pitchFamily="34" charset="-120"/>
              </a:rPr>
              <a:t>Con esta política: s3:GetObject sobre un objeto del bucket → Permitido. s3:DeleteObject sobre ese mismo objeto → Denegado, porque esta política nunca menciona esa acción.</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Cómo se evalúa una política: quién gana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El resultado nunca se decide sumando políticas — siempre con este orden fijo</a:t>
            </a:r>
            <a:endParaRPr lang="en-US" sz="1500" dirty="0"/>
          </a:p>
        </p:txBody>
      </p:sp>
      <p:sp>
        <p:nvSpPr>
          <p:cNvPr id="6" name="Shape 4"/>
          <p:cNvSpPr/>
          <p:nvPr/>
        </p:nvSpPr>
        <p:spPr>
          <a:xfrm>
            <a:off x="548640" y="1554480"/>
            <a:ext cx="4174236" cy="777240"/>
          </a:xfrm>
          <a:prstGeom prst="roundRect">
            <a:avLst/>
          </a:prstGeom>
          <a:solidFill>
            <a:srgbClr val="E8EAF6"/>
          </a:solidFill>
          <a:ln w="15875">
            <a:solidFill>
              <a:srgbClr val="3949AB"/>
            </a:solidFill>
            <a:prstDash val="solid"/>
          </a:ln>
        </p:spPr>
      </p:sp>
      <p:sp>
        <p:nvSpPr>
          <p:cNvPr id="7" name="Text 5"/>
          <p:cNvSpPr/>
          <p:nvPr/>
        </p:nvSpPr>
        <p:spPr>
          <a:xfrm>
            <a:off x="640080" y="1554480"/>
            <a:ext cx="3991356"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¿Deny explícito en</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alguna política aplicable?</a:t>
            </a:r>
            <a:endParaRPr lang="en-US" sz="1400" dirty="0"/>
          </a:p>
        </p:txBody>
      </p:sp>
      <p:sp>
        <p:nvSpPr>
          <p:cNvPr id="8" name="Shape 6"/>
          <p:cNvSpPr/>
          <p:nvPr/>
        </p:nvSpPr>
        <p:spPr>
          <a:xfrm>
            <a:off x="7466076" y="1554480"/>
            <a:ext cx="4174236" cy="777240"/>
          </a:xfrm>
          <a:prstGeom prst="roundRect">
            <a:avLst/>
          </a:prstGeom>
          <a:solidFill>
            <a:srgbClr val="E8EAF6"/>
          </a:solidFill>
          <a:ln w="15875">
            <a:solidFill>
              <a:srgbClr val="3949AB"/>
            </a:solidFill>
            <a:prstDash val="solid"/>
          </a:ln>
        </p:spPr>
      </p:sp>
      <p:sp>
        <p:nvSpPr>
          <p:cNvPr id="9" name="Text 7"/>
          <p:cNvSpPr/>
          <p:nvPr/>
        </p:nvSpPr>
        <p:spPr>
          <a:xfrm>
            <a:off x="7557516" y="1554480"/>
            <a:ext cx="3991356"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Denegado,</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sin excepciones</a:t>
            </a:r>
            <a:endParaRPr lang="en-US" sz="1400" dirty="0"/>
          </a:p>
        </p:txBody>
      </p:sp>
      <p:sp>
        <p:nvSpPr>
          <p:cNvPr id="10" name="Text 8"/>
          <p:cNvSpPr/>
          <p:nvPr/>
        </p:nvSpPr>
        <p:spPr>
          <a:xfrm>
            <a:off x="4722876" y="1554480"/>
            <a:ext cx="2743200" cy="77724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Sí →</a:t>
            </a:r>
            <a:endParaRPr lang="en-US" sz="1300" dirty="0"/>
          </a:p>
        </p:txBody>
      </p:sp>
      <p:sp>
        <p:nvSpPr>
          <p:cNvPr id="11" name="Shape 9"/>
          <p:cNvSpPr/>
          <p:nvPr/>
        </p:nvSpPr>
        <p:spPr>
          <a:xfrm>
            <a:off x="548640" y="2468880"/>
            <a:ext cx="4174236" cy="777240"/>
          </a:xfrm>
          <a:prstGeom prst="roundRect">
            <a:avLst/>
          </a:prstGeom>
          <a:solidFill>
            <a:srgbClr val="E8EAF6"/>
          </a:solidFill>
          <a:ln w="15875">
            <a:solidFill>
              <a:srgbClr val="3949AB"/>
            </a:solidFill>
            <a:prstDash val="solid"/>
          </a:ln>
        </p:spPr>
      </p:sp>
      <p:sp>
        <p:nvSpPr>
          <p:cNvPr id="12" name="Text 10"/>
          <p:cNvSpPr/>
          <p:nvPr/>
        </p:nvSpPr>
        <p:spPr>
          <a:xfrm>
            <a:off x="640080" y="2468880"/>
            <a:ext cx="3991356" cy="777240"/>
          </a:xfrm>
          <a:prstGeom prst="rect">
            <a:avLst/>
          </a:prstGeom>
          <a:noFill/>
          <a:ln/>
        </p:spPr>
        <p:txBody>
          <a:bodyPr wrap="square" rtlCol="0" anchor="ctr"/>
          <a:lstStyle/>
          <a:p>
            <a:pPr algn="ctr" indent="0" marL="0">
              <a:buNone/>
            </a:pPr>
            <a:r>
              <a:rPr lang="en-US" sz="1300" dirty="0">
                <a:solidFill>
                  <a:srgbClr val="212121"/>
                </a:solidFill>
                <a:latin typeface="Arial" pitchFamily="34" charset="0"/>
                <a:ea typeface="Arial" pitchFamily="34" charset="-122"/>
                <a:cs typeface="Arial" pitchFamily="34" charset="-120"/>
              </a:rPr>
              <a:t>¿Allow explícito en</a:t>
            </a:r>
            <a:endParaRPr lang="en-US" sz="1300" dirty="0"/>
          </a:p>
          <a:p>
            <a:pPr algn="ctr" indent="0" marL="0">
              <a:buNone/>
            </a:pPr>
            <a:r>
              <a:rPr lang="en-US" sz="1300" dirty="0">
                <a:solidFill>
                  <a:srgbClr val="212121"/>
                </a:solidFill>
                <a:latin typeface="Arial" pitchFamily="34" charset="0"/>
                <a:ea typeface="Arial" pitchFamily="34" charset="-122"/>
                <a:cs typeface="Arial" pitchFamily="34" charset="-120"/>
              </a:rPr>
              <a:t>alguna política?</a:t>
            </a:r>
            <a:endParaRPr lang="en-US" sz="1300" dirty="0"/>
          </a:p>
        </p:txBody>
      </p:sp>
      <p:sp>
        <p:nvSpPr>
          <p:cNvPr id="13" name="Shape 11"/>
          <p:cNvSpPr/>
          <p:nvPr/>
        </p:nvSpPr>
        <p:spPr>
          <a:xfrm>
            <a:off x="7466076" y="2468880"/>
            <a:ext cx="4174236" cy="777240"/>
          </a:xfrm>
          <a:prstGeom prst="roundRect">
            <a:avLst/>
          </a:prstGeom>
          <a:solidFill>
            <a:srgbClr val="E8EAF6"/>
          </a:solidFill>
          <a:ln w="15875">
            <a:solidFill>
              <a:srgbClr val="3949AB"/>
            </a:solidFill>
            <a:prstDash val="solid"/>
          </a:ln>
        </p:spPr>
      </p:sp>
      <p:sp>
        <p:nvSpPr>
          <p:cNvPr id="14" name="Text 12"/>
          <p:cNvSpPr/>
          <p:nvPr/>
        </p:nvSpPr>
        <p:spPr>
          <a:xfrm>
            <a:off x="7557516" y="2468880"/>
            <a:ext cx="3991356" cy="777240"/>
          </a:xfrm>
          <a:prstGeom prst="rect">
            <a:avLst/>
          </a:prstGeom>
          <a:noFill/>
          <a:ln/>
        </p:spPr>
        <p:txBody>
          <a:bodyPr wrap="square" rtlCol="0" anchor="ctr"/>
          <a:lstStyle/>
          <a:p>
            <a:pPr algn="ctr" indent="0" marL="0">
              <a:buNone/>
            </a:pPr>
            <a:r>
              <a:rPr lang="en-US" sz="1300" dirty="0">
                <a:solidFill>
                  <a:srgbClr val="212121"/>
                </a:solidFill>
                <a:latin typeface="Arial" pitchFamily="34" charset="0"/>
                <a:ea typeface="Arial" pitchFamily="34" charset="-122"/>
                <a:cs typeface="Arial" pitchFamily="34" charset="-120"/>
              </a:rPr>
              <a:t>✅ Permitido</a:t>
            </a:r>
            <a:endParaRPr lang="en-US" sz="1300" dirty="0"/>
          </a:p>
        </p:txBody>
      </p:sp>
      <p:sp>
        <p:nvSpPr>
          <p:cNvPr id="15" name="Text 13"/>
          <p:cNvSpPr/>
          <p:nvPr/>
        </p:nvSpPr>
        <p:spPr>
          <a:xfrm>
            <a:off x="4722876" y="2468880"/>
            <a:ext cx="2743200" cy="77724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Sí, y no había Deny →</a:t>
            </a:r>
            <a:endParaRPr lang="en-US" sz="1300" dirty="0"/>
          </a:p>
        </p:txBody>
      </p:sp>
      <p:sp>
        <p:nvSpPr>
          <p:cNvPr id="16" name="Shape 14"/>
          <p:cNvSpPr/>
          <p:nvPr/>
        </p:nvSpPr>
        <p:spPr>
          <a:xfrm>
            <a:off x="548640" y="3383280"/>
            <a:ext cx="4174236" cy="777240"/>
          </a:xfrm>
          <a:prstGeom prst="roundRect">
            <a:avLst/>
          </a:prstGeom>
          <a:solidFill>
            <a:srgbClr val="E8EAF6"/>
          </a:solidFill>
          <a:ln w="15875">
            <a:solidFill>
              <a:srgbClr val="3949AB"/>
            </a:solidFill>
            <a:prstDash val="solid"/>
          </a:ln>
        </p:spPr>
      </p:sp>
      <p:sp>
        <p:nvSpPr>
          <p:cNvPr id="17" name="Text 15"/>
          <p:cNvSpPr/>
          <p:nvPr/>
        </p:nvSpPr>
        <p:spPr>
          <a:xfrm>
            <a:off x="640080" y="3383280"/>
            <a:ext cx="3991356"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Ninguna política</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menciona la acción</a:t>
            </a:r>
            <a:endParaRPr lang="en-US" sz="1400" dirty="0"/>
          </a:p>
        </p:txBody>
      </p:sp>
      <p:sp>
        <p:nvSpPr>
          <p:cNvPr id="18" name="Shape 16"/>
          <p:cNvSpPr/>
          <p:nvPr/>
        </p:nvSpPr>
        <p:spPr>
          <a:xfrm>
            <a:off x="7466076" y="3383280"/>
            <a:ext cx="4174236" cy="777240"/>
          </a:xfrm>
          <a:prstGeom prst="roundRect">
            <a:avLst/>
          </a:prstGeom>
          <a:solidFill>
            <a:srgbClr val="E8EAF6"/>
          </a:solidFill>
          <a:ln w="15875">
            <a:solidFill>
              <a:srgbClr val="3949AB"/>
            </a:solidFill>
            <a:prstDash val="solid"/>
          </a:ln>
        </p:spPr>
      </p:sp>
      <p:sp>
        <p:nvSpPr>
          <p:cNvPr id="19" name="Text 17"/>
          <p:cNvSpPr/>
          <p:nvPr/>
        </p:nvSpPr>
        <p:spPr>
          <a:xfrm>
            <a:off x="7557516" y="3383280"/>
            <a:ext cx="3991356"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Denegado</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por defecto</a:t>
            </a:r>
            <a:endParaRPr lang="en-US" sz="1400" dirty="0"/>
          </a:p>
        </p:txBody>
      </p:sp>
      <p:sp>
        <p:nvSpPr>
          <p:cNvPr id="20" name="Text 18"/>
          <p:cNvSpPr/>
          <p:nvPr/>
        </p:nvSpPr>
        <p:spPr>
          <a:xfrm>
            <a:off x="4722876" y="3383280"/>
            <a:ext cx="2743200" cy="77724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a:t>
            </a:r>
            <a:endParaRPr lang="en-US" sz="1300" dirty="0"/>
          </a:p>
        </p:txBody>
      </p:sp>
      <p:sp>
        <p:nvSpPr>
          <p:cNvPr id="21" name="Shape 19"/>
          <p:cNvSpPr/>
          <p:nvPr/>
        </p:nvSpPr>
        <p:spPr>
          <a:xfrm>
            <a:off x="548640" y="4343400"/>
            <a:ext cx="11091672" cy="1051560"/>
          </a:xfrm>
          <a:prstGeom prst="roundRect">
            <a:avLst/>
          </a:prstGeom>
          <a:solidFill>
            <a:srgbClr val="FFF8E1"/>
          </a:solidFill>
          <a:ln w="19050">
            <a:solidFill>
              <a:srgbClr val="FFA000"/>
            </a:solidFill>
            <a:prstDash val="solid"/>
          </a:ln>
        </p:spPr>
      </p:sp>
      <p:sp>
        <p:nvSpPr>
          <p:cNvPr id="22" name="Text 20"/>
          <p:cNvSpPr/>
          <p:nvPr/>
        </p:nvSpPr>
        <p:spPr>
          <a:xfrm>
            <a:off x="822960" y="4434840"/>
            <a:ext cx="10543032" cy="8686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 Deny explícito gana siempre, aunque otra política diga Allow. Si ninguna política menciona una acción, queda denegada por defecto, nunca permitida «por si acaso».</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Principio de mínimo privilegio y MFA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Shape 3"/>
          <p:cNvSpPr/>
          <p:nvPr/>
        </p:nvSpPr>
        <p:spPr>
          <a:xfrm>
            <a:off x="548640" y="1280160"/>
            <a:ext cx="4174236" cy="777240"/>
          </a:xfrm>
          <a:prstGeom prst="roundRect">
            <a:avLst/>
          </a:prstGeom>
          <a:solidFill>
            <a:srgbClr val="E8EAF6"/>
          </a:solidFill>
          <a:ln w="15875">
            <a:solidFill>
              <a:srgbClr val="3949AB"/>
            </a:solidFill>
            <a:prstDash val="solid"/>
          </a:ln>
        </p:spPr>
      </p:sp>
      <p:sp>
        <p:nvSpPr>
          <p:cNvPr id="6" name="Text 4"/>
          <p:cNvSpPr/>
          <p:nvPr/>
        </p:nvSpPr>
        <p:spPr>
          <a:xfrm>
            <a:off x="640080" y="1280160"/>
            <a:ext cx="3991356"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Permisos amplios</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«por si acaso»</a:t>
            </a:r>
            <a:endParaRPr lang="en-US" sz="1400" dirty="0"/>
          </a:p>
        </p:txBody>
      </p:sp>
      <p:sp>
        <p:nvSpPr>
          <p:cNvPr id="7" name="Shape 5"/>
          <p:cNvSpPr/>
          <p:nvPr/>
        </p:nvSpPr>
        <p:spPr>
          <a:xfrm>
            <a:off x="7466076" y="1280160"/>
            <a:ext cx="4174236" cy="777240"/>
          </a:xfrm>
          <a:prstGeom prst="roundRect">
            <a:avLst/>
          </a:prstGeom>
          <a:solidFill>
            <a:srgbClr val="E8EAF6"/>
          </a:solidFill>
          <a:ln w="15875">
            <a:solidFill>
              <a:srgbClr val="3949AB"/>
            </a:solidFill>
            <a:prstDash val="solid"/>
          </a:ln>
        </p:spPr>
      </p:sp>
      <p:sp>
        <p:nvSpPr>
          <p:cNvPr id="8" name="Text 6"/>
          <p:cNvSpPr/>
          <p:nvPr/>
        </p:nvSpPr>
        <p:spPr>
          <a:xfrm>
            <a:off x="7557516" y="1280160"/>
            <a:ext cx="3991356"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Un fallo tiene</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alcance mucho mayor</a:t>
            </a:r>
            <a:endParaRPr lang="en-US" sz="1400" dirty="0"/>
          </a:p>
        </p:txBody>
      </p:sp>
      <p:sp>
        <p:nvSpPr>
          <p:cNvPr id="9" name="Text 7"/>
          <p:cNvSpPr/>
          <p:nvPr/>
        </p:nvSpPr>
        <p:spPr>
          <a:xfrm>
            <a:off x="4722876" y="1280160"/>
            <a:ext cx="2743200" cy="77724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a:t>
            </a:r>
            <a:endParaRPr lang="en-US" sz="1300" dirty="0"/>
          </a:p>
        </p:txBody>
      </p:sp>
      <p:sp>
        <p:nvSpPr>
          <p:cNvPr id="10" name="Shape 8"/>
          <p:cNvSpPr/>
          <p:nvPr/>
        </p:nvSpPr>
        <p:spPr>
          <a:xfrm>
            <a:off x="548640" y="2194560"/>
            <a:ext cx="4174236" cy="777240"/>
          </a:xfrm>
          <a:prstGeom prst="roundRect">
            <a:avLst/>
          </a:prstGeom>
          <a:solidFill>
            <a:srgbClr val="E8EAF6"/>
          </a:solidFill>
          <a:ln w="15875">
            <a:solidFill>
              <a:srgbClr val="3949AB"/>
            </a:solidFill>
            <a:prstDash val="solid"/>
          </a:ln>
        </p:spPr>
      </p:sp>
      <p:sp>
        <p:nvSpPr>
          <p:cNvPr id="11" name="Text 9"/>
          <p:cNvSpPr/>
          <p:nvPr/>
        </p:nvSpPr>
        <p:spPr>
          <a:xfrm>
            <a:off x="640080" y="2194560"/>
            <a:ext cx="3991356"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Mínimo privilegio</a:t>
            </a:r>
            <a:endParaRPr lang="en-US" sz="1400" dirty="0"/>
          </a:p>
        </p:txBody>
      </p:sp>
      <p:sp>
        <p:nvSpPr>
          <p:cNvPr id="12" name="Shape 10"/>
          <p:cNvSpPr/>
          <p:nvPr/>
        </p:nvSpPr>
        <p:spPr>
          <a:xfrm>
            <a:off x="7466076" y="2194560"/>
            <a:ext cx="4174236" cy="777240"/>
          </a:xfrm>
          <a:prstGeom prst="roundRect">
            <a:avLst/>
          </a:prstGeom>
          <a:solidFill>
            <a:srgbClr val="E8EAF6"/>
          </a:solidFill>
          <a:ln w="15875">
            <a:solidFill>
              <a:srgbClr val="3949AB"/>
            </a:solidFill>
            <a:prstDash val="solid"/>
          </a:ln>
        </p:spPr>
      </p:sp>
      <p:sp>
        <p:nvSpPr>
          <p:cNvPr id="13" name="Text 11"/>
          <p:cNvSpPr/>
          <p:nvPr/>
        </p:nvSpPr>
        <p:spPr>
          <a:xfrm>
            <a:off x="7557516" y="2194560"/>
            <a:ext cx="3991356"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Un fallo queda</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contenido</a:t>
            </a:r>
            <a:endParaRPr lang="en-US" sz="1400" dirty="0"/>
          </a:p>
        </p:txBody>
      </p:sp>
      <p:sp>
        <p:nvSpPr>
          <p:cNvPr id="14" name="Text 12"/>
          <p:cNvSpPr/>
          <p:nvPr/>
        </p:nvSpPr>
        <p:spPr>
          <a:xfrm>
            <a:off x="4722876" y="2194560"/>
            <a:ext cx="2743200" cy="77724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a:t>
            </a:r>
            <a:endParaRPr lang="en-US" sz="1300" dirty="0"/>
          </a:p>
        </p:txBody>
      </p:sp>
      <p:sp>
        <p:nvSpPr>
          <p:cNvPr id="15" name="Shape 13"/>
          <p:cNvSpPr/>
          <p:nvPr/>
        </p:nvSpPr>
        <p:spPr>
          <a:xfrm>
            <a:off x="548640" y="3108960"/>
            <a:ext cx="11091672" cy="1143000"/>
          </a:xfrm>
          <a:prstGeom prst="roundRect">
            <a:avLst/>
          </a:prstGeom>
          <a:solidFill>
            <a:srgbClr val="FFF8E1"/>
          </a:solidFill>
          <a:ln w="28575">
            <a:solidFill>
              <a:srgbClr val="FFA000"/>
            </a:solidFill>
            <a:prstDash val="solid"/>
          </a:ln>
        </p:spPr>
      </p:sp>
      <p:sp>
        <p:nvSpPr>
          <p:cNvPr id="16" name="Text 14"/>
          <p:cNvSpPr/>
          <p:nvPr/>
        </p:nvSpPr>
        <p:spPr>
          <a:xfrm>
            <a:off x="822960" y="3218688"/>
            <a:ext cx="10543032" cy="923544"/>
          </a:xfrm>
          <a:prstGeom prst="rect">
            <a:avLst/>
          </a:prstGeom>
          <a:noFill/>
          <a:ln/>
        </p:spPr>
        <p:txBody>
          <a:bodyPr wrap="square" rtlCol="0" anchor="t"/>
          <a:lstStyle/>
          <a:p>
            <a:pPr indent="0" marL="0">
              <a:buNone/>
            </a:pPr>
            <a:r>
              <a:rPr lang="en-US" sz="1500" b="1" dirty="0">
                <a:solidFill>
                  <a:srgbClr val="1A237E"/>
                </a:solidFill>
                <a:latin typeface="Arial" pitchFamily="34" charset="0"/>
                <a:ea typeface="Arial" pitchFamily="34" charset="-122"/>
                <a:cs typeface="Arial" pitchFamily="34" charset="-120"/>
              </a:rPr>
              <a:t>Un comodín de más es el error más común
</a:t>
            </a:r>
            <a:endParaRPr lang="en-US" sz="1500" dirty="0"/>
          </a:p>
          <a:p>
            <a:pPr indent="0" marL="0">
              <a:buNone/>
            </a:pPr>
            <a:r>
              <a:rPr lang="en-US" sz="1400" dirty="0">
                <a:solidFill>
                  <a:srgbClr val="212121"/>
                </a:solidFill>
                <a:latin typeface="Arial" pitchFamily="34" charset="0"/>
                <a:ea typeface="Arial" pitchFamily="34" charset="-122"/>
                <a:cs typeface="Arial" pitchFamily="34" charset="-120"/>
              </a:rPr>
              <a:t>Una política con "Action": "s3:*" en vez de "s3:GetObject" da permiso para borrar y cambiar todo el almacenamiento, cuando quizás solo hacía falta leer.</a:t>
            </a:r>
            <a:endParaRPr lang="en-US" sz="1500" dirty="0"/>
          </a:p>
        </p:txBody>
      </p:sp>
      <p:sp>
        <p:nvSpPr>
          <p:cNvPr id="17" name="Shape 15"/>
          <p:cNvSpPr/>
          <p:nvPr/>
        </p:nvSpPr>
        <p:spPr>
          <a:xfrm>
            <a:off x="548640" y="4389120"/>
            <a:ext cx="11091672" cy="1371600"/>
          </a:xfrm>
          <a:prstGeom prst="roundRect">
            <a:avLst/>
          </a:prstGeom>
          <a:solidFill>
            <a:srgbClr val="E8EAF6"/>
          </a:solidFill>
          <a:ln w="15875">
            <a:solidFill>
              <a:srgbClr val="3949AB"/>
            </a:solidFill>
            <a:prstDash val="solid"/>
          </a:ln>
        </p:spPr>
      </p:sp>
      <p:sp>
        <p:nvSpPr>
          <p:cNvPr id="18" name="Text 16"/>
          <p:cNvSpPr/>
          <p:nvPr/>
        </p:nvSpPr>
        <p:spPr>
          <a:xfrm>
            <a:off x="731520" y="4462272"/>
            <a:ext cx="10725912" cy="548640"/>
          </a:xfrm>
          <a:prstGeom prst="rect">
            <a:avLst/>
          </a:prstGeom>
          <a:noFill/>
          <a:ln/>
        </p:spPr>
        <p:txBody>
          <a:bodyPr wrap="square" rtlCol="0" anchor="ctr"/>
          <a:lstStyle/>
          <a:p>
            <a:pPr indent="0" marL="0">
              <a:buNone/>
            </a:pPr>
            <a:r>
              <a:rPr lang="en-US" sz="1700" b="1" dirty="0">
                <a:solidFill>
                  <a:srgbClr val="1A237E"/>
                </a:solidFill>
                <a:latin typeface="Arial" pitchFamily="34" charset="0"/>
                <a:ea typeface="Arial" pitchFamily="34" charset="-122"/>
                <a:cs typeface="Arial" pitchFamily="34" charset="-120"/>
              </a:rPr>
              <a:t>MFA: una segunda prueba de identidad</a:t>
            </a:r>
            <a:endParaRPr lang="en-US" sz="1700" dirty="0"/>
          </a:p>
        </p:txBody>
      </p:sp>
      <p:sp>
        <p:nvSpPr>
          <p:cNvPr id="19" name="Text 17"/>
          <p:cNvSpPr/>
          <p:nvPr/>
        </p:nvSpPr>
        <p:spPr>
          <a:xfrm>
            <a:off x="731520" y="5010912"/>
            <a:ext cx="10725912" cy="676656"/>
          </a:xfrm>
          <a:prstGeom prst="rect">
            <a:avLst/>
          </a:prstGeom>
          <a:noFill/>
          <a:ln/>
        </p:spPr>
        <p:txBody>
          <a:bodyPr wrap="square" rtlCol="0" anchor="t"/>
          <a:lstStyle/>
          <a:p>
            <a:pPr indent="0" marL="0">
              <a:buNone/>
            </a:pPr>
            <a:r>
              <a:rPr lang="en-US" sz="1450" dirty="0">
                <a:solidFill>
                  <a:srgbClr val="212121"/>
                </a:solidFill>
                <a:latin typeface="Arial" pitchFamily="34" charset="0"/>
                <a:ea typeface="Arial" pitchFamily="34" charset="-122"/>
                <a:cs typeface="Arial" pitchFamily="34" charset="-120"/>
              </a:rPr>
              <a:t>Un código temporal, además de la contraseña, para operaciones sensibles. En el Learner Lab no lo configuras tú, pero en una cuenta real protege contra una contraseña filtrada.</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Gestión de secretos: nunca en el código ni el repositorio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Shape 3"/>
          <p:cNvSpPr/>
          <p:nvPr/>
        </p:nvSpPr>
        <p:spPr>
          <a:xfrm>
            <a:off x="548640" y="1143000"/>
            <a:ext cx="11091672" cy="86868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68580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Ya aplicaste esta regla en el Tema 3 con la contraseña de la base de datos — hoy se generaliza a cualquier secreto: claves de API, tokens, certificados.</a:t>
            </a:r>
            <a:endParaRPr lang="en-US" sz="1500" dirty="0"/>
          </a:p>
        </p:txBody>
      </p:sp>
      <p:sp>
        <p:nvSpPr>
          <p:cNvPr id="7" name="Shape 5"/>
          <p:cNvSpPr/>
          <p:nvPr/>
        </p:nvSpPr>
        <p:spPr>
          <a:xfrm>
            <a:off x="548640" y="2331720"/>
            <a:ext cx="4174236" cy="777240"/>
          </a:xfrm>
          <a:prstGeom prst="roundRect">
            <a:avLst/>
          </a:prstGeom>
          <a:solidFill>
            <a:srgbClr val="E8EAF6"/>
          </a:solidFill>
          <a:ln w="15875">
            <a:solidFill>
              <a:srgbClr val="3949AB"/>
            </a:solidFill>
            <a:prstDash val="solid"/>
          </a:ln>
        </p:spPr>
      </p:sp>
      <p:sp>
        <p:nvSpPr>
          <p:cNvPr id="8" name="Text 6"/>
          <p:cNvSpPr/>
          <p:nvPr/>
        </p:nvSpPr>
        <p:spPr>
          <a:xfrm>
            <a:off x="640080" y="2331720"/>
            <a:ext cx="3991356"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Secreto</a:t>
            </a:r>
            <a:endParaRPr lang="en-US" sz="1400" dirty="0"/>
          </a:p>
        </p:txBody>
      </p:sp>
      <p:sp>
        <p:nvSpPr>
          <p:cNvPr id="9" name="Shape 7"/>
          <p:cNvSpPr/>
          <p:nvPr/>
        </p:nvSpPr>
        <p:spPr>
          <a:xfrm>
            <a:off x="7466076" y="2331720"/>
            <a:ext cx="4174236" cy="777240"/>
          </a:xfrm>
          <a:prstGeom prst="roundRect">
            <a:avLst/>
          </a:prstGeom>
          <a:solidFill>
            <a:srgbClr val="E8EAF6"/>
          </a:solidFill>
          <a:ln w="15875">
            <a:solidFill>
              <a:srgbClr val="3949AB"/>
            </a:solidFill>
            <a:prstDash val="solid"/>
          </a:ln>
        </p:spPr>
      </p:sp>
      <p:sp>
        <p:nvSpPr>
          <p:cNvPr id="10" name="Text 8"/>
          <p:cNvSpPr/>
          <p:nvPr/>
        </p:nvSpPr>
        <p:spPr>
          <a:xfrm>
            <a:off x="7557516" y="2331720"/>
            <a:ext cx="3991356"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Escrito en el código</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o fichero versionado</a:t>
            </a:r>
            <a:endParaRPr lang="en-US" sz="1400" dirty="0"/>
          </a:p>
        </p:txBody>
      </p:sp>
      <p:sp>
        <p:nvSpPr>
          <p:cNvPr id="11" name="Text 9"/>
          <p:cNvSpPr/>
          <p:nvPr/>
        </p:nvSpPr>
        <p:spPr>
          <a:xfrm>
            <a:off x="4722876" y="2331720"/>
            <a:ext cx="2743200" cy="77724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malo →</a:t>
            </a:r>
            <a:endParaRPr lang="en-US" sz="1300" dirty="0"/>
          </a:p>
        </p:txBody>
      </p:sp>
      <p:sp>
        <p:nvSpPr>
          <p:cNvPr id="12" name="Shape 10"/>
          <p:cNvSpPr/>
          <p:nvPr/>
        </p:nvSpPr>
        <p:spPr>
          <a:xfrm>
            <a:off x="548640" y="3246120"/>
            <a:ext cx="4174236" cy="777240"/>
          </a:xfrm>
          <a:prstGeom prst="roundRect">
            <a:avLst/>
          </a:prstGeom>
          <a:solidFill>
            <a:srgbClr val="E8EAF6"/>
          </a:solidFill>
          <a:ln w="15875">
            <a:solidFill>
              <a:srgbClr val="3949AB"/>
            </a:solidFill>
            <a:prstDash val="solid"/>
          </a:ln>
        </p:spPr>
      </p:sp>
      <p:sp>
        <p:nvSpPr>
          <p:cNvPr id="13" name="Text 11"/>
          <p:cNvSpPr/>
          <p:nvPr/>
        </p:nvSpPr>
        <p:spPr>
          <a:xfrm>
            <a:off x="640080" y="3246120"/>
            <a:ext cx="3991356"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Secreto</a:t>
            </a:r>
            <a:endParaRPr lang="en-US" sz="1400" dirty="0"/>
          </a:p>
        </p:txBody>
      </p:sp>
      <p:sp>
        <p:nvSpPr>
          <p:cNvPr id="14" name="Shape 12"/>
          <p:cNvSpPr/>
          <p:nvPr/>
        </p:nvSpPr>
        <p:spPr>
          <a:xfrm>
            <a:off x="7466076" y="3246120"/>
            <a:ext cx="4174236" cy="777240"/>
          </a:xfrm>
          <a:prstGeom prst="roundRect">
            <a:avLst/>
          </a:prstGeom>
          <a:solidFill>
            <a:srgbClr val="E8EAF6"/>
          </a:solidFill>
          <a:ln w="15875">
            <a:solidFill>
              <a:srgbClr val="3949AB"/>
            </a:solidFill>
            <a:prstDash val="solid"/>
          </a:ln>
        </p:spPr>
      </p:sp>
      <p:sp>
        <p:nvSpPr>
          <p:cNvPr id="15" name="Text 13"/>
          <p:cNvSpPr/>
          <p:nvPr/>
        </p:nvSpPr>
        <p:spPr>
          <a:xfrm>
            <a:off x="7557516" y="3246120"/>
            <a:ext cx="3991356"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Secrets Manager</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resuelto en tiempo de ejecución</a:t>
            </a:r>
            <a:endParaRPr lang="en-US" sz="1400" dirty="0"/>
          </a:p>
        </p:txBody>
      </p:sp>
      <p:sp>
        <p:nvSpPr>
          <p:cNvPr id="16" name="Text 14"/>
          <p:cNvSpPr/>
          <p:nvPr/>
        </p:nvSpPr>
        <p:spPr>
          <a:xfrm>
            <a:off x="4722876" y="3246120"/>
            <a:ext cx="2743200" cy="77724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bueno →</a:t>
            </a:r>
            <a:endParaRPr lang="en-US" sz="1300" dirty="0"/>
          </a:p>
        </p:txBody>
      </p:sp>
      <p:sp>
        <p:nvSpPr>
          <p:cNvPr id="17" name="Shape 15"/>
          <p:cNvSpPr/>
          <p:nvPr/>
        </p:nvSpPr>
        <p:spPr>
          <a:xfrm>
            <a:off x="548640" y="4206240"/>
            <a:ext cx="11091672" cy="1280160"/>
          </a:xfrm>
          <a:prstGeom prst="roundRect">
            <a:avLst/>
          </a:prstGeom>
          <a:solidFill>
            <a:srgbClr val="FFF8E1"/>
          </a:solidFill>
          <a:ln w="28575">
            <a:solidFill>
              <a:srgbClr val="FFA000"/>
            </a:solidFill>
            <a:prstDash val="solid"/>
          </a:ln>
        </p:spPr>
      </p:sp>
      <p:sp>
        <p:nvSpPr>
          <p:cNvPr id="18" name="Text 16"/>
          <p:cNvSpPr/>
          <p:nvPr/>
        </p:nvSpPr>
        <p:spPr>
          <a:xfrm>
            <a:off x="822960" y="4315968"/>
            <a:ext cx="10543032" cy="1060704"/>
          </a:xfrm>
          <a:prstGeom prst="rect">
            <a:avLst/>
          </a:prstGeom>
          <a:noFill/>
          <a:ln/>
        </p:spPr>
        <p:txBody>
          <a:bodyPr wrap="square" rtlCol="0" anchor="t"/>
          <a:lstStyle/>
          <a:p>
            <a:pPr indent="0" marL="0">
              <a:buNone/>
            </a:pPr>
            <a:r>
              <a:rPr lang="en-US" sz="1550" b="1" dirty="0">
                <a:solidFill>
                  <a:srgbClr val="1A237E"/>
                </a:solidFill>
                <a:latin typeface="Arial" pitchFamily="34" charset="0"/>
                <a:ea typeface="Arial" pitchFamily="34" charset="-122"/>
                <a:cs typeface="Arial" pitchFamily="34" charset="-120"/>
              </a:rPr>
              <a:t>Un secreto filtrado sigue expuesto aunque lo borres después
</a:t>
            </a:r>
            <a:endParaRPr lang="en-US" sz="1550" dirty="0"/>
          </a:p>
          <a:p>
            <a:pPr indent="0" marL="0">
              <a:buNone/>
            </a:pPr>
            <a:r>
              <a:rPr lang="en-US" sz="1450" dirty="0">
                <a:solidFill>
                  <a:srgbClr val="212121"/>
                </a:solidFill>
                <a:latin typeface="Arial" pitchFamily="34" charset="0"/>
                <a:ea typeface="Arial" pitchFamily="34" charset="-122"/>
                <a:cs typeface="Arial" pitchFamily="34" charset="-120"/>
              </a:rPr>
              <a:t>El historial de Git conserva versiones anteriores — borrarlo en el commit siguiente no lo elimina. La única solución correcta es rotarlo, nunca solo quitarlo del código.</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Registro de auditoría: quién, cuándo y desde dónde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Shape 3"/>
          <p:cNvSpPr/>
          <p:nvPr/>
        </p:nvSpPr>
        <p:spPr>
          <a:xfrm>
            <a:off x="548640" y="1143000"/>
            <a:ext cx="11091672" cy="86868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68580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CloudTrail guarda un histórico de quién ha hecho qué, cuándo y desde dónde — cada llamada a la API queda registrada, por consola o por CLI.</a:t>
            </a:r>
            <a:endParaRPr lang="en-US" sz="1500" dirty="0"/>
          </a:p>
        </p:txBody>
      </p:sp>
      <p:sp>
        <p:nvSpPr>
          <p:cNvPr id="7" name="Shape 5"/>
          <p:cNvSpPr/>
          <p:nvPr/>
        </p:nvSpPr>
        <p:spPr>
          <a:xfrm>
            <a:off x="548640" y="2331720"/>
            <a:ext cx="11091672" cy="2103120"/>
          </a:xfrm>
          <a:prstGeom prst="roundRect">
            <a:avLst/>
          </a:prstGeom>
          <a:solidFill>
            <a:srgbClr val="E8EAF6"/>
          </a:solidFill>
          <a:ln w="15875">
            <a:solidFill>
              <a:srgbClr val="3949AB"/>
            </a:solidFill>
            <a:prstDash val="solid"/>
          </a:ln>
        </p:spPr>
      </p:sp>
      <p:sp>
        <p:nvSpPr>
          <p:cNvPr id="8" name="Text 6"/>
          <p:cNvSpPr/>
          <p:nvPr/>
        </p:nvSpPr>
        <p:spPr>
          <a:xfrm>
            <a:off x="731520" y="2404872"/>
            <a:ext cx="10725912" cy="548640"/>
          </a:xfrm>
          <a:prstGeom prst="rect">
            <a:avLst/>
          </a:prstGeom>
          <a:noFill/>
          <a:ln/>
        </p:spPr>
        <p:txBody>
          <a:bodyPr wrap="square" rtlCol="0" anchor="ctr"/>
          <a:lstStyle/>
          <a:p>
            <a:pPr indent="0" marL="0">
              <a:buNone/>
            </a:pPr>
            <a:r>
              <a:rPr lang="en-US" sz="1900" b="1" dirty="0">
                <a:solidFill>
                  <a:srgbClr val="1A237E"/>
                </a:solidFill>
                <a:latin typeface="Arial" pitchFamily="34" charset="0"/>
                <a:ea typeface="Arial" pitchFamily="34" charset="-122"/>
                <a:cs typeface="Arial" pitchFamily="34" charset="-120"/>
              </a:rPr>
              <a:t>Auditoría aplicada a un caso real</a:t>
            </a:r>
            <a:endParaRPr lang="en-US" sz="1900" dirty="0"/>
          </a:p>
        </p:txBody>
      </p:sp>
      <p:sp>
        <p:nvSpPr>
          <p:cNvPr id="9" name="Text 7"/>
          <p:cNvSpPr/>
          <p:nvPr/>
        </p:nvSpPr>
        <p:spPr>
          <a:xfrm>
            <a:off x="731520" y="2953512"/>
            <a:ext cx="10725912" cy="1408176"/>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Un grupo de seguridad tenía una regla que no debería estar ahí. Las métricas y los registros te dijeron qué estaba fallando; el registro de auditoría te dice quién cambió esa regla y cuándo — la pieza que faltaba para entender el origen, no solo el síntoma.</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Ideas clave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5: Identidad y gestión de accesos</a:t>
            </a:r>
            <a:endParaRPr lang="en-US" sz="1100" dirty="0"/>
          </a:p>
        </p:txBody>
      </p:sp>
      <p:sp>
        <p:nvSpPr>
          <p:cNvPr id="5" name="Shape 3"/>
          <p:cNvSpPr/>
          <p:nvPr/>
        </p:nvSpPr>
        <p:spPr>
          <a:xfrm>
            <a:off x="548640" y="1280160"/>
            <a:ext cx="5431536" cy="1325880"/>
          </a:xfrm>
          <a:prstGeom prst="roundRect">
            <a:avLst/>
          </a:prstGeom>
          <a:solidFill>
            <a:srgbClr val="E8EAF6"/>
          </a:solidFill>
          <a:ln w="15875">
            <a:solidFill>
              <a:srgbClr val="3949AB"/>
            </a:solidFill>
            <a:prstDash val="solid"/>
          </a:ln>
        </p:spPr>
      </p:sp>
      <p:sp>
        <p:nvSpPr>
          <p:cNvPr id="6" name="Shape 4"/>
          <p:cNvSpPr/>
          <p:nvPr/>
        </p:nvSpPr>
        <p:spPr>
          <a:xfrm>
            <a:off x="731520" y="1650492"/>
            <a:ext cx="566928" cy="566928"/>
          </a:xfrm>
          <a:prstGeom prst="ellipse">
            <a:avLst/>
          </a:prstGeom>
          <a:solidFill>
            <a:srgbClr val="3949AB"/>
          </a:solidFill>
          <a:ln w="12700">
            <a:solidFill>
              <a:srgbClr val="3949AB"/>
            </a:solidFill>
            <a:prstDash val="solid"/>
          </a:ln>
        </p:spPr>
      </p:sp>
      <p:sp>
        <p:nvSpPr>
          <p:cNvPr id="7" name="Text 5"/>
          <p:cNvSpPr/>
          <p:nvPr/>
        </p:nvSpPr>
        <p:spPr>
          <a:xfrm>
            <a:off x="731520" y="1650492"/>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8" name="Text 6"/>
          <p:cNvSpPr/>
          <p:nvPr/>
        </p:nvSpPr>
        <p:spPr>
          <a:xfrm>
            <a:off x="1417320" y="1280160"/>
            <a:ext cx="4379976" cy="13258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 rol se presta temporalmente, con credenciales que caducan; un usuario tiene credenciales fijas — el Learner Lab usa un rol preasignado.</a:t>
            </a:r>
            <a:endParaRPr lang="en-US" sz="1500" dirty="0"/>
          </a:p>
        </p:txBody>
      </p:sp>
      <p:sp>
        <p:nvSpPr>
          <p:cNvPr id="9" name="Shape 7"/>
          <p:cNvSpPr/>
          <p:nvPr/>
        </p:nvSpPr>
        <p:spPr>
          <a:xfrm>
            <a:off x="6208776" y="1280160"/>
            <a:ext cx="5431536" cy="1325880"/>
          </a:xfrm>
          <a:prstGeom prst="roundRect">
            <a:avLst/>
          </a:prstGeom>
          <a:solidFill>
            <a:srgbClr val="E8EAF6"/>
          </a:solidFill>
          <a:ln w="15875">
            <a:solidFill>
              <a:srgbClr val="3949AB"/>
            </a:solidFill>
            <a:prstDash val="solid"/>
          </a:ln>
        </p:spPr>
      </p:sp>
      <p:sp>
        <p:nvSpPr>
          <p:cNvPr id="10" name="Shape 8"/>
          <p:cNvSpPr/>
          <p:nvPr/>
        </p:nvSpPr>
        <p:spPr>
          <a:xfrm>
            <a:off x="6391656" y="1650492"/>
            <a:ext cx="566928" cy="566928"/>
          </a:xfrm>
          <a:prstGeom prst="ellipse">
            <a:avLst/>
          </a:prstGeom>
          <a:solidFill>
            <a:srgbClr val="3949AB"/>
          </a:solidFill>
          <a:ln w="12700">
            <a:solidFill>
              <a:srgbClr val="3949AB"/>
            </a:solidFill>
            <a:prstDash val="solid"/>
          </a:ln>
        </p:spPr>
      </p:sp>
      <p:sp>
        <p:nvSpPr>
          <p:cNvPr id="11" name="Text 9"/>
          <p:cNvSpPr/>
          <p:nvPr/>
        </p:nvSpPr>
        <p:spPr>
          <a:xfrm>
            <a:off x="6391656" y="1650492"/>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2" name="Text 10"/>
          <p:cNvSpPr/>
          <p:nvPr/>
        </p:nvSpPr>
        <p:spPr>
          <a:xfrm>
            <a:off x="7077456" y="1280160"/>
            <a:ext cx="4379976" cy="13258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Una política se lee en cuatro campos: efecto, acción, recurso y condición.</a:t>
            </a:r>
            <a:endParaRPr lang="en-US" sz="1500" dirty="0"/>
          </a:p>
        </p:txBody>
      </p:sp>
      <p:sp>
        <p:nvSpPr>
          <p:cNvPr id="13" name="Shape 11"/>
          <p:cNvSpPr/>
          <p:nvPr/>
        </p:nvSpPr>
        <p:spPr>
          <a:xfrm>
            <a:off x="548640" y="2834640"/>
            <a:ext cx="5431536" cy="1325880"/>
          </a:xfrm>
          <a:prstGeom prst="roundRect">
            <a:avLst/>
          </a:prstGeom>
          <a:solidFill>
            <a:srgbClr val="E8EAF6"/>
          </a:solidFill>
          <a:ln w="15875">
            <a:solidFill>
              <a:srgbClr val="3949AB"/>
            </a:solidFill>
            <a:prstDash val="solid"/>
          </a:ln>
        </p:spPr>
      </p:sp>
      <p:sp>
        <p:nvSpPr>
          <p:cNvPr id="14" name="Shape 12"/>
          <p:cNvSpPr/>
          <p:nvPr/>
        </p:nvSpPr>
        <p:spPr>
          <a:xfrm>
            <a:off x="731520" y="3204972"/>
            <a:ext cx="566928" cy="566928"/>
          </a:xfrm>
          <a:prstGeom prst="ellipse">
            <a:avLst/>
          </a:prstGeom>
          <a:solidFill>
            <a:srgbClr val="3949AB"/>
          </a:solidFill>
          <a:ln w="12700">
            <a:solidFill>
              <a:srgbClr val="3949AB"/>
            </a:solidFill>
            <a:prstDash val="solid"/>
          </a:ln>
        </p:spPr>
      </p:sp>
      <p:sp>
        <p:nvSpPr>
          <p:cNvPr id="15" name="Text 13"/>
          <p:cNvSpPr/>
          <p:nvPr/>
        </p:nvSpPr>
        <p:spPr>
          <a:xfrm>
            <a:off x="731520" y="3204972"/>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6" name="Text 14"/>
          <p:cNvSpPr/>
          <p:nvPr/>
        </p:nvSpPr>
        <p:spPr>
          <a:xfrm>
            <a:off x="1417320" y="2834640"/>
            <a:ext cx="4379976" cy="13258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Gana siempre el orden fijo: un Deny explícito primero, luego un Allow explícito, y si nadie dice nada, deniega por defecto.</a:t>
            </a:r>
            <a:endParaRPr lang="en-US" sz="1500" dirty="0"/>
          </a:p>
        </p:txBody>
      </p:sp>
      <p:sp>
        <p:nvSpPr>
          <p:cNvPr id="17" name="Shape 15"/>
          <p:cNvSpPr/>
          <p:nvPr/>
        </p:nvSpPr>
        <p:spPr>
          <a:xfrm>
            <a:off x="6208776" y="2834640"/>
            <a:ext cx="5431536" cy="1325880"/>
          </a:xfrm>
          <a:prstGeom prst="roundRect">
            <a:avLst/>
          </a:prstGeom>
          <a:solidFill>
            <a:srgbClr val="E8EAF6"/>
          </a:solidFill>
          <a:ln w="15875">
            <a:solidFill>
              <a:srgbClr val="3949AB"/>
            </a:solidFill>
            <a:prstDash val="solid"/>
          </a:ln>
        </p:spPr>
      </p:sp>
      <p:sp>
        <p:nvSpPr>
          <p:cNvPr id="18" name="Shape 16"/>
          <p:cNvSpPr/>
          <p:nvPr/>
        </p:nvSpPr>
        <p:spPr>
          <a:xfrm>
            <a:off x="6391656" y="3204972"/>
            <a:ext cx="566928" cy="566928"/>
          </a:xfrm>
          <a:prstGeom prst="ellipse">
            <a:avLst/>
          </a:prstGeom>
          <a:solidFill>
            <a:srgbClr val="3949AB"/>
          </a:solidFill>
          <a:ln w="12700">
            <a:solidFill>
              <a:srgbClr val="3949AB"/>
            </a:solidFill>
            <a:prstDash val="solid"/>
          </a:ln>
        </p:spPr>
      </p:sp>
      <p:sp>
        <p:nvSpPr>
          <p:cNvPr id="19" name="Text 17"/>
          <p:cNvSpPr/>
          <p:nvPr/>
        </p:nvSpPr>
        <p:spPr>
          <a:xfrm>
            <a:off x="6391656" y="3204972"/>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0" name="Text 18"/>
          <p:cNvSpPr/>
          <p:nvPr/>
        </p:nvSpPr>
        <p:spPr>
          <a:xfrm>
            <a:off x="7077456" y="2834640"/>
            <a:ext cx="4379976" cy="13258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El mínimo privilegio limita el alcance de cualquier fallo; un comodín de más es el error más común que lo rompe.</a:t>
            </a:r>
            <a:endParaRPr lang="en-US" sz="1500" dirty="0"/>
          </a:p>
        </p:txBody>
      </p:sp>
      <p:sp>
        <p:nvSpPr>
          <p:cNvPr id="21" name="Shape 19"/>
          <p:cNvSpPr/>
          <p:nvPr/>
        </p:nvSpPr>
        <p:spPr>
          <a:xfrm>
            <a:off x="548640" y="4389120"/>
            <a:ext cx="5431536" cy="1325880"/>
          </a:xfrm>
          <a:prstGeom prst="roundRect">
            <a:avLst/>
          </a:prstGeom>
          <a:solidFill>
            <a:srgbClr val="E8EAF6"/>
          </a:solidFill>
          <a:ln w="15875">
            <a:solidFill>
              <a:srgbClr val="3949AB"/>
            </a:solidFill>
            <a:prstDash val="solid"/>
          </a:ln>
        </p:spPr>
      </p:sp>
      <p:sp>
        <p:nvSpPr>
          <p:cNvPr id="22" name="Shape 20"/>
          <p:cNvSpPr/>
          <p:nvPr/>
        </p:nvSpPr>
        <p:spPr>
          <a:xfrm>
            <a:off x="731520" y="4759452"/>
            <a:ext cx="566928" cy="566928"/>
          </a:xfrm>
          <a:prstGeom prst="ellipse">
            <a:avLst/>
          </a:prstGeom>
          <a:solidFill>
            <a:srgbClr val="3949AB"/>
          </a:solidFill>
          <a:ln w="12700">
            <a:solidFill>
              <a:srgbClr val="3949AB"/>
            </a:solidFill>
            <a:prstDash val="solid"/>
          </a:ln>
        </p:spPr>
      </p:sp>
      <p:sp>
        <p:nvSpPr>
          <p:cNvPr id="23" name="Text 21"/>
          <p:cNvSpPr/>
          <p:nvPr/>
        </p:nvSpPr>
        <p:spPr>
          <a:xfrm>
            <a:off x="731520" y="4759452"/>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24" name="Text 22"/>
          <p:cNvSpPr/>
          <p:nvPr/>
        </p:nvSpPr>
        <p:spPr>
          <a:xfrm>
            <a:off x="1417320" y="4389120"/>
            <a:ext cx="4379976" cy="13258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Ningún secreto va nunca en texto plano en un fichero versionado — si uno se filtra, la solución es rotarlo, no solo borrarlo.</a:t>
            </a:r>
            <a:endParaRPr lang="en-US" sz="1500" dirty="0"/>
          </a:p>
        </p:txBody>
      </p:sp>
      <p:sp>
        <p:nvSpPr>
          <p:cNvPr id="25" name="Shape 23"/>
          <p:cNvSpPr/>
          <p:nvPr/>
        </p:nvSpPr>
        <p:spPr>
          <a:xfrm>
            <a:off x="6208776" y="4389120"/>
            <a:ext cx="5431536" cy="1325880"/>
          </a:xfrm>
          <a:prstGeom prst="roundRect">
            <a:avLst/>
          </a:prstGeom>
          <a:solidFill>
            <a:srgbClr val="E8EAF6"/>
          </a:solidFill>
          <a:ln w="15875">
            <a:solidFill>
              <a:srgbClr val="3949AB"/>
            </a:solidFill>
            <a:prstDash val="solid"/>
          </a:ln>
        </p:spPr>
      </p:sp>
      <p:sp>
        <p:nvSpPr>
          <p:cNvPr id="26" name="Shape 24"/>
          <p:cNvSpPr/>
          <p:nvPr/>
        </p:nvSpPr>
        <p:spPr>
          <a:xfrm>
            <a:off x="6391656" y="4759452"/>
            <a:ext cx="566928" cy="566928"/>
          </a:xfrm>
          <a:prstGeom prst="ellipse">
            <a:avLst/>
          </a:prstGeom>
          <a:solidFill>
            <a:srgbClr val="3949AB"/>
          </a:solidFill>
          <a:ln w="12700">
            <a:solidFill>
              <a:srgbClr val="3949AB"/>
            </a:solidFill>
            <a:prstDash val="solid"/>
          </a:ln>
        </p:spPr>
      </p:sp>
      <p:sp>
        <p:nvSpPr>
          <p:cNvPr id="27" name="Text 25"/>
          <p:cNvSpPr/>
          <p:nvPr/>
        </p:nvSpPr>
        <p:spPr>
          <a:xfrm>
            <a:off x="6391656" y="4759452"/>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28" name="Text 26"/>
          <p:cNvSpPr/>
          <p:nvPr/>
        </p:nvSpPr>
        <p:spPr>
          <a:xfrm>
            <a:off x="7077456" y="4389120"/>
            <a:ext cx="4379976" cy="13258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El registro de auditoría responde a quién ha hecho qué y cuándo — la pieza que completa el diagnóstico, más allá de métricas y registros.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Identidad y gestión de accesos</dc:title>
  <dc:subject>PptxGenJS Presentation</dc:subject>
  <dc:creator>Introducción a la Nube Pública</dc:creator>
  <cp:lastModifiedBy>Introducción a la Nube Pública</cp:lastModifiedBy>
  <cp:revision>1</cp:revision>
  <dcterms:created xsi:type="dcterms:W3CDTF">2026-09-23T10:01:12Z</dcterms:created>
  <dcterms:modified xsi:type="dcterms:W3CDTF">2026-09-23T10:01:12Z</dcterms:modified>
</cp:coreProperties>
</file>