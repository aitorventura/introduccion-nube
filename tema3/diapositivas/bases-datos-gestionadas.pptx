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37E"/>
        </a:solidFill>
      </p:bgPr>
    </p:bg>
    <p:spTree>
      <p:nvGrpSpPr>
        <p:cNvPr id="1" name=""/>
        <p:cNvGrpSpPr/>
        <p:nvPr/>
      </p:nvGrpSpPr>
      <p:grpSpPr>
        <a:xfrm>
          <a:off x="0" y="0"/>
          <a:ext cx="0" cy="0"/>
          <a:chOff x="0" y="0"/>
          <a:chExt cx="0" cy="0"/>
        </a:xfrm>
      </p:grpSpPr>
      <p:sp>
        <p:nvSpPr>
          <p:cNvPr id="2" name="Text 0"/>
          <p:cNvSpPr/>
          <p:nvPr/>
        </p:nvSpPr>
        <p:spPr>
          <a:xfrm>
            <a:off x="548640" y="502920"/>
            <a:ext cx="11091672" cy="411480"/>
          </a:xfrm>
          <a:prstGeom prst="rect">
            <a:avLst/>
          </a:prstGeom>
          <a:noFill/>
          <a:ln/>
        </p:spPr>
        <p:txBody>
          <a:bodyPr wrap="square" rtlCol="0" anchor="ctr"/>
          <a:lstStyle/>
          <a:p>
            <a:pPr indent="0" marL="0">
              <a:buNone/>
            </a:pPr>
            <a:r>
              <a:rPr lang="en-US" sz="1400" dirty="0">
                <a:solidFill>
                  <a:srgbClr val="C5CAE9"/>
                </a:solidFill>
                <a:latin typeface="Arial" pitchFamily="34" charset="0"/>
                <a:ea typeface="Arial" pitchFamily="34" charset="-122"/>
                <a:cs typeface="Arial" pitchFamily="34" charset="-120"/>
              </a:rPr>
              <a:t>INTRODUCCIÓN A LA NUBE PÚBLICA  —  TEMA 3: ALMACENAMIENTO, DATOS Y PRIMERA ARQUITECTURA</a:t>
            </a:r>
            <a:endParaRPr lang="en-US" sz="1400" dirty="0"/>
          </a:p>
        </p:txBody>
      </p:sp>
      <p:sp>
        <p:nvSpPr>
          <p:cNvPr id="3" name="Text 1"/>
          <p:cNvSpPr/>
          <p:nvPr/>
        </p:nvSpPr>
        <p:spPr>
          <a:xfrm>
            <a:off x="548640" y="1554480"/>
            <a:ext cx="11091672" cy="2377440"/>
          </a:xfrm>
          <a:prstGeom prst="rect">
            <a:avLst/>
          </a:prstGeom>
          <a:noFill/>
          <a:ln/>
        </p:spPr>
        <p:txBody>
          <a:bodyPr wrap="square" rtlCol="0" anchor="ctr"/>
          <a:lstStyle/>
          <a:p>
            <a:pPr algn="l" indent="0" marL="0">
              <a:buNone/>
            </a:pPr>
            <a:r>
              <a:rPr lang="en-US" sz="4000" b="1" dirty="0">
                <a:solidFill>
                  <a:srgbClr val="FFFFFF"/>
                </a:solidFill>
                <a:latin typeface="Arial" pitchFamily="34" charset="0"/>
                <a:ea typeface="Arial" pitchFamily="34" charset="-122"/>
                <a:cs typeface="Arial" pitchFamily="34" charset="-120"/>
              </a:rPr>
              <a:t>Bases de datos gestionadas</a:t>
            </a:r>
            <a:endParaRPr lang="en-US" sz="4000" dirty="0"/>
          </a:p>
        </p:txBody>
      </p:sp>
      <p:sp>
        <p:nvSpPr>
          <p:cNvPr id="4" name="Shape 2"/>
          <p:cNvSpPr/>
          <p:nvPr/>
        </p:nvSpPr>
        <p:spPr>
          <a:xfrm>
            <a:off x="0" y="5120640"/>
            <a:ext cx="12188952" cy="914400"/>
          </a:xfrm>
          <a:prstGeom prst="rect">
            <a:avLst/>
          </a:prstGeom>
          <a:solidFill>
            <a:srgbClr val="FFA000"/>
          </a:solidFill>
          <a:ln w="12700">
            <a:solidFill>
              <a:srgbClr val="FFA000"/>
            </a:solidFill>
            <a:prstDash val="solid"/>
          </a:ln>
        </p:spPr>
      </p:sp>
      <p:sp>
        <p:nvSpPr>
          <p:cNvPr id="5" name="Text 3"/>
          <p:cNvSpPr/>
          <p:nvPr/>
        </p:nvSpPr>
        <p:spPr>
          <a:xfrm>
            <a:off x="548640" y="5120640"/>
            <a:ext cx="11091672" cy="914400"/>
          </a:xfrm>
          <a:prstGeom prst="rect">
            <a:avLst/>
          </a:prstGeom>
          <a:noFill/>
          <a:ln/>
        </p:spPr>
        <p:txBody>
          <a:bodyPr wrap="square" rtlCol="0" anchor="ctr"/>
          <a:lstStyle/>
          <a:p>
            <a:pPr indent="0" marL="0">
              <a:buNone/>
            </a:pPr>
            <a:r>
              <a:rPr lang="en-US" sz="2000" i="1" dirty="0">
                <a:solidFill>
                  <a:srgbClr val="FFFFFF"/>
                </a:solidFill>
                <a:latin typeface="Arial" pitchFamily="34" charset="0"/>
                <a:ea typeface="Arial" pitchFamily="34" charset="-122"/>
                <a:cs typeface="Arial" pitchFamily="34" charset="-120"/>
              </a:rPr>
              <a:t>Tema 3 — Almacenamiento, datos y primera arquitectura</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Bases de datos gestionadas</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3: Bases de datos gestionadas</a:t>
            </a:r>
            <a:endParaRPr lang="en-US" sz="1100" dirty="0"/>
          </a:p>
        </p:txBody>
      </p:sp>
      <p:sp>
        <p:nvSpPr>
          <p:cNvPr id="5" name="Shape 3"/>
          <p:cNvSpPr/>
          <p:nvPr/>
        </p:nvSpPr>
        <p:spPr>
          <a:xfrm>
            <a:off x="548640" y="1188720"/>
            <a:ext cx="11091672" cy="1554480"/>
          </a:xfrm>
          <a:prstGeom prst="roundRect">
            <a:avLst/>
          </a:prstGeom>
          <a:solidFill>
            <a:srgbClr val="E8EAF6"/>
          </a:solidFill>
          <a:ln w="15875">
            <a:solidFill>
              <a:srgbClr val="3949AB"/>
            </a:solidFill>
            <a:prstDash val="solid"/>
          </a:ln>
        </p:spPr>
      </p:sp>
      <p:sp>
        <p:nvSpPr>
          <p:cNvPr id="6" name="Text 4"/>
          <p:cNvSpPr/>
          <p:nvPr/>
        </p:nvSpPr>
        <p:spPr>
          <a:xfrm>
            <a:off x="731520" y="1261872"/>
            <a:ext cx="10725912" cy="548640"/>
          </a:xfrm>
          <a:prstGeom prst="rect">
            <a:avLst/>
          </a:prstGeom>
          <a:noFill/>
          <a:ln/>
        </p:spPr>
        <p:txBody>
          <a:bodyPr wrap="square" rtlCol="0" anchor="ctr"/>
          <a:lstStyle/>
          <a:p>
            <a:pPr indent="0" marL="0">
              <a:buNone/>
            </a:pPr>
            <a:r>
              <a:rPr lang="en-US" sz="2000" b="1" dirty="0">
                <a:solidFill>
                  <a:srgbClr val="1A237E"/>
                </a:solidFill>
                <a:latin typeface="Arial" pitchFamily="34" charset="0"/>
                <a:ea typeface="Arial" pitchFamily="34" charset="-122"/>
                <a:cs typeface="Arial" pitchFamily="34" charset="-120"/>
              </a:rPr>
              <a:t>De ficheros a filas y relaciones</a:t>
            </a:r>
            <a:endParaRPr lang="en-US" sz="2000" dirty="0"/>
          </a:p>
        </p:txBody>
      </p:sp>
      <p:sp>
        <p:nvSpPr>
          <p:cNvPr id="7" name="Text 5"/>
          <p:cNvSpPr/>
          <p:nvPr/>
        </p:nvSpPr>
        <p:spPr>
          <a:xfrm>
            <a:off x="731520" y="1810512"/>
            <a:ext cx="10725912" cy="859536"/>
          </a:xfrm>
          <a:prstGeom prst="rect">
            <a:avLst/>
          </a:prstGeom>
          <a:noFill/>
          <a:ln/>
        </p:spPr>
        <p:txBody>
          <a:bodyPr wrap="square" rtlCol="0" anchor="t"/>
          <a:lstStyle/>
          <a:p>
            <a:pPr indent="0" marL="0">
              <a:buNone/>
            </a:pPr>
            <a:r>
              <a:rPr lang="en-US" sz="1600" dirty="0">
                <a:solidFill>
                  <a:srgbClr val="212121"/>
                </a:solidFill>
                <a:latin typeface="Arial" pitchFamily="34" charset="0"/>
                <a:ea typeface="Arial" pitchFamily="34" charset="-122"/>
                <a:cs typeface="Arial" pitchFamily="34" charset="-120"/>
              </a:rPr>
              <a:t>Hasta ahora tus datos han vivido en ficheros: un front en S3, unas imágenes en EFS. Hoy llega la primera pieza que necesita algo más estructurado.</a:t>
            </a:r>
            <a:endParaRPr lang="en-US" sz="1600" dirty="0"/>
          </a:p>
        </p:txBody>
      </p:sp>
      <p:sp>
        <p:nvSpPr>
          <p:cNvPr id="8" name="Text 6"/>
          <p:cNvSpPr/>
          <p:nvPr/>
        </p:nvSpPr>
        <p:spPr>
          <a:xfrm>
            <a:off x="548640" y="2971800"/>
            <a:ext cx="11091672" cy="365760"/>
          </a:xfrm>
          <a:prstGeom prst="rect">
            <a:avLst/>
          </a:prstGeom>
          <a:noFill/>
          <a:ln/>
        </p:spPr>
        <p:txBody>
          <a:bodyPr wrap="square" rtlCol="0" anchor="ctr"/>
          <a:lstStyle/>
          <a:p>
            <a:pPr indent="0" marL="0">
              <a:buNone/>
            </a:pPr>
            <a:r>
              <a:rPr lang="en-US" sz="1500" b="1" dirty="0">
                <a:solidFill>
                  <a:srgbClr val="3949AB"/>
                </a:solidFill>
                <a:latin typeface="Arial" pitchFamily="34" charset="0"/>
                <a:ea typeface="Arial" pitchFamily="34" charset="-122"/>
                <a:cs typeface="Arial" pitchFamily="34" charset="-120"/>
              </a:rPr>
              <a:t>Dos piezas nuevas</a:t>
            </a:r>
            <a:endParaRPr lang="en-US" sz="1500" dirty="0"/>
          </a:p>
        </p:txBody>
      </p:sp>
      <p:sp>
        <p:nvSpPr>
          <p:cNvPr id="9" name="Shape 7"/>
          <p:cNvSpPr/>
          <p:nvPr/>
        </p:nvSpPr>
        <p:spPr>
          <a:xfrm>
            <a:off x="548640" y="3383280"/>
            <a:ext cx="5362956" cy="1920240"/>
          </a:xfrm>
          <a:prstGeom prst="roundRect">
            <a:avLst/>
          </a:prstGeom>
          <a:solidFill>
            <a:srgbClr val="E8EAF6"/>
          </a:solidFill>
          <a:ln w="15875">
            <a:solidFill>
              <a:srgbClr val="3949AB"/>
            </a:solidFill>
            <a:prstDash val="solid"/>
          </a:ln>
        </p:spPr>
      </p:sp>
      <p:sp>
        <p:nvSpPr>
          <p:cNvPr id="10" name="Text 8"/>
          <p:cNvSpPr/>
          <p:nvPr/>
        </p:nvSpPr>
        <p:spPr>
          <a:xfrm>
            <a:off x="731520" y="3456432"/>
            <a:ext cx="4997196" cy="548640"/>
          </a:xfrm>
          <a:prstGeom prst="rect">
            <a:avLst/>
          </a:prstGeom>
          <a:noFill/>
          <a:ln/>
        </p:spPr>
        <p:txBody>
          <a:bodyPr wrap="square" rtlCol="0" anchor="ctr"/>
          <a:lstStyle/>
          <a:p>
            <a:pPr indent="0" marL="0">
              <a:buNone/>
            </a:pPr>
            <a:r>
              <a:rPr lang="en-US" sz="1800" b="1" dirty="0">
                <a:solidFill>
                  <a:srgbClr val="1A237E"/>
                </a:solidFill>
                <a:latin typeface="Arial" pitchFamily="34" charset="0"/>
                <a:ea typeface="Arial" pitchFamily="34" charset="-122"/>
                <a:cs typeface="Arial" pitchFamily="34" charset="-120"/>
              </a:rPr>
              <a:t>Base de datos relacional</a:t>
            </a:r>
            <a:endParaRPr lang="en-US" sz="1800" dirty="0"/>
          </a:p>
        </p:txBody>
      </p:sp>
      <p:sp>
        <p:nvSpPr>
          <p:cNvPr id="11" name="Text 9"/>
          <p:cNvSpPr/>
          <p:nvPr/>
        </p:nvSpPr>
        <p:spPr>
          <a:xfrm>
            <a:off x="731520" y="4005072"/>
            <a:ext cx="4997196" cy="1225296"/>
          </a:xfrm>
          <a:prstGeom prst="rect">
            <a:avLst/>
          </a:prstGeom>
          <a:noFill/>
          <a:ln/>
        </p:spPr>
        <p:txBody>
          <a:bodyPr wrap="square" rtlCol="0" anchor="t"/>
          <a:lstStyle/>
          <a:p>
            <a:pPr indent="0" marL="0">
              <a:buNone/>
            </a:pPr>
            <a:r>
              <a:rPr lang="en-US" sz="1500" dirty="0">
                <a:solidFill>
                  <a:srgbClr val="212121"/>
                </a:solidFill>
                <a:latin typeface="Arial" pitchFamily="34" charset="0"/>
                <a:ea typeface="Arial" pitchFamily="34" charset="-122"/>
                <a:cs typeface="Arial" pitchFamily="34" charset="-120"/>
              </a:rPr>
              <a:t>Guarda la información en tablas con filas y columnas, relacionadas entre sí — un libro pertenece a una categoría, aparece en varios préstamos.</a:t>
            </a:r>
            <a:endParaRPr lang="en-US" sz="1500" dirty="0"/>
          </a:p>
        </p:txBody>
      </p:sp>
      <p:sp>
        <p:nvSpPr>
          <p:cNvPr id="12" name="Shape 10"/>
          <p:cNvSpPr/>
          <p:nvPr/>
        </p:nvSpPr>
        <p:spPr>
          <a:xfrm>
            <a:off x="6277356" y="3383280"/>
            <a:ext cx="5362956" cy="1920240"/>
          </a:xfrm>
          <a:prstGeom prst="roundRect">
            <a:avLst/>
          </a:prstGeom>
          <a:solidFill>
            <a:srgbClr val="E8EAF6"/>
          </a:solidFill>
          <a:ln w="15875">
            <a:solidFill>
              <a:srgbClr val="3949AB"/>
            </a:solidFill>
            <a:prstDash val="solid"/>
          </a:ln>
        </p:spPr>
      </p:sp>
      <p:sp>
        <p:nvSpPr>
          <p:cNvPr id="13" name="Text 11"/>
          <p:cNvSpPr/>
          <p:nvPr/>
        </p:nvSpPr>
        <p:spPr>
          <a:xfrm>
            <a:off x="6460236" y="3456432"/>
            <a:ext cx="4997196" cy="548640"/>
          </a:xfrm>
          <a:prstGeom prst="rect">
            <a:avLst/>
          </a:prstGeom>
          <a:noFill/>
          <a:ln/>
        </p:spPr>
        <p:txBody>
          <a:bodyPr wrap="square" rtlCol="0" anchor="ctr"/>
          <a:lstStyle/>
          <a:p>
            <a:pPr indent="0" marL="0">
              <a:buNone/>
            </a:pPr>
            <a:r>
              <a:rPr lang="en-US" sz="1800" b="1" dirty="0">
                <a:solidFill>
                  <a:srgbClr val="1A237E"/>
                </a:solidFill>
                <a:latin typeface="Arial" pitchFamily="34" charset="0"/>
                <a:ea typeface="Arial" pitchFamily="34" charset="-122"/>
                <a:cs typeface="Arial" pitchFamily="34" charset="-120"/>
              </a:rPr>
              <a:t>Motor de base de datos</a:t>
            </a:r>
            <a:endParaRPr lang="en-US" sz="1800" dirty="0"/>
          </a:p>
        </p:txBody>
      </p:sp>
      <p:sp>
        <p:nvSpPr>
          <p:cNvPr id="14" name="Text 12"/>
          <p:cNvSpPr/>
          <p:nvPr/>
        </p:nvSpPr>
        <p:spPr>
          <a:xfrm>
            <a:off x="6460236" y="4005072"/>
            <a:ext cx="4997196" cy="1225296"/>
          </a:xfrm>
          <a:prstGeom prst="rect">
            <a:avLst/>
          </a:prstGeom>
          <a:noFill/>
          <a:ln/>
        </p:spPr>
        <p:txBody>
          <a:bodyPr wrap="square" rtlCol="0" anchor="t"/>
          <a:lstStyle/>
          <a:p>
            <a:pPr indent="0" marL="0">
              <a:buNone/>
            </a:pPr>
            <a:r>
              <a:rPr lang="en-US" sz="1500" dirty="0">
                <a:solidFill>
                  <a:srgbClr val="212121"/>
                </a:solidFill>
                <a:latin typeface="Arial" pitchFamily="34" charset="0"/>
                <a:ea typeface="Arial" pitchFamily="34" charset="-122"/>
                <a:cs typeface="Arial" pitchFamily="34" charset="-120"/>
              </a:rPr>
              <a:t>El programa que la gestiona (como PostgreSQL): guarda los datos en disco, responde consultas y evita que se corrompan aunque lleguen a la vez.</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Instalar frente a consumir como servicio</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3: Bases de datos gestionadas</a:t>
            </a:r>
            <a:endParaRPr lang="en-US" sz="1100" dirty="0"/>
          </a:p>
        </p:txBody>
      </p:sp>
      <p:sp>
        <p:nvSpPr>
          <p:cNvPr id="5" name="Shape 3"/>
          <p:cNvSpPr/>
          <p:nvPr/>
        </p:nvSpPr>
        <p:spPr>
          <a:xfrm>
            <a:off x="548640" y="1143000"/>
            <a:ext cx="11091672" cy="868680"/>
          </a:xfrm>
          <a:prstGeom prst="roundRect">
            <a:avLst/>
          </a:prstGeom>
          <a:solidFill>
            <a:srgbClr val="FFF8E1"/>
          </a:solidFill>
          <a:ln w="19050">
            <a:solidFill>
              <a:srgbClr val="FFA000"/>
            </a:solidFill>
            <a:prstDash val="solid"/>
          </a:ln>
        </p:spPr>
      </p:sp>
      <p:sp>
        <p:nvSpPr>
          <p:cNvPr id="6" name="Text 4"/>
          <p:cNvSpPr/>
          <p:nvPr/>
        </p:nvSpPr>
        <p:spPr>
          <a:xfrm>
            <a:off x="822960" y="1234440"/>
            <a:ext cx="10543032" cy="68580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Instalar PostgreSQL en una EC2 te da control total. RDS —Relational Database Service— se queda con buena parte del trabajo operativo, a cambio de que renuncies al sistema operativo por debajo.</a:t>
            </a:r>
            <a:endParaRPr lang="en-US" sz="15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2148840"/>
          <a:ext cx="11091672" cy="914400"/>
        </p:xfrm>
        <a:graphic>
          <a:graphicData uri="http://schemas.openxmlformats.org/drawingml/2006/table">
            <a:tbl>
              <a:tblPr/>
              <a:tblGrid>
                <a:gridCol w="3105668"/>
                <a:gridCol w="3993002"/>
                <a:gridCol w="3993002"/>
              </a:tblGrid>
              <a:tr h="502920">
                <a:tc>
                  <a:txBody>
                    <a:bodyPr/>
                    <a:lstStyle/>
                    <a:p>
                      <a:pPr algn="ctr" indent="0" marL="0">
                        <a:buNone/>
                      </a:pP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Instalada por ti</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Gestionada (RDS)</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r>
              <a:tr h="502920">
                <a:tc>
                  <a:txBody>
                    <a:bodyPr/>
                    <a:lstStyle/>
                    <a:p>
                      <a:pPr indent="0" marL="0">
                        <a:buNone/>
                      </a:pPr>
                      <a:r>
                        <a:rPr lang="en-US" sz="1250" b="1" dirty="0">
                          <a:solidFill>
                            <a:srgbClr val="212121"/>
                          </a:solidFill>
                          <a:latin typeface="Arial" pitchFamily="34" charset="0"/>
                          <a:ea typeface="Arial" pitchFamily="34" charset="-122"/>
                          <a:cs typeface="Arial" pitchFamily="34" charset="-120"/>
                        </a:rPr>
                        <a:t>Tamaño de cómputo</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Tipo de instancia EC2</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Clase db.* — mismo catálogo, prefijo db.</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502920">
                <a:tc>
                  <a:txBody>
                    <a:bodyPr/>
                    <a:lstStyle/>
                    <a:p>
                      <a:pPr indent="0" marL="0">
                        <a:buNone/>
                      </a:pPr>
                      <a:r>
                        <a:rPr lang="en-US" sz="1250" b="1" dirty="0">
                          <a:solidFill>
                            <a:srgbClr val="212121"/>
                          </a:solidFill>
                          <a:latin typeface="Arial" pitchFamily="34" charset="0"/>
                          <a:ea typeface="Arial" pitchFamily="34" charset="-122"/>
                          <a:cs typeface="Arial" pitchFamily="34" charset="-120"/>
                        </a:rPr>
                        <a:t>Parches del motor</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Los aplicas tú</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AWS, en ventana de mantenimiento</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502920">
                <a:tc>
                  <a:txBody>
                    <a:bodyPr/>
                    <a:lstStyle/>
                    <a:p>
                      <a:pPr indent="0" marL="0">
                        <a:buNone/>
                      </a:pPr>
                      <a:r>
                        <a:rPr lang="en-US" sz="1250" b="1" dirty="0">
                          <a:solidFill>
                            <a:srgbClr val="212121"/>
                          </a:solidFill>
                          <a:latin typeface="Arial" pitchFamily="34" charset="0"/>
                          <a:ea typeface="Arial" pitchFamily="34" charset="-122"/>
                          <a:cs typeface="Arial" pitchFamily="34" charset="-120"/>
                        </a:rPr>
                        <a:t>Copias de seguridad</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Las configuras y vigilas tú</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Automáticas, con recuperación a un punto</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502920">
                <a:tc>
                  <a:txBody>
                    <a:bodyPr/>
                    <a:lstStyle/>
                    <a:p>
                      <a:pPr indent="0" marL="0">
                        <a:buNone/>
                      </a:pPr>
                      <a:r>
                        <a:rPr lang="en-US" sz="1250" b="1" dirty="0">
                          <a:solidFill>
                            <a:srgbClr val="212121"/>
                          </a:solidFill>
                          <a:latin typeface="Arial" pitchFamily="34" charset="0"/>
                          <a:ea typeface="Arial" pitchFamily="34" charset="-122"/>
                          <a:cs typeface="Arial" pitchFamily="34" charset="-120"/>
                        </a:rPr>
                        <a:t>Conmutación por error</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La montas tú, si la necesitas</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Incluida si activas Multi-AZ</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502920">
                <a:tc>
                  <a:txBody>
                    <a:bodyPr/>
                    <a:lstStyle/>
                    <a:p>
                      <a:pPr indent="0" marL="0">
                        <a:buNone/>
                      </a:pPr>
                      <a:r>
                        <a:rPr lang="en-US" sz="1250" b="1" dirty="0">
                          <a:solidFill>
                            <a:srgbClr val="212121"/>
                          </a:solidFill>
                          <a:latin typeface="Arial" pitchFamily="34" charset="0"/>
                          <a:ea typeface="Arial" pitchFamily="34" charset="-122"/>
                          <a:cs typeface="Arial" pitchFamily="34" charset="-120"/>
                        </a:rPr>
                        <a:t>Acceso al sistema operativo</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Total</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Ninguno — ni por SSH</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502920">
                <a:tc>
                  <a:txBody>
                    <a:bodyPr/>
                    <a:lstStyle/>
                    <a:p>
                      <a:pPr indent="0" marL="0">
                        <a:buNone/>
                      </a:pPr>
                      <a:r>
                        <a:rPr lang="en-US" sz="1250" b="1" dirty="0">
                          <a:solidFill>
                            <a:srgbClr val="212121"/>
                          </a:solidFill>
                          <a:latin typeface="Arial" pitchFamily="34" charset="0"/>
                          <a:ea typeface="Arial" pitchFamily="34" charset="-122"/>
                          <a:cs typeface="Arial" pitchFamily="34" charset="-120"/>
                        </a:rPr>
                        <a:t>Versión exacta y extensiones</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Total</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El que RDS permita para ese motor</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El mismo trabajo, en manos distintas</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3: Bases de datos gestionadas</a:t>
            </a:r>
            <a:endParaRPr lang="en-US" sz="1100" dirty="0"/>
          </a:p>
        </p:txBody>
      </p:sp>
      <p:sp>
        <p:nvSpPr>
          <p:cNvPr id="5" name="Shape 3"/>
          <p:cNvSpPr/>
          <p:nvPr/>
        </p:nvSpPr>
        <p:spPr>
          <a:xfrm>
            <a:off x="548640" y="1188720"/>
            <a:ext cx="11091672" cy="1737360"/>
          </a:xfrm>
          <a:prstGeom prst="roundRect">
            <a:avLst/>
          </a:prstGeom>
          <a:solidFill>
            <a:srgbClr val="E8EAF6"/>
          </a:solidFill>
          <a:ln w="15875">
            <a:solidFill>
              <a:srgbClr val="3949AB"/>
            </a:solidFill>
            <a:prstDash val="solid"/>
          </a:ln>
        </p:spPr>
      </p:sp>
      <p:sp>
        <p:nvSpPr>
          <p:cNvPr id="6" name="Text 4"/>
          <p:cNvSpPr/>
          <p:nvPr/>
        </p:nvSpPr>
        <p:spPr>
          <a:xfrm>
            <a:off x="731520" y="1261872"/>
            <a:ext cx="10725912" cy="548640"/>
          </a:xfrm>
          <a:prstGeom prst="rect">
            <a:avLst/>
          </a:prstGeom>
          <a:noFill/>
          <a:ln/>
        </p:spPr>
        <p:txBody>
          <a:bodyPr wrap="square" rtlCol="0" anchor="ctr"/>
          <a:lstStyle/>
          <a:p>
            <a:pPr indent="0" marL="0">
              <a:buNone/>
            </a:pPr>
            <a:r>
              <a:rPr lang="en-US" sz="1900" b="1" dirty="0">
                <a:solidFill>
                  <a:srgbClr val="1A237E"/>
                </a:solidFill>
                <a:latin typeface="Arial" pitchFamily="34" charset="0"/>
                <a:ea typeface="Arial" pitchFamily="34" charset="-122"/>
                <a:cs typeface="Arial" pitchFamily="34" charset="-120"/>
              </a:rPr>
              <a:t>Coche propio, o coche con conductor</a:t>
            </a:r>
            <a:endParaRPr lang="en-US" sz="1900" dirty="0"/>
          </a:p>
        </p:txBody>
      </p:sp>
      <p:sp>
        <p:nvSpPr>
          <p:cNvPr id="7" name="Text 5"/>
          <p:cNvSpPr/>
          <p:nvPr/>
        </p:nvSpPr>
        <p:spPr>
          <a:xfrm>
            <a:off x="731520" y="1810512"/>
            <a:ext cx="10725912" cy="1042416"/>
          </a:xfrm>
          <a:prstGeom prst="rect">
            <a:avLst/>
          </a:prstGeom>
          <a:noFill/>
          <a:ln/>
        </p:spPr>
        <p:txBody>
          <a:bodyPr wrap="square" rtlCol="0" anchor="t"/>
          <a:lstStyle/>
          <a:p>
            <a:pPr indent="0" marL="0">
              <a:buNone/>
            </a:pPr>
            <a:r>
              <a:rPr lang="en-US" sz="1500" dirty="0">
                <a:solidFill>
                  <a:srgbClr val="212121"/>
                </a:solidFill>
                <a:latin typeface="Arial" pitchFamily="34" charset="0"/>
                <a:ea typeface="Arial" pitchFamily="34" charset="-122"/>
                <a:cs typeface="Arial" pitchFamily="34" charset="-120"/>
              </a:rPr>
              <a:t>Con el tuyo decides el mecánico, el taller, cuándo lo revisas — pero si se avería un domingo, el problema es tuyo. Con el servicio, no eliges el mecánico ni ves el motor por dentro, pero si falla, no es tu problema resolverlo: te mandan otro. Ninguna opción es «la buena» en abstracto — es la escalera IaaS→PaaS→SaaS de la sesión 1, aplicada a bases de datos.</a:t>
            </a:r>
            <a:endParaRPr lang="en-US" sz="1500" dirty="0"/>
          </a:p>
        </p:txBody>
      </p:sp>
      <p:sp>
        <p:nvSpPr>
          <p:cNvPr id="8" name="Shape 6"/>
          <p:cNvSpPr/>
          <p:nvPr/>
        </p:nvSpPr>
        <p:spPr>
          <a:xfrm>
            <a:off x="548640" y="3246120"/>
            <a:ext cx="11091672" cy="1691640"/>
          </a:xfrm>
          <a:prstGeom prst="roundRect">
            <a:avLst/>
          </a:prstGeom>
          <a:solidFill>
            <a:srgbClr val="FFF8E1"/>
          </a:solidFill>
          <a:ln w="28575">
            <a:solidFill>
              <a:srgbClr val="FFA000"/>
            </a:solidFill>
            <a:prstDash val="solid"/>
          </a:ln>
        </p:spPr>
      </p:sp>
      <p:sp>
        <p:nvSpPr>
          <p:cNvPr id="9" name="Text 7"/>
          <p:cNvSpPr/>
          <p:nvPr/>
        </p:nvSpPr>
        <p:spPr>
          <a:xfrm>
            <a:off x="822960" y="3355848"/>
            <a:ext cx="10543032" cy="1472184"/>
          </a:xfrm>
          <a:prstGeom prst="rect">
            <a:avLst/>
          </a:prstGeom>
          <a:noFill/>
          <a:ln/>
        </p:spPr>
        <p:txBody>
          <a:bodyPr wrap="square" rtlCol="0" anchor="t"/>
          <a:lstStyle/>
          <a:p>
            <a:pPr indent="0" marL="0">
              <a:buNone/>
            </a:pPr>
            <a:r>
              <a:rPr lang="en-US" sz="1700" b="1" dirty="0">
                <a:solidFill>
                  <a:srgbClr val="1A237E"/>
                </a:solidFill>
                <a:latin typeface="Arial" pitchFamily="34" charset="0"/>
                <a:ea typeface="Arial" pitchFamily="34" charset="-122"/>
                <a:cs typeface="Arial" pitchFamily="34" charset="-120"/>
              </a:rPr>
              <a:t>RDS no es solo PostgreSQL
</a:t>
            </a:r>
            <a:endParaRPr lang="en-US" sz="1700" dirty="0"/>
          </a:p>
          <a:p>
            <a:pPr indent="0" marL="0">
              <a:buNone/>
            </a:pPr>
            <a:r>
              <a:rPr lang="en-US" sz="1600" dirty="0">
                <a:solidFill>
                  <a:srgbClr val="212121"/>
                </a:solidFill>
                <a:latin typeface="Arial" pitchFamily="34" charset="0"/>
                <a:ea typeface="Arial" pitchFamily="34" charset="-122"/>
                <a:cs typeface="Arial" pitchFamily="34" charset="-120"/>
              </a:rPr>
              <a:t>Hoy trabajas con PostgreSQL porque es el motor de la Actividad 3.2, pero RDS gestiona también MySQL, MariaDB, SQL Server, Oracle, e incluso Aurora — un motor propio de AWS compatible con MySQL y PostgreSQL pero reescrito para ir más rápido y tolerar fallos mejor.</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Subred privada y grupos de seguridad de datos</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3: Bases de datos gestionadas</a:t>
            </a:r>
            <a:endParaRPr lang="en-US" sz="1100" dirty="0"/>
          </a:p>
        </p:txBody>
      </p:sp>
      <p:sp>
        <p:nvSpPr>
          <p:cNvPr id="5" name="Shape 3"/>
          <p:cNvSpPr/>
          <p:nvPr/>
        </p:nvSpPr>
        <p:spPr>
          <a:xfrm>
            <a:off x="548640" y="1143000"/>
            <a:ext cx="11091672" cy="868680"/>
          </a:xfrm>
          <a:prstGeom prst="roundRect">
            <a:avLst/>
          </a:prstGeom>
          <a:solidFill>
            <a:srgbClr val="FFF8E1"/>
          </a:solidFill>
          <a:ln w="19050">
            <a:solidFill>
              <a:srgbClr val="FFA000"/>
            </a:solidFill>
            <a:prstDash val="solid"/>
          </a:ln>
        </p:spPr>
      </p:sp>
      <p:sp>
        <p:nvSpPr>
          <p:cNvPr id="6" name="Text 4"/>
          <p:cNvSpPr/>
          <p:nvPr/>
        </p:nvSpPr>
        <p:spPr>
          <a:xfrm>
            <a:off x="822960" y="1234440"/>
            <a:ext cx="10543032" cy="68580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La base de datos va, sin excepción, en subred privada. RDS necesita su propio grupo de seguridad: una única regla de entrada, el puerto de la base de datos, y solo desde el grupo de seguridad de la aplicación.</a:t>
            </a:r>
            <a:endParaRPr lang="en-US" sz="1500" dirty="0"/>
          </a:p>
        </p:txBody>
      </p:sp>
      <p:sp>
        <p:nvSpPr>
          <p:cNvPr id="7" name="Shape 5"/>
          <p:cNvSpPr/>
          <p:nvPr/>
        </p:nvSpPr>
        <p:spPr>
          <a:xfrm>
            <a:off x="548640" y="2286000"/>
            <a:ext cx="4174236" cy="822960"/>
          </a:xfrm>
          <a:prstGeom prst="roundRect">
            <a:avLst/>
          </a:prstGeom>
          <a:solidFill>
            <a:srgbClr val="E8EAF6"/>
          </a:solidFill>
          <a:ln w="15875">
            <a:solidFill>
              <a:srgbClr val="3949AB"/>
            </a:solidFill>
            <a:prstDash val="solid"/>
          </a:ln>
        </p:spPr>
      </p:sp>
      <p:sp>
        <p:nvSpPr>
          <p:cNvPr id="8" name="Text 6"/>
          <p:cNvSpPr/>
          <p:nvPr/>
        </p:nvSpPr>
        <p:spPr>
          <a:xfrm>
            <a:off x="640080" y="2286000"/>
            <a:ext cx="3991356" cy="822960"/>
          </a:xfrm>
          <a:prstGeom prst="rect">
            <a:avLst/>
          </a:prstGeom>
          <a:noFill/>
          <a:ln/>
        </p:spPr>
        <p:txBody>
          <a:bodyPr wrap="square" rtlCol="0" anchor="ctr"/>
          <a:lstStyle/>
          <a:p>
            <a:pPr algn="ctr" indent="0" marL="0">
              <a:buNone/>
            </a:pPr>
            <a:r>
              <a:rPr lang="en-US" sz="1600" dirty="0">
                <a:solidFill>
                  <a:srgbClr val="212121"/>
                </a:solidFill>
                <a:latin typeface="Arial" pitchFamily="34" charset="0"/>
                <a:ea typeface="Arial" pitchFamily="34" charset="-122"/>
                <a:cs typeface="Arial" pitchFamily="34" charset="-120"/>
              </a:rPr>
              <a:t>🌍 Internet</a:t>
            </a:r>
            <a:endParaRPr lang="en-US" sz="1600" dirty="0"/>
          </a:p>
        </p:txBody>
      </p:sp>
      <p:sp>
        <p:nvSpPr>
          <p:cNvPr id="9" name="Shape 7"/>
          <p:cNvSpPr/>
          <p:nvPr/>
        </p:nvSpPr>
        <p:spPr>
          <a:xfrm>
            <a:off x="7466076" y="2286000"/>
            <a:ext cx="4174236" cy="822960"/>
          </a:xfrm>
          <a:prstGeom prst="roundRect">
            <a:avLst/>
          </a:prstGeom>
          <a:solidFill>
            <a:srgbClr val="E8EAF6"/>
          </a:solidFill>
          <a:ln w="15875">
            <a:solidFill>
              <a:srgbClr val="3949AB"/>
            </a:solidFill>
            <a:prstDash val="solid"/>
          </a:ln>
        </p:spPr>
      </p:sp>
      <p:sp>
        <p:nvSpPr>
          <p:cNvPr id="10" name="Text 8"/>
          <p:cNvSpPr/>
          <p:nvPr/>
        </p:nvSpPr>
        <p:spPr>
          <a:xfrm>
            <a:off x="7557516" y="2286000"/>
            <a:ext cx="3991356" cy="822960"/>
          </a:xfrm>
          <a:prstGeom prst="rect">
            <a:avLst/>
          </a:prstGeom>
          <a:noFill/>
          <a:ln/>
        </p:spPr>
        <p:txBody>
          <a:bodyPr wrap="square" rtlCol="0" anchor="ctr"/>
          <a:lstStyle/>
          <a:p>
            <a:pPr algn="ctr" indent="0" marL="0">
              <a:buNone/>
            </a:pPr>
            <a:r>
              <a:rPr lang="en-US" sz="1600" dirty="0">
                <a:solidFill>
                  <a:srgbClr val="212121"/>
                </a:solidFill>
                <a:latin typeface="Arial" pitchFamily="34" charset="0"/>
                <a:ea typeface="Arial" pitchFamily="34" charset="-122"/>
                <a:cs typeface="Arial" pitchFamily="34" charset="-120"/>
              </a:rPr>
              <a:t>🗄️ RDS</a:t>
            </a:r>
            <a:endParaRPr lang="en-US" sz="1600" dirty="0"/>
          </a:p>
          <a:p>
            <a:pPr algn="ctr" indent="0" marL="0">
              <a:buNone/>
            </a:pPr>
            <a:r>
              <a:rPr lang="en-US" sz="1600" dirty="0">
                <a:solidFill>
                  <a:srgbClr val="212121"/>
                </a:solidFill>
                <a:latin typeface="Arial" pitchFamily="34" charset="0"/>
                <a:ea typeface="Arial" pitchFamily="34" charset="-122"/>
                <a:cs typeface="Arial" pitchFamily="34" charset="-120"/>
              </a:rPr>
              <a:t>(subred privada)</a:t>
            </a:r>
            <a:endParaRPr lang="en-US" sz="1600" dirty="0"/>
          </a:p>
        </p:txBody>
      </p:sp>
      <p:sp>
        <p:nvSpPr>
          <p:cNvPr id="11" name="Text 9"/>
          <p:cNvSpPr/>
          <p:nvPr/>
        </p:nvSpPr>
        <p:spPr>
          <a:xfrm>
            <a:off x="4722876" y="2286000"/>
            <a:ext cx="2743200" cy="822960"/>
          </a:xfrm>
          <a:prstGeom prst="rect">
            <a:avLst/>
          </a:prstGeom>
          <a:noFill/>
          <a:ln/>
        </p:spPr>
        <p:txBody>
          <a:bodyPr wrap="square" rtlCol="0" anchor="ctr"/>
          <a:lstStyle/>
          <a:p>
            <a:pPr algn="ctr" indent="0" marL="0">
              <a:buNone/>
            </a:pPr>
            <a:r>
              <a:rPr lang="en-US" sz="1300" b="1" dirty="0">
                <a:solidFill>
                  <a:srgbClr val="1A237E"/>
                </a:solidFill>
                <a:latin typeface="Arial" pitchFamily="34" charset="0"/>
                <a:ea typeface="Arial" pitchFamily="34" charset="-122"/>
                <a:cs typeface="Arial" pitchFamily="34" charset="-120"/>
              </a:rPr>
              <a:t>❌</a:t>
            </a:r>
            <a:endParaRPr lang="en-US" sz="1300" dirty="0"/>
          </a:p>
        </p:txBody>
      </p:sp>
      <p:sp>
        <p:nvSpPr>
          <p:cNvPr id="12" name="Shape 10"/>
          <p:cNvSpPr/>
          <p:nvPr/>
        </p:nvSpPr>
        <p:spPr>
          <a:xfrm>
            <a:off x="548640" y="3337560"/>
            <a:ext cx="4174236" cy="822960"/>
          </a:xfrm>
          <a:prstGeom prst="roundRect">
            <a:avLst/>
          </a:prstGeom>
          <a:solidFill>
            <a:srgbClr val="E8EAF6"/>
          </a:solidFill>
          <a:ln w="15875">
            <a:solidFill>
              <a:srgbClr val="3949AB"/>
            </a:solidFill>
            <a:prstDash val="solid"/>
          </a:ln>
        </p:spPr>
      </p:sp>
      <p:sp>
        <p:nvSpPr>
          <p:cNvPr id="13" name="Text 11"/>
          <p:cNvSpPr/>
          <p:nvPr/>
        </p:nvSpPr>
        <p:spPr>
          <a:xfrm>
            <a:off x="640080" y="3337560"/>
            <a:ext cx="3991356" cy="822960"/>
          </a:xfrm>
          <a:prstGeom prst="rect">
            <a:avLst/>
          </a:prstGeom>
          <a:noFill/>
          <a:ln/>
        </p:spPr>
        <p:txBody>
          <a:bodyPr wrap="square" rtlCol="0" anchor="ctr"/>
          <a:lstStyle/>
          <a:p>
            <a:pPr algn="ctr" indent="0" marL="0">
              <a:buNone/>
            </a:pPr>
            <a:r>
              <a:rPr lang="en-US" sz="1500" dirty="0">
                <a:solidFill>
                  <a:srgbClr val="212121"/>
                </a:solidFill>
                <a:latin typeface="Arial" pitchFamily="34" charset="0"/>
                <a:ea typeface="Arial" pitchFamily="34" charset="-122"/>
                <a:cs typeface="Arial" pitchFamily="34" charset="-120"/>
              </a:rPr>
              <a:t>⚙️ Instancia de</a:t>
            </a:r>
            <a:endParaRPr lang="en-US" sz="1500" dirty="0"/>
          </a:p>
          <a:p>
            <a:pPr algn="ctr" indent="0" marL="0">
              <a:buNone/>
            </a:pPr>
            <a:r>
              <a:rPr lang="en-US" sz="1500" dirty="0">
                <a:solidFill>
                  <a:srgbClr val="212121"/>
                </a:solidFill>
                <a:latin typeface="Arial" pitchFamily="34" charset="0"/>
                <a:ea typeface="Arial" pitchFamily="34" charset="-122"/>
                <a:cs typeface="Arial" pitchFamily="34" charset="-120"/>
              </a:rPr>
              <a:t>la aplicación</a:t>
            </a:r>
            <a:endParaRPr lang="en-US" sz="1500" dirty="0"/>
          </a:p>
        </p:txBody>
      </p:sp>
      <p:sp>
        <p:nvSpPr>
          <p:cNvPr id="14" name="Shape 12"/>
          <p:cNvSpPr/>
          <p:nvPr/>
        </p:nvSpPr>
        <p:spPr>
          <a:xfrm>
            <a:off x="7466076" y="3337560"/>
            <a:ext cx="4174236" cy="822960"/>
          </a:xfrm>
          <a:prstGeom prst="roundRect">
            <a:avLst/>
          </a:prstGeom>
          <a:solidFill>
            <a:srgbClr val="E8EAF6"/>
          </a:solidFill>
          <a:ln w="15875">
            <a:solidFill>
              <a:srgbClr val="3949AB"/>
            </a:solidFill>
            <a:prstDash val="solid"/>
          </a:ln>
        </p:spPr>
      </p:sp>
      <p:sp>
        <p:nvSpPr>
          <p:cNvPr id="15" name="Text 13"/>
          <p:cNvSpPr/>
          <p:nvPr/>
        </p:nvSpPr>
        <p:spPr>
          <a:xfrm>
            <a:off x="7557516" y="3337560"/>
            <a:ext cx="3991356" cy="822960"/>
          </a:xfrm>
          <a:prstGeom prst="rect">
            <a:avLst/>
          </a:prstGeom>
          <a:noFill/>
          <a:ln/>
        </p:spPr>
        <p:txBody>
          <a:bodyPr wrap="square" rtlCol="0" anchor="ctr"/>
          <a:lstStyle/>
          <a:p>
            <a:pPr algn="ctr" indent="0" marL="0">
              <a:buNone/>
            </a:pPr>
            <a:r>
              <a:rPr lang="en-US" sz="1500" dirty="0">
                <a:solidFill>
                  <a:srgbClr val="212121"/>
                </a:solidFill>
                <a:latin typeface="Arial" pitchFamily="34" charset="0"/>
                <a:ea typeface="Arial" pitchFamily="34" charset="-122"/>
                <a:cs typeface="Arial" pitchFamily="34" charset="-120"/>
              </a:rPr>
              <a:t>🗄️ RDS</a:t>
            </a:r>
            <a:endParaRPr lang="en-US" sz="1500" dirty="0"/>
          </a:p>
          <a:p>
            <a:pPr algn="ctr" indent="0" marL="0">
              <a:buNone/>
            </a:pPr>
            <a:r>
              <a:rPr lang="en-US" sz="1500" dirty="0">
                <a:solidFill>
                  <a:srgbClr val="212121"/>
                </a:solidFill>
                <a:latin typeface="Arial" pitchFamily="34" charset="0"/>
                <a:ea typeface="Arial" pitchFamily="34" charset="-122"/>
                <a:cs typeface="Arial" pitchFamily="34" charset="-120"/>
              </a:rPr>
              <a:t>(subred privada)</a:t>
            </a:r>
            <a:endParaRPr lang="en-US" sz="1500" dirty="0"/>
          </a:p>
        </p:txBody>
      </p:sp>
      <p:sp>
        <p:nvSpPr>
          <p:cNvPr id="16" name="Text 14"/>
          <p:cNvSpPr/>
          <p:nvPr/>
        </p:nvSpPr>
        <p:spPr>
          <a:xfrm>
            <a:off x="4722876" y="3337560"/>
            <a:ext cx="2743200" cy="822960"/>
          </a:xfrm>
          <a:prstGeom prst="rect">
            <a:avLst/>
          </a:prstGeom>
          <a:noFill/>
          <a:ln/>
        </p:spPr>
        <p:txBody>
          <a:bodyPr wrap="square" rtlCol="0" anchor="ctr"/>
          <a:lstStyle/>
          <a:p>
            <a:pPr algn="ctr" indent="0" marL="0">
              <a:buNone/>
            </a:pPr>
            <a:r>
              <a:rPr lang="en-US" sz="1300" b="1" i="1" dirty="0">
                <a:solidFill>
                  <a:srgbClr val="3949AB"/>
                </a:solidFill>
                <a:latin typeface="Arial" pitchFamily="34" charset="0"/>
                <a:ea typeface="Arial" pitchFamily="34" charset="-122"/>
                <a:cs typeface="Arial" pitchFamily="34" charset="-120"/>
              </a:rPr>
              <a:t>puerto 5432</a:t>
            </a:r>
            <a:endParaRPr lang="en-US" sz="1300" dirty="0"/>
          </a:p>
          <a:p>
            <a:pPr algn="ctr" indent="0" marL="0">
              <a:buNone/>
            </a:pPr>
            <a:r>
              <a:rPr lang="en-US" sz="1300" b="1" i="1" dirty="0">
                <a:solidFill>
                  <a:srgbClr val="3949AB"/>
                </a:solidFill>
                <a:latin typeface="Arial" pitchFamily="34" charset="0"/>
                <a:ea typeface="Arial" pitchFamily="34" charset="-122"/>
                <a:cs typeface="Arial" pitchFamily="34" charset="-120"/>
              </a:rPr>
              <a:t>solo desde su SG →</a:t>
            </a:r>
            <a:endParaRPr lang="en-US" sz="1300" dirty="0"/>
          </a:p>
        </p:txBody>
      </p:sp>
      <p:sp>
        <p:nvSpPr>
          <p:cNvPr id="17" name="Shape 15"/>
          <p:cNvSpPr/>
          <p:nvPr/>
        </p:nvSpPr>
        <p:spPr>
          <a:xfrm>
            <a:off x="548640" y="4480560"/>
            <a:ext cx="11091672" cy="1508760"/>
          </a:xfrm>
          <a:prstGeom prst="roundRect">
            <a:avLst/>
          </a:prstGeom>
          <a:solidFill>
            <a:srgbClr val="FFF8E1"/>
          </a:solidFill>
          <a:ln w="28575">
            <a:solidFill>
              <a:srgbClr val="FFA000"/>
            </a:solidFill>
            <a:prstDash val="solid"/>
          </a:ln>
        </p:spPr>
      </p:sp>
      <p:sp>
        <p:nvSpPr>
          <p:cNvPr id="18" name="Text 16"/>
          <p:cNvSpPr/>
          <p:nvPr/>
        </p:nvSpPr>
        <p:spPr>
          <a:xfrm>
            <a:off x="822960" y="4590288"/>
            <a:ext cx="10543032" cy="1289304"/>
          </a:xfrm>
          <a:prstGeom prst="rect">
            <a:avLst/>
          </a:prstGeom>
          <a:noFill/>
          <a:ln/>
        </p:spPr>
        <p:txBody>
          <a:bodyPr wrap="square" rtlCol="0" anchor="t"/>
          <a:lstStyle/>
          <a:p>
            <a:pPr indent="0" marL="0">
              <a:buNone/>
            </a:pPr>
            <a:r>
              <a:rPr lang="en-US" sz="1600" b="1" dirty="0">
                <a:solidFill>
                  <a:srgbClr val="1A237E"/>
                </a:solidFill>
                <a:latin typeface="Arial" pitchFamily="34" charset="0"/>
                <a:ea typeface="Arial" pitchFamily="34" charset="-122"/>
                <a:cs typeface="Arial" pitchFamily="34" charset="-120"/>
              </a:rPr>
              <a:t>No es un escenario hipotético
</a:t>
            </a:r>
            <a:endParaRPr lang="en-US" sz="1600" dirty="0"/>
          </a:p>
          <a:p>
            <a:pPr indent="0" marL="0">
              <a:buNone/>
            </a:pPr>
            <a:r>
              <a:rPr lang="en-US" sz="1500" dirty="0">
                <a:solidFill>
                  <a:srgbClr val="212121"/>
                </a:solidFill>
                <a:latin typeface="Arial" pitchFamily="34" charset="0"/>
                <a:ea typeface="Arial" pitchFamily="34" charset="-122"/>
                <a:cs typeface="Arial" pitchFamily="34" charset="-120"/>
              </a:rPr>
              <a:t>Bases de datos con el puerto abierto a 0.0.0.0/0 y sin contraseña son de los hallazgos más habituales al escanear internet. «Solo desde el grupo de seguridad de la aplicación» no es una buena práctica opcional — es la diferencia entre privada de verdad y privada solo en apariencia.</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La contraseña no se escribe en ningún sitio</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3: Bases de datos gestionadas</a:t>
            </a:r>
            <a:endParaRPr lang="en-US" sz="1100" dirty="0"/>
          </a:p>
        </p:txBody>
      </p:sp>
      <p:sp>
        <p:nvSpPr>
          <p:cNvPr id="5" name="Shape 3"/>
          <p:cNvSpPr/>
          <p:nvPr/>
        </p:nvSpPr>
        <p:spPr>
          <a:xfrm>
            <a:off x="548640" y="1143000"/>
            <a:ext cx="11091672" cy="868680"/>
          </a:xfrm>
          <a:prstGeom prst="roundRect">
            <a:avLst/>
          </a:prstGeom>
          <a:solidFill>
            <a:srgbClr val="FFF8E1"/>
          </a:solidFill>
          <a:ln w="19050">
            <a:solidFill>
              <a:srgbClr val="FFA000"/>
            </a:solidFill>
            <a:prstDash val="solid"/>
          </a:ln>
        </p:spPr>
      </p:sp>
      <p:sp>
        <p:nvSpPr>
          <p:cNvPr id="6" name="Text 4"/>
          <p:cNvSpPr/>
          <p:nvPr/>
        </p:nvSpPr>
        <p:spPr>
          <a:xfrm>
            <a:off x="822960" y="1234440"/>
            <a:ext cx="10543032" cy="68580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Escribir la contraseña en el código o en un fichero que subes al repositorio significa que cualquiera con acceso a ese código la tiene también a ella. Secrets Manager la guarda cifrada y fuera del código.</a:t>
            </a:r>
            <a:endParaRPr lang="en-US" sz="1500" dirty="0"/>
          </a:p>
        </p:txBody>
      </p:sp>
      <p:sp>
        <p:nvSpPr>
          <p:cNvPr id="7" name="Shape 5"/>
          <p:cNvSpPr/>
          <p:nvPr/>
        </p:nvSpPr>
        <p:spPr>
          <a:xfrm>
            <a:off x="548640" y="2286000"/>
            <a:ext cx="4174236" cy="822960"/>
          </a:xfrm>
          <a:prstGeom prst="roundRect">
            <a:avLst/>
          </a:prstGeom>
          <a:solidFill>
            <a:srgbClr val="E8EAF6"/>
          </a:solidFill>
          <a:ln w="15875">
            <a:solidFill>
              <a:srgbClr val="3949AB"/>
            </a:solidFill>
            <a:prstDash val="solid"/>
          </a:ln>
        </p:spPr>
      </p:sp>
      <p:sp>
        <p:nvSpPr>
          <p:cNvPr id="8" name="Text 6"/>
          <p:cNvSpPr/>
          <p:nvPr/>
        </p:nvSpPr>
        <p:spPr>
          <a:xfrm>
            <a:off x="640080" y="2286000"/>
            <a:ext cx="3991356" cy="822960"/>
          </a:xfrm>
          <a:prstGeom prst="rect">
            <a:avLst/>
          </a:prstGeom>
          <a:noFill/>
          <a:ln/>
        </p:spPr>
        <p:txBody>
          <a:bodyPr wrap="square" rtlCol="0" anchor="ctr"/>
          <a:lstStyle/>
          <a:p>
            <a:pPr algn="ctr" indent="0" marL="0">
              <a:buNone/>
            </a:pPr>
            <a:r>
              <a:rPr lang="en-US" sz="1500" dirty="0">
                <a:solidFill>
                  <a:srgbClr val="212121"/>
                </a:solidFill>
                <a:latin typeface="Arial" pitchFamily="34" charset="0"/>
                <a:ea typeface="Arial" pitchFamily="34" charset="-122"/>
                <a:cs typeface="Arial" pitchFamily="34" charset="-120"/>
              </a:rPr>
              <a:t>🗄️ RDS genera</a:t>
            </a:r>
            <a:endParaRPr lang="en-US" sz="1500" dirty="0"/>
          </a:p>
          <a:p>
            <a:pPr algn="ctr" indent="0" marL="0">
              <a:buNone/>
            </a:pPr>
            <a:r>
              <a:rPr lang="en-US" sz="1500" dirty="0">
                <a:solidFill>
                  <a:srgbClr val="212121"/>
                </a:solidFill>
                <a:latin typeface="Arial" pitchFamily="34" charset="0"/>
                <a:ea typeface="Arial" pitchFamily="34" charset="-122"/>
                <a:cs typeface="Arial" pitchFamily="34" charset="-120"/>
              </a:rPr>
              <a:t>la contraseña</a:t>
            </a:r>
            <a:endParaRPr lang="en-US" sz="1500" dirty="0"/>
          </a:p>
        </p:txBody>
      </p:sp>
      <p:sp>
        <p:nvSpPr>
          <p:cNvPr id="9" name="Shape 7"/>
          <p:cNvSpPr/>
          <p:nvPr/>
        </p:nvSpPr>
        <p:spPr>
          <a:xfrm>
            <a:off x="7466076" y="2286000"/>
            <a:ext cx="4174236" cy="822960"/>
          </a:xfrm>
          <a:prstGeom prst="roundRect">
            <a:avLst/>
          </a:prstGeom>
          <a:solidFill>
            <a:srgbClr val="E8EAF6"/>
          </a:solidFill>
          <a:ln w="15875">
            <a:solidFill>
              <a:srgbClr val="3949AB"/>
            </a:solidFill>
            <a:prstDash val="solid"/>
          </a:ln>
        </p:spPr>
      </p:sp>
      <p:sp>
        <p:nvSpPr>
          <p:cNvPr id="10" name="Text 8"/>
          <p:cNvSpPr/>
          <p:nvPr/>
        </p:nvSpPr>
        <p:spPr>
          <a:xfrm>
            <a:off x="7557516" y="2286000"/>
            <a:ext cx="3991356" cy="822960"/>
          </a:xfrm>
          <a:prstGeom prst="rect">
            <a:avLst/>
          </a:prstGeom>
          <a:noFill/>
          <a:ln/>
        </p:spPr>
        <p:txBody>
          <a:bodyPr wrap="square" rtlCol="0" anchor="ctr"/>
          <a:lstStyle/>
          <a:p>
            <a:pPr algn="ctr" indent="0" marL="0">
              <a:buNone/>
            </a:pPr>
            <a:r>
              <a:rPr lang="en-US" sz="1500" dirty="0">
                <a:solidFill>
                  <a:srgbClr val="212121"/>
                </a:solidFill>
                <a:latin typeface="Arial" pitchFamily="34" charset="0"/>
                <a:ea typeface="Arial" pitchFamily="34" charset="-122"/>
                <a:cs typeface="Arial" pitchFamily="34" charset="-120"/>
              </a:rPr>
              <a:t>🔑 Secrets Manager</a:t>
            </a:r>
            <a:endParaRPr lang="en-US" sz="1500" dirty="0"/>
          </a:p>
          <a:p>
            <a:pPr algn="ctr" indent="0" marL="0">
              <a:buNone/>
            </a:pPr>
            <a:r>
              <a:rPr lang="en-US" sz="1500" dirty="0">
                <a:solidFill>
                  <a:srgbClr val="212121"/>
                </a:solidFill>
                <a:latin typeface="Arial" pitchFamily="34" charset="0"/>
                <a:ea typeface="Arial" pitchFamily="34" charset="-122"/>
                <a:cs typeface="Arial" pitchFamily="34" charset="-120"/>
              </a:rPr>
              <a:t>(la guarda cifrada)</a:t>
            </a:r>
            <a:endParaRPr lang="en-US" sz="1500" dirty="0"/>
          </a:p>
        </p:txBody>
      </p:sp>
      <p:sp>
        <p:nvSpPr>
          <p:cNvPr id="11" name="Text 9"/>
          <p:cNvSpPr/>
          <p:nvPr/>
        </p:nvSpPr>
        <p:spPr>
          <a:xfrm>
            <a:off x="4722876" y="2286000"/>
            <a:ext cx="2743200" cy="822960"/>
          </a:xfrm>
          <a:prstGeom prst="rect">
            <a:avLst/>
          </a:prstGeom>
          <a:noFill/>
          <a:ln/>
        </p:spPr>
        <p:txBody>
          <a:bodyPr wrap="square" rtlCol="0" anchor="ctr"/>
          <a:lstStyle/>
          <a:p>
            <a:pPr algn="ctr" indent="0" marL="0">
              <a:buNone/>
            </a:pPr>
            <a:r>
              <a:rPr lang="en-US" sz="1300" b="1" i="1" dirty="0">
                <a:solidFill>
                  <a:srgbClr val="3949AB"/>
                </a:solidFill>
                <a:latin typeface="Arial" pitchFamily="34" charset="0"/>
                <a:ea typeface="Arial" pitchFamily="34" charset="-122"/>
                <a:cs typeface="Arial" pitchFamily="34" charset="-120"/>
              </a:rPr>
              <a:t>→</a:t>
            </a:r>
            <a:endParaRPr lang="en-US" sz="1300" dirty="0"/>
          </a:p>
        </p:txBody>
      </p:sp>
      <p:sp>
        <p:nvSpPr>
          <p:cNvPr id="12" name="Shape 10"/>
          <p:cNvSpPr/>
          <p:nvPr/>
        </p:nvSpPr>
        <p:spPr>
          <a:xfrm>
            <a:off x="548640" y="3337560"/>
            <a:ext cx="4174236" cy="822960"/>
          </a:xfrm>
          <a:prstGeom prst="roundRect">
            <a:avLst/>
          </a:prstGeom>
          <a:solidFill>
            <a:srgbClr val="E8EAF6"/>
          </a:solidFill>
          <a:ln w="15875">
            <a:solidFill>
              <a:srgbClr val="3949AB"/>
            </a:solidFill>
            <a:prstDash val="solid"/>
          </a:ln>
        </p:spPr>
      </p:sp>
      <p:sp>
        <p:nvSpPr>
          <p:cNvPr id="13" name="Text 11"/>
          <p:cNvSpPr/>
          <p:nvPr/>
        </p:nvSpPr>
        <p:spPr>
          <a:xfrm>
            <a:off x="640080" y="3337560"/>
            <a:ext cx="3991356" cy="822960"/>
          </a:xfrm>
          <a:prstGeom prst="rect">
            <a:avLst/>
          </a:prstGeom>
          <a:noFill/>
          <a:ln/>
        </p:spPr>
        <p:txBody>
          <a:bodyPr wrap="square" rtlCol="0" anchor="ctr"/>
          <a:lstStyle/>
          <a:p>
            <a:pPr algn="ctr" indent="0" marL="0">
              <a:buNone/>
            </a:pPr>
            <a:r>
              <a:rPr lang="en-US" sz="1500" dirty="0">
                <a:solidFill>
                  <a:srgbClr val="212121"/>
                </a:solidFill>
                <a:latin typeface="Arial" pitchFamily="34" charset="0"/>
                <a:ea typeface="Arial" pitchFamily="34" charset="-122"/>
                <a:cs typeface="Arial" pitchFamily="34" charset="-120"/>
              </a:rPr>
              <a:t>⚙️ Tu aplicación</a:t>
            </a:r>
            <a:endParaRPr lang="en-US" sz="1500" dirty="0"/>
          </a:p>
        </p:txBody>
      </p:sp>
      <p:sp>
        <p:nvSpPr>
          <p:cNvPr id="14" name="Shape 12"/>
          <p:cNvSpPr/>
          <p:nvPr/>
        </p:nvSpPr>
        <p:spPr>
          <a:xfrm>
            <a:off x="7466076" y="3337560"/>
            <a:ext cx="4174236" cy="822960"/>
          </a:xfrm>
          <a:prstGeom prst="roundRect">
            <a:avLst/>
          </a:prstGeom>
          <a:solidFill>
            <a:srgbClr val="E8EAF6"/>
          </a:solidFill>
          <a:ln w="15875">
            <a:solidFill>
              <a:srgbClr val="3949AB"/>
            </a:solidFill>
            <a:prstDash val="solid"/>
          </a:ln>
        </p:spPr>
      </p:sp>
      <p:sp>
        <p:nvSpPr>
          <p:cNvPr id="15" name="Text 13"/>
          <p:cNvSpPr/>
          <p:nvPr/>
        </p:nvSpPr>
        <p:spPr>
          <a:xfrm>
            <a:off x="7557516" y="3337560"/>
            <a:ext cx="3991356" cy="822960"/>
          </a:xfrm>
          <a:prstGeom prst="rect">
            <a:avLst/>
          </a:prstGeom>
          <a:noFill/>
          <a:ln/>
        </p:spPr>
        <p:txBody>
          <a:bodyPr wrap="square" rtlCol="0" anchor="ctr"/>
          <a:lstStyle/>
          <a:p>
            <a:pPr algn="ctr" indent="0" marL="0">
              <a:buNone/>
            </a:pPr>
            <a:r>
              <a:rPr lang="en-US" sz="1500" dirty="0">
                <a:solidFill>
                  <a:srgbClr val="212121"/>
                </a:solidFill>
                <a:latin typeface="Arial" pitchFamily="34" charset="0"/>
                <a:ea typeface="Arial" pitchFamily="34" charset="-122"/>
                <a:cs typeface="Arial" pitchFamily="34" charset="-120"/>
              </a:rPr>
              <a:t>🔑 Secrets Manager</a:t>
            </a:r>
            <a:endParaRPr lang="en-US" sz="1500" dirty="0"/>
          </a:p>
        </p:txBody>
      </p:sp>
      <p:sp>
        <p:nvSpPr>
          <p:cNvPr id="16" name="Text 14"/>
          <p:cNvSpPr/>
          <p:nvPr/>
        </p:nvSpPr>
        <p:spPr>
          <a:xfrm>
            <a:off x="4722876" y="3337560"/>
            <a:ext cx="2743200" cy="822960"/>
          </a:xfrm>
          <a:prstGeom prst="rect">
            <a:avLst/>
          </a:prstGeom>
          <a:noFill/>
          <a:ln/>
        </p:spPr>
        <p:txBody>
          <a:bodyPr wrap="square" rtlCol="0" anchor="ctr"/>
          <a:lstStyle/>
          <a:p>
            <a:pPr algn="ctr" indent="0" marL="0">
              <a:buNone/>
            </a:pPr>
            <a:r>
              <a:rPr lang="en-US" sz="1300" b="1" i="1" dirty="0">
                <a:solidFill>
                  <a:srgbClr val="3949AB"/>
                </a:solidFill>
                <a:latin typeface="Arial" pitchFamily="34" charset="0"/>
                <a:ea typeface="Arial" pitchFamily="34" charset="-122"/>
                <a:cs typeface="Arial" pitchFamily="34" charset="-120"/>
              </a:rPr>
              <a:t>la pide en el arranque</a:t>
            </a:r>
            <a:endParaRPr lang="en-US" sz="1300" dirty="0"/>
          </a:p>
          <a:p>
            <a:pPr algn="ctr" indent="0" marL="0">
              <a:buNone/>
            </a:pPr>
            <a:r>
              <a:rPr lang="en-US" sz="1300" b="1" i="1" dirty="0">
                <a:solidFill>
                  <a:srgbClr val="3949AB"/>
                </a:solidFill>
                <a:latin typeface="Arial" pitchFamily="34" charset="0"/>
                <a:ea typeface="Arial" pitchFamily="34" charset="-122"/>
                <a:cs typeface="Arial" pitchFamily="34" charset="-120"/>
              </a:rPr>
              <a:t>se la entrega →</a:t>
            </a:r>
            <a:endParaRPr lang="en-US" sz="1300" dirty="0"/>
          </a:p>
        </p:txBody>
      </p:sp>
      <p:sp>
        <p:nvSpPr>
          <p:cNvPr id="17" name="Shape 15"/>
          <p:cNvSpPr/>
          <p:nvPr/>
        </p:nvSpPr>
        <p:spPr>
          <a:xfrm>
            <a:off x="548640" y="4480560"/>
            <a:ext cx="11091672" cy="914400"/>
          </a:xfrm>
          <a:prstGeom prst="roundRect">
            <a:avLst/>
          </a:prstGeom>
          <a:solidFill>
            <a:srgbClr val="FFF8E1"/>
          </a:solidFill>
          <a:ln w="19050">
            <a:solidFill>
              <a:srgbClr val="FFA000"/>
            </a:solidFill>
            <a:prstDash val="solid"/>
          </a:ln>
        </p:spPr>
      </p:sp>
      <p:sp>
        <p:nvSpPr>
          <p:cNvPr id="18" name="Text 16"/>
          <p:cNvSpPr/>
          <p:nvPr/>
        </p:nvSpPr>
        <p:spPr>
          <a:xfrm>
            <a:off x="822960" y="4572000"/>
            <a:ext cx="10543032" cy="73152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La misma idea que vas a generalizar en el Tema 5: ningún secreto escrito en el código ni en el repositorio, sea cual sea la credencial.</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Cómo llega esto a tu aplicación, en la práctica</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3: Bases de datos gestionadas</a:t>
            </a:r>
            <a:endParaRPr lang="en-US" sz="1100" dirty="0"/>
          </a:p>
        </p:txBody>
      </p:sp>
      <p:sp>
        <p:nvSpPr>
          <p:cNvPr id="5" name="Text 3"/>
          <p:cNvSpPr/>
          <p:nvPr/>
        </p:nvSpPr>
        <p:spPr>
          <a:xfrm>
            <a:off x="548640" y="1143000"/>
            <a:ext cx="11091672" cy="777240"/>
          </a:xfrm>
          <a:prstGeom prst="rect">
            <a:avLst/>
          </a:prstGeom>
          <a:noFill/>
          <a:ln/>
        </p:spPr>
        <p:txBody>
          <a:bodyPr wrap="square" rtlCol="0" anchor="t"/>
          <a:lstStyle/>
          <a:p>
            <a:pPr indent="0" marL="0">
              <a:buNone/>
            </a:pPr>
            <a:r>
              <a:rPr lang="en-US" sz="1600" dirty="0">
                <a:solidFill>
                  <a:srgbClr val="212121"/>
                </a:solidFill>
                <a:latin typeface="Arial" pitchFamily="34" charset="0"/>
                <a:ea typeface="Arial" pitchFamily="34" charset="-122"/>
                <a:cs typeface="Arial" pitchFamily="34" charset="-120"/>
              </a:rPr>
              <a:t>En el arranque de la instancia —el mismo user data de la Actividad 2.3— un script pide el endpoint y la contraseña por CLI, y los deja como variables de entorno, nunca escritos a mano:</a:t>
            </a:r>
            <a:endParaRPr lang="en-US" sz="1600" dirty="0"/>
          </a:p>
        </p:txBody>
      </p:sp>
      <p:sp>
        <p:nvSpPr>
          <p:cNvPr id="6" name="Shape 4"/>
          <p:cNvSpPr/>
          <p:nvPr/>
        </p:nvSpPr>
        <p:spPr>
          <a:xfrm>
            <a:off x="548640" y="2057400"/>
            <a:ext cx="11091672" cy="2331720"/>
          </a:xfrm>
          <a:prstGeom prst="rect">
            <a:avLst/>
          </a:prstGeom>
          <a:solidFill>
            <a:srgbClr val="ECEFF1"/>
          </a:solidFill>
          <a:ln w="12700">
            <a:solidFill>
              <a:srgbClr val="EEEEEE"/>
            </a:solidFill>
            <a:prstDash val="solid"/>
          </a:ln>
        </p:spPr>
      </p:sp>
      <p:sp>
        <p:nvSpPr>
          <p:cNvPr id="7" name="Shape 5"/>
          <p:cNvSpPr/>
          <p:nvPr/>
        </p:nvSpPr>
        <p:spPr>
          <a:xfrm>
            <a:off x="548640" y="2057400"/>
            <a:ext cx="73152" cy="2331720"/>
          </a:xfrm>
          <a:prstGeom prst="rect">
            <a:avLst/>
          </a:prstGeom>
          <a:solidFill>
            <a:srgbClr val="FFA000"/>
          </a:solidFill>
          <a:ln w="12700">
            <a:solidFill>
              <a:srgbClr val="FFA000"/>
            </a:solidFill>
            <a:prstDash val="solid"/>
          </a:ln>
        </p:spPr>
      </p:sp>
      <p:sp>
        <p:nvSpPr>
          <p:cNvPr id="8" name="Text 6"/>
          <p:cNvSpPr/>
          <p:nvPr/>
        </p:nvSpPr>
        <p:spPr>
          <a:xfrm>
            <a:off x="822960" y="2148840"/>
            <a:ext cx="10634472" cy="2148840"/>
          </a:xfrm>
          <a:prstGeom prst="rect">
            <a:avLst/>
          </a:prstGeom>
          <a:noFill/>
          <a:ln/>
        </p:spPr>
        <p:txBody>
          <a:bodyPr wrap="square" rtlCol="0" anchor="t"/>
          <a:lstStyle/>
          <a:p>
            <a:pPr indent="0" marL="0">
              <a:buNone/>
            </a:pPr>
            <a:r>
              <a:rPr lang="en-US" sz="1400" dirty="0">
                <a:solidFill>
                  <a:srgbClr val="263238"/>
                </a:solidFill>
                <a:latin typeface="Courier New" pitchFamily="34" charset="0"/>
                <a:ea typeface="Courier New" pitchFamily="34" charset="-122"/>
                <a:cs typeface="Courier New" pitchFamily="34" charset="-120"/>
              </a:rPr>
              <a:t># El endpoint de RDS: sustituye a la IP fija de siempre</a:t>
            </a:r>
            <a:endParaRPr lang="en-US" sz="1400" dirty="0"/>
          </a:p>
          <a:p>
            <a:pPr indent="0" marL="0">
              <a:buNone/>
            </a:pPr>
            <a:r>
              <a:rPr lang="en-US" sz="1400" dirty="0">
                <a:solidFill>
                  <a:srgbClr val="263238"/>
                </a:solidFill>
                <a:latin typeface="Courier New" pitchFamily="34" charset="0"/>
                <a:ea typeface="Courier New" pitchFamily="34" charset="-122"/>
                <a:cs typeface="Courier New" pitchFamily="34" charset="-120"/>
              </a:rPr>
              <a:t>export DB_HOST=$(aws rds describe-db-instances \</a:t>
            </a:r>
            <a:endParaRPr lang="en-US" sz="1400" dirty="0"/>
          </a:p>
          <a:p>
            <a:pPr indent="0" marL="0">
              <a:buNone/>
            </a:pPr>
            <a:r>
              <a:rPr lang="en-US" sz="1400" dirty="0">
                <a:solidFill>
                  <a:srgbClr val="263238"/>
                </a:solidFill>
                <a:latin typeface="Courier New" pitchFamily="34" charset="0"/>
                <a:ea typeface="Courier New" pitchFamily="34" charset="-122"/>
                <a:cs typeface="Courier New" pitchFamily="34" charset="-120"/>
              </a:rPr>
              <a:t>  --db-instance-identifier mi-base-de-datos \</a:t>
            </a:r>
            <a:endParaRPr lang="en-US" sz="1400" dirty="0"/>
          </a:p>
          <a:p>
            <a:pPr indent="0" marL="0">
              <a:buNone/>
            </a:pPr>
            <a:r>
              <a:rPr lang="en-US" sz="1400" dirty="0">
                <a:solidFill>
                  <a:srgbClr val="263238"/>
                </a:solidFill>
                <a:latin typeface="Courier New" pitchFamily="34" charset="0"/>
                <a:ea typeface="Courier New" pitchFamily="34" charset="-122"/>
                <a:cs typeface="Courier New" pitchFamily="34" charset="-120"/>
              </a:rPr>
              <a:t>  --query "DBInstances[0].Endpoint.Address" --output text)</a:t>
            </a:r>
            <a:endParaRPr lang="en-US" sz="1400" dirty="0"/>
          </a:p>
          <a:p>
            <a:pPr indent="0" marL="0">
              <a:buNone/>
            </a:pPr>
            <a:endParaRPr lang="en-US" sz="1400" dirty="0"/>
          </a:p>
          <a:p>
            <a:pPr indent="0" marL="0">
              <a:buNone/>
            </a:pPr>
            <a:r>
              <a:rPr lang="en-US" sz="1400" dirty="0">
                <a:solidFill>
                  <a:srgbClr val="263238"/>
                </a:solidFill>
                <a:latin typeface="Courier New" pitchFamily="34" charset="0"/>
                <a:ea typeface="Courier New" pitchFamily="34" charset="-122"/>
                <a:cs typeface="Courier New" pitchFamily="34" charset="-120"/>
              </a:rPr>
              <a:t># La contraseña, tal como la guardó Secrets Manager</a:t>
            </a:r>
            <a:endParaRPr lang="en-US" sz="1400" dirty="0"/>
          </a:p>
          <a:p>
            <a:pPr indent="0" marL="0">
              <a:buNone/>
            </a:pPr>
            <a:r>
              <a:rPr lang="en-US" sz="1400" dirty="0">
                <a:solidFill>
                  <a:srgbClr val="263238"/>
                </a:solidFill>
                <a:latin typeface="Courier New" pitchFamily="34" charset="0"/>
                <a:ea typeface="Courier New" pitchFamily="34" charset="-122"/>
                <a:cs typeface="Courier New" pitchFamily="34" charset="-120"/>
              </a:rPr>
              <a:t>aws secretsmanager get-secret-value \</a:t>
            </a:r>
            <a:endParaRPr lang="en-US" sz="1400" dirty="0"/>
          </a:p>
          <a:p>
            <a:pPr indent="0" marL="0">
              <a:buNone/>
            </a:pPr>
            <a:r>
              <a:rPr lang="en-US" sz="1400" dirty="0">
                <a:solidFill>
                  <a:srgbClr val="263238"/>
                </a:solidFill>
                <a:latin typeface="Courier New" pitchFamily="34" charset="0"/>
                <a:ea typeface="Courier New" pitchFamily="34" charset="-122"/>
                <a:cs typeface="Courier New" pitchFamily="34" charset="-120"/>
              </a:rPr>
              <a:t>  --secret-id mi-base-de-datos-secret \</a:t>
            </a:r>
            <a:endParaRPr lang="en-US" sz="1400" dirty="0"/>
          </a:p>
          <a:p>
            <a:pPr indent="0" marL="0">
              <a:buNone/>
            </a:pPr>
            <a:r>
              <a:rPr lang="en-US" sz="1400" dirty="0">
                <a:solidFill>
                  <a:srgbClr val="263238"/>
                </a:solidFill>
                <a:latin typeface="Courier New" pitchFamily="34" charset="0"/>
                <a:ea typeface="Courier New" pitchFamily="34" charset="-122"/>
                <a:cs typeface="Courier New" pitchFamily="34" charset="-120"/>
              </a:rPr>
              <a:t>  --query "SecretString" --output text</a:t>
            </a:r>
            <a:endParaRPr lang="en-US" sz="1400" dirty="0"/>
          </a:p>
        </p:txBody>
      </p:sp>
      <p:sp>
        <p:nvSpPr>
          <p:cNvPr id="9" name="Text 7"/>
          <p:cNvSpPr/>
          <p:nvPr/>
        </p:nvSpPr>
        <p:spPr>
          <a:xfrm>
            <a:off x="548640" y="4526280"/>
            <a:ext cx="11091672" cy="1280160"/>
          </a:xfrm>
          <a:prstGeom prst="rect">
            <a:avLst/>
          </a:prstGeom>
          <a:noFill/>
          <a:ln/>
        </p:spPr>
        <p:txBody>
          <a:bodyPr wrap="square" rtlCol="0" anchor="t"/>
          <a:lstStyle/>
          <a:p>
            <a:pPr indent="0" marL="0">
              <a:buNone/>
            </a:pPr>
            <a:r>
              <a:rPr lang="en-US" sz="1500" dirty="0">
                <a:solidFill>
                  <a:srgbClr val="212121"/>
                </a:solidFill>
                <a:latin typeface="Arial" pitchFamily="34" charset="0"/>
                <a:ea typeface="Arial" pitchFamily="34" charset="-122"/>
                <a:cs typeface="Arial" pitchFamily="34" charset="-120"/>
              </a:rPr>
              <a:t>Con DB_HOST y DB_PASSWORD como variables de entorno, la aplicación se conecta igual que a cualquier base de datos: el código no sabe de dónde vienen esos valores. Eso hace posible migrar de una base de datos a otra sin tocar una línea del código.</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Todas las piezas, en una sola foto</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3: Bases de datos gestionadas</a:t>
            </a:r>
            <a:endParaRPr lang="en-US" sz="1100" dirty="0"/>
          </a:p>
        </p:txBody>
      </p:sp>
      <p:pic>
        <p:nvPicPr>
          <p:cNvPr id="5" name="Image 0" descr="C:/Users/Aitor/Documents/apuntes-profe/introduccion-nube/docs/tema3/img/diagrama_conexion_segura_rds.png">    </p:cNvPr>
          <p:cNvPicPr>
            <a:picLocks noChangeAspect="1"/>
          </p:cNvPicPr>
          <p:nvPr/>
        </p:nvPicPr>
        <p:blipFill>
          <a:blip r:embed="rId1"/>
          <a:stretch>
            <a:fillRect/>
          </a:stretch>
        </p:blipFill>
        <p:spPr>
          <a:xfrm>
            <a:off x="2699766" y="1143000"/>
            <a:ext cx="6789420" cy="4526280"/>
          </a:xfrm>
          <a:prstGeom prst="rect">
            <a:avLst/>
          </a:prstGeom>
        </p:spPr>
      </p:pic>
      <p:sp>
        <p:nvSpPr>
          <p:cNvPr id="6" name="Text 3"/>
          <p:cNvSpPr/>
          <p:nvPr/>
        </p:nvSpPr>
        <p:spPr>
          <a:xfrm>
            <a:off x="548640" y="5760720"/>
            <a:ext cx="11091672" cy="457200"/>
          </a:xfrm>
          <a:prstGeom prst="rect">
            <a:avLst/>
          </a:prstGeom>
          <a:noFill/>
          <a:ln/>
        </p:spPr>
        <p:txBody>
          <a:bodyPr wrap="square" rtlCol="0" anchor="t"/>
          <a:lstStyle/>
          <a:p>
            <a:pPr algn="ctr" indent="0" marL="0">
              <a:buNone/>
            </a:pPr>
            <a:r>
              <a:rPr lang="en-US" sz="1500" i="1" dirty="0">
                <a:solidFill>
                  <a:srgbClr val="757575"/>
                </a:solidFill>
                <a:latin typeface="Arial" pitchFamily="34" charset="0"/>
                <a:ea typeface="Arial" pitchFamily="34" charset="-122"/>
                <a:cs typeface="Arial" pitchFamily="34" charset="-120"/>
              </a:rPr>
              <a:t>Subred privada, grupo de seguridad, endpoint y Secrets Manager encajando juntos.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Multi-AZ y réplicas de lectura</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3: Bases de datos gestionadas</a:t>
            </a:r>
            <a:endParaRPr lang="en-US" sz="1100" dirty="0"/>
          </a:p>
        </p:txBody>
      </p:sp>
      <p:sp>
        <p:nvSpPr>
          <p:cNvPr id="5" name="Text 3"/>
          <p:cNvSpPr/>
          <p:nvPr/>
        </p:nvSpPr>
        <p:spPr>
          <a:xfrm>
            <a:off x="548640" y="1143000"/>
            <a:ext cx="11091672" cy="365760"/>
          </a:xfrm>
          <a:prstGeom prst="rect">
            <a:avLst/>
          </a:prstGeom>
          <a:noFill/>
          <a:ln/>
        </p:spPr>
        <p:txBody>
          <a:bodyPr wrap="square" rtlCol="0" anchor="ctr"/>
          <a:lstStyle/>
          <a:p>
            <a:pPr indent="0" marL="0">
              <a:buNone/>
            </a:pPr>
            <a:r>
              <a:rPr lang="en-US" sz="1500" b="1" dirty="0">
                <a:solidFill>
                  <a:srgbClr val="3949AB"/>
                </a:solidFill>
                <a:latin typeface="Arial" pitchFamily="34" charset="0"/>
                <a:ea typeface="Arial" pitchFamily="34" charset="-122"/>
                <a:cs typeface="Arial" pitchFamily="34" charset="-120"/>
              </a:rPr>
              <a:t>Dos mecanismos para repartir la base de datos entre zonas — resuelven problemas distintos</a:t>
            </a:r>
            <a:endParaRPr lang="en-US" sz="1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3327502"/>
                <a:gridCol w="3882085"/>
                <a:gridCol w="3882085"/>
              </a:tblGrid>
              <a:tr h="502920">
                <a:tc>
                  <a:txBody>
                    <a:bodyPr/>
                    <a:lstStyle/>
                    <a:p>
                      <a:pPr algn="ctr" indent="0" marL="0">
                        <a:buNone/>
                      </a:pP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Multi-AZ</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Réplica de lectura</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r>
              <a:tr h="502920">
                <a:tc>
                  <a:txBody>
                    <a:bodyPr/>
                    <a:lstStyle/>
                    <a:p>
                      <a:pPr indent="0" marL="0">
                        <a:buNone/>
                      </a:pPr>
                      <a:r>
                        <a:rPr lang="en-US" sz="1300" b="1" dirty="0">
                          <a:solidFill>
                            <a:srgbClr val="212121"/>
                          </a:solidFill>
                          <a:latin typeface="Arial" pitchFamily="34" charset="0"/>
                          <a:ea typeface="Arial" pitchFamily="34" charset="-122"/>
                          <a:cs typeface="Arial" pitchFamily="34" charset="-120"/>
                        </a:rPr>
                        <a:t>Para qué existe</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Alta disponibilidad</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Rendimiento de lectura</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212121"/>
                          </a:solidFill>
                          <a:latin typeface="Arial" pitchFamily="34" charset="0"/>
                          <a:ea typeface="Arial" pitchFamily="34" charset="-122"/>
                          <a:cs typeface="Arial" pitchFamily="34" charset="-120"/>
                        </a:rPr>
                        <a:t>¿Se puede leer o escribir?</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No, pasiva hasta el failover</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Sí, solo lectura, en paralelo</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502920">
                <a:tc>
                  <a:txBody>
                    <a:bodyPr/>
                    <a:lstStyle/>
                    <a:p>
                      <a:pPr indent="0" marL="0">
                        <a:buNone/>
                      </a:pPr>
                      <a:r>
                        <a:rPr lang="en-US" sz="1300" b="1" dirty="0">
                          <a:solidFill>
                            <a:srgbClr val="212121"/>
                          </a:solidFill>
                          <a:latin typeface="Arial" pitchFamily="34" charset="0"/>
                          <a:ea typeface="Arial" pitchFamily="34" charset="-122"/>
                          <a:cs typeface="Arial" pitchFamily="34" charset="-120"/>
                        </a:rPr>
                        <a:t>Si falla la principal</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AWS conmuta sola, en minutos</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No conmuta sola — hay que promoverla</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4160520"/>
            <a:ext cx="11091672" cy="1737360"/>
          </a:xfrm>
          <a:prstGeom prst="roundRect">
            <a:avLst/>
          </a:prstGeom>
          <a:solidFill>
            <a:srgbClr val="FFF8E1"/>
          </a:solidFill>
          <a:ln w="28575">
            <a:solidFill>
              <a:srgbClr val="FFA000"/>
            </a:solidFill>
            <a:prstDash val="solid"/>
          </a:ln>
        </p:spPr>
      </p:sp>
      <p:sp>
        <p:nvSpPr>
          <p:cNvPr id="8" name="Text 5"/>
          <p:cNvSpPr/>
          <p:nvPr/>
        </p:nvSpPr>
        <p:spPr>
          <a:xfrm>
            <a:off x="822960" y="4270248"/>
            <a:ext cx="10543032" cy="1517904"/>
          </a:xfrm>
          <a:prstGeom prst="rect">
            <a:avLst/>
          </a:prstGeom>
          <a:noFill/>
          <a:ln/>
        </p:spPr>
        <p:txBody>
          <a:bodyPr wrap="square" rtlCol="0" anchor="t"/>
          <a:lstStyle/>
          <a:p>
            <a:pPr indent="0" marL="0">
              <a:buNone/>
            </a:pPr>
            <a:r>
              <a:rPr lang="en-US" sz="1600" b="1" dirty="0">
                <a:solidFill>
                  <a:srgbClr val="1A237E"/>
                </a:solidFill>
                <a:latin typeface="Arial" pitchFamily="34" charset="0"/>
                <a:ea typeface="Arial" pitchFamily="34" charset="-122"/>
                <a:cs typeface="Arial" pitchFamily="34" charset="-120"/>
              </a:rPr>
              <a:t>Multi-AZ no es gratis: duplica el coste de cómputo
</a:t>
            </a:r>
            <a:endParaRPr lang="en-US" sz="1600" dirty="0"/>
          </a:p>
          <a:p>
            <a:pPr indent="0" marL="0">
              <a:buNone/>
            </a:pPr>
            <a:r>
              <a:rPr lang="en-US" sz="1500" dirty="0">
                <a:solidFill>
                  <a:srgbClr val="212121"/>
                </a:solidFill>
                <a:latin typeface="Arial" pitchFamily="34" charset="0"/>
                <a:ea typeface="Arial" pitchFamily="34" charset="-122"/>
                <a:cs typeface="Arial" pitchFamily="34" charset="-120"/>
              </a:rPr>
              <a:t>La copia en espera no es una foto barata — es una instancia completa, del mismo tamaño que la principal, funcionando siempre aunque nunca respondas una consulta contra ella. Para una base de datos de desarrollo, es una garantía que no necesitas.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Backups automáticos frente a snapshots manuales</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3: Bases de datos gestionadas</a:t>
            </a:r>
            <a:endParaRPr lang="en-US" sz="1100" dirty="0"/>
          </a:p>
        </p:txBody>
      </p:sp>
      <p:sp>
        <p:nvSpPr>
          <p:cNvPr id="5" name="Shape 3"/>
          <p:cNvSpPr/>
          <p:nvPr/>
        </p:nvSpPr>
        <p:spPr>
          <a:xfrm>
            <a:off x="548640" y="1143000"/>
            <a:ext cx="11091672" cy="777240"/>
          </a:xfrm>
          <a:prstGeom prst="roundRect">
            <a:avLst/>
          </a:prstGeom>
          <a:solidFill>
            <a:srgbClr val="FFF8E1"/>
          </a:solidFill>
          <a:ln w="19050">
            <a:solidFill>
              <a:srgbClr val="FFA000"/>
            </a:solidFill>
            <a:prstDash val="solid"/>
          </a:ln>
        </p:spPr>
      </p:sp>
      <p:sp>
        <p:nvSpPr>
          <p:cNvPr id="6" name="Text 4"/>
          <p:cNvSpPr/>
          <p:nvPr/>
        </p:nvSpPr>
        <p:spPr>
          <a:xfrm>
            <a:off x="822960" y="1234440"/>
            <a:ext cx="10543032" cy="59436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Los backups automáticos son cómodos —RDS los hace solo, cada día— pero tienen letra pequeña: si borras la instancia, desaparecen con ella.</a:t>
            </a:r>
            <a:endParaRPr lang="en-US" sz="1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91672" cy="914400"/>
        </p:xfrm>
        <a:graphic>
          <a:graphicData uri="http://schemas.openxmlformats.org/drawingml/2006/table">
            <a:tbl>
              <a:tblPr/>
              <a:tblGrid>
                <a:gridCol w="3549335"/>
                <a:gridCol w="3771168"/>
                <a:gridCol w="3771168"/>
              </a:tblGrid>
              <a:tr h="457200">
                <a:tc>
                  <a:txBody>
                    <a:bodyPr/>
                    <a:lstStyle/>
                    <a:p>
                      <a:pPr algn="ctr" indent="0" marL="0">
                        <a:buNone/>
                      </a:pP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Backup automático</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Snapshot manual</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r>
              <a:tr h="457200">
                <a:tc>
                  <a:txBody>
                    <a:bodyPr/>
                    <a:lstStyle/>
                    <a:p>
                      <a:pPr indent="0" marL="0">
                        <a:buNone/>
                      </a:pPr>
                      <a:r>
                        <a:rPr lang="en-US" sz="1200" b="1" dirty="0">
                          <a:solidFill>
                            <a:srgbClr val="212121"/>
                          </a:solidFill>
                          <a:latin typeface="Arial" pitchFamily="34" charset="0"/>
                          <a:ea typeface="Arial" pitchFamily="34" charset="-122"/>
                          <a:cs typeface="Arial" pitchFamily="34" charset="-120"/>
                        </a:rPr>
                        <a:t>¿Quién lo crea?</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RDS, solo, cada día</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Tú, cuando lo pides</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212121"/>
                          </a:solidFill>
                          <a:latin typeface="Arial" pitchFamily="34" charset="0"/>
                          <a:ea typeface="Arial" pitchFamily="34" charset="-122"/>
                          <a:cs typeface="Arial" pitchFamily="34" charset="-120"/>
                        </a:rPr>
                        <a:t>¿Cuánto dura?</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La ventana de retención elegida</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Hasta que tú lo borres</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457200">
                <a:tc>
                  <a:txBody>
                    <a:bodyPr/>
                    <a:lstStyle/>
                    <a:p>
                      <a:pPr indent="0" marL="0">
                        <a:buNone/>
                      </a:pPr>
                      <a:r>
                        <a:rPr lang="en-US" sz="1200" b="1" dirty="0">
                          <a:solidFill>
                            <a:srgbClr val="212121"/>
                          </a:solidFill>
                          <a:latin typeface="Arial" pitchFamily="34" charset="0"/>
                          <a:ea typeface="Arial" pitchFamily="34" charset="-122"/>
                          <a:cs typeface="Arial" pitchFamily="34" charset="-120"/>
                        </a:rPr>
                        <a:t>¿Sobrevive a borrar la instancia?</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No</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Sí</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212121"/>
                          </a:solidFill>
                          <a:latin typeface="Arial" pitchFamily="34" charset="0"/>
                          <a:ea typeface="Arial" pitchFamily="34" charset="-122"/>
                          <a:cs typeface="Arial" pitchFamily="34" charset="-120"/>
                        </a:rPr>
                        <a:t>Para qué sirve</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Recuperación a un punto reciente</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Conservar un estado a largo plazo</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bl>
          </a:graphicData>
        </a:graphic>
      </p:graphicFrame>
      <p:sp>
        <p:nvSpPr>
          <p:cNvPr id="8" name="Shape 5"/>
          <p:cNvSpPr/>
          <p:nvPr/>
        </p:nvSpPr>
        <p:spPr>
          <a:xfrm>
            <a:off x="548640" y="4709160"/>
            <a:ext cx="11091672" cy="1463040"/>
          </a:xfrm>
          <a:prstGeom prst="roundRect">
            <a:avLst/>
          </a:prstGeom>
          <a:solidFill>
            <a:srgbClr val="FFF8E1"/>
          </a:solidFill>
          <a:ln w="28575">
            <a:solidFill>
              <a:srgbClr val="FFA000"/>
            </a:solidFill>
            <a:prstDash val="solid"/>
          </a:ln>
        </p:spPr>
      </p:sp>
      <p:sp>
        <p:nvSpPr>
          <p:cNvPr id="9" name="Text 6"/>
          <p:cNvSpPr/>
          <p:nvPr/>
        </p:nvSpPr>
        <p:spPr>
          <a:xfrm>
            <a:off x="822960" y="4818888"/>
            <a:ext cx="10543032" cy="1243584"/>
          </a:xfrm>
          <a:prstGeom prst="rect">
            <a:avLst/>
          </a:prstGeom>
          <a:noFill/>
          <a:ln/>
        </p:spPr>
        <p:txBody>
          <a:bodyPr wrap="square" rtlCol="0" anchor="t"/>
          <a:lstStyle/>
          <a:p>
            <a:pPr indent="0" marL="0">
              <a:buNone/>
            </a:pPr>
            <a:r>
              <a:rPr lang="en-US" sz="1500" b="1" dirty="0">
                <a:solidFill>
                  <a:srgbClr val="1A237E"/>
                </a:solidFill>
                <a:latin typeface="Arial" pitchFamily="34" charset="0"/>
                <a:ea typeface="Arial" pitchFamily="34" charset="-122"/>
                <a:cs typeface="Arial" pitchFamily="34" charset="-120"/>
              </a:rPr>
              <a:t>Borrar la base de datos no borra tu snapshot manual
</a:t>
            </a:r>
            <a:endParaRPr lang="en-US" sz="1500" dirty="0"/>
          </a:p>
          <a:p>
            <a:pPr indent="0" marL="0">
              <a:buNone/>
            </a:pPr>
            <a:r>
              <a:rPr lang="en-US" sz="1400" dirty="0">
                <a:solidFill>
                  <a:srgbClr val="212121"/>
                </a:solidFill>
                <a:latin typeface="Arial" pitchFamily="34" charset="0"/>
                <a:ea typeface="Arial" pitchFamily="34" charset="-122"/>
                <a:cs typeface="Arial" pitchFamily="34" charset="-120"/>
              </a:rPr>
              <a:t>Es al revés de lo que se espera la primera vez: si borras una instancia que solo tiene backups automáticos, esos backups se pierden con ella. Un snapshot manual creado antes sigue disponible — por eso sirve como «punto de seguridad» antes de un cambio arriesgado.</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Cambiar la clase de instancia después de crearla</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3: Bases de datos gestionadas</a:t>
            </a:r>
            <a:endParaRPr lang="en-US" sz="1100" dirty="0"/>
          </a:p>
        </p:txBody>
      </p:sp>
      <p:sp>
        <p:nvSpPr>
          <p:cNvPr id="5" name="Shape 3"/>
          <p:cNvSpPr/>
          <p:nvPr/>
        </p:nvSpPr>
        <p:spPr>
          <a:xfrm>
            <a:off x="548640" y="1143000"/>
            <a:ext cx="11091672" cy="868680"/>
          </a:xfrm>
          <a:prstGeom prst="roundRect">
            <a:avLst/>
          </a:prstGeom>
          <a:solidFill>
            <a:srgbClr val="FFF8E1"/>
          </a:solidFill>
          <a:ln w="19050">
            <a:solidFill>
              <a:srgbClr val="FFA000"/>
            </a:solidFill>
            <a:prstDash val="solid"/>
          </a:ln>
        </p:spPr>
      </p:sp>
      <p:sp>
        <p:nvSpPr>
          <p:cNvPr id="6" name="Text 4"/>
          <p:cNvSpPr/>
          <p:nvPr/>
        </p:nvSpPr>
        <p:spPr>
          <a:xfrm>
            <a:off x="822960" y="1234440"/>
            <a:ext cx="10543032" cy="685800"/>
          </a:xfrm>
          <a:prstGeom prst="rect">
            <a:avLst/>
          </a:prstGeom>
          <a:noFill/>
          <a:ln/>
        </p:spPr>
        <p:txBody>
          <a:bodyPr wrap="square" rtlCol="0" anchor="ctr"/>
          <a:lstStyle/>
          <a:p>
            <a:pPr indent="0" marL="0">
              <a:buNone/>
            </a:pPr>
            <a:r>
              <a:rPr lang="en-US" sz="1600" dirty="0">
                <a:solidFill>
                  <a:srgbClr val="212121"/>
                </a:solidFill>
                <a:latin typeface="Arial" pitchFamily="34" charset="0"/>
                <a:ea typeface="Arial" pitchFamily="34" charset="-122"/>
                <a:cs typeface="Arial" pitchFamily="34" charset="-120"/>
              </a:rPr>
              <a:t>La clase db.* que elegiste al crear la base de datos no es definitiva — es el mismo escalado vertical que ya conoces de EC2, aplicado a una base de datos, sin migrar los datos a mano.</a:t>
            </a:r>
            <a:endParaRPr lang="en-US" sz="1600" dirty="0"/>
          </a:p>
        </p:txBody>
      </p:sp>
      <p:sp>
        <p:nvSpPr>
          <p:cNvPr id="7" name="Shape 5"/>
          <p:cNvSpPr/>
          <p:nvPr/>
        </p:nvSpPr>
        <p:spPr>
          <a:xfrm>
            <a:off x="548640" y="2331720"/>
            <a:ext cx="5362956" cy="1828800"/>
          </a:xfrm>
          <a:prstGeom prst="roundRect">
            <a:avLst/>
          </a:prstGeom>
          <a:solidFill>
            <a:srgbClr val="E8EAF6"/>
          </a:solidFill>
          <a:ln w="15875">
            <a:solidFill>
              <a:srgbClr val="3949AB"/>
            </a:solidFill>
            <a:prstDash val="solid"/>
          </a:ln>
        </p:spPr>
      </p:sp>
      <p:sp>
        <p:nvSpPr>
          <p:cNvPr id="8" name="Text 6"/>
          <p:cNvSpPr/>
          <p:nvPr/>
        </p:nvSpPr>
        <p:spPr>
          <a:xfrm>
            <a:off x="731520" y="2404872"/>
            <a:ext cx="4997196" cy="548640"/>
          </a:xfrm>
          <a:prstGeom prst="rect">
            <a:avLst/>
          </a:prstGeom>
          <a:noFill/>
          <a:ln/>
        </p:spPr>
        <p:txBody>
          <a:bodyPr wrap="square" rtlCol="0" anchor="ctr"/>
          <a:lstStyle/>
          <a:p>
            <a:pPr indent="0" marL="0">
              <a:buNone/>
            </a:pPr>
            <a:r>
              <a:rPr lang="en-US" sz="1800" b="1" dirty="0">
                <a:solidFill>
                  <a:srgbClr val="1A237E"/>
                </a:solidFill>
                <a:latin typeface="Arial" pitchFamily="34" charset="0"/>
                <a:ea typeface="Arial" pitchFamily="34" charset="-122"/>
                <a:cs typeface="Arial" pitchFamily="34" charset="-120"/>
              </a:rPr>
              <a:t>Sin Multi-AZ</a:t>
            </a:r>
            <a:endParaRPr lang="en-US" sz="1800" dirty="0"/>
          </a:p>
        </p:txBody>
      </p:sp>
      <p:sp>
        <p:nvSpPr>
          <p:cNvPr id="9" name="Text 7"/>
          <p:cNvSpPr/>
          <p:nvPr/>
        </p:nvSpPr>
        <p:spPr>
          <a:xfrm>
            <a:off x="731520" y="2953512"/>
            <a:ext cx="4997196" cy="1133856"/>
          </a:xfrm>
          <a:prstGeom prst="rect">
            <a:avLst/>
          </a:prstGeom>
          <a:noFill/>
          <a:ln/>
        </p:spPr>
        <p:txBody>
          <a:bodyPr wrap="square" rtlCol="0" anchor="t"/>
          <a:lstStyle/>
          <a:p>
            <a:pPr indent="0" marL="0">
              <a:buNone/>
            </a:pPr>
            <a:r>
              <a:rPr lang="en-US" sz="1500" dirty="0">
                <a:solidFill>
                  <a:srgbClr val="212121"/>
                </a:solidFill>
                <a:latin typeface="Arial" pitchFamily="34" charset="0"/>
                <a:ea typeface="Arial" pitchFamily="34" charset="-122"/>
                <a:cs typeface="Arial" pitchFamily="34" charset="-120"/>
              </a:rPr>
              <a:t>El motor se reinicia: la base de datos deja de responder unos segundos o minutos mientras se aplica el cambio.</a:t>
            </a:r>
            <a:endParaRPr lang="en-US" sz="1500" dirty="0"/>
          </a:p>
        </p:txBody>
      </p:sp>
      <p:sp>
        <p:nvSpPr>
          <p:cNvPr id="10" name="Shape 8"/>
          <p:cNvSpPr/>
          <p:nvPr/>
        </p:nvSpPr>
        <p:spPr>
          <a:xfrm>
            <a:off x="6277356" y="2331720"/>
            <a:ext cx="5362956" cy="1828800"/>
          </a:xfrm>
          <a:prstGeom prst="roundRect">
            <a:avLst/>
          </a:prstGeom>
          <a:solidFill>
            <a:srgbClr val="E8EAF6"/>
          </a:solidFill>
          <a:ln w="15875">
            <a:solidFill>
              <a:srgbClr val="3949AB"/>
            </a:solidFill>
            <a:prstDash val="solid"/>
          </a:ln>
        </p:spPr>
      </p:sp>
      <p:sp>
        <p:nvSpPr>
          <p:cNvPr id="11" name="Text 9"/>
          <p:cNvSpPr/>
          <p:nvPr/>
        </p:nvSpPr>
        <p:spPr>
          <a:xfrm>
            <a:off x="6460236" y="2404872"/>
            <a:ext cx="4997196" cy="548640"/>
          </a:xfrm>
          <a:prstGeom prst="rect">
            <a:avLst/>
          </a:prstGeom>
          <a:noFill/>
          <a:ln/>
        </p:spPr>
        <p:txBody>
          <a:bodyPr wrap="square" rtlCol="0" anchor="ctr"/>
          <a:lstStyle/>
          <a:p>
            <a:pPr indent="0" marL="0">
              <a:buNone/>
            </a:pPr>
            <a:r>
              <a:rPr lang="en-US" sz="1800" b="1" dirty="0">
                <a:solidFill>
                  <a:srgbClr val="1A237E"/>
                </a:solidFill>
                <a:latin typeface="Arial" pitchFamily="34" charset="0"/>
                <a:ea typeface="Arial" pitchFamily="34" charset="-122"/>
                <a:cs typeface="Arial" pitchFamily="34" charset="-120"/>
              </a:rPr>
              <a:t>Con Multi-AZ</a:t>
            </a:r>
            <a:endParaRPr lang="en-US" sz="1800" dirty="0"/>
          </a:p>
        </p:txBody>
      </p:sp>
      <p:sp>
        <p:nvSpPr>
          <p:cNvPr id="12" name="Text 10"/>
          <p:cNvSpPr/>
          <p:nvPr/>
        </p:nvSpPr>
        <p:spPr>
          <a:xfrm>
            <a:off x="6460236" y="2953512"/>
            <a:ext cx="4997196" cy="1133856"/>
          </a:xfrm>
          <a:prstGeom prst="rect">
            <a:avLst/>
          </a:prstGeom>
          <a:noFill/>
          <a:ln/>
        </p:spPr>
        <p:txBody>
          <a:bodyPr wrap="square" rtlCol="0" anchor="t"/>
          <a:lstStyle/>
          <a:p>
            <a:pPr indent="0" marL="0">
              <a:buNone/>
            </a:pPr>
            <a:r>
              <a:rPr lang="en-US" sz="1500" dirty="0">
                <a:solidFill>
                  <a:srgbClr val="212121"/>
                </a:solidFill>
                <a:latin typeface="Arial" pitchFamily="34" charset="0"/>
                <a:ea typeface="Arial" pitchFamily="34" charset="-122"/>
                <a:cs typeface="Arial" pitchFamily="34" charset="-120"/>
              </a:rPr>
              <a:t>RDS puede aplicar el cambio primero en la copia en espera y conmutar a ella, reduciendo la interrupción real que nota tu aplicación.</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Relacional frente a NoSQL: el patrón de acceso</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3: Bases de datos gestionadas</a:t>
            </a:r>
            <a:endParaRPr lang="en-US" sz="1100" dirty="0"/>
          </a:p>
        </p:txBody>
      </p:sp>
      <p:sp>
        <p:nvSpPr>
          <p:cNvPr id="5" name="Text 3"/>
          <p:cNvSpPr/>
          <p:nvPr/>
        </p:nvSpPr>
        <p:spPr>
          <a:xfrm>
            <a:off x="548640" y="1143000"/>
            <a:ext cx="11091672" cy="365760"/>
          </a:xfrm>
          <a:prstGeom prst="rect">
            <a:avLst/>
          </a:prstGeom>
          <a:noFill/>
          <a:ln/>
        </p:spPr>
        <p:txBody>
          <a:bodyPr wrap="square" rtlCol="0" anchor="ctr"/>
          <a:lstStyle/>
          <a:p>
            <a:pPr indent="0" marL="0">
              <a:buNone/>
            </a:pPr>
            <a:r>
              <a:rPr lang="en-US" sz="1500" b="1" dirty="0">
                <a:solidFill>
                  <a:srgbClr val="3949AB"/>
                </a:solidFill>
                <a:latin typeface="Arial" pitchFamily="34" charset="0"/>
                <a:ea typeface="Arial" pitchFamily="34" charset="-122"/>
                <a:cs typeface="Arial" pitchFamily="34" charset="-120"/>
              </a:rPr>
              <a:t>RDS no es la única familia de base de datos en la nube</a:t>
            </a:r>
            <a:endParaRPr lang="en-US" sz="1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2218334"/>
                <a:gridCol w="2440168"/>
                <a:gridCol w="6433170"/>
              </a:tblGrid>
              <a:tr h="594360">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Modelo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Servicio en AWS</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Cuándo encaja</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r>
              <a:tr h="594360">
                <a:tc>
                  <a:txBody>
                    <a:bodyPr/>
                    <a:lstStyle/>
                    <a:p>
                      <a:pPr indent="0" marL="0">
                        <a:buNone/>
                      </a:pPr>
                      <a:r>
                        <a:rPr lang="en-US" sz="1300" b="1" dirty="0">
                          <a:solidFill>
                            <a:srgbClr val="212121"/>
                          </a:solidFill>
                          <a:latin typeface="Arial" pitchFamily="34" charset="0"/>
                          <a:ea typeface="Arial" pitchFamily="34" charset="-122"/>
                          <a:cs typeface="Arial" pitchFamily="34" charset="-120"/>
                        </a:rPr>
                        <a:t>Relacional</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RDS</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Datos estructurados con relaciones claras — un catálogo con categorías y pedidos</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594360">
                <a:tc>
                  <a:txBody>
                    <a:bodyPr/>
                    <a:lstStyle/>
                    <a:p>
                      <a:pPr indent="0" marL="0">
                        <a:buNone/>
                      </a:pPr>
                      <a:r>
                        <a:rPr lang="en-US" sz="1300" b="1" dirty="0">
                          <a:solidFill>
                            <a:srgbClr val="212121"/>
                          </a:solidFill>
                          <a:latin typeface="Arial" pitchFamily="34" charset="0"/>
                          <a:ea typeface="Arial" pitchFamily="34" charset="-122"/>
                          <a:cs typeface="Arial" pitchFamily="34" charset="-120"/>
                        </a:rPr>
                        <a:t>Clave-valor</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DynamoDB</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Sesiones de usuario, carritos de compra temporales</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594360">
                <a:tc>
                  <a:txBody>
                    <a:bodyPr/>
                    <a:lstStyle/>
                    <a:p>
                      <a:pPr indent="0" marL="0">
                        <a:buNone/>
                      </a:pPr>
                      <a:r>
                        <a:rPr lang="en-US" sz="1300" b="1" dirty="0">
                          <a:solidFill>
                            <a:srgbClr val="212121"/>
                          </a:solidFill>
                          <a:latin typeface="Arial" pitchFamily="34" charset="0"/>
                          <a:ea typeface="Arial" pitchFamily="34" charset="-122"/>
                          <a:cs typeface="Arial" pitchFamily="34" charset="-120"/>
                        </a:rPr>
                        <a:t>Documental</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DocumentDB</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Catálogos con atributos muy distintos entre productos</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4160520"/>
            <a:ext cx="11091672" cy="1600200"/>
          </a:xfrm>
          <a:prstGeom prst="roundRect">
            <a:avLst/>
          </a:prstGeom>
          <a:solidFill>
            <a:srgbClr val="FFF8E1"/>
          </a:solidFill>
          <a:ln w="19050">
            <a:solidFill>
              <a:srgbClr val="FFA000"/>
            </a:solidFill>
            <a:prstDash val="solid"/>
          </a:ln>
        </p:spPr>
      </p:sp>
      <p:sp>
        <p:nvSpPr>
          <p:cNvPr id="8" name="Text 5"/>
          <p:cNvSpPr/>
          <p:nvPr/>
        </p:nvSpPr>
        <p:spPr>
          <a:xfrm>
            <a:off x="822960" y="4251960"/>
            <a:ext cx="10543032" cy="1417320"/>
          </a:xfrm>
          <a:prstGeom prst="rect">
            <a:avLst/>
          </a:prstGeom>
          <a:noFill/>
          <a:ln/>
        </p:spPr>
        <p:txBody>
          <a:bodyPr wrap="square" rtlCol="0" anchor="ctr"/>
          <a:lstStyle/>
          <a:p>
            <a:pPr indent="0" marL="0">
              <a:buNone/>
            </a:pPr>
            <a:r>
              <a:rPr lang="en-US" sz="1450" dirty="0">
                <a:solidFill>
                  <a:srgbClr val="212121"/>
                </a:solidFill>
                <a:latin typeface="Arial" pitchFamily="34" charset="0"/>
                <a:ea typeface="Arial" pitchFamily="34" charset="-122"/>
                <a:cs typeface="Arial" pitchFamily="34" charset="-120"/>
              </a:rPr>
              <a:t>La biblioteca, tres preguntas: préstamos activos con título y categoría cruza tablas (RDS); la sesión de un usuario navegando es un simple identificador (DynamoDB); una ficha con campos muy distintos según el tipo de libro encaja mejor sin columnas fijas (DocumentDB).</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DynamoDB y DocumentDB, en detalle</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3: Bases de datos gestionadas</a:t>
            </a:r>
            <a:endParaRPr lang="en-US" sz="1100" dirty="0"/>
          </a:p>
        </p:txBody>
      </p:sp>
      <p:sp>
        <p:nvSpPr>
          <p:cNvPr id="5" name="Shape 3"/>
          <p:cNvSpPr/>
          <p:nvPr/>
        </p:nvSpPr>
        <p:spPr>
          <a:xfrm>
            <a:off x="548640" y="1188720"/>
            <a:ext cx="5362956" cy="3200400"/>
          </a:xfrm>
          <a:prstGeom prst="roundRect">
            <a:avLst/>
          </a:prstGeom>
          <a:solidFill>
            <a:srgbClr val="E8EAF6"/>
          </a:solidFill>
          <a:ln w="15875">
            <a:solidFill>
              <a:srgbClr val="3949AB"/>
            </a:solidFill>
            <a:prstDash val="solid"/>
          </a:ln>
        </p:spPr>
      </p:sp>
      <p:sp>
        <p:nvSpPr>
          <p:cNvPr id="6" name="Text 4"/>
          <p:cNvSpPr/>
          <p:nvPr/>
        </p:nvSpPr>
        <p:spPr>
          <a:xfrm>
            <a:off x="731520" y="1261872"/>
            <a:ext cx="4997196" cy="548640"/>
          </a:xfrm>
          <a:prstGeom prst="rect">
            <a:avLst/>
          </a:prstGeom>
          <a:noFill/>
          <a:ln/>
        </p:spPr>
        <p:txBody>
          <a:bodyPr wrap="square" rtlCol="0" anchor="ctr"/>
          <a:lstStyle/>
          <a:p>
            <a:pPr indent="0" marL="0">
              <a:buNone/>
            </a:pPr>
            <a:r>
              <a:rPr lang="en-US" sz="1900" b="1" dirty="0">
                <a:solidFill>
                  <a:srgbClr val="1A237E"/>
                </a:solidFill>
                <a:latin typeface="Arial" pitchFamily="34" charset="0"/>
                <a:ea typeface="Arial" pitchFamily="34" charset="-122"/>
                <a:cs typeface="Arial" pitchFamily="34" charset="-120"/>
              </a:rPr>
              <a:t>DynamoDB</a:t>
            </a:r>
            <a:endParaRPr lang="en-US" sz="1900" dirty="0"/>
          </a:p>
        </p:txBody>
      </p:sp>
      <p:sp>
        <p:nvSpPr>
          <p:cNvPr id="7" name="Text 5"/>
          <p:cNvSpPr/>
          <p:nvPr/>
        </p:nvSpPr>
        <p:spPr>
          <a:xfrm>
            <a:off x="731520" y="1810512"/>
            <a:ext cx="4997196" cy="2505456"/>
          </a:xfrm>
          <a:prstGeom prst="rect">
            <a:avLst/>
          </a:prstGeom>
          <a:noFill/>
          <a:ln/>
        </p:spPr>
        <p:txBody>
          <a:bodyPr wrap="square" rtlCol="0" anchor="t"/>
          <a:lstStyle/>
          <a:p>
            <a:pPr indent="0" marL="0">
              <a:buNone/>
            </a:pPr>
            <a:r>
              <a:rPr lang="en-US" sz="1450" dirty="0">
                <a:solidFill>
                  <a:srgbClr val="212121"/>
                </a:solidFill>
                <a:latin typeface="Arial" pitchFamily="34" charset="0"/>
                <a:ea typeface="Arial" pitchFamily="34" charset="-122"/>
                <a:cs typeface="Arial" pitchFamily="34" charset="-120"/>
              </a:rPr>
              <a:t>No tiene columnas fijas: cada elemento es un documento con los atributos que quieras. Solo decides de antemano la clave de partición (por ejemplo sesion_id). El acceso normal es siempre por esa clave — no un SELECT ... WHERE sobre cualquier campo. Sin motor que arrancar ni parches: se factura por lo que usas.</a:t>
            </a:r>
            <a:endParaRPr lang="en-US" sz="1450" dirty="0"/>
          </a:p>
        </p:txBody>
      </p:sp>
      <p:sp>
        <p:nvSpPr>
          <p:cNvPr id="8" name="Shape 6"/>
          <p:cNvSpPr/>
          <p:nvPr/>
        </p:nvSpPr>
        <p:spPr>
          <a:xfrm>
            <a:off x="6277356" y="1188720"/>
            <a:ext cx="5362956" cy="3200400"/>
          </a:xfrm>
          <a:prstGeom prst="roundRect">
            <a:avLst/>
          </a:prstGeom>
          <a:solidFill>
            <a:srgbClr val="E8EAF6"/>
          </a:solidFill>
          <a:ln w="15875">
            <a:solidFill>
              <a:srgbClr val="3949AB"/>
            </a:solidFill>
            <a:prstDash val="solid"/>
          </a:ln>
        </p:spPr>
      </p:sp>
      <p:sp>
        <p:nvSpPr>
          <p:cNvPr id="9" name="Text 7"/>
          <p:cNvSpPr/>
          <p:nvPr/>
        </p:nvSpPr>
        <p:spPr>
          <a:xfrm>
            <a:off x="6460236" y="1261872"/>
            <a:ext cx="4997196" cy="548640"/>
          </a:xfrm>
          <a:prstGeom prst="rect">
            <a:avLst/>
          </a:prstGeom>
          <a:noFill/>
          <a:ln/>
        </p:spPr>
        <p:txBody>
          <a:bodyPr wrap="square" rtlCol="0" anchor="ctr"/>
          <a:lstStyle/>
          <a:p>
            <a:pPr indent="0" marL="0">
              <a:buNone/>
            </a:pPr>
            <a:r>
              <a:rPr lang="en-US" sz="1900" b="1" dirty="0">
                <a:solidFill>
                  <a:srgbClr val="1A237E"/>
                </a:solidFill>
                <a:latin typeface="Arial" pitchFamily="34" charset="0"/>
                <a:ea typeface="Arial" pitchFamily="34" charset="-122"/>
                <a:cs typeface="Arial" pitchFamily="34" charset="-120"/>
              </a:rPr>
              <a:t>DocumentDB</a:t>
            </a:r>
            <a:endParaRPr lang="en-US" sz="1900" dirty="0"/>
          </a:p>
        </p:txBody>
      </p:sp>
      <p:sp>
        <p:nvSpPr>
          <p:cNvPr id="10" name="Text 8"/>
          <p:cNvSpPr/>
          <p:nvPr/>
        </p:nvSpPr>
        <p:spPr>
          <a:xfrm>
            <a:off x="6460236" y="1810512"/>
            <a:ext cx="4997196" cy="2505456"/>
          </a:xfrm>
          <a:prstGeom prst="rect">
            <a:avLst/>
          </a:prstGeom>
          <a:noFill/>
          <a:ln/>
        </p:spPr>
        <p:txBody>
          <a:bodyPr wrap="square" rtlCol="0" anchor="t"/>
          <a:lstStyle/>
          <a:p>
            <a:pPr indent="0" marL="0">
              <a:buNone/>
            </a:pPr>
            <a:r>
              <a:rPr lang="en-US" sz="1450" dirty="0">
                <a:solidFill>
                  <a:srgbClr val="212121"/>
                </a:solidFill>
                <a:latin typeface="Arial" pitchFamily="34" charset="0"/>
                <a:ea typeface="Arial" pitchFamily="34" charset="-122"/>
                <a:cs typeface="Arial" pitchFamily="34" charset="-120"/>
              </a:rPr>
              <a:t>Usa una arquitectura de clúster parecida a Aurora — no sirve nada sin al menos una instancia dentro. No se habla en SQL: es compatible con el protocolo de MongoDB, con comandos como db.coleccion.find({...}) sobre documentos, sin obligar a que todos compartan el mismo esquema.</a:t>
            </a:r>
            <a:endParaRPr lang="en-US" sz="1450" dirty="0"/>
          </a:p>
        </p:txBody>
      </p:sp>
      <p:sp>
        <p:nvSpPr>
          <p:cNvPr id="11" name="Shape 9"/>
          <p:cNvSpPr/>
          <p:nvPr/>
        </p:nvSpPr>
        <p:spPr>
          <a:xfrm>
            <a:off x="548640" y="4617720"/>
            <a:ext cx="11091672" cy="1234440"/>
          </a:xfrm>
          <a:prstGeom prst="roundRect">
            <a:avLst/>
          </a:prstGeom>
          <a:solidFill>
            <a:srgbClr val="FFF8E1"/>
          </a:solidFill>
          <a:ln w="19050">
            <a:solidFill>
              <a:srgbClr val="FFA000"/>
            </a:solidFill>
            <a:prstDash val="solid"/>
          </a:ln>
        </p:spPr>
      </p:sp>
      <p:sp>
        <p:nvSpPr>
          <p:cNvPr id="12" name="Text 10"/>
          <p:cNvSpPr/>
          <p:nvPr/>
        </p:nvSpPr>
        <p:spPr>
          <a:xfrm>
            <a:off x="822960" y="4709160"/>
            <a:ext cx="10543032" cy="105156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El criterio no es «cuál es más moderno», sino qué forma tienen tus datos y cómo los vas a consultar. En la Actividad 3.2 creas una tabla DynamoDB real; DocumentDB se queda en razonamiento.</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Ideas clave</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3: Bases de datos gestionadas</a:t>
            </a:r>
            <a:endParaRPr lang="en-US" sz="1100" dirty="0"/>
          </a:p>
        </p:txBody>
      </p:sp>
      <p:sp>
        <p:nvSpPr>
          <p:cNvPr id="5" name="Shape 3"/>
          <p:cNvSpPr/>
          <p:nvPr/>
        </p:nvSpPr>
        <p:spPr>
          <a:xfrm>
            <a:off x="548640" y="1188720"/>
            <a:ext cx="5463540" cy="914400"/>
          </a:xfrm>
          <a:prstGeom prst="roundRect">
            <a:avLst/>
          </a:prstGeom>
          <a:solidFill>
            <a:srgbClr val="E8EAF6"/>
          </a:solidFill>
          <a:ln w="15875">
            <a:solidFill>
              <a:srgbClr val="3949AB"/>
            </a:solidFill>
            <a:prstDash val="solid"/>
          </a:ln>
        </p:spPr>
      </p:sp>
      <p:sp>
        <p:nvSpPr>
          <p:cNvPr id="6" name="Shape 4"/>
          <p:cNvSpPr/>
          <p:nvPr/>
        </p:nvSpPr>
        <p:spPr>
          <a:xfrm>
            <a:off x="731520" y="1353312"/>
            <a:ext cx="566928" cy="566928"/>
          </a:xfrm>
          <a:prstGeom prst="ellipse">
            <a:avLst/>
          </a:prstGeom>
          <a:solidFill>
            <a:srgbClr val="3949AB"/>
          </a:solidFill>
          <a:ln w="12700">
            <a:solidFill>
              <a:srgbClr val="3949AB"/>
            </a:solidFill>
            <a:prstDash val="solid"/>
          </a:ln>
        </p:spPr>
      </p:sp>
      <p:sp>
        <p:nvSpPr>
          <p:cNvPr id="7" name="Text 5"/>
          <p:cNvSpPr/>
          <p:nvPr/>
        </p:nvSpPr>
        <p:spPr>
          <a:xfrm>
            <a:off x="731520" y="1353312"/>
            <a:ext cx="566928" cy="566928"/>
          </a:xfrm>
          <a:prstGeom prst="rect">
            <a:avLst/>
          </a:prstGeom>
          <a:noFill/>
          <a:ln/>
        </p:spPr>
        <p:txBody>
          <a:bodyPr wrap="square"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8" name="Text 6"/>
          <p:cNvSpPr/>
          <p:nvPr/>
        </p:nvSpPr>
        <p:spPr>
          <a:xfrm>
            <a:off x="1417320" y="1188720"/>
            <a:ext cx="4411980" cy="914400"/>
          </a:xfrm>
          <a:prstGeom prst="rect">
            <a:avLst/>
          </a:prstGeom>
          <a:noFill/>
          <a:ln/>
        </p:spPr>
        <p:txBody>
          <a:bodyPr wrap="square" rtlCol="0" anchor="ctr"/>
          <a:lstStyle/>
          <a:p>
            <a:pPr indent="0" marL="0">
              <a:buNone/>
            </a:pPr>
            <a:r>
              <a:rPr lang="en-US" sz="1300" dirty="0">
                <a:solidFill>
                  <a:srgbClr val="212121"/>
                </a:solidFill>
                <a:latin typeface="Arial" pitchFamily="34" charset="0"/>
                <a:ea typeface="Arial" pitchFamily="34" charset="-122"/>
                <a:cs typeface="Arial" pitchFamily="34" charset="-120"/>
              </a:rPr>
              <a:t>Instalar tu propia base de datos da control total; RDS asume parches, copias y conmutación por error a cambio del acceso al sistema operativo.</a:t>
            </a:r>
            <a:endParaRPr lang="en-US" sz="1300" dirty="0"/>
          </a:p>
        </p:txBody>
      </p:sp>
      <p:sp>
        <p:nvSpPr>
          <p:cNvPr id="9" name="Shape 7"/>
          <p:cNvSpPr/>
          <p:nvPr/>
        </p:nvSpPr>
        <p:spPr>
          <a:xfrm>
            <a:off x="6176772" y="1188720"/>
            <a:ext cx="5463540" cy="914400"/>
          </a:xfrm>
          <a:prstGeom prst="roundRect">
            <a:avLst/>
          </a:prstGeom>
          <a:solidFill>
            <a:srgbClr val="E8EAF6"/>
          </a:solidFill>
          <a:ln w="15875">
            <a:solidFill>
              <a:srgbClr val="3949AB"/>
            </a:solidFill>
            <a:prstDash val="solid"/>
          </a:ln>
        </p:spPr>
      </p:sp>
      <p:sp>
        <p:nvSpPr>
          <p:cNvPr id="10" name="Shape 8"/>
          <p:cNvSpPr/>
          <p:nvPr/>
        </p:nvSpPr>
        <p:spPr>
          <a:xfrm>
            <a:off x="6359652" y="1353312"/>
            <a:ext cx="566928" cy="566928"/>
          </a:xfrm>
          <a:prstGeom prst="ellipse">
            <a:avLst/>
          </a:prstGeom>
          <a:solidFill>
            <a:srgbClr val="3949AB"/>
          </a:solidFill>
          <a:ln w="12700">
            <a:solidFill>
              <a:srgbClr val="3949AB"/>
            </a:solidFill>
            <a:prstDash val="solid"/>
          </a:ln>
        </p:spPr>
      </p:sp>
      <p:sp>
        <p:nvSpPr>
          <p:cNvPr id="11" name="Text 9"/>
          <p:cNvSpPr/>
          <p:nvPr/>
        </p:nvSpPr>
        <p:spPr>
          <a:xfrm>
            <a:off x="6359652" y="1353312"/>
            <a:ext cx="566928" cy="566928"/>
          </a:xfrm>
          <a:prstGeom prst="rect">
            <a:avLst/>
          </a:prstGeom>
          <a:noFill/>
          <a:ln/>
        </p:spPr>
        <p:txBody>
          <a:bodyPr wrap="square"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2" name="Text 10"/>
          <p:cNvSpPr/>
          <p:nvPr/>
        </p:nvSpPr>
        <p:spPr>
          <a:xfrm>
            <a:off x="7045452" y="1188720"/>
            <a:ext cx="4411980" cy="914400"/>
          </a:xfrm>
          <a:prstGeom prst="rect">
            <a:avLst/>
          </a:prstGeom>
          <a:noFill/>
          <a:ln/>
        </p:spPr>
        <p:txBody>
          <a:bodyPr wrap="square" rtlCol="0" anchor="ctr"/>
          <a:lstStyle/>
          <a:p>
            <a:pPr indent="0" marL="0">
              <a:buNone/>
            </a:pPr>
            <a:r>
              <a:rPr lang="en-US" sz="1300" dirty="0">
                <a:solidFill>
                  <a:srgbClr val="212121"/>
                </a:solidFill>
                <a:latin typeface="Arial" pitchFamily="34" charset="0"/>
                <a:ea typeface="Arial" pitchFamily="34" charset="-122"/>
                <a:cs typeface="Arial" pitchFamily="34" charset="-120"/>
              </a:rPr>
              <a:t>La base de datos va siempre en subred privada, con un grupo de seguridad que solo acepta tráfico desde la instancia de la aplicación.</a:t>
            </a:r>
            <a:endParaRPr lang="en-US" sz="1300" dirty="0"/>
          </a:p>
        </p:txBody>
      </p:sp>
      <p:sp>
        <p:nvSpPr>
          <p:cNvPr id="13" name="Shape 11"/>
          <p:cNvSpPr/>
          <p:nvPr/>
        </p:nvSpPr>
        <p:spPr>
          <a:xfrm>
            <a:off x="548640" y="2267712"/>
            <a:ext cx="5463540" cy="914400"/>
          </a:xfrm>
          <a:prstGeom prst="roundRect">
            <a:avLst/>
          </a:prstGeom>
          <a:solidFill>
            <a:srgbClr val="E8EAF6"/>
          </a:solidFill>
          <a:ln w="15875">
            <a:solidFill>
              <a:srgbClr val="3949AB"/>
            </a:solidFill>
            <a:prstDash val="solid"/>
          </a:ln>
        </p:spPr>
      </p:sp>
      <p:sp>
        <p:nvSpPr>
          <p:cNvPr id="14" name="Shape 12"/>
          <p:cNvSpPr/>
          <p:nvPr/>
        </p:nvSpPr>
        <p:spPr>
          <a:xfrm>
            <a:off x="731520" y="2432304"/>
            <a:ext cx="566928" cy="566928"/>
          </a:xfrm>
          <a:prstGeom prst="ellipse">
            <a:avLst/>
          </a:prstGeom>
          <a:solidFill>
            <a:srgbClr val="3949AB"/>
          </a:solidFill>
          <a:ln w="12700">
            <a:solidFill>
              <a:srgbClr val="3949AB"/>
            </a:solidFill>
            <a:prstDash val="solid"/>
          </a:ln>
        </p:spPr>
      </p:sp>
      <p:sp>
        <p:nvSpPr>
          <p:cNvPr id="15" name="Text 13"/>
          <p:cNvSpPr/>
          <p:nvPr/>
        </p:nvSpPr>
        <p:spPr>
          <a:xfrm>
            <a:off x="731520" y="2432304"/>
            <a:ext cx="566928" cy="566928"/>
          </a:xfrm>
          <a:prstGeom prst="rect">
            <a:avLst/>
          </a:prstGeom>
          <a:noFill/>
          <a:ln/>
        </p:spPr>
        <p:txBody>
          <a:bodyPr wrap="square"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16" name="Text 14"/>
          <p:cNvSpPr/>
          <p:nvPr/>
        </p:nvSpPr>
        <p:spPr>
          <a:xfrm>
            <a:off x="1417320" y="2267712"/>
            <a:ext cx="4411980" cy="914400"/>
          </a:xfrm>
          <a:prstGeom prst="rect">
            <a:avLst/>
          </a:prstGeom>
          <a:noFill/>
          <a:ln/>
        </p:spPr>
        <p:txBody>
          <a:bodyPr wrap="square" rtlCol="0" anchor="ctr"/>
          <a:lstStyle/>
          <a:p>
            <a:pPr indent="0" marL="0">
              <a:buNone/>
            </a:pPr>
            <a:r>
              <a:rPr lang="en-US" sz="1300" dirty="0">
                <a:solidFill>
                  <a:srgbClr val="212121"/>
                </a:solidFill>
                <a:latin typeface="Arial" pitchFamily="34" charset="0"/>
                <a:ea typeface="Arial" pitchFamily="34" charset="-122"/>
                <a:cs typeface="Arial" pitchFamily="34" charset="-120"/>
              </a:rPr>
              <a:t>Secrets Manager guarda la contraseña cifrada y fuera del código — puede generarla él mismo al crear la instancia.</a:t>
            </a:r>
            <a:endParaRPr lang="en-US" sz="1300" dirty="0"/>
          </a:p>
        </p:txBody>
      </p:sp>
      <p:sp>
        <p:nvSpPr>
          <p:cNvPr id="17" name="Shape 15"/>
          <p:cNvSpPr/>
          <p:nvPr/>
        </p:nvSpPr>
        <p:spPr>
          <a:xfrm>
            <a:off x="6176772" y="2267712"/>
            <a:ext cx="5463540" cy="914400"/>
          </a:xfrm>
          <a:prstGeom prst="roundRect">
            <a:avLst/>
          </a:prstGeom>
          <a:solidFill>
            <a:srgbClr val="E8EAF6"/>
          </a:solidFill>
          <a:ln w="15875">
            <a:solidFill>
              <a:srgbClr val="3949AB"/>
            </a:solidFill>
            <a:prstDash val="solid"/>
          </a:ln>
        </p:spPr>
      </p:sp>
      <p:sp>
        <p:nvSpPr>
          <p:cNvPr id="18" name="Shape 16"/>
          <p:cNvSpPr/>
          <p:nvPr/>
        </p:nvSpPr>
        <p:spPr>
          <a:xfrm>
            <a:off x="6359652" y="2432304"/>
            <a:ext cx="566928" cy="566928"/>
          </a:xfrm>
          <a:prstGeom prst="ellipse">
            <a:avLst/>
          </a:prstGeom>
          <a:solidFill>
            <a:srgbClr val="3949AB"/>
          </a:solidFill>
          <a:ln w="12700">
            <a:solidFill>
              <a:srgbClr val="3949AB"/>
            </a:solidFill>
            <a:prstDash val="solid"/>
          </a:ln>
        </p:spPr>
      </p:sp>
      <p:sp>
        <p:nvSpPr>
          <p:cNvPr id="19" name="Text 17"/>
          <p:cNvSpPr/>
          <p:nvPr/>
        </p:nvSpPr>
        <p:spPr>
          <a:xfrm>
            <a:off x="6359652" y="2432304"/>
            <a:ext cx="566928" cy="566928"/>
          </a:xfrm>
          <a:prstGeom prst="rect">
            <a:avLst/>
          </a:prstGeom>
          <a:noFill/>
          <a:ln/>
        </p:spPr>
        <p:txBody>
          <a:bodyPr wrap="square"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4</a:t>
            </a:r>
            <a:endParaRPr lang="en-US" sz="1700" dirty="0"/>
          </a:p>
        </p:txBody>
      </p:sp>
      <p:sp>
        <p:nvSpPr>
          <p:cNvPr id="20" name="Text 18"/>
          <p:cNvSpPr/>
          <p:nvPr/>
        </p:nvSpPr>
        <p:spPr>
          <a:xfrm>
            <a:off x="7045452" y="2267712"/>
            <a:ext cx="4411980" cy="914400"/>
          </a:xfrm>
          <a:prstGeom prst="rect">
            <a:avLst/>
          </a:prstGeom>
          <a:noFill/>
          <a:ln/>
        </p:spPr>
        <p:txBody>
          <a:bodyPr wrap="square" rtlCol="0" anchor="ctr"/>
          <a:lstStyle/>
          <a:p>
            <a:pPr indent="0" marL="0">
              <a:buNone/>
            </a:pPr>
            <a:r>
              <a:rPr lang="en-US" sz="1300" dirty="0">
                <a:solidFill>
                  <a:srgbClr val="212121"/>
                </a:solidFill>
                <a:latin typeface="Arial" pitchFamily="34" charset="0"/>
                <a:ea typeface="Arial" pitchFamily="34" charset="-122"/>
                <a:cs typeface="Arial" pitchFamily="34" charset="-120"/>
              </a:rPr>
              <a:t>La aplicación recibe endpoint y contraseña como variables de entorno que rellena un script de arranque por CLI.</a:t>
            </a:r>
            <a:endParaRPr lang="en-US" sz="1300" dirty="0"/>
          </a:p>
        </p:txBody>
      </p:sp>
      <p:sp>
        <p:nvSpPr>
          <p:cNvPr id="21" name="Shape 19"/>
          <p:cNvSpPr/>
          <p:nvPr/>
        </p:nvSpPr>
        <p:spPr>
          <a:xfrm>
            <a:off x="548640" y="3346704"/>
            <a:ext cx="5463540" cy="914400"/>
          </a:xfrm>
          <a:prstGeom prst="roundRect">
            <a:avLst/>
          </a:prstGeom>
          <a:solidFill>
            <a:srgbClr val="E8EAF6"/>
          </a:solidFill>
          <a:ln w="15875">
            <a:solidFill>
              <a:srgbClr val="3949AB"/>
            </a:solidFill>
            <a:prstDash val="solid"/>
          </a:ln>
        </p:spPr>
      </p:sp>
      <p:sp>
        <p:nvSpPr>
          <p:cNvPr id="22" name="Shape 20"/>
          <p:cNvSpPr/>
          <p:nvPr/>
        </p:nvSpPr>
        <p:spPr>
          <a:xfrm>
            <a:off x="731520" y="3511296"/>
            <a:ext cx="566928" cy="566928"/>
          </a:xfrm>
          <a:prstGeom prst="ellipse">
            <a:avLst/>
          </a:prstGeom>
          <a:solidFill>
            <a:srgbClr val="3949AB"/>
          </a:solidFill>
          <a:ln w="12700">
            <a:solidFill>
              <a:srgbClr val="3949AB"/>
            </a:solidFill>
            <a:prstDash val="solid"/>
          </a:ln>
        </p:spPr>
      </p:sp>
      <p:sp>
        <p:nvSpPr>
          <p:cNvPr id="23" name="Text 21"/>
          <p:cNvSpPr/>
          <p:nvPr/>
        </p:nvSpPr>
        <p:spPr>
          <a:xfrm>
            <a:off x="731520" y="3511296"/>
            <a:ext cx="566928" cy="566928"/>
          </a:xfrm>
          <a:prstGeom prst="rect">
            <a:avLst/>
          </a:prstGeom>
          <a:noFill/>
          <a:ln/>
        </p:spPr>
        <p:txBody>
          <a:bodyPr wrap="square"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5</a:t>
            </a:r>
            <a:endParaRPr lang="en-US" sz="1700" dirty="0"/>
          </a:p>
        </p:txBody>
      </p:sp>
      <p:sp>
        <p:nvSpPr>
          <p:cNvPr id="24" name="Text 22"/>
          <p:cNvSpPr/>
          <p:nvPr/>
        </p:nvSpPr>
        <p:spPr>
          <a:xfrm>
            <a:off x="1417320" y="3346704"/>
            <a:ext cx="4411980" cy="914400"/>
          </a:xfrm>
          <a:prstGeom prst="rect">
            <a:avLst/>
          </a:prstGeom>
          <a:noFill/>
          <a:ln/>
        </p:spPr>
        <p:txBody>
          <a:bodyPr wrap="square" rtlCol="0" anchor="ctr"/>
          <a:lstStyle/>
          <a:p>
            <a:pPr indent="0" marL="0">
              <a:buNone/>
            </a:pPr>
            <a:r>
              <a:rPr lang="en-US" sz="1300" dirty="0">
                <a:solidFill>
                  <a:srgbClr val="212121"/>
                </a:solidFill>
                <a:latin typeface="Arial" pitchFamily="34" charset="0"/>
                <a:ea typeface="Arial" pitchFamily="34" charset="-122"/>
                <a:cs typeface="Arial" pitchFamily="34" charset="-120"/>
              </a:rPr>
              <a:t>Multi-AZ resuelve disponibilidad (copia pasiva que conmuta sola); una réplica de lectura resuelve rendimiento — y Multi-AZ duplica el coste.</a:t>
            </a:r>
            <a:endParaRPr lang="en-US" sz="1300" dirty="0"/>
          </a:p>
        </p:txBody>
      </p:sp>
      <p:sp>
        <p:nvSpPr>
          <p:cNvPr id="25" name="Shape 23"/>
          <p:cNvSpPr/>
          <p:nvPr/>
        </p:nvSpPr>
        <p:spPr>
          <a:xfrm>
            <a:off x="6176772" y="3346704"/>
            <a:ext cx="5463540" cy="914400"/>
          </a:xfrm>
          <a:prstGeom prst="roundRect">
            <a:avLst/>
          </a:prstGeom>
          <a:solidFill>
            <a:srgbClr val="E8EAF6"/>
          </a:solidFill>
          <a:ln w="15875">
            <a:solidFill>
              <a:srgbClr val="3949AB"/>
            </a:solidFill>
            <a:prstDash val="solid"/>
          </a:ln>
        </p:spPr>
      </p:sp>
      <p:sp>
        <p:nvSpPr>
          <p:cNvPr id="26" name="Shape 24"/>
          <p:cNvSpPr/>
          <p:nvPr/>
        </p:nvSpPr>
        <p:spPr>
          <a:xfrm>
            <a:off x="6359652" y="3511296"/>
            <a:ext cx="566928" cy="566928"/>
          </a:xfrm>
          <a:prstGeom prst="ellipse">
            <a:avLst/>
          </a:prstGeom>
          <a:solidFill>
            <a:srgbClr val="3949AB"/>
          </a:solidFill>
          <a:ln w="12700">
            <a:solidFill>
              <a:srgbClr val="3949AB"/>
            </a:solidFill>
            <a:prstDash val="solid"/>
          </a:ln>
        </p:spPr>
      </p:sp>
      <p:sp>
        <p:nvSpPr>
          <p:cNvPr id="27" name="Text 25"/>
          <p:cNvSpPr/>
          <p:nvPr/>
        </p:nvSpPr>
        <p:spPr>
          <a:xfrm>
            <a:off x="6359652" y="3511296"/>
            <a:ext cx="566928" cy="566928"/>
          </a:xfrm>
          <a:prstGeom prst="rect">
            <a:avLst/>
          </a:prstGeom>
          <a:noFill/>
          <a:ln/>
        </p:spPr>
        <p:txBody>
          <a:bodyPr wrap="square"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6</a:t>
            </a:r>
            <a:endParaRPr lang="en-US" sz="1700" dirty="0"/>
          </a:p>
        </p:txBody>
      </p:sp>
      <p:sp>
        <p:nvSpPr>
          <p:cNvPr id="28" name="Text 26"/>
          <p:cNvSpPr/>
          <p:nvPr/>
        </p:nvSpPr>
        <p:spPr>
          <a:xfrm>
            <a:off x="7045452" y="3346704"/>
            <a:ext cx="4411980" cy="914400"/>
          </a:xfrm>
          <a:prstGeom prst="rect">
            <a:avLst/>
          </a:prstGeom>
          <a:noFill/>
          <a:ln/>
        </p:spPr>
        <p:txBody>
          <a:bodyPr wrap="square" rtlCol="0" anchor="ctr"/>
          <a:lstStyle/>
          <a:p>
            <a:pPr indent="0" marL="0">
              <a:buNone/>
            </a:pPr>
            <a:r>
              <a:rPr lang="en-US" sz="1300" dirty="0">
                <a:solidFill>
                  <a:srgbClr val="212121"/>
                </a:solidFill>
                <a:latin typeface="Arial" pitchFamily="34" charset="0"/>
                <a:ea typeface="Arial" pitchFamily="34" charset="-122"/>
                <a:cs typeface="Arial" pitchFamily="34" charset="-120"/>
              </a:rPr>
              <a:t>La recuperación a un punto en el tiempo usa backups automáticos, que desaparecen si borras la instancia; un snapshot manual, no.</a:t>
            </a:r>
            <a:endParaRPr lang="en-US" sz="1300" dirty="0"/>
          </a:p>
        </p:txBody>
      </p:sp>
      <p:sp>
        <p:nvSpPr>
          <p:cNvPr id="29" name="Shape 27"/>
          <p:cNvSpPr/>
          <p:nvPr/>
        </p:nvSpPr>
        <p:spPr>
          <a:xfrm>
            <a:off x="548640" y="4425696"/>
            <a:ext cx="5463540" cy="914400"/>
          </a:xfrm>
          <a:prstGeom prst="roundRect">
            <a:avLst/>
          </a:prstGeom>
          <a:solidFill>
            <a:srgbClr val="E8EAF6"/>
          </a:solidFill>
          <a:ln w="15875">
            <a:solidFill>
              <a:srgbClr val="3949AB"/>
            </a:solidFill>
            <a:prstDash val="solid"/>
          </a:ln>
        </p:spPr>
      </p:sp>
      <p:sp>
        <p:nvSpPr>
          <p:cNvPr id="30" name="Shape 28"/>
          <p:cNvSpPr/>
          <p:nvPr/>
        </p:nvSpPr>
        <p:spPr>
          <a:xfrm>
            <a:off x="731520" y="4590288"/>
            <a:ext cx="566928" cy="566928"/>
          </a:xfrm>
          <a:prstGeom prst="ellipse">
            <a:avLst/>
          </a:prstGeom>
          <a:solidFill>
            <a:srgbClr val="3949AB"/>
          </a:solidFill>
          <a:ln w="12700">
            <a:solidFill>
              <a:srgbClr val="3949AB"/>
            </a:solidFill>
            <a:prstDash val="solid"/>
          </a:ln>
        </p:spPr>
      </p:sp>
      <p:sp>
        <p:nvSpPr>
          <p:cNvPr id="31" name="Text 29"/>
          <p:cNvSpPr/>
          <p:nvPr/>
        </p:nvSpPr>
        <p:spPr>
          <a:xfrm>
            <a:off x="731520" y="4590288"/>
            <a:ext cx="566928" cy="566928"/>
          </a:xfrm>
          <a:prstGeom prst="rect">
            <a:avLst/>
          </a:prstGeom>
          <a:noFill/>
          <a:ln/>
        </p:spPr>
        <p:txBody>
          <a:bodyPr wrap="square"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7</a:t>
            </a:r>
            <a:endParaRPr lang="en-US" sz="1700" dirty="0"/>
          </a:p>
        </p:txBody>
      </p:sp>
      <p:sp>
        <p:nvSpPr>
          <p:cNvPr id="32" name="Text 30"/>
          <p:cNvSpPr/>
          <p:nvPr/>
        </p:nvSpPr>
        <p:spPr>
          <a:xfrm>
            <a:off x="1417320" y="4425696"/>
            <a:ext cx="4411980" cy="914400"/>
          </a:xfrm>
          <a:prstGeom prst="rect">
            <a:avLst/>
          </a:prstGeom>
          <a:noFill/>
          <a:ln/>
        </p:spPr>
        <p:txBody>
          <a:bodyPr wrap="square" rtlCol="0" anchor="ctr"/>
          <a:lstStyle/>
          <a:p>
            <a:pPr indent="0" marL="0">
              <a:buNone/>
            </a:pPr>
            <a:r>
              <a:rPr lang="en-US" sz="1300" dirty="0">
                <a:solidFill>
                  <a:srgbClr val="212121"/>
                </a:solidFill>
                <a:latin typeface="Arial" pitchFamily="34" charset="0"/>
                <a:ea typeface="Arial" pitchFamily="34" charset="-122"/>
                <a:cs typeface="Arial" pitchFamily="34" charset="-120"/>
              </a:rPr>
              <a:t>La clase db.* se puede cambiar después de crear la base de datos, a costa de una breve interrupción salvo que Multi-AZ la amortigüe.</a:t>
            </a:r>
            <a:endParaRPr lang="en-US" sz="1300" dirty="0"/>
          </a:p>
        </p:txBody>
      </p:sp>
      <p:sp>
        <p:nvSpPr>
          <p:cNvPr id="33" name="Shape 31"/>
          <p:cNvSpPr/>
          <p:nvPr/>
        </p:nvSpPr>
        <p:spPr>
          <a:xfrm>
            <a:off x="6176772" y="4425696"/>
            <a:ext cx="5463540" cy="914400"/>
          </a:xfrm>
          <a:prstGeom prst="roundRect">
            <a:avLst/>
          </a:prstGeom>
          <a:solidFill>
            <a:srgbClr val="E8EAF6"/>
          </a:solidFill>
          <a:ln w="15875">
            <a:solidFill>
              <a:srgbClr val="3949AB"/>
            </a:solidFill>
            <a:prstDash val="solid"/>
          </a:ln>
        </p:spPr>
      </p:sp>
      <p:sp>
        <p:nvSpPr>
          <p:cNvPr id="34" name="Shape 32"/>
          <p:cNvSpPr/>
          <p:nvPr/>
        </p:nvSpPr>
        <p:spPr>
          <a:xfrm>
            <a:off x="6359652" y="4590288"/>
            <a:ext cx="566928" cy="566928"/>
          </a:xfrm>
          <a:prstGeom prst="ellipse">
            <a:avLst/>
          </a:prstGeom>
          <a:solidFill>
            <a:srgbClr val="3949AB"/>
          </a:solidFill>
          <a:ln w="12700">
            <a:solidFill>
              <a:srgbClr val="3949AB"/>
            </a:solidFill>
            <a:prstDash val="solid"/>
          </a:ln>
        </p:spPr>
      </p:sp>
      <p:sp>
        <p:nvSpPr>
          <p:cNvPr id="35" name="Text 33"/>
          <p:cNvSpPr/>
          <p:nvPr/>
        </p:nvSpPr>
        <p:spPr>
          <a:xfrm>
            <a:off x="6359652" y="4590288"/>
            <a:ext cx="566928" cy="566928"/>
          </a:xfrm>
          <a:prstGeom prst="rect">
            <a:avLst/>
          </a:prstGeom>
          <a:noFill/>
          <a:ln/>
        </p:spPr>
        <p:txBody>
          <a:bodyPr wrap="square"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8</a:t>
            </a:r>
            <a:endParaRPr lang="en-US" sz="1700" dirty="0"/>
          </a:p>
        </p:txBody>
      </p:sp>
      <p:sp>
        <p:nvSpPr>
          <p:cNvPr id="36" name="Text 34"/>
          <p:cNvSpPr/>
          <p:nvPr/>
        </p:nvSpPr>
        <p:spPr>
          <a:xfrm>
            <a:off x="7045452" y="4425696"/>
            <a:ext cx="4411980" cy="914400"/>
          </a:xfrm>
          <a:prstGeom prst="rect">
            <a:avLst/>
          </a:prstGeom>
          <a:noFill/>
          <a:ln/>
        </p:spPr>
        <p:txBody>
          <a:bodyPr wrap="square" rtlCol="0" anchor="ctr"/>
          <a:lstStyle/>
          <a:p>
            <a:pPr indent="0" marL="0">
              <a:buNone/>
            </a:pPr>
            <a:r>
              <a:rPr lang="en-US" sz="1300" dirty="0">
                <a:solidFill>
                  <a:srgbClr val="212121"/>
                </a:solidFill>
                <a:latin typeface="Arial" pitchFamily="34" charset="0"/>
                <a:ea typeface="Arial" pitchFamily="34" charset="-122"/>
                <a:cs typeface="Arial" pitchFamily="34" charset="-120"/>
              </a:rPr>
              <a:t>Relacional (RDS), clave-valor (DynamoDB) y documental (DocumentDB): la elección depende de la forma de los datos, no de la moda.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Bases de datos gestionadas</dc:title>
  <dc:subject>PptxGenJS Presentation</dc:subject>
  <dc:creator>Introducción a la Nube Pública</dc:creator>
  <cp:lastModifiedBy>Introducción a la Nube Pública</cp:lastModifiedBy>
  <cp:revision>1</cp:revision>
  <dcterms:created xsi:type="dcterms:W3CDTF">2026-09-23T09:42:32Z</dcterms:created>
  <dcterms:modified xsi:type="dcterms:W3CDTF">2026-09-23T09:42:32Z</dcterms:modified>
</cp:coreProperties>
</file>