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7933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3: ALMACENAMIENTO, DATOS Y PRIMERA ARQUITECTURA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de almacenamiento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Almacenamiento, datos y primera arquitectura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de almacenamiento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usaste S3, sin pensar en por qué encajaba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07259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trabajas con la plataforma de un festival de música, cuyas necesidades ya no encajan todas en S3.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problemas de almacenamiento, en la misma sesión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3514344" cy="2011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3240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corto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31485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espacio de logs de una instancia se ha quedado pequeño.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7304" y="3200400"/>
            <a:ext cx="3514344" cy="20116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474464" y="3291840"/>
            <a:ext cx="3240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públicas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0184" y="4023360"/>
            <a:ext cx="31485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asistentes suben fotos que cualquiera debe poder ver.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5968" y="3200400"/>
            <a:ext cx="3514344" cy="2011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263128" y="3291840"/>
            <a:ext cx="3240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Carpeta compartida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08848" y="4023360"/>
            <a:ext cx="31485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instancias necesitan ver los mismos ficheros a la vez.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resuelves de verdad en la Actividad 3.1.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familias, tres formas de guardar datos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«el almacenamiento en la nube» en singular. Cada familia guarda y sirve los datos de una forma físicamente distinta por debajo.</a:t>
            </a:r>
            <a:endParaRPr lang="en-US" sz="1600" dirty="0"/>
          </a:p>
        </p:txBody>
      </p:sp>
      <p:pic>
        <p:nvPicPr>
          <p:cNvPr id="7" name="Image 0" descr="C:/Users/Aitor/Documents/apuntes-profe/introduccion-nube/docs/tema3/img/diagrama_tres_familias_almacenamiento.png"/>
          <p:cNvPicPr>
            <a:picLocks noChangeAspect="1"/>
          </p:cNvPicPr>
          <p:nvPr/>
        </p:nvPicPr>
        <p:blipFill>
          <a:blip r:embed="rId3"/>
          <a:srcRect t="14830" b="17143"/>
          <a:stretch>
            <a:fillRect/>
          </a:stretch>
        </p:blipFill>
        <p:spPr>
          <a:xfrm>
            <a:off x="2295103" y="1998256"/>
            <a:ext cx="7474048" cy="286148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29200"/>
          <a:ext cx="11091673" cy="1536192"/>
        </p:xfrm>
        <a:graphic>
          <a:graphicData uri="http://schemas.openxmlformats.org/drawingml/2006/table">
            <a:tbl>
              <a:tblPr/>
              <a:tblGrid>
                <a:gridCol w="332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7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accede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Cuántas instancias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(EBS)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un disco duro, conectado directamente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una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Objetos (S3)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HTTP, a través de una URL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límite práctico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Archivos compartidos (EFS)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una carpeta de red, por NFS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Varias, en tiempo real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festival: tres respuestas a «¿dónde lo guardo?»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plataforma del festival tiene las tres necesidades a la vez, y cada una pide una familia distinta.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1672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(EBS)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2724912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espacio de logs de una instancia concreta se ha quedado corto — es el disco de esa máquina, y nadie más necesita leerlo.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91672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1520" y="359359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 (S3)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1520" y="4142232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asistentes suben fotos y quieres publicarlas para que cualquiera las vea desde su navegador.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91672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31520" y="501091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compartidos (EFS)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" y="5559552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Esas mismas fotos las sirven dos instancias a la vez, viendo ambas los mismos ficheros en tiempo real.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un volumen EBS: dos partes, no una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051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se creó el volumen, AWS grabó una tabla de particiones en el disco, y el sistema operativo la leyó una vez y se quedó con ese dato en memoria. Ampliar por fuera no actualiza eso solo.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464308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3728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Amplías el volumen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(lado AWS)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67228" y="246888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4428" y="2468880"/>
            <a:ext cx="2464308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470148" y="2514600"/>
            <a:ext cx="23728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SO ya 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nuevo tamaño?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43016" y="246888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300216" y="2468880"/>
            <a:ext cx="2464308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45936" y="2514600"/>
            <a:ext cx="23728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Extiendes partición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sistema de ficheros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18804" y="246888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76004" y="2468880"/>
            <a:ext cx="2464308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221724" y="2514600"/>
            <a:ext cx="23728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disponible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escribir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11091672" cy="137160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22960" y="4178808"/>
            <a:ext cx="105430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error habitual: dar por hecho que ya está
</a:t>
            </a:r>
            <a:endParaRPr lang="en-US" sz="1800" dirty="0"/>
          </a:p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 -h seguiría mostrando el tamaño antiguo hasta que extiendas la partición y el sistema de ficheros — sin reiniciar ni cortar el servicio. Lo harás en la Actividad 3.1.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tipo de volumen (gp3 por defecto) también existe, aunque hoy no lo elijas.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Durabilidad frente a disponibilidad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6400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palabras que se confunden constantemente, y no significan lo mismo.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62956" cy="2103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2039112"/>
            <a:ext cx="49971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Durabilidad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49971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probabilidad de que tus datos sobrevivan con el tiempo, sin corromperse. S3: 99,999999999 % anual (once nueves) — de diez millones de objetos, perderías uno cada diez mil años.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77356" y="1965960"/>
            <a:ext cx="5362956" cy="2103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60236" y="2039112"/>
            <a:ext cx="49971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60236" y="2587752"/>
            <a:ext cx="499719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probabilidad de que puedas acceder a tus datos en un momento dado. Puede tener datos perfectamente duraderos y estar temporalmente inaccesible por una caída puntual.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91672" cy="105156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2960" y="4407408"/>
            <a:ext cx="1054303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objeto puede sobrevivir a un fallo que sí te deja sin acceso un rato
</a:t>
            </a:r>
            <a:endParaRPr lang="en-US" sz="1800" dirty="0"/>
          </a:p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dos garantías distintas, y las arquitecturas desde el Tema 4 se preocupan de las dos por separado.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de acceso: el precio según el uso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Cuanto más barata la clase, menos preparado está el dato para devolvértelo al instante — es un intercambio, no una clase «mejor» y otras «peores».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219456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4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Coste por 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Coste de recuperación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Ninguno, inmediato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lee constantemente (durante el festival)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infrecuente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Bajo, igual de inmediato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Copias recientes, o fotos ya pasadas unas semanas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Archivo (Glacier)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bajo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Alto, hay que restaurar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Casi nunca se tocan pero hay que conservarlos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548640" y="4297680"/>
            <a:ext cx="11091672" cy="109728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822960" y="4407408"/>
            <a:ext cx="1054303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Glacier no vale para nada que puedas necesitar sin avisar
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te piden una foto de hace seis meses y está en Glacier, primero tienes que restaurarla y esperar — no se la puedes enviar en el momento.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ciclo de vida y versionado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ciclo de vida: mueven el objeto solas, con el tiempo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464308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3728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recién subida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67228" y="160020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24428" y="1600200"/>
            <a:ext cx="2464308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470148" y="1645920"/>
            <a:ext cx="23728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días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infrecuente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43016" y="160020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0216" y="1600200"/>
            <a:ext cx="2464308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345936" y="1645920"/>
            <a:ext cx="23728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días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18804" y="160020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76004" y="1600200"/>
            <a:ext cx="2464308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9221724" y="1645920"/>
            <a:ext cx="23728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 días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Eliminada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11091672" cy="14173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31520" y="295351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Versionado: nada se sobrescribe de verdad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1520" y="3502152"/>
            <a:ext cx="1072591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subida con el mismo nombre asigna un ID de versión nuevo. Un borrado añade un marcador de eliminación: el objeto «desaparece» del listado, pero las versiones anteriores siguen recuperables.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91672" cy="96012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22960" y="4681728"/>
            <a:ext cx="1054303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versionado no es una copia de seguridad completa
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contra un borrado o sobrescritura accidental de un objeto concreto, no sustituye a una estrategia de copias real.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Eligiendo familia según el patrón de acceso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8686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es siempre la misma: ¿cuántas instancias necesitan verlo a la vez, y cómo se accede — por HTTP, como disco, o como carpeta compartida?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2743200"/>
        </p:xfrm>
        <a:graphic>
          <a:graphicData uri="http://schemas.openxmlformats.org/drawingml/2006/table">
            <a:tbl>
              <a:tblPr/>
              <a:tblGrid>
                <a:gridCol w="4658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3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Necesidad del festival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Cuántas instancias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Espacio de logs de una instancia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sola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(EBS)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Fotos publicadas para los asistentes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Cualquier navegador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Objetos (S3)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Fotos que sirven dos instancias a la vez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Varias, en tiempo 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Archivos compartidos (EFS)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necesidad con la familia que le corresponde, no la misma para todo por comodidad.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62306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6230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280160"/>
            <a:ext cx="428853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familias con mecanismo físico distinto: bloque (una instancia), objetos (HTTP, sin límite), archivos compartidos (NFS, varias a la vez).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8776" y="128016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391656" y="162306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91656" y="16230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68896" y="1280160"/>
            <a:ext cx="428853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un volumen EBS son dos pasos: el tamaño en AWS, y extender la partición y el sistema de ficheros dentro de la instancia.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31520" y="31775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31775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2834640"/>
            <a:ext cx="428853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Durabilidad (sobreviven con el tiempo) y disponibilidad (accedes ahora mismo) son garantías distintas.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08776" y="283464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391656" y="31775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91656" y="31775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68896" y="2834640"/>
            <a:ext cx="428853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clases de acceso ajustan precio a frecuencia de uso; las reglas de ciclo de vida mueven objetos entre clases solas.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31520" y="473202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1520" y="47320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08760" y="4389120"/>
            <a:ext cx="428853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versionado asigna IDs de versión y marcadores de eliminación — protege contra accidentes, no es copia de seguridad.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08776" y="438912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391656" y="473202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91656" y="47320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68896" y="4389120"/>
            <a:ext cx="428853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familia correcta depende de una sola pregunta: ¿cuántas instancias necesitan ver este dato a la vez, y cómo acceden?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1194</Words>
  <Application>Microsoft Office PowerPoint</Application>
  <PresentationFormat>Panorámica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Servicios de almacenamiento</dc:title>
  <dc:subject>PptxGenJS Presentation</dc:subject>
  <dc:creator>Introducción a la Nube Pública</dc:creator>
  <cp:lastModifiedBy>VENTURA EDO, AITOR</cp:lastModifiedBy>
  <cp:revision>2</cp:revision>
  <dcterms:created xsi:type="dcterms:W3CDTF">2026-09-23T09:33:47Z</dcterms:created>
  <dcterms:modified xsi:type="dcterms:W3CDTF">2026-09-23T10:01:47Z</dcterms:modified>
</cp:coreProperties>
</file>