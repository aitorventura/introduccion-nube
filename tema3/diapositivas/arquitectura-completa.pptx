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C5CAE9"/>
                </a:solidFill>
                <a:latin typeface="Arial" pitchFamily="34" charset="0"/>
                <a:ea typeface="Arial" pitchFamily="34" charset="-122"/>
                <a:cs typeface="Arial" pitchFamily="34" charset="-120"/>
              </a:rPr>
              <a:t>INTRODUCCIÓN A LA NUBE PÚBLICA  —  TEMA 3: ALMACENAMIENTO, DATOS Y PRIMERA ARQUITECTURA</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Primera arquitectura cloud completa</a:t>
            </a:r>
            <a:endParaRPr lang="en-US" sz="36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Tema 3 — Almacenamiento, datos y primera arquitectura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Primera arquitectura cloud completa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Shape 3"/>
          <p:cNvSpPr/>
          <p:nvPr/>
        </p:nvSpPr>
        <p:spPr>
          <a:xfrm>
            <a:off x="548640" y="1188720"/>
            <a:ext cx="11091672" cy="137160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Hoy no aprendes ningún servicio nuevo</a:t>
            </a:r>
            <a:endParaRPr lang="en-US" sz="2000" dirty="0"/>
          </a:p>
        </p:txBody>
      </p:sp>
      <p:sp>
        <p:nvSpPr>
          <p:cNvPr id="7" name="Text 5"/>
          <p:cNvSpPr/>
          <p:nvPr/>
        </p:nvSpPr>
        <p:spPr>
          <a:xfrm>
            <a:off x="731520" y="1810512"/>
            <a:ext cx="10725912" cy="67665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Tienes ya todas las piezas sueltas: red con capas, instancias, almacenamiento y una base de datos sin credenciales en el código. Hoy las juntas en una sola arquitectura.</a:t>
            </a:r>
            <a:endParaRPr lang="en-US" sz="1600" dirty="0"/>
          </a:p>
        </p:txBody>
      </p:sp>
      <p:sp>
        <p:nvSpPr>
          <p:cNvPr id="8" name="Text 6"/>
          <p:cNvSpPr/>
          <p:nvPr/>
        </p:nvSpPr>
        <p:spPr>
          <a:xfrm>
            <a:off x="548640" y="278892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Piezas que ya conoces, juntas por primera vez</a:t>
            </a:r>
            <a:endParaRPr lang="en-US" sz="1500" dirty="0"/>
          </a:p>
        </p:txBody>
      </p:sp>
      <p:sp>
        <p:nvSpPr>
          <p:cNvPr id="9" name="Shape 7"/>
          <p:cNvSpPr/>
          <p:nvPr/>
        </p:nvSpPr>
        <p:spPr>
          <a:xfrm>
            <a:off x="548640" y="3200400"/>
            <a:ext cx="2567178" cy="1645920"/>
          </a:xfrm>
          <a:prstGeom prst="roundRect">
            <a:avLst/>
          </a:prstGeom>
          <a:solidFill>
            <a:srgbClr val="E8EAF6"/>
          </a:solidFill>
          <a:ln w="15875">
            <a:solidFill>
              <a:srgbClr val="3949AB"/>
            </a:solidFill>
            <a:prstDash val="solid"/>
          </a:ln>
        </p:spPr>
      </p:sp>
      <p:sp>
        <p:nvSpPr>
          <p:cNvPr id="10" name="Text 8"/>
          <p:cNvSpPr/>
          <p:nvPr/>
        </p:nvSpPr>
        <p:spPr>
          <a:xfrm>
            <a:off x="685800" y="3291840"/>
            <a:ext cx="2292858" cy="54864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Front</a:t>
            </a:r>
            <a:endParaRPr lang="en-US" sz="1600" dirty="0"/>
          </a:p>
        </p:txBody>
      </p:sp>
      <p:sp>
        <p:nvSpPr>
          <p:cNvPr id="11" name="Text 9"/>
          <p:cNvSpPr/>
          <p:nvPr/>
        </p:nvSpPr>
        <p:spPr>
          <a:xfrm>
            <a:off x="731520" y="3886200"/>
            <a:ext cx="2201418" cy="86868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S3, sitio estático</a:t>
            </a:r>
            <a:endParaRPr lang="en-US" sz="1300" dirty="0"/>
          </a:p>
        </p:txBody>
      </p:sp>
      <p:sp>
        <p:nvSpPr>
          <p:cNvPr id="12" name="Shape 10"/>
          <p:cNvSpPr/>
          <p:nvPr/>
        </p:nvSpPr>
        <p:spPr>
          <a:xfrm>
            <a:off x="3390138" y="3200400"/>
            <a:ext cx="2567178" cy="1645920"/>
          </a:xfrm>
          <a:prstGeom prst="roundRect">
            <a:avLst/>
          </a:prstGeom>
          <a:solidFill>
            <a:srgbClr val="E8EAF6"/>
          </a:solidFill>
          <a:ln w="15875">
            <a:solidFill>
              <a:srgbClr val="3949AB"/>
            </a:solidFill>
            <a:prstDash val="solid"/>
          </a:ln>
        </p:spPr>
      </p:sp>
      <p:sp>
        <p:nvSpPr>
          <p:cNvPr id="13" name="Text 11"/>
          <p:cNvSpPr/>
          <p:nvPr/>
        </p:nvSpPr>
        <p:spPr>
          <a:xfrm>
            <a:off x="3527298" y="3291840"/>
            <a:ext cx="2292858" cy="54864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Aplicación</a:t>
            </a:r>
            <a:endParaRPr lang="en-US" sz="1600" dirty="0"/>
          </a:p>
        </p:txBody>
      </p:sp>
      <p:sp>
        <p:nvSpPr>
          <p:cNvPr id="14" name="Text 12"/>
          <p:cNvSpPr/>
          <p:nvPr/>
        </p:nvSpPr>
        <p:spPr>
          <a:xfrm>
            <a:off x="3573018" y="3886200"/>
            <a:ext cx="2201418" cy="86868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EC2, subred pública</a:t>
            </a:r>
            <a:endParaRPr lang="en-US" sz="1300" dirty="0"/>
          </a:p>
        </p:txBody>
      </p:sp>
      <p:sp>
        <p:nvSpPr>
          <p:cNvPr id="15" name="Shape 13"/>
          <p:cNvSpPr/>
          <p:nvPr/>
        </p:nvSpPr>
        <p:spPr>
          <a:xfrm>
            <a:off x="6231636" y="3200400"/>
            <a:ext cx="2567178" cy="1645920"/>
          </a:xfrm>
          <a:prstGeom prst="roundRect">
            <a:avLst/>
          </a:prstGeom>
          <a:solidFill>
            <a:srgbClr val="E8EAF6"/>
          </a:solidFill>
          <a:ln w="15875">
            <a:solidFill>
              <a:srgbClr val="3949AB"/>
            </a:solidFill>
            <a:prstDash val="solid"/>
          </a:ln>
        </p:spPr>
      </p:sp>
      <p:sp>
        <p:nvSpPr>
          <p:cNvPr id="16" name="Text 14"/>
          <p:cNvSpPr/>
          <p:nvPr/>
        </p:nvSpPr>
        <p:spPr>
          <a:xfrm>
            <a:off x="6368796" y="3291840"/>
            <a:ext cx="2292858" cy="54864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Almacenamiento</a:t>
            </a:r>
            <a:endParaRPr lang="en-US" sz="1600" dirty="0"/>
          </a:p>
        </p:txBody>
      </p:sp>
      <p:sp>
        <p:nvSpPr>
          <p:cNvPr id="17" name="Text 15"/>
          <p:cNvSpPr/>
          <p:nvPr/>
        </p:nvSpPr>
        <p:spPr>
          <a:xfrm>
            <a:off x="6414516" y="3886200"/>
            <a:ext cx="2201418" cy="86868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EFS o S3, imágenes</a:t>
            </a:r>
            <a:endParaRPr lang="en-US" sz="1300" dirty="0"/>
          </a:p>
        </p:txBody>
      </p:sp>
      <p:sp>
        <p:nvSpPr>
          <p:cNvPr id="18" name="Shape 16"/>
          <p:cNvSpPr/>
          <p:nvPr/>
        </p:nvSpPr>
        <p:spPr>
          <a:xfrm>
            <a:off x="9073134" y="3200400"/>
            <a:ext cx="2567178" cy="1645920"/>
          </a:xfrm>
          <a:prstGeom prst="roundRect">
            <a:avLst/>
          </a:prstGeom>
          <a:solidFill>
            <a:srgbClr val="E8EAF6"/>
          </a:solidFill>
          <a:ln w="15875">
            <a:solidFill>
              <a:srgbClr val="3949AB"/>
            </a:solidFill>
            <a:prstDash val="solid"/>
          </a:ln>
        </p:spPr>
      </p:sp>
      <p:sp>
        <p:nvSpPr>
          <p:cNvPr id="19" name="Text 17"/>
          <p:cNvSpPr/>
          <p:nvPr/>
        </p:nvSpPr>
        <p:spPr>
          <a:xfrm>
            <a:off x="9210294" y="3291840"/>
            <a:ext cx="2292858" cy="54864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Base de datos</a:t>
            </a:r>
            <a:endParaRPr lang="en-US" sz="1600" dirty="0"/>
          </a:p>
        </p:txBody>
      </p:sp>
      <p:sp>
        <p:nvSpPr>
          <p:cNvPr id="20" name="Text 18"/>
          <p:cNvSpPr/>
          <p:nvPr/>
        </p:nvSpPr>
        <p:spPr>
          <a:xfrm>
            <a:off x="9256014" y="3886200"/>
            <a:ext cx="2201418" cy="86868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RDS, subred privada</a:t>
            </a:r>
            <a:endParaRPr lang="en-US" sz="1300" dirty="0"/>
          </a:p>
        </p:txBody>
      </p:sp>
      <p:sp>
        <p:nvSpPr>
          <p:cNvPr id="21" name="Text 19"/>
          <p:cNvSpPr/>
          <p:nvPr/>
        </p:nvSpPr>
        <p:spPr>
          <a:xfrm>
            <a:off x="548640" y="5074920"/>
            <a:ext cx="11091672" cy="731520"/>
          </a:xfrm>
          <a:prstGeom prst="rect">
            <a:avLst/>
          </a:prstGeom>
          <a:noFill/>
          <a:ln/>
        </p:spPr>
        <p:txBody>
          <a:bodyPr wrap="square" rtlCol="0" anchor="t"/>
          <a:lstStyle/>
          <a:p>
            <a:pPr algn="ctr" indent="0" marL="0">
              <a:buNone/>
            </a:pPr>
            <a:r>
              <a:rPr lang="en-US" sz="1500" i="1" dirty="0">
                <a:solidFill>
                  <a:srgbClr val="757575"/>
                </a:solidFill>
                <a:latin typeface="Arial" pitchFamily="34" charset="0"/>
                <a:ea typeface="Arial" pitchFamily="34" charset="-122"/>
                <a:cs typeface="Arial" pitchFamily="34" charset="-120"/>
              </a:rPr>
              <a:t>Es el cierre de todo lo construido desde la sesión 1, y el punto de partida de alta disponibilidad, monitorización, coste y automatización.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De dos piezas a tres capas independientes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Ahora: 2 piezas</a:t>
            </a:r>
            <a:endParaRPr lang="en-US" sz="1500" dirty="0"/>
          </a:p>
        </p:txBody>
      </p:sp>
      <p:sp>
        <p:nvSpPr>
          <p:cNvPr id="6" name="Shape 4"/>
          <p:cNvSpPr/>
          <p:nvPr/>
        </p:nvSpPr>
        <p:spPr>
          <a:xfrm>
            <a:off x="548640" y="1508760"/>
            <a:ext cx="3483864" cy="822960"/>
          </a:xfrm>
          <a:prstGeom prst="roundRect">
            <a:avLst/>
          </a:prstGeom>
          <a:solidFill>
            <a:srgbClr val="E8EAF6"/>
          </a:solidFill>
          <a:ln w="15875">
            <a:solidFill>
              <a:srgbClr val="3949AB"/>
            </a:solidFill>
            <a:prstDash val="solid"/>
          </a:ln>
        </p:spPr>
      </p:sp>
      <p:sp>
        <p:nvSpPr>
          <p:cNvPr id="7" name="Text 5"/>
          <p:cNvSpPr/>
          <p:nvPr/>
        </p:nvSpPr>
        <p:spPr>
          <a:xfrm>
            <a:off x="594360" y="1554480"/>
            <a:ext cx="3392424" cy="73152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Internet</a:t>
            </a:r>
            <a:endParaRPr lang="en-US" sz="1400" dirty="0"/>
          </a:p>
        </p:txBody>
      </p:sp>
      <p:sp>
        <p:nvSpPr>
          <p:cNvPr id="8" name="Text 6"/>
          <p:cNvSpPr/>
          <p:nvPr/>
        </p:nvSpPr>
        <p:spPr>
          <a:xfrm>
            <a:off x="3986784" y="1508760"/>
            <a:ext cx="411480" cy="82296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4352544" y="1508760"/>
            <a:ext cx="3483864" cy="822960"/>
          </a:xfrm>
          <a:prstGeom prst="roundRect">
            <a:avLst/>
          </a:prstGeom>
          <a:solidFill>
            <a:srgbClr val="E8EAF6"/>
          </a:solidFill>
          <a:ln w="15875">
            <a:solidFill>
              <a:srgbClr val="3949AB"/>
            </a:solidFill>
            <a:prstDash val="solid"/>
          </a:ln>
        </p:spPr>
      </p:sp>
      <p:sp>
        <p:nvSpPr>
          <p:cNvPr id="10" name="Text 8"/>
          <p:cNvSpPr/>
          <p:nvPr/>
        </p:nvSpPr>
        <p:spPr>
          <a:xfrm>
            <a:off x="4398264" y="1554480"/>
            <a:ext cx="3392424" cy="73152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Instancia EC2</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front + aplicación juntos</a:t>
            </a:r>
            <a:endParaRPr lang="en-US" sz="1400" dirty="0"/>
          </a:p>
        </p:txBody>
      </p:sp>
      <p:sp>
        <p:nvSpPr>
          <p:cNvPr id="11" name="Text 9"/>
          <p:cNvSpPr/>
          <p:nvPr/>
        </p:nvSpPr>
        <p:spPr>
          <a:xfrm>
            <a:off x="7790688" y="1508760"/>
            <a:ext cx="411480" cy="82296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8156448" y="1508760"/>
            <a:ext cx="3483864" cy="822960"/>
          </a:xfrm>
          <a:prstGeom prst="roundRect">
            <a:avLst/>
          </a:prstGeom>
          <a:solidFill>
            <a:srgbClr val="E8EAF6"/>
          </a:solidFill>
          <a:ln w="15875">
            <a:solidFill>
              <a:srgbClr val="3949AB"/>
            </a:solidFill>
            <a:prstDash val="solid"/>
          </a:ln>
        </p:spPr>
      </p:sp>
      <p:sp>
        <p:nvSpPr>
          <p:cNvPr id="13" name="Text 11"/>
          <p:cNvSpPr/>
          <p:nvPr/>
        </p:nvSpPr>
        <p:spPr>
          <a:xfrm>
            <a:off x="8202168" y="1554480"/>
            <a:ext cx="3392424" cy="73152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RDS</a:t>
            </a:r>
            <a:endParaRPr lang="en-US" sz="1400" dirty="0"/>
          </a:p>
        </p:txBody>
      </p:sp>
      <p:sp>
        <p:nvSpPr>
          <p:cNvPr id="14" name="Text 12"/>
          <p:cNvSpPr/>
          <p:nvPr/>
        </p:nvSpPr>
        <p:spPr>
          <a:xfrm>
            <a:off x="548640" y="25146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Con lo de hoy: 3 piezas independientes</a:t>
            </a:r>
            <a:endParaRPr lang="en-US" sz="1500" dirty="0"/>
          </a:p>
        </p:txBody>
      </p:sp>
      <p:sp>
        <p:nvSpPr>
          <p:cNvPr id="15" name="Shape 13"/>
          <p:cNvSpPr/>
          <p:nvPr/>
        </p:nvSpPr>
        <p:spPr>
          <a:xfrm>
            <a:off x="548640" y="2880360"/>
            <a:ext cx="2567178" cy="1463040"/>
          </a:xfrm>
          <a:prstGeom prst="roundRect">
            <a:avLst/>
          </a:prstGeom>
          <a:solidFill>
            <a:srgbClr val="E8EAF6"/>
          </a:solidFill>
          <a:ln w="15875">
            <a:solidFill>
              <a:srgbClr val="3949AB"/>
            </a:solidFill>
            <a:prstDash val="solid"/>
          </a:ln>
        </p:spPr>
      </p:sp>
      <p:sp>
        <p:nvSpPr>
          <p:cNvPr id="16" name="Text 14"/>
          <p:cNvSpPr/>
          <p:nvPr/>
        </p:nvSpPr>
        <p:spPr>
          <a:xfrm>
            <a:off x="685800" y="2971800"/>
            <a:ext cx="2292858" cy="50292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Front</a:t>
            </a:r>
            <a:endParaRPr lang="en-US" sz="1600" dirty="0"/>
          </a:p>
        </p:txBody>
      </p:sp>
      <p:sp>
        <p:nvSpPr>
          <p:cNvPr id="17" name="Text 15"/>
          <p:cNvSpPr/>
          <p:nvPr/>
        </p:nvSpPr>
        <p:spPr>
          <a:xfrm>
            <a:off x="731520" y="3520440"/>
            <a:ext cx="2201418" cy="73152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S3, estático</a:t>
            </a:r>
            <a:endParaRPr lang="en-US" sz="1300" dirty="0"/>
          </a:p>
        </p:txBody>
      </p:sp>
      <p:sp>
        <p:nvSpPr>
          <p:cNvPr id="18" name="Shape 16"/>
          <p:cNvSpPr/>
          <p:nvPr/>
        </p:nvSpPr>
        <p:spPr>
          <a:xfrm>
            <a:off x="3390138" y="2880360"/>
            <a:ext cx="2567178" cy="1463040"/>
          </a:xfrm>
          <a:prstGeom prst="roundRect">
            <a:avLst/>
          </a:prstGeom>
          <a:solidFill>
            <a:srgbClr val="FFF8E1"/>
          </a:solidFill>
          <a:ln w="25400">
            <a:solidFill>
              <a:srgbClr val="FFA000"/>
            </a:solidFill>
            <a:prstDash val="solid"/>
          </a:ln>
        </p:spPr>
      </p:sp>
      <p:sp>
        <p:nvSpPr>
          <p:cNvPr id="19" name="Text 17"/>
          <p:cNvSpPr/>
          <p:nvPr/>
        </p:nvSpPr>
        <p:spPr>
          <a:xfrm>
            <a:off x="3527298" y="2971800"/>
            <a:ext cx="2292858" cy="50292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Aplicación</a:t>
            </a:r>
            <a:endParaRPr lang="en-US" sz="1600" dirty="0"/>
          </a:p>
        </p:txBody>
      </p:sp>
      <p:sp>
        <p:nvSpPr>
          <p:cNvPr id="20" name="Text 18"/>
          <p:cNvSpPr/>
          <p:nvPr/>
        </p:nvSpPr>
        <p:spPr>
          <a:xfrm>
            <a:off x="3573018" y="3520440"/>
            <a:ext cx="2201418" cy="73152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EC2, subred pública</a:t>
            </a:r>
            <a:endParaRPr lang="en-US" sz="1300" dirty="0"/>
          </a:p>
        </p:txBody>
      </p:sp>
      <p:sp>
        <p:nvSpPr>
          <p:cNvPr id="21" name="Shape 19"/>
          <p:cNvSpPr/>
          <p:nvPr/>
        </p:nvSpPr>
        <p:spPr>
          <a:xfrm>
            <a:off x="6231636" y="2880360"/>
            <a:ext cx="2567178" cy="1463040"/>
          </a:xfrm>
          <a:prstGeom prst="roundRect">
            <a:avLst/>
          </a:prstGeom>
          <a:solidFill>
            <a:srgbClr val="E8EAF6"/>
          </a:solidFill>
          <a:ln w="15875">
            <a:solidFill>
              <a:srgbClr val="3949AB"/>
            </a:solidFill>
            <a:prstDash val="solid"/>
          </a:ln>
        </p:spPr>
      </p:sp>
      <p:sp>
        <p:nvSpPr>
          <p:cNvPr id="22" name="Text 20"/>
          <p:cNvSpPr/>
          <p:nvPr/>
        </p:nvSpPr>
        <p:spPr>
          <a:xfrm>
            <a:off x="6368796" y="2971800"/>
            <a:ext cx="2292858" cy="50292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Base de datos</a:t>
            </a:r>
            <a:endParaRPr lang="en-US" sz="1600" dirty="0"/>
          </a:p>
        </p:txBody>
      </p:sp>
      <p:sp>
        <p:nvSpPr>
          <p:cNvPr id="23" name="Text 21"/>
          <p:cNvSpPr/>
          <p:nvPr/>
        </p:nvSpPr>
        <p:spPr>
          <a:xfrm>
            <a:off x="6414516" y="3520440"/>
            <a:ext cx="2201418" cy="73152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RDS</a:t>
            </a:r>
            <a:endParaRPr lang="en-US" sz="1300" dirty="0"/>
          </a:p>
        </p:txBody>
      </p:sp>
      <p:sp>
        <p:nvSpPr>
          <p:cNvPr id="24" name="Shape 22"/>
          <p:cNvSpPr/>
          <p:nvPr/>
        </p:nvSpPr>
        <p:spPr>
          <a:xfrm>
            <a:off x="9073134" y="2880360"/>
            <a:ext cx="2567178" cy="1463040"/>
          </a:xfrm>
          <a:prstGeom prst="roundRect">
            <a:avLst/>
          </a:prstGeom>
          <a:solidFill>
            <a:srgbClr val="E8EAF6"/>
          </a:solidFill>
          <a:ln w="15875">
            <a:solidFill>
              <a:srgbClr val="3949AB"/>
            </a:solidFill>
            <a:prstDash val="solid"/>
          </a:ln>
        </p:spPr>
      </p:sp>
      <p:sp>
        <p:nvSpPr>
          <p:cNvPr id="25" name="Text 23"/>
          <p:cNvSpPr/>
          <p:nvPr/>
        </p:nvSpPr>
        <p:spPr>
          <a:xfrm>
            <a:off x="9210294" y="2971800"/>
            <a:ext cx="2292858" cy="50292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Imágenes</a:t>
            </a:r>
            <a:endParaRPr lang="en-US" sz="1600" dirty="0"/>
          </a:p>
        </p:txBody>
      </p:sp>
      <p:sp>
        <p:nvSpPr>
          <p:cNvPr id="26" name="Text 24"/>
          <p:cNvSpPr/>
          <p:nvPr/>
        </p:nvSpPr>
        <p:spPr>
          <a:xfrm>
            <a:off x="9256014" y="3520440"/>
            <a:ext cx="2201418" cy="731520"/>
          </a:xfrm>
          <a:prstGeom prst="rect">
            <a:avLst/>
          </a:prstGeom>
          <a:noFill/>
          <a:ln/>
        </p:spPr>
        <p:txBody>
          <a:bodyPr wrap="square" rtlCol="0" anchor="t"/>
          <a:lstStyle/>
          <a:p>
            <a:pPr algn="ctr" indent="0" marL="0">
              <a:buNone/>
            </a:pPr>
            <a:r>
              <a:rPr lang="en-US" sz="1300" dirty="0">
                <a:solidFill>
                  <a:srgbClr val="212121"/>
                </a:solidFill>
                <a:latin typeface="Arial" pitchFamily="34" charset="0"/>
                <a:ea typeface="Arial" pitchFamily="34" charset="-122"/>
                <a:cs typeface="Arial" pitchFamily="34" charset="-120"/>
              </a:rPr>
              <a:t>EFS o S3</a:t>
            </a:r>
            <a:endParaRPr lang="en-US" sz="1300" dirty="0"/>
          </a:p>
        </p:txBody>
      </p:sp>
      <p:sp>
        <p:nvSpPr>
          <p:cNvPr id="27" name="Shape 25"/>
          <p:cNvSpPr/>
          <p:nvPr/>
        </p:nvSpPr>
        <p:spPr>
          <a:xfrm>
            <a:off x="548640" y="4663440"/>
            <a:ext cx="11091672" cy="1371600"/>
          </a:xfrm>
          <a:prstGeom prst="roundRect">
            <a:avLst/>
          </a:prstGeom>
          <a:solidFill>
            <a:srgbClr val="FFF8E1"/>
          </a:solidFill>
          <a:ln w="19050">
            <a:solidFill>
              <a:srgbClr val="FFA000"/>
            </a:solidFill>
            <a:prstDash val="solid"/>
          </a:ln>
        </p:spPr>
      </p:sp>
      <p:sp>
        <p:nvSpPr>
          <p:cNvPr id="28" name="Text 26"/>
          <p:cNvSpPr/>
          <p:nvPr/>
        </p:nvSpPr>
        <p:spPr>
          <a:xfrm>
            <a:off x="822960" y="4754880"/>
            <a:ext cx="10543032" cy="118872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El front y la aplicación reciben tráfico de Internet por caminos distintos, y solo la aplicación tiene permiso para hablar con la base de datos y las imágenes — el mismo principio de mínimo privilegio de los grupos de seguridad del Tema 2, aplicado ahora a toda la arquitectura.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CORS: por qué el backend necesita permitirlo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Shape 3"/>
          <p:cNvSpPr/>
          <p:nvPr/>
        </p:nvSpPr>
        <p:spPr>
          <a:xfrm>
            <a:off x="548640" y="1143000"/>
            <a:ext cx="11091672" cy="82296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400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El front vive en una URL de S3 y la aplicación en la IP de una EC2. Un origen se define por protocolo, dominio y puerto — con que uno solo cambie, ya son orígenes distintos.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914400"/>
        </p:xfrm>
        <a:graphic>
          <a:graphicData uri="http://schemas.openxmlformats.org/drawingml/2006/table">
            <a:tbl>
              <a:tblPr/>
              <a:tblGrid>
                <a:gridCol w="2218334"/>
                <a:gridCol w="1552834"/>
                <a:gridCol w="5545836"/>
                <a:gridCol w="1774668"/>
              </a:tblGrid>
              <a:tr h="548640">
                <a:tc>
                  <a:txBody>
                    <a:bodyPr/>
                    <a:lstStyle/>
                    <a:p>
                      <a:pPr algn="ctr" indent="0" marL="0">
                        <a:buNone/>
                      </a:pP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Protocolo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Dominio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Puerto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48640">
                <a:tc>
                  <a:txBody>
                    <a:bodyPr/>
                    <a:lstStyle/>
                    <a:p>
                      <a:pPr indent="0" marL="0">
                        <a:buNone/>
                      </a:pPr>
                      <a:r>
                        <a:rPr lang="en-US" sz="1300" b="1" dirty="0">
                          <a:solidFill>
                            <a:srgbClr val="212121"/>
                          </a:solidFill>
                          <a:latin typeface="Arial" pitchFamily="34" charset="0"/>
                          <a:ea typeface="Arial" pitchFamily="34" charset="-122"/>
                          <a:cs typeface="Arial" pitchFamily="34" charset="-120"/>
                        </a:rPr>
                        <a:t>Front (S3)</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http</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escaparate-front-xxx.s3-website-...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80</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12121"/>
                          </a:solidFill>
                          <a:latin typeface="Arial" pitchFamily="34" charset="0"/>
                          <a:ea typeface="Arial" pitchFamily="34" charset="-122"/>
                          <a:cs typeface="Arial" pitchFamily="34" charset="-120"/>
                        </a:rPr>
                        <a:t>Backend (EC2)</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http</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3.84.12.9</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8080</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8" name="Shape 5"/>
          <p:cNvSpPr/>
          <p:nvPr/>
        </p:nvSpPr>
        <p:spPr>
          <a:xfrm>
            <a:off x="548640" y="3794760"/>
            <a:ext cx="11091672" cy="914400"/>
          </a:xfrm>
          <a:prstGeom prst="roundRect">
            <a:avLst/>
          </a:prstGeom>
          <a:solidFill>
            <a:srgbClr val="FFF8E1"/>
          </a:solidFill>
          <a:ln w="19050">
            <a:solidFill>
              <a:srgbClr val="FFA000"/>
            </a:solidFill>
            <a:prstDash val="solid"/>
          </a:ln>
        </p:spPr>
      </p:sp>
      <p:sp>
        <p:nvSpPr>
          <p:cNvPr id="9" name="Text 6"/>
          <p:cNvSpPr/>
          <p:nvPr/>
        </p:nvSpPr>
        <p:spPr>
          <a:xfrm>
            <a:off x="822960" y="3886200"/>
            <a:ext cx="10543032" cy="731520"/>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Por defecto, un script cargado desde un origen no puede leer la respuesta de una petición hecha a otro origen. Esta restricción no protege al servidor: te protege a ti.</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Por qué existe esta restricción: el banco y la pestaña maliciosa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Tienes el banco abierto en una pestaña, con sesión iniciada, y entras sin querer en una página maliciosa</a:t>
            </a:r>
            <a:endParaRPr lang="en-US" sz="1500" dirty="0"/>
          </a:p>
        </p:txBody>
      </p:sp>
      <p:sp>
        <p:nvSpPr>
          <p:cNvPr id="6" name="Shape 4"/>
          <p:cNvSpPr/>
          <p:nvPr/>
        </p:nvSpPr>
        <p:spPr>
          <a:xfrm>
            <a:off x="548640" y="1600200"/>
            <a:ext cx="11091672" cy="1051560"/>
          </a:xfrm>
          <a:prstGeom prst="roundRect">
            <a:avLst/>
          </a:prstGeom>
          <a:solidFill>
            <a:srgbClr val="E8EAF6"/>
          </a:solidFill>
          <a:ln w="15875">
            <a:solidFill>
              <a:srgbClr val="3949AB"/>
            </a:solidFill>
            <a:prstDash val="solid"/>
          </a:ln>
        </p:spPr>
      </p:sp>
      <p:sp>
        <p:nvSpPr>
          <p:cNvPr id="7" name="Shape 5"/>
          <p:cNvSpPr/>
          <p:nvPr/>
        </p:nvSpPr>
        <p:spPr>
          <a:xfrm>
            <a:off x="685800" y="1869948"/>
            <a:ext cx="512064" cy="512064"/>
          </a:xfrm>
          <a:prstGeom prst="ellipse">
            <a:avLst/>
          </a:prstGeom>
          <a:solidFill>
            <a:srgbClr val="3949AB"/>
          </a:solidFill>
          <a:ln w="12700">
            <a:solidFill>
              <a:srgbClr val="3949AB"/>
            </a:solidFill>
            <a:prstDash val="solid"/>
          </a:ln>
        </p:spPr>
      </p:sp>
      <p:sp>
        <p:nvSpPr>
          <p:cNvPr id="8" name="Text 6"/>
          <p:cNvSpPr/>
          <p:nvPr/>
        </p:nvSpPr>
        <p:spPr>
          <a:xfrm>
            <a:off x="685800" y="1869948"/>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1371600" y="1600200"/>
            <a:ext cx="10085832" cy="10515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Cualquier script puede pedir datos a cualquier URL, aunque no sea la suya.</a:t>
            </a:r>
            <a:endParaRPr lang="en-US" sz="1400" dirty="0"/>
          </a:p>
        </p:txBody>
      </p:sp>
      <p:sp>
        <p:nvSpPr>
          <p:cNvPr id="10" name="Shape 8"/>
          <p:cNvSpPr/>
          <p:nvPr/>
        </p:nvSpPr>
        <p:spPr>
          <a:xfrm>
            <a:off x="548640" y="2788920"/>
            <a:ext cx="11091672" cy="1051560"/>
          </a:xfrm>
          <a:prstGeom prst="roundRect">
            <a:avLst/>
          </a:prstGeom>
          <a:solidFill>
            <a:srgbClr val="E8EAF6"/>
          </a:solidFill>
          <a:ln w="15875">
            <a:solidFill>
              <a:srgbClr val="3949AB"/>
            </a:solidFill>
            <a:prstDash val="solid"/>
          </a:ln>
        </p:spPr>
      </p:sp>
      <p:sp>
        <p:nvSpPr>
          <p:cNvPr id="11" name="Shape 9"/>
          <p:cNvSpPr/>
          <p:nvPr/>
        </p:nvSpPr>
        <p:spPr>
          <a:xfrm>
            <a:off x="685800" y="3058668"/>
            <a:ext cx="512064" cy="512064"/>
          </a:xfrm>
          <a:prstGeom prst="ellipse">
            <a:avLst/>
          </a:prstGeom>
          <a:solidFill>
            <a:srgbClr val="3949AB"/>
          </a:solidFill>
          <a:ln w="12700">
            <a:solidFill>
              <a:srgbClr val="3949AB"/>
            </a:solidFill>
            <a:prstDash val="solid"/>
          </a:ln>
        </p:spPr>
      </p:sp>
      <p:sp>
        <p:nvSpPr>
          <p:cNvPr id="12" name="Text 10"/>
          <p:cNvSpPr/>
          <p:nvPr/>
        </p:nvSpPr>
        <p:spPr>
          <a:xfrm>
            <a:off x="685800" y="3058668"/>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p:nvPr/>
        </p:nvSpPr>
        <p:spPr>
          <a:xfrm>
            <a:off x="1371600" y="2788920"/>
            <a:ext cx="10085832" cy="10515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El navegador guarda las cookies por dominio, no por página: si tienes sesión en el banco, cualquier petición a ese dominio lleva tu cookie puesta.</a:t>
            </a:r>
            <a:endParaRPr lang="en-US" sz="1400" dirty="0"/>
          </a:p>
        </p:txBody>
      </p:sp>
      <p:sp>
        <p:nvSpPr>
          <p:cNvPr id="14" name="Shape 12"/>
          <p:cNvSpPr/>
          <p:nvPr/>
        </p:nvSpPr>
        <p:spPr>
          <a:xfrm>
            <a:off x="548640" y="3977640"/>
            <a:ext cx="11091672" cy="1051560"/>
          </a:xfrm>
          <a:prstGeom prst="roundRect">
            <a:avLst/>
          </a:prstGeom>
          <a:solidFill>
            <a:srgbClr val="E8EAF6"/>
          </a:solidFill>
          <a:ln w="15875">
            <a:solidFill>
              <a:srgbClr val="3949AB"/>
            </a:solidFill>
            <a:prstDash val="solid"/>
          </a:ln>
        </p:spPr>
      </p:sp>
      <p:sp>
        <p:nvSpPr>
          <p:cNvPr id="15" name="Shape 13"/>
          <p:cNvSpPr/>
          <p:nvPr/>
        </p:nvSpPr>
        <p:spPr>
          <a:xfrm>
            <a:off x="685800" y="4247388"/>
            <a:ext cx="512064" cy="512064"/>
          </a:xfrm>
          <a:prstGeom prst="ellipse">
            <a:avLst/>
          </a:prstGeom>
          <a:solidFill>
            <a:srgbClr val="3949AB"/>
          </a:solidFill>
          <a:ln w="12700">
            <a:solidFill>
              <a:srgbClr val="3949AB"/>
            </a:solidFill>
            <a:prstDash val="solid"/>
          </a:ln>
        </p:spPr>
      </p:sp>
      <p:sp>
        <p:nvSpPr>
          <p:cNvPr id="16" name="Text 14"/>
          <p:cNvSpPr/>
          <p:nvPr/>
        </p:nvSpPr>
        <p:spPr>
          <a:xfrm>
            <a:off x="685800" y="4247388"/>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371600" y="3977640"/>
            <a:ext cx="10085832" cy="10515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La petición del script malicioso llega al banco con tu cookie de sesión, y el banco responde como si fueras tú.</a:t>
            </a:r>
            <a:endParaRPr lang="en-US" sz="1400" dirty="0"/>
          </a:p>
        </p:txBody>
      </p:sp>
      <p:sp>
        <p:nvSpPr>
          <p:cNvPr id="18" name="Shape 16"/>
          <p:cNvSpPr/>
          <p:nvPr/>
        </p:nvSpPr>
        <p:spPr>
          <a:xfrm>
            <a:off x="548640" y="5166360"/>
            <a:ext cx="11091672" cy="1051560"/>
          </a:xfrm>
          <a:prstGeom prst="roundRect">
            <a:avLst/>
          </a:prstGeom>
          <a:solidFill>
            <a:srgbClr val="E8EAF6"/>
          </a:solidFill>
          <a:ln w="15875">
            <a:solidFill>
              <a:srgbClr val="3949AB"/>
            </a:solidFill>
            <a:prstDash val="solid"/>
          </a:ln>
        </p:spPr>
      </p:sp>
      <p:sp>
        <p:nvSpPr>
          <p:cNvPr id="19" name="Shape 17"/>
          <p:cNvSpPr/>
          <p:nvPr/>
        </p:nvSpPr>
        <p:spPr>
          <a:xfrm>
            <a:off x="685800" y="5436108"/>
            <a:ext cx="512064" cy="512064"/>
          </a:xfrm>
          <a:prstGeom prst="ellipse">
            <a:avLst/>
          </a:prstGeom>
          <a:solidFill>
            <a:srgbClr val="3949AB"/>
          </a:solidFill>
          <a:ln w="12700">
            <a:solidFill>
              <a:srgbClr val="3949AB"/>
            </a:solidFill>
            <a:prstDash val="solid"/>
          </a:ln>
        </p:spPr>
      </p:sp>
      <p:sp>
        <p:nvSpPr>
          <p:cNvPr id="20" name="Text 18"/>
          <p:cNvSpPr/>
          <p:nvPr/>
        </p:nvSpPr>
        <p:spPr>
          <a:xfrm>
            <a:off x="685800" y="5436108"/>
            <a:ext cx="512064" cy="512064"/>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1" name="Text 19"/>
          <p:cNvSpPr/>
          <p:nvPr/>
        </p:nvSpPr>
        <p:spPr>
          <a:xfrm>
            <a:off x="1371600" y="5166360"/>
            <a:ext cx="10085832" cy="10515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Aquí actúa la restricción: el navegador deja salir la petición, pero no deja que el script que la originó lea la respuesta.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CORS: cuándo se comprueba la cabecera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El servidor responde igual en los dos casos — nunca sabe si va a bloquear nada</a:t>
            </a:r>
            <a:endParaRPr lang="en-US" sz="1500" dirty="0"/>
          </a:p>
        </p:txBody>
      </p:sp>
      <p:sp>
        <p:nvSpPr>
          <p:cNvPr id="6" name="Shape 4"/>
          <p:cNvSpPr/>
          <p:nvPr/>
        </p:nvSpPr>
        <p:spPr>
          <a:xfrm>
            <a:off x="548640" y="1554480"/>
            <a:ext cx="2532888" cy="1051560"/>
          </a:xfrm>
          <a:prstGeom prst="roundRect">
            <a:avLst/>
          </a:prstGeom>
          <a:solidFill>
            <a:srgbClr val="E8EAF6"/>
          </a:solidFill>
          <a:ln w="15875">
            <a:solidFill>
              <a:srgbClr val="3949AB"/>
            </a:solidFill>
            <a:prstDash val="solid"/>
          </a:ln>
        </p:spPr>
      </p:sp>
      <p:sp>
        <p:nvSpPr>
          <p:cNvPr id="7" name="Text 5"/>
          <p:cNvSpPr/>
          <p:nvPr/>
        </p:nvSpPr>
        <p:spPr>
          <a:xfrm>
            <a:off x="594360" y="1600200"/>
            <a:ext cx="2441448" cy="960120"/>
          </a:xfrm>
          <a:prstGeom prst="rect">
            <a:avLst/>
          </a:prstGeom>
          <a:noFill/>
          <a:ln/>
        </p:spPr>
        <p:txBody>
          <a:bodyPr wrap="square" rtlCol="0" anchor="ctr"/>
          <a:lstStyle/>
          <a:p>
            <a:pPr algn="ctr" indent="0" marL="0">
              <a:buNone/>
            </a:pPr>
            <a:r>
              <a:rPr lang="en-US" sz="1250" dirty="0">
                <a:solidFill>
                  <a:srgbClr val="212121"/>
                </a:solidFill>
                <a:latin typeface="Arial" pitchFamily="34" charset="0"/>
                <a:ea typeface="Arial" pitchFamily="34" charset="-122"/>
                <a:cs typeface="Arial" pitchFamily="34" charset="-120"/>
              </a:rPr>
              <a:t>Script pide datos</a:t>
            </a:r>
            <a:endParaRPr lang="en-US" sz="1250" dirty="0"/>
          </a:p>
          <a:p>
            <a:pPr algn="ctr" indent="0" marL="0">
              <a:buNone/>
            </a:pPr>
            <a:r>
              <a:rPr lang="en-US" sz="1250" dirty="0">
                <a:solidFill>
                  <a:srgbClr val="212121"/>
                </a:solidFill>
                <a:latin typeface="Arial" pitchFamily="34" charset="0"/>
                <a:ea typeface="Arial" pitchFamily="34" charset="-122"/>
                <a:cs typeface="Arial" pitchFamily="34" charset="-120"/>
              </a:rPr>
              <a:t>(fetch)</a:t>
            </a:r>
            <a:endParaRPr lang="en-US" sz="1250" dirty="0"/>
          </a:p>
        </p:txBody>
      </p:sp>
      <p:sp>
        <p:nvSpPr>
          <p:cNvPr id="8" name="Text 6"/>
          <p:cNvSpPr/>
          <p:nvPr/>
        </p:nvSpPr>
        <p:spPr>
          <a:xfrm>
            <a:off x="3035808" y="1554480"/>
            <a:ext cx="411480" cy="105156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401568" y="1554480"/>
            <a:ext cx="2532888" cy="1051560"/>
          </a:xfrm>
          <a:prstGeom prst="roundRect">
            <a:avLst/>
          </a:prstGeom>
          <a:solidFill>
            <a:srgbClr val="E8EAF6"/>
          </a:solidFill>
          <a:ln w="15875">
            <a:solidFill>
              <a:srgbClr val="3949AB"/>
            </a:solidFill>
            <a:prstDash val="solid"/>
          </a:ln>
        </p:spPr>
      </p:sp>
      <p:sp>
        <p:nvSpPr>
          <p:cNvPr id="10" name="Text 8"/>
          <p:cNvSpPr/>
          <p:nvPr/>
        </p:nvSpPr>
        <p:spPr>
          <a:xfrm>
            <a:off x="3447288" y="1600200"/>
            <a:ext cx="2441448" cy="960120"/>
          </a:xfrm>
          <a:prstGeom prst="rect">
            <a:avLst/>
          </a:prstGeom>
          <a:noFill/>
          <a:ln/>
        </p:spPr>
        <p:txBody>
          <a:bodyPr wrap="square" rtlCol="0" anchor="ctr"/>
          <a:lstStyle/>
          <a:p>
            <a:pPr algn="ctr" indent="0" marL="0">
              <a:buNone/>
            </a:pPr>
            <a:r>
              <a:rPr lang="en-US" sz="1250" dirty="0">
                <a:solidFill>
                  <a:srgbClr val="212121"/>
                </a:solidFill>
                <a:latin typeface="Arial" pitchFamily="34" charset="0"/>
                <a:ea typeface="Arial" pitchFamily="34" charset="-122"/>
                <a:cs typeface="Arial" pitchFamily="34" charset="-120"/>
              </a:rPr>
              <a:t>Servidor SIEMPRE</a:t>
            </a:r>
            <a:endParaRPr lang="en-US" sz="1250" dirty="0"/>
          </a:p>
          <a:p>
            <a:pPr algn="ctr" indent="0" marL="0">
              <a:buNone/>
            </a:pPr>
            <a:r>
              <a:rPr lang="en-US" sz="1250" dirty="0">
                <a:solidFill>
                  <a:srgbClr val="212121"/>
                </a:solidFill>
                <a:latin typeface="Arial" pitchFamily="34" charset="0"/>
                <a:ea typeface="Arial" pitchFamily="34" charset="-122"/>
                <a:cs typeface="Arial" pitchFamily="34" charset="-120"/>
              </a:rPr>
              <a:t>responde 200 OK</a:t>
            </a:r>
            <a:endParaRPr lang="en-US" sz="1250" dirty="0"/>
          </a:p>
        </p:txBody>
      </p:sp>
      <p:sp>
        <p:nvSpPr>
          <p:cNvPr id="11" name="Text 9"/>
          <p:cNvSpPr/>
          <p:nvPr/>
        </p:nvSpPr>
        <p:spPr>
          <a:xfrm>
            <a:off x="5888736" y="1554480"/>
            <a:ext cx="411480" cy="105156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6254496" y="1554480"/>
            <a:ext cx="2532888" cy="1051560"/>
          </a:xfrm>
          <a:prstGeom prst="roundRect">
            <a:avLst/>
          </a:prstGeom>
          <a:solidFill>
            <a:srgbClr val="E8EAF6"/>
          </a:solidFill>
          <a:ln w="15875">
            <a:solidFill>
              <a:srgbClr val="3949AB"/>
            </a:solidFill>
            <a:prstDash val="solid"/>
          </a:ln>
        </p:spPr>
      </p:sp>
      <p:sp>
        <p:nvSpPr>
          <p:cNvPr id="13" name="Text 11"/>
          <p:cNvSpPr/>
          <p:nvPr/>
        </p:nvSpPr>
        <p:spPr>
          <a:xfrm>
            <a:off x="6300216" y="1600200"/>
            <a:ext cx="2441448" cy="960120"/>
          </a:xfrm>
          <a:prstGeom prst="rect">
            <a:avLst/>
          </a:prstGeom>
          <a:noFill/>
          <a:ln/>
        </p:spPr>
        <p:txBody>
          <a:bodyPr wrap="square" rtlCol="0" anchor="ctr"/>
          <a:lstStyle/>
          <a:p>
            <a:pPr algn="ctr" indent="0" marL="0">
              <a:buNone/>
            </a:pPr>
            <a:r>
              <a:rPr lang="en-US" sz="1250" dirty="0">
                <a:solidFill>
                  <a:srgbClr val="212121"/>
                </a:solidFill>
                <a:latin typeface="Arial" pitchFamily="34" charset="0"/>
                <a:ea typeface="Arial" pitchFamily="34" charset="-122"/>
                <a:cs typeface="Arial" pitchFamily="34" charset="-120"/>
              </a:rPr>
              <a:t>Navegador compara</a:t>
            </a:r>
            <a:endParaRPr lang="en-US" sz="1250" dirty="0"/>
          </a:p>
          <a:p>
            <a:pPr algn="ctr" indent="0" marL="0">
              <a:buNone/>
            </a:pPr>
            <a:r>
              <a:rPr lang="en-US" sz="1250" dirty="0">
                <a:solidFill>
                  <a:srgbClr val="212121"/>
                </a:solidFill>
                <a:latin typeface="Arial" pitchFamily="34" charset="0"/>
                <a:ea typeface="Arial" pitchFamily="34" charset="-122"/>
                <a:cs typeface="Arial" pitchFamily="34" charset="-120"/>
              </a:rPr>
              <a:t>Access-Control-Allow-Origin</a:t>
            </a:r>
            <a:endParaRPr lang="en-US" sz="1250" dirty="0"/>
          </a:p>
        </p:txBody>
      </p:sp>
      <p:sp>
        <p:nvSpPr>
          <p:cNvPr id="14" name="Text 12"/>
          <p:cNvSpPr/>
          <p:nvPr/>
        </p:nvSpPr>
        <p:spPr>
          <a:xfrm>
            <a:off x="8741664" y="1554480"/>
            <a:ext cx="411480" cy="105156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9107424" y="1554480"/>
            <a:ext cx="2532888" cy="1051560"/>
          </a:xfrm>
          <a:prstGeom prst="roundRect">
            <a:avLst/>
          </a:prstGeom>
          <a:solidFill>
            <a:srgbClr val="E8EAF6"/>
          </a:solidFill>
          <a:ln w="15875">
            <a:solidFill>
              <a:srgbClr val="3949AB"/>
            </a:solidFill>
            <a:prstDash val="solid"/>
          </a:ln>
        </p:spPr>
      </p:sp>
      <p:sp>
        <p:nvSpPr>
          <p:cNvPr id="16" name="Text 14"/>
          <p:cNvSpPr/>
          <p:nvPr/>
        </p:nvSpPr>
        <p:spPr>
          <a:xfrm>
            <a:off x="9153144" y="1600200"/>
            <a:ext cx="2441448" cy="960120"/>
          </a:xfrm>
          <a:prstGeom prst="rect">
            <a:avLst/>
          </a:prstGeom>
          <a:noFill/>
          <a:ln/>
        </p:spPr>
        <p:txBody>
          <a:bodyPr wrap="square" rtlCol="0" anchor="ctr"/>
          <a:lstStyle/>
          <a:p>
            <a:pPr algn="ctr" indent="0" marL="0">
              <a:buNone/>
            </a:pPr>
            <a:r>
              <a:rPr lang="en-US" sz="1250" dirty="0">
                <a:solidFill>
                  <a:srgbClr val="212121"/>
                </a:solidFill>
                <a:latin typeface="Arial" pitchFamily="34" charset="0"/>
                <a:ea typeface="Arial" pitchFamily="34" charset="-122"/>
                <a:cs typeface="Arial" pitchFamily="34" charset="-120"/>
              </a:rPr>
              <a:t>¿Autorizado?</a:t>
            </a:r>
            <a:endParaRPr lang="en-US" sz="1250" dirty="0"/>
          </a:p>
          <a:p>
            <a:pPr algn="ctr" indent="0" marL="0">
              <a:buNone/>
            </a:pPr>
            <a:r>
              <a:rPr lang="en-US" sz="1250" dirty="0">
                <a:solidFill>
                  <a:srgbClr val="212121"/>
                </a:solidFill>
                <a:latin typeface="Arial" pitchFamily="34" charset="0"/>
                <a:ea typeface="Arial" pitchFamily="34" charset="-122"/>
                <a:cs typeface="Arial" pitchFamily="34" charset="-120"/>
              </a:rPr>
              <a:t>entrega o descarta</a:t>
            </a:r>
            <a:endParaRPr lang="en-US" sz="1250" dirty="0"/>
          </a:p>
        </p:txBody>
      </p:sp>
      <p:sp>
        <p:nvSpPr>
          <p:cNvPr id="17" name="Text 15"/>
          <p:cNvSpPr/>
          <p:nvPr/>
        </p:nvSpPr>
        <p:spPr>
          <a:xfrm>
            <a:off x="548640" y="2880360"/>
            <a:ext cx="11091672" cy="1051560"/>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Es el navegador quien, ya con la respuesta en la mano, decide si se la pasa al script o la descarta. Por eso, si abres la pestaña de red durante un fallo de CORS, ves la petición completada con código 200, y aun así el script se queda sin datos.</a:t>
            </a:r>
            <a:endParaRPr lang="en-US" sz="1600" dirty="0"/>
          </a:p>
        </p:txBody>
      </p:sp>
      <p:sp>
        <p:nvSpPr>
          <p:cNvPr id="18" name="Shape 16"/>
          <p:cNvSpPr/>
          <p:nvPr/>
        </p:nvSpPr>
        <p:spPr>
          <a:xfrm>
            <a:off x="548640" y="4114800"/>
            <a:ext cx="11091672" cy="1051560"/>
          </a:xfrm>
          <a:prstGeom prst="roundRect">
            <a:avLst/>
          </a:prstGeom>
          <a:solidFill>
            <a:srgbClr val="FFF8E1"/>
          </a:solidFill>
          <a:ln w="19050">
            <a:solidFill>
              <a:srgbClr val="FFA000"/>
            </a:solidFill>
            <a:prstDash val="solid"/>
          </a:ln>
        </p:spPr>
      </p:sp>
      <p:sp>
        <p:nvSpPr>
          <p:cNvPr id="19" name="Text 17"/>
          <p:cNvSpPr/>
          <p:nvPr/>
        </p:nvSpPr>
        <p:spPr>
          <a:xfrm>
            <a:off x="822960" y="4206240"/>
            <a:ext cx="10543032" cy="8686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Cómo lo activas hoy: el código de Escaparate ya sabe leer qué origen autorizar mediante la variable APP_CORS_ALLOWED_ORIGINS — hoy le dices cuál es el origen real de tu bucket.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Separación de responsabilidades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Cada capa hace una cosa, y solo esa cosa</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1996501"/>
                <a:gridCol w="3993002"/>
                <a:gridCol w="5102169"/>
              </a:tblGrid>
              <a:tr h="68580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Capa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Responsabilidad</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Lo que NO hace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685800">
                <a:tc>
                  <a:txBody>
                    <a:bodyPr/>
                    <a:lstStyle/>
                    <a:p>
                      <a:pPr indent="0" marL="0">
                        <a:buNone/>
                      </a:pPr>
                      <a:r>
                        <a:rPr lang="en-US" sz="1300" b="1" dirty="0">
                          <a:solidFill>
                            <a:srgbClr val="212121"/>
                          </a:solidFill>
                          <a:latin typeface="Arial" pitchFamily="34" charset="0"/>
                          <a:ea typeface="Arial" pitchFamily="34" charset="-122"/>
                          <a:cs typeface="Arial" pitchFamily="34" charset="-120"/>
                        </a:rPr>
                        <a:t>Front (S3)</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Servir HTML, CSS y JavaScript</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ejecuta lógica de negocio, no toca la base de datos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85800">
                <a:tc>
                  <a:txBody>
                    <a:bodyPr/>
                    <a:lstStyle/>
                    <a:p>
                      <a:pPr indent="0" marL="0">
                        <a:buNone/>
                      </a:pPr>
                      <a:r>
                        <a:rPr lang="en-US" sz="1300" b="1" dirty="0">
                          <a:solidFill>
                            <a:srgbClr val="212121"/>
                          </a:solidFill>
                          <a:latin typeface="Arial" pitchFamily="34" charset="0"/>
                          <a:ea typeface="Arial" pitchFamily="34" charset="-122"/>
                          <a:cs typeface="Arial" pitchFamily="34" charset="-120"/>
                        </a:rPr>
                        <a:t>Aplicación (EC2)</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Procesar peticiones, aplicar reglas de negocio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sirve el front estático, no almacena datos de forma permanente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85800">
                <a:tc>
                  <a:txBody>
                    <a:bodyPr/>
                    <a:lstStyle/>
                    <a:p>
                      <a:pPr indent="0" marL="0">
                        <a:buNone/>
                      </a:pPr>
                      <a:r>
                        <a:rPr lang="en-US" sz="1300" b="1" dirty="0">
                          <a:solidFill>
                            <a:srgbClr val="212121"/>
                          </a:solidFill>
                          <a:latin typeface="Arial" pitchFamily="34" charset="0"/>
                          <a:ea typeface="Arial" pitchFamily="34" charset="-122"/>
                          <a:cs typeface="Arial" pitchFamily="34" charset="-120"/>
                        </a:rPr>
                        <a:t>Base de datos (RDS)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Guardar y devolver datos de forma consistente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sabe presentar nada, no toma decisiones de negocio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709160"/>
            <a:ext cx="11091672" cy="1051560"/>
          </a:xfrm>
          <a:prstGeom prst="roundRect">
            <a:avLst/>
          </a:prstGeom>
          <a:solidFill>
            <a:srgbClr val="FFF8E1"/>
          </a:solidFill>
          <a:ln w="19050">
            <a:solidFill>
              <a:srgbClr val="FFA000"/>
            </a:solidFill>
            <a:prstDash val="solid"/>
          </a:ln>
        </p:spPr>
      </p:sp>
      <p:sp>
        <p:nvSpPr>
          <p:cNvPr id="8" name="Text 5"/>
          <p:cNvSpPr/>
          <p:nvPr/>
        </p:nvSpPr>
        <p:spPr>
          <a:xfrm>
            <a:off x="822960" y="4800600"/>
            <a:ext cx="10543032" cy="8686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Si mañana necesitas escalar solo la aplicación porque hay más tráfico, no tocas ni el front ni la base de datos — esa independencia es la que hace posible el Tema 4.</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Configuración externa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El endpoint de RDS y la contraseña de Secrets Manager no son dos mecanismos distintos: los dos son configuración externa. Ninguno vive escrito dentro del código.</a:t>
            </a:r>
            <a:endParaRPr lang="en-US" sz="1500" dirty="0"/>
          </a:p>
        </p:txBody>
      </p:sp>
      <p:sp>
        <p:nvSpPr>
          <p:cNvPr id="7" name="Shape 5"/>
          <p:cNvSpPr/>
          <p:nvPr/>
        </p:nvSpPr>
        <p:spPr>
          <a:xfrm>
            <a:off x="548640" y="2286000"/>
            <a:ext cx="5385816" cy="914400"/>
          </a:xfrm>
          <a:prstGeom prst="roundRect">
            <a:avLst/>
          </a:prstGeom>
          <a:solidFill>
            <a:srgbClr val="E8EAF6"/>
          </a:solidFill>
          <a:ln w="15875">
            <a:solidFill>
              <a:srgbClr val="3949AB"/>
            </a:solidFill>
            <a:prstDash val="solid"/>
          </a:ln>
        </p:spPr>
      </p:sp>
      <p:sp>
        <p:nvSpPr>
          <p:cNvPr id="8" name="Text 6"/>
          <p:cNvSpPr/>
          <p:nvPr/>
        </p:nvSpPr>
        <p:spPr>
          <a:xfrm>
            <a:off x="594360" y="2331720"/>
            <a:ext cx="529437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Código de la aplicación</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(fijo, no cambia)</a:t>
            </a:r>
            <a:endParaRPr lang="en-US" sz="1500" dirty="0"/>
          </a:p>
        </p:txBody>
      </p:sp>
      <p:sp>
        <p:nvSpPr>
          <p:cNvPr id="9" name="Text 7"/>
          <p:cNvSpPr/>
          <p:nvPr/>
        </p:nvSpPr>
        <p:spPr>
          <a:xfrm>
            <a:off x="5888736" y="2286000"/>
            <a:ext cx="411480" cy="91440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6254496" y="2286000"/>
            <a:ext cx="5385816" cy="914400"/>
          </a:xfrm>
          <a:prstGeom prst="roundRect">
            <a:avLst/>
          </a:prstGeom>
          <a:solidFill>
            <a:srgbClr val="E8EAF6"/>
          </a:solidFill>
          <a:ln w="15875">
            <a:solidFill>
              <a:srgbClr val="3949AB"/>
            </a:solidFill>
            <a:prstDash val="solid"/>
          </a:ln>
        </p:spPr>
      </p:sp>
      <p:sp>
        <p:nvSpPr>
          <p:cNvPr id="11" name="Text 9"/>
          <p:cNvSpPr/>
          <p:nvPr/>
        </p:nvSpPr>
        <p:spPr>
          <a:xfrm>
            <a:off x="6300216" y="2331720"/>
            <a:ext cx="529437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Configuración externa</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(variables de entorno)</a:t>
            </a:r>
            <a:endParaRPr lang="en-US" sz="1500" dirty="0"/>
          </a:p>
        </p:txBody>
      </p:sp>
      <p:sp>
        <p:nvSpPr>
          <p:cNvPr id="12" name="Shape 10"/>
          <p:cNvSpPr/>
          <p:nvPr/>
        </p:nvSpPr>
        <p:spPr>
          <a:xfrm>
            <a:off x="548640" y="3474720"/>
            <a:ext cx="5362956" cy="822960"/>
          </a:xfrm>
          <a:prstGeom prst="roundRect">
            <a:avLst/>
          </a:prstGeom>
          <a:solidFill>
            <a:srgbClr val="E8EAF6"/>
          </a:solidFill>
          <a:ln w="15875">
            <a:solidFill>
              <a:srgbClr val="3949AB"/>
            </a:solidFill>
            <a:prstDash val="solid"/>
          </a:ln>
        </p:spPr>
      </p:sp>
      <p:sp>
        <p:nvSpPr>
          <p:cNvPr id="13" name="Text 11"/>
          <p:cNvSpPr/>
          <p:nvPr/>
        </p:nvSpPr>
        <p:spPr>
          <a:xfrm>
            <a:off x="685800" y="3566160"/>
            <a:ext cx="5088636" cy="54864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Entorno de producción</a:t>
            </a:r>
            <a:endParaRPr lang="en-US" sz="1600" dirty="0"/>
          </a:p>
        </p:txBody>
      </p:sp>
      <p:sp>
        <p:nvSpPr>
          <p:cNvPr id="14" name="Text 12"/>
          <p:cNvSpPr/>
          <p:nvPr/>
        </p:nvSpPr>
        <p:spPr>
          <a:xfrm>
            <a:off x="731520" y="4160520"/>
            <a:ext cx="4997196" cy="45720"/>
          </a:xfrm>
          <a:prstGeom prst="rect">
            <a:avLst/>
          </a:prstGeom>
          <a:noFill/>
          <a:ln/>
        </p:spPr>
        <p:txBody>
          <a:bodyPr wrap="square" rtlCol="0" anchor="t"/>
          <a:lstStyle/>
          <a:p>
            <a:pPr algn="ctr" indent="0" marL="0">
              <a:buNone/>
            </a:pPr>
            <a:endParaRPr lang="en-US" sz="100" dirty="0"/>
          </a:p>
        </p:txBody>
      </p:sp>
      <p:sp>
        <p:nvSpPr>
          <p:cNvPr id="15" name="Shape 13"/>
          <p:cNvSpPr/>
          <p:nvPr/>
        </p:nvSpPr>
        <p:spPr>
          <a:xfrm>
            <a:off x="6277356" y="3474720"/>
            <a:ext cx="5362956" cy="822960"/>
          </a:xfrm>
          <a:prstGeom prst="roundRect">
            <a:avLst/>
          </a:prstGeom>
          <a:solidFill>
            <a:srgbClr val="E8EAF6"/>
          </a:solidFill>
          <a:ln w="15875">
            <a:solidFill>
              <a:srgbClr val="3949AB"/>
            </a:solidFill>
            <a:prstDash val="solid"/>
          </a:ln>
        </p:spPr>
      </p:sp>
      <p:sp>
        <p:nvSpPr>
          <p:cNvPr id="16" name="Text 14"/>
          <p:cNvSpPr/>
          <p:nvPr/>
        </p:nvSpPr>
        <p:spPr>
          <a:xfrm>
            <a:off x="6414516" y="3566160"/>
            <a:ext cx="5088636" cy="548640"/>
          </a:xfrm>
          <a:prstGeom prst="rect">
            <a:avLst/>
          </a:prstGeom>
          <a:noFill/>
          <a:ln/>
        </p:spPr>
        <p:txBody>
          <a:bodyPr wrap="square" rtlCol="0" anchor="ctr"/>
          <a:lstStyle/>
          <a:p>
            <a:pPr algn="ctr" indent="0" marL="0">
              <a:buNone/>
            </a:pPr>
            <a:r>
              <a:rPr lang="en-US" sz="1600" b="1" dirty="0">
                <a:solidFill>
                  <a:srgbClr val="1A237E"/>
                </a:solidFill>
                <a:latin typeface="Arial" pitchFamily="34" charset="0"/>
                <a:ea typeface="Arial" pitchFamily="34" charset="-122"/>
                <a:cs typeface="Arial" pitchFamily="34" charset="-120"/>
              </a:rPr>
              <a:t>Entorno de pruebas</a:t>
            </a:r>
            <a:endParaRPr lang="en-US" sz="1600" dirty="0"/>
          </a:p>
        </p:txBody>
      </p:sp>
      <p:sp>
        <p:nvSpPr>
          <p:cNvPr id="17" name="Text 15"/>
          <p:cNvSpPr/>
          <p:nvPr/>
        </p:nvSpPr>
        <p:spPr>
          <a:xfrm>
            <a:off x="6460236" y="4160520"/>
            <a:ext cx="4997196" cy="45720"/>
          </a:xfrm>
          <a:prstGeom prst="rect">
            <a:avLst/>
          </a:prstGeom>
          <a:noFill/>
          <a:ln/>
        </p:spPr>
        <p:txBody>
          <a:bodyPr wrap="square" rtlCol="0" anchor="t"/>
          <a:lstStyle/>
          <a:p>
            <a:pPr algn="ctr" indent="0" marL="0">
              <a:buNone/>
            </a:pPr>
            <a:endParaRPr lang="en-US" sz="100" dirty="0"/>
          </a:p>
        </p:txBody>
      </p:sp>
      <p:sp>
        <p:nvSpPr>
          <p:cNvPr id="18" name="Shape 16"/>
          <p:cNvSpPr/>
          <p:nvPr/>
        </p:nvSpPr>
        <p:spPr>
          <a:xfrm>
            <a:off x="548640" y="4663440"/>
            <a:ext cx="11091672" cy="1234440"/>
          </a:xfrm>
          <a:prstGeom prst="roundRect">
            <a:avLst/>
          </a:prstGeom>
          <a:solidFill>
            <a:srgbClr val="FFF8E1"/>
          </a:solidFill>
          <a:ln w="19050">
            <a:solidFill>
              <a:srgbClr val="FFA000"/>
            </a:solidFill>
            <a:prstDash val="solid"/>
          </a:ln>
        </p:spPr>
      </p:sp>
      <p:sp>
        <p:nvSpPr>
          <p:cNvPr id="19" name="Text 17"/>
          <p:cNvSpPr/>
          <p:nvPr/>
        </p:nvSpPr>
        <p:spPr>
          <a:xfrm>
            <a:off x="822960" y="4754880"/>
            <a:ext cx="10543032" cy="105156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Si el endpoint viviera dentro del código, tendrías que modificar y redesplegar toda la aplicación solo para apuntar a una base de datos de pruebas. Con configuración externa, el mismo artefacto sirve para los dos entornos.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Cadena de dependencias entre capas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Cada capa depende de que la de detrás esté disponible</a:t>
            </a:r>
            <a:endParaRPr lang="en-US" sz="1500" dirty="0"/>
          </a:p>
        </p:txBody>
      </p:sp>
      <p:sp>
        <p:nvSpPr>
          <p:cNvPr id="6" name="Shape 4"/>
          <p:cNvSpPr/>
          <p:nvPr/>
        </p:nvSpPr>
        <p:spPr>
          <a:xfrm>
            <a:off x="548640" y="1554480"/>
            <a:ext cx="2532888" cy="1051560"/>
          </a:xfrm>
          <a:prstGeom prst="roundRect">
            <a:avLst/>
          </a:prstGeom>
          <a:solidFill>
            <a:srgbClr val="E8EAF6"/>
          </a:solidFill>
          <a:ln w="15875">
            <a:solidFill>
              <a:srgbClr val="3949AB"/>
            </a:solidFill>
            <a:prstDash val="solid"/>
          </a:ln>
        </p:spPr>
      </p:sp>
      <p:sp>
        <p:nvSpPr>
          <p:cNvPr id="7" name="Text 5"/>
          <p:cNvSpPr/>
          <p:nvPr/>
        </p:nvSpPr>
        <p:spPr>
          <a:xfrm>
            <a:off x="594360" y="1600200"/>
            <a:ext cx="2441448" cy="960120"/>
          </a:xfrm>
          <a:prstGeom prst="rect">
            <a:avLst/>
          </a:prstGeom>
          <a:noFill/>
          <a:ln/>
        </p:spPr>
        <p:txBody>
          <a:bodyPr wrap="square" rtlCol="0" anchor="ctr"/>
          <a:lstStyle/>
          <a:p>
            <a:pPr algn="ctr" indent="0" marL="0">
              <a:buNone/>
            </a:pPr>
            <a:r>
              <a:rPr lang="en-US" sz="1250" dirty="0">
                <a:solidFill>
                  <a:srgbClr val="212121"/>
                </a:solidFill>
                <a:latin typeface="Arial" pitchFamily="34" charset="0"/>
                <a:ea typeface="Arial" pitchFamily="34" charset="-122"/>
                <a:cs typeface="Arial" pitchFamily="34" charset="-120"/>
              </a:rPr>
              <a:t>Petición al catálogo</a:t>
            </a:r>
            <a:endParaRPr lang="en-US" sz="1250" dirty="0"/>
          </a:p>
          <a:p>
            <a:pPr algn="ctr" indent="0" marL="0">
              <a:buNone/>
            </a:pPr>
            <a:r>
              <a:rPr lang="en-US" sz="1250" dirty="0">
                <a:solidFill>
                  <a:srgbClr val="212121"/>
                </a:solidFill>
                <a:latin typeface="Arial" pitchFamily="34" charset="0"/>
                <a:ea typeface="Arial" pitchFamily="34" charset="-122"/>
                <a:cs typeface="Arial" pitchFamily="34" charset="-120"/>
              </a:rPr>
              <a:t>Internet → App</a:t>
            </a:r>
            <a:endParaRPr lang="en-US" sz="1250" dirty="0"/>
          </a:p>
        </p:txBody>
      </p:sp>
      <p:sp>
        <p:nvSpPr>
          <p:cNvPr id="8" name="Text 6"/>
          <p:cNvSpPr/>
          <p:nvPr/>
        </p:nvSpPr>
        <p:spPr>
          <a:xfrm>
            <a:off x="3035808" y="1554480"/>
            <a:ext cx="411480" cy="105156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401568" y="1554480"/>
            <a:ext cx="2532888" cy="1051560"/>
          </a:xfrm>
          <a:prstGeom prst="roundRect">
            <a:avLst/>
          </a:prstGeom>
          <a:solidFill>
            <a:srgbClr val="E8EAF6"/>
          </a:solidFill>
          <a:ln w="15875">
            <a:solidFill>
              <a:srgbClr val="3949AB"/>
            </a:solidFill>
            <a:prstDash val="solid"/>
          </a:ln>
        </p:spPr>
      </p:sp>
      <p:sp>
        <p:nvSpPr>
          <p:cNvPr id="10" name="Text 8"/>
          <p:cNvSpPr/>
          <p:nvPr/>
        </p:nvSpPr>
        <p:spPr>
          <a:xfrm>
            <a:off x="3447288" y="1600200"/>
            <a:ext cx="2441448" cy="960120"/>
          </a:xfrm>
          <a:prstGeom prst="rect">
            <a:avLst/>
          </a:prstGeom>
          <a:noFill/>
          <a:ln/>
        </p:spPr>
        <p:txBody>
          <a:bodyPr wrap="square" rtlCol="0" anchor="ctr"/>
          <a:lstStyle/>
          <a:p>
            <a:pPr algn="ctr" indent="0" marL="0">
              <a:buNone/>
            </a:pPr>
            <a:r>
              <a:rPr lang="en-US" sz="1250" dirty="0">
                <a:solidFill>
                  <a:srgbClr val="212121"/>
                </a:solidFill>
                <a:latin typeface="Arial" pitchFamily="34" charset="0"/>
                <a:ea typeface="Arial" pitchFamily="34" charset="-122"/>
                <a:cs typeface="Arial" pitchFamily="34" charset="-120"/>
              </a:rPr>
              <a:t>Consulta de productos</a:t>
            </a:r>
            <a:endParaRPr lang="en-US" sz="1250" dirty="0"/>
          </a:p>
          <a:p>
            <a:pPr algn="ctr" indent="0" marL="0">
              <a:buNone/>
            </a:pPr>
            <a:r>
              <a:rPr lang="en-US" sz="1250" dirty="0">
                <a:solidFill>
                  <a:srgbClr val="212121"/>
                </a:solidFill>
                <a:latin typeface="Arial" pitchFamily="34" charset="0"/>
                <a:ea typeface="Arial" pitchFamily="34" charset="-122"/>
                <a:cs typeface="Arial" pitchFamily="34" charset="-120"/>
              </a:rPr>
              <a:t>App → BD</a:t>
            </a:r>
            <a:endParaRPr lang="en-US" sz="1250" dirty="0"/>
          </a:p>
        </p:txBody>
      </p:sp>
      <p:sp>
        <p:nvSpPr>
          <p:cNvPr id="11" name="Text 9"/>
          <p:cNvSpPr/>
          <p:nvPr/>
        </p:nvSpPr>
        <p:spPr>
          <a:xfrm>
            <a:off x="5888736" y="1554480"/>
            <a:ext cx="411480" cy="105156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6254496" y="1554480"/>
            <a:ext cx="2532888" cy="1051560"/>
          </a:xfrm>
          <a:prstGeom prst="roundRect">
            <a:avLst/>
          </a:prstGeom>
          <a:solidFill>
            <a:srgbClr val="E8EAF6"/>
          </a:solidFill>
          <a:ln w="15875">
            <a:solidFill>
              <a:srgbClr val="3949AB"/>
            </a:solidFill>
            <a:prstDash val="solid"/>
          </a:ln>
        </p:spPr>
      </p:sp>
      <p:sp>
        <p:nvSpPr>
          <p:cNvPr id="13" name="Text 11"/>
          <p:cNvSpPr/>
          <p:nvPr/>
        </p:nvSpPr>
        <p:spPr>
          <a:xfrm>
            <a:off x="6300216" y="1600200"/>
            <a:ext cx="2441448" cy="960120"/>
          </a:xfrm>
          <a:prstGeom prst="rect">
            <a:avLst/>
          </a:prstGeom>
          <a:noFill/>
          <a:ln/>
        </p:spPr>
        <p:txBody>
          <a:bodyPr wrap="square" rtlCol="0" anchor="ctr"/>
          <a:lstStyle/>
          <a:p>
            <a:pPr algn="ctr" indent="0" marL="0">
              <a:buNone/>
            </a:pPr>
            <a:r>
              <a:rPr lang="en-US" sz="1250" dirty="0">
                <a:solidFill>
                  <a:srgbClr val="212121"/>
                </a:solidFill>
                <a:latin typeface="Arial" pitchFamily="34" charset="0"/>
                <a:ea typeface="Arial" pitchFamily="34" charset="-122"/>
                <a:cs typeface="Arial" pitchFamily="34" charset="-120"/>
              </a:rPr>
              <a:t>Resultado</a:t>
            </a:r>
            <a:endParaRPr lang="en-US" sz="1250" dirty="0"/>
          </a:p>
          <a:p>
            <a:pPr algn="ctr" indent="0" marL="0">
              <a:buNone/>
            </a:pPr>
            <a:r>
              <a:rPr lang="en-US" sz="1250" dirty="0">
                <a:solidFill>
                  <a:srgbClr val="212121"/>
                </a:solidFill>
                <a:latin typeface="Arial" pitchFamily="34" charset="0"/>
                <a:ea typeface="Arial" pitchFamily="34" charset="-122"/>
                <a:cs typeface="Arial" pitchFamily="34" charset="-120"/>
              </a:rPr>
              <a:t>BD → App</a:t>
            </a:r>
            <a:endParaRPr lang="en-US" sz="1250" dirty="0"/>
          </a:p>
        </p:txBody>
      </p:sp>
      <p:sp>
        <p:nvSpPr>
          <p:cNvPr id="14" name="Text 12"/>
          <p:cNvSpPr/>
          <p:nvPr/>
        </p:nvSpPr>
        <p:spPr>
          <a:xfrm>
            <a:off x="8741664" y="1554480"/>
            <a:ext cx="411480" cy="1051560"/>
          </a:xfrm>
          <a:prstGeom prst="rect">
            <a:avLst/>
          </a:prstGeom>
          <a:noFill/>
          <a:ln/>
        </p:spPr>
        <p:txBody>
          <a:bodyPr wrap="square" rtlCol="0" anchor="ctr"/>
          <a:lstStyle/>
          <a:p>
            <a:pPr algn="ctr" indent="0" marL="0">
              <a:buNone/>
            </a:pPr>
            <a:r>
              <a:rPr lang="en-US" sz="2000" b="1" dirty="0">
                <a:solidFill>
                  <a:srgbClr val="3949AB"/>
                </a:solidFill>
                <a:latin typeface="Arial" pitchFamily="34" charset="0"/>
                <a:ea typeface="Arial" pitchFamily="34" charset="-122"/>
                <a:cs typeface="Arial" pitchFamily="34" charset="-120"/>
              </a:rPr>
              <a:t>→</a:t>
            </a:r>
            <a:endParaRPr lang="en-US" sz="2000" dirty="0"/>
          </a:p>
        </p:txBody>
      </p:sp>
      <p:sp>
        <p:nvSpPr>
          <p:cNvPr id="15" name="Shape 13"/>
          <p:cNvSpPr/>
          <p:nvPr/>
        </p:nvSpPr>
        <p:spPr>
          <a:xfrm>
            <a:off x="9107424" y="1554480"/>
            <a:ext cx="2532888" cy="1051560"/>
          </a:xfrm>
          <a:prstGeom prst="roundRect">
            <a:avLst/>
          </a:prstGeom>
          <a:solidFill>
            <a:srgbClr val="E8EAF6"/>
          </a:solidFill>
          <a:ln w="15875">
            <a:solidFill>
              <a:srgbClr val="3949AB"/>
            </a:solidFill>
            <a:prstDash val="solid"/>
          </a:ln>
        </p:spPr>
      </p:sp>
      <p:sp>
        <p:nvSpPr>
          <p:cNvPr id="16" name="Text 14"/>
          <p:cNvSpPr/>
          <p:nvPr/>
        </p:nvSpPr>
        <p:spPr>
          <a:xfrm>
            <a:off x="9153144" y="1600200"/>
            <a:ext cx="2441448" cy="960120"/>
          </a:xfrm>
          <a:prstGeom prst="rect">
            <a:avLst/>
          </a:prstGeom>
          <a:noFill/>
          <a:ln/>
        </p:spPr>
        <p:txBody>
          <a:bodyPr wrap="square" rtlCol="0" anchor="ctr"/>
          <a:lstStyle/>
          <a:p>
            <a:pPr algn="ctr" indent="0" marL="0">
              <a:buNone/>
            </a:pPr>
            <a:r>
              <a:rPr lang="en-US" sz="1250" dirty="0">
                <a:solidFill>
                  <a:srgbClr val="212121"/>
                </a:solidFill>
                <a:latin typeface="Arial" pitchFamily="34" charset="0"/>
                <a:ea typeface="Arial" pitchFamily="34" charset="-122"/>
                <a:cs typeface="Arial" pitchFamily="34" charset="-120"/>
              </a:rPr>
              <a:t>Respuesta con catálogo</a:t>
            </a:r>
            <a:endParaRPr lang="en-US" sz="1250" dirty="0"/>
          </a:p>
          <a:p>
            <a:pPr algn="ctr" indent="0" marL="0">
              <a:buNone/>
            </a:pPr>
            <a:r>
              <a:rPr lang="en-US" sz="1250" dirty="0">
                <a:solidFill>
                  <a:srgbClr val="212121"/>
                </a:solidFill>
                <a:latin typeface="Arial" pitchFamily="34" charset="0"/>
                <a:ea typeface="Arial" pitchFamily="34" charset="-122"/>
                <a:cs typeface="Arial" pitchFamily="34" charset="-120"/>
              </a:rPr>
              <a:t>App → Internet</a:t>
            </a:r>
            <a:endParaRPr lang="en-US" sz="1250" dirty="0"/>
          </a:p>
        </p:txBody>
      </p:sp>
      <p:sp>
        <p:nvSpPr>
          <p:cNvPr id="17" name="Shape 15"/>
          <p:cNvSpPr/>
          <p:nvPr/>
        </p:nvSpPr>
        <p:spPr>
          <a:xfrm>
            <a:off x="548640" y="2880360"/>
            <a:ext cx="11091672" cy="1371600"/>
          </a:xfrm>
          <a:prstGeom prst="roundRect">
            <a:avLst/>
          </a:prstGeom>
          <a:solidFill>
            <a:srgbClr val="FFF8E1"/>
          </a:solidFill>
          <a:ln w="28575">
            <a:solidFill>
              <a:srgbClr val="FFA000"/>
            </a:solidFill>
            <a:prstDash val="solid"/>
          </a:ln>
        </p:spPr>
      </p:sp>
      <p:sp>
        <p:nvSpPr>
          <p:cNvPr id="18" name="Text 16"/>
          <p:cNvSpPr/>
          <p:nvPr/>
        </p:nvSpPr>
        <p:spPr>
          <a:xfrm>
            <a:off x="822960" y="2990088"/>
            <a:ext cx="10543032" cy="1152144"/>
          </a:xfrm>
          <a:prstGeom prst="rect">
            <a:avLst/>
          </a:prstGeom>
          <a:noFill/>
          <a:ln/>
        </p:spPr>
        <p:txBody>
          <a:bodyPr wrap="square" rtlCol="0" anchor="t"/>
          <a:lstStyle/>
          <a:p>
            <a:pPr indent="0" marL="0">
              <a:buNone/>
            </a:pPr>
            <a:r>
              <a:rPr lang="en-US" sz="1600" b="1" dirty="0">
                <a:solidFill>
                  <a:srgbClr val="1A237E"/>
                </a:solidFill>
                <a:latin typeface="Arial" pitchFamily="34" charset="0"/>
                <a:ea typeface="Arial" pitchFamily="34" charset="-122"/>
                <a:cs typeface="Arial" pitchFamily="34" charset="-120"/>
              </a:rPr>
              <a:t>Cuando algo no arranca a la primera
</a:t>
            </a:r>
            <a:endParaRPr lang="en-US" sz="1600" dirty="0"/>
          </a:p>
          <a:p>
            <a:pPr indent="0" marL="0">
              <a:buNone/>
            </a:pPr>
            <a:r>
              <a:rPr lang="en-US" sz="1500" dirty="0">
                <a:solidFill>
                  <a:srgbClr val="212121"/>
                </a:solidFill>
                <a:latin typeface="Arial" pitchFamily="34" charset="0"/>
                <a:ea typeface="Arial" pitchFamily="34" charset="-122"/>
                <a:cs typeface="Arial" pitchFamily="34" charset="-120"/>
              </a:rPr>
              <a:t>La solución casi nunca es cambiar el orden de creación de los recursos, sino hacer que la aplicación reintente la conexión unos segundos antes de darse por vencida, en vez de fallar a la primera.</a:t>
            </a:r>
            <a:endParaRPr lang="en-US" sz="1600" dirty="0"/>
          </a:p>
        </p:txBody>
      </p:sp>
      <p:sp>
        <p:nvSpPr>
          <p:cNvPr id="19" name="Shape 17"/>
          <p:cNvSpPr/>
          <p:nvPr/>
        </p:nvSpPr>
        <p:spPr>
          <a:xfrm>
            <a:off x="548640" y="4526280"/>
            <a:ext cx="11091672" cy="1234440"/>
          </a:xfrm>
          <a:prstGeom prst="roundRect">
            <a:avLst/>
          </a:prstGeom>
          <a:solidFill>
            <a:srgbClr val="FFF8E1"/>
          </a:solidFill>
          <a:ln w="19050">
            <a:solidFill>
              <a:srgbClr val="FFA000"/>
            </a:solidFill>
            <a:prstDash val="solid"/>
          </a:ln>
        </p:spPr>
      </p:sp>
      <p:sp>
        <p:nvSpPr>
          <p:cNvPr id="20" name="Text 18"/>
          <p:cNvSpPr/>
          <p:nvPr/>
        </p:nvSpPr>
        <p:spPr>
          <a:xfrm>
            <a:off x="822960" y="4617720"/>
            <a:ext cx="10543032" cy="105156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Antes de rehacer nada: revisa el registro de arranque (/var/log/cloud-init-output.log) — casi siempre el mensaje ya te dice si el problema es la base de datos, la red o un permiso.</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Qué se rompe cuando una pieza se mueve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Una arquitectura de capas separa responsabilidades, pero no las hace independientes del todo: si cambias el endpoint y no actualizas la configuración, la aplicación falla aunque la base de datos esté sana.</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914400"/>
        </p:xfrm>
        <a:graphic>
          <a:graphicData uri="http://schemas.openxmlformats.org/drawingml/2006/table">
            <a:tbl>
              <a:tblPr/>
              <a:tblGrid>
                <a:gridCol w="4214835"/>
                <a:gridCol w="6876837"/>
              </a:tblGrid>
              <a:tr h="777240">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se mueve</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500" b="1" dirty="0">
                          <a:solidFill>
                            <a:srgbClr val="FFFFFF"/>
                          </a:solidFill>
                          <a:latin typeface="Arial" pitchFamily="34" charset="0"/>
                          <a:ea typeface="Arial" pitchFamily="34" charset="-122"/>
                          <a:cs typeface="Arial" pitchFamily="34" charset="-120"/>
                        </a:rPr>
                        <a:t>Qué se rompe si no se actualiza la referencia</a:t>
                      </a:r>
                      <a:endParaRPr lang="en-US" sz="15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777240">
                <a:tc>
                  <a:txBody>
                    <a:bodyPr/>
                    <a:lstStyle/>
                    <a:p>
                      <a:pPr indent="0" marL="0">
                        <a:buNone/>
                      </a:pPr>
                      <a:r>
                        <a:rPr lang="en-US" sz="1400" b="1" dirty="0">
                          <a:solidFill>
                            <a:srgbClr val="212121"/>
                          </a:solidFill>
                          <a:latin typeface="Arial" pitchFamily="34" charset="0"/>
                          <a:ea typeface="Arial" pitchFamily="34" charset="-122"/>
                          <a:cs typeface="Arial" pitchFamily="34" charset="-120"/>
                        </a:rPr>
                        <a:t>Endpoint de la base de datos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La aplicación no puede conectar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212121"/>
                          </a:solidFill>
                          <a:latin typeface="Arial" pitchFamily="34" charset="0"/>
                          <a:ea typeface="Arial" pitchFamily="34" charset="-122"/>
                          <a:cs typeface="Arial" pitchFamily="34" charset="-120"/>
                        </a:rPr>
                        <a:t>Ruta del sistema de ficheros compartido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La aplicación no encuentra las imágenes de producto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777240">
                <a:tc>
                  <a:txBody>
                    <a:bodyPr/>
                    <a:lstStyle/>
                    <a:p>
                      <a:pPr indent="0" marL="0">
                        <a:buNone/>
                      </a:pPr>
                      <a:r>
                        <a:rPr lang="en-US" sz="1400" b="1" dirty="0">
                          <a:solidFill>
                            <a:srgbClr val="212121"/>
                          </a:solidFill>
                          <a:latin typeface="Arial" pitchFamily="34" charset="0"/>
                          <a:ea typeface="Arial" pitchFamily="34" charset="-122"/>
                          <a:cs typeface="Arial" pitchFamily="34" charset="-120"/>
                        </a:rPr>
                        <a:t>Dirección del front</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400" dirty="0">
                          <a:solidFill>
                            <a:srgbClr val="212121"/>
                          </a:solidFill>
                          <a:latin typeface="Arial" pitchFamily="34" charset="0"/>
                          <a:ea typeface="Arial" pitchFamily="34" charset="-122"/>
                          <a:cs typeface="Arial" pitchFamily="34" charset="-120"/>
                        </a:rPr>
                        <a:t>Los enlaces del catálogo hacia sus propios recursos dejan de resolver</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Puntos únicos de fallo (SPOF)</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punto único de fallo es cualquier pieza tal que, si falla ella sola, se cae el sistema entero. Una arquitectura resiliente sigue funcionando, aunque sea degradada, cuando algo falla.</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914400"/>
        </p:xfrm>
        <a:graphic>
          <a:graphicData uri="http://schemas.openxmlformats.org/drawingml/2006/table">
            <a:tbl>
              <a:tblPr/>
              <a:tblGrid>
                <a:gridCol w="3771168"/>
                <a:gridCol w="7320504"/>
              </a:tblGrid>
              <a:tr h="54864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Pieza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Por qué es un SPOF hoy</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48640">
                <a:tc>
                  <a:txBody>
                    <a:bodyPr/>
                    <a:lstStyle/>
                    <a:p>
                      <a:pPr indent="0" marL="0">
                        <a:buNone/>
                      </a:pPr>
                      <a:r>
                        <a:rPr lang="en-US" sz="1300" b="1" dirty="0">
                          <a:solidFill>
                            <a:srgbClr val="212121"/>
                          </a:solidFill>
                          <a:latin typeface="Arial" pitchFamily="34" charset="0"/>
                          <a:ea typeface="Arial" pitchFamily="34" charset="-122"/>
                          <a:cs typeface="Arial" pitchFamily="34" charset="-120"/>
                        </a:rPr>
                        <a:t>La instancia EC2 de la aplicación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Es una sola — si se para, no hay copia que responda en su lugar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212121"/>
                          </a:solidFill>
                          <a:latin typeface="Arial" pitchFamily="34" charset="0"/>
                          <a:ea typeface="Arial" pitchFamily="34" charset="-122"/>
                          <a:cs typeface="Arial" pitchFamily="34" charset="-120"/>
                        </a:rPr>
                        <a:t>La instancia RDS (sin Multi-AZ)</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Sin copia en espera, un fallo de zona tumba la base de datos entera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48640">
                <a:tc>
                  <a:txBody>
                    <a:bodyPr/>
                    <a:lstStyle/>
                    <a:p>
                      <a:pPr indent="0" marL="0">
                        <a:buNone/>
                      </a:pPr>
                      <a:r>
                        <a:rPr lang="en-US" sz="1300" b="1" dirty="0">
                          <a:solidFill>
                            <a:srgbClr val="212121"/>
                          </a:solidFill>
                          <a:latin typeface="Arial" pitchFamily="34" charset="0"/>
                          <a:ea typeface="Arial" pitchFamily="34" charset="-122"/>
                          <a:cs typeface="Arial" pitchFamily="34" charset="-120"/>
                        </a:rPr>
                        <a:t>La región donde despliegas todo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Un fallo a ese nivel se lleva por delante las tres capas a la vez</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709160"/>
            <a:ext cx="11091672" cy="1188720"/>
          </a:xfrm>
          <a:prstGeom prst="roundRect">
            <a:avLst/>
          </a:prstGeom>
          <a:solidFill>
            <a:srgbClr val="FFF8E1"/>
          </a:solidFill>
          <a:ln w="28575">
            <a:solidFill>
              <a:srgbClr val="FFA000"/>
            </a:solidFill>
            <a:prstDash val="solid"/>
          </a:ln>
        </p:spPr>
      </p:sp>
      <p:sp>
        <p:nvSpPr>
          <p:cNvPr id="9" name="Text 6"/>
          <p:cNvSpPr/>
          <p:nvPr/>
        </p:nvSpPr>
        <p:spPr>
          <a:xfrm>
            <a:off x="822960" y="4818888"/>
            <a:ext cx="10543032" cy="969264"/>
          </a:xfrm>
          <a:prstGeom prst="rect">
            <a:avLst/>
          </a:prstGeom>
          <a:noFill/>
          <a:ln/>
        </p:spPr>
        <p:txBody>
          <a:bodyPr wrap="square" rtlCol="0" anchor="t"/>
          <a:lstStyle/>
          <a:p>
            <a:pPr indent="0" marL="0">
              <a:buNone/>
            </a:pPr>
            <a:r>
              <a:rPr lang="en-US" sz="1500" b="1" dirty="0">
                <a:solidFill>
                  <a:srgbClr val="1A237E"/>
                </a:solidFill>
                <a:latin typeface="Arial" pitchFamily="34" charset="0"/>
                <a:ea typeface="Arial" pitchFamily="34" charset="-122"/>
                <a:cs typeface="Arial" pitchFamily="34" charset="-120"/>
              </a:rPr>
              <a:t>Tener SPOF hoy no es un error de diseño — es el punto de partida
</a:t>
            </a:r>
            <a:endParaRPr lang="en-US" sz="1500" dirty="0"/>
          </a:p>
          <a:p>
            <a:pPr indent="0" marL="0">
              <a:buNone/>
            </a:pPr>
            <a:r>
              <a:rPr lang="en-US" sz="1400" dirty="0">
                <a:solidFill>
                  <a:srgbClr val="212121"/>
                </a:solidFill>
                <a:latin typeface="Arial" pitchFamily="34" charset="0"/>
                <a:ea typeface="Arial" pitchFamily="34" charset="-122"/>
                <a:cs typeface="Arial" pitchFamily="34" charset="-120"/>
              </a:rPr>
              <a:t>Lo que hace madura una arquitectura no es no tener puntos únicos de fallo desde el primer día, sino saber nombrarlos y decidir cuáles resolver primero. Hoy los identificas; en el Tema 4 empiezas a eliminarlos.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3: Primera arquitectura cloud completa</a:t>
            </a:r>
            <a:endParaRPr lang="en-US" sz="1100" dirty="0"/>
          </a:p>
        </p:txBody>
      </p:sp>
      <p:sp>
        <p:nvSpPr>
          <p:cNvPr id="5" name="Shape 3"/>
          <p:cNvSpPr/>
          <p:nvPr/>
        </p:nvSpPr>
        <p:spPr>
          <a:xfrm>
            <a:off x="548640" y="1280160"/>
            <a:ext cx="5445252" cy="1280160"/>
          </a:xfrm>
          <a:prstGeom prst="roundRect">
            <a:avLst/>
          </a:prstGeom>
          <a:solidFill>
            <a:srgbClr val="E8EAF6"/>
          </a:solidFill>
          <a:ln w="15875">
            <a:solidFill>
              <a:srgbClr val="3949AB"/>
            </a:solidFill>
            <a:prstDash val="solid"/>
          </a:ln>
        </p:spPr>
      </p:sp>
      <p:sp>
        <p:nvSpPr>
          <p:cNvPr id="6" name="Shape 4"/>
          <p:cNvSpPr/>
          <p:nvPr/>
        </p:nvSpPr>
        <p:spPr>
          <a:xfrm>
            <a:off x="731520" y="1600200"/>
            <a:ext cx="640080" cy="640080"/>
          </a:xfrm>
          <a:prstGeom prst="ellipse">
            <a:avLst/>
          </a:prstGeom>
          <a:solidFill>
            <a:srgbClr val="3949AB"/>
          </a:solidFill>
          <a:ln w="12700">
            <a:solidFill>
              <a:srgbClr val="3949AB"/>
            </a:solidFill>
            <a:prstDash val="solid"/>
          </a:ln>
        </p:spPr>
      </p:sp>
      <p:sp>
        <p:nvSpPr>
          <p:cNvPr id="7" name="Text 5"/>
          <p:cNvSpPr/>
          <p:nvPr/>
        </p:nvSpPr>
        <p:spPr>
          <a:xfrm>
            <a:off x="731520" y="160020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p:nvPr/>
        </p:nvSpPr>
        <p:spPr>
          <a:xfrm>
            <a:off x="1508760" y="1280160"/>
            <a:ext cx="4302252" cy="12801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Tres capas —front (S3), aplicación (EC2), datos (RDS)— cada una con una única responsabilidad, sin saltarse ninguna: el mismo mínimo privilegio de los grupos de seguridad aplicado a toda la arquitectura.</a:t>
            </a:r>
            <a:endParaRPr lang="en-US" sz="1400" dirty="0"/>
          </a:p>
        </p:txBody>
      </p:sp>
      <p:sp>
        <p:nvSpPr>
          <p:cNvPr id="9" name="Shape 7"/>
          <p:cNvSpPr/>
          <p:nvPr/>
        </p:nvSpPr>
        <p:spPr>
          <a:xfrm>
            <a:off x="6195060" y="1280160"/>
            <a:ext cx="5445252" cy="1280160"/>
          </a:xfrm>
          <a:prstGeom prst="roundRect">
            <a:avLst/>
          </a:prstGeom>
          <a:solidFill>
            <a:srgbClr val="E8EAF6"/>
          </a:solidFill>
          <a:ln w="15875">
            <a:solidFill>
              <a:srgbClr val="3949AB"/>
            </a:solidFill>
            <a:prstDash val="solid"/>
          </a:ln>
        </p:spPr>
      </p:sp>
      <p:sp>
        <p:nvSpPr>
          <p:cNvPr id="10" name="Shape 8"/>
          <p:cNvSpPr/>
          <p:nvPr/>
        </p:nvSpPr>
        <p:spPr>
          <a:xfrm>
            <a:off x="6377940" y="1600200"/>
            <a:ext cx="640080" cy="640080"/>
          </a:xfrm>
          <a:prstGeom prst="ellipse">
            <a:avLst/>
          </a:prstGeom>
          <a:solidFill>
            <a:srgbClr val="3949AB"/>
          </a:solidFill>
          <a:ln w="12700">
            <a:solidFill>
              <a:srgbClr val="3949AB"/>
            </a:solidFill>
            <a:prstDash val="solid"/>
          </a:ln>
        </p:spPr>
      </p:sp>
      <p:sp>
        <p:nvSpPr>
          <p:cNvPr id="11" name="Text 9"/>
          <p:cNvSpPr/>
          <p:nvPr/>
        </p:nvSpPr>
        <p:spPr>
          <a:xfrm>
            <a:off x="6377940" y="160020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7155180" y="1280160"/>
            <a:ext cx="4302252" cy="12801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Orígenes distintos (protocolo, dominio o puerto) hacen que el navegador bloquee por defecto que un script lea respuestas de otro — protege al usuario, no al servidor. CORS es la excepción explícita que concede el backend.</a:t>
            </a:r>
            <a:endParaRPr lang="en-US" sz="1400" dirty="0"/>
          </a:p>
        </p:txBody>
      </p:sp>
      <p:sp>
        <p:nvSpPr>
          <p:cNvPr id="13" name="Shape 11"/>
          <p:cNvSpPr/>
          <p:nvPr/>
        </p:nvSpPr>
        <p:spPr>
          <a:xfrm>
            <a:off x="548640" y="2761488"/>
            <a:ext cx="5445252" cy="1280160"/>
          </a:xfrm>
          <a:prstGeom prst="roundRect">
            <a:avLst/>
          </a:prstGeom>
          <a:solidFill>
            <a:srgbClr val="E8EAF6"/>
          </a:solidFill>
          <a:ln w="15875">
            <a:solidFill>
              <a:srgbClr val="3949AB"/>
            </a:solidFill>
            <a:prstDash val="solid"/>
          </a:ln>
        </p:spPr>
      </p:sp>
      <p:sp>
        <p:nvSpPr>
          <p:cNvPr id="14" name="Shape 12"/>
          <p:cNvSpPr/>
          <p:nvPr/>
        </p:nvSpPr>
        <p:spPr>
          <a:xfrm>
            <a:off x="731520" y="3081528"/>
            <a:ext cx="640080" cy="640080"/>
          </a:xfrm>
          <a:prstGeom prst="ellipse">
            <a:avLst/>
          </a:prstGeom>
          <a:solidFill>
            <a:srgbClr val="3949AB"/>
          </a:solidFill>
          <a:ln w="12700">
            <a:solidFill>
              <a:srgbClr val="3949AB"/>
            </a:solidFill>
            <a:prstDash val="solid"/>
          </a:ln>
        </p:spPr>
      </p:sp>
      <p:sp>
        <p:nvSpPr>
          <p:cNvPr id="15" name="Text 13"/>
          <p:cNvSpPr/>
          <p:nvPr/>
        </p:nvSpPr>
        <p:spPr>
          <a:xfrm>
            <a:off x="731520" y="3081528"/>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1508760" y="2761488"/>
            <a:ext cx="4302252" cy="12801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La separación de responsabilidades permite escalar o cambiar una capa sin tocar las demás.</a:t>
            </a:r>
            <a:endParaRPr lang="en-US" sz="1400" dirty="0"/>
          </a:p>
        </p:txBody>
      </p:sp>
      <p:sp>
        <p:nvSpPr>
          <p:cNvPr id="17" name="Shape 15"/>
          <p:cNvSpPr/>
          <p:nvPr/>
        </p:nvSpPr>
        <p:spPr>
          <a:xfrm>
            <a:off x="6195060" y="2761488"/>
            <a:ext cx="5445252" cy="1280160"/>
          </a:xfrm>
          <a:prstGeom prst="roundRect">
            <a:avLst/>
          </a:prstGeom>
          <a:solidFill>
            <a:srgbClr val="E8EAF6"/>
          </a:solidFill>
          <a:ln w="15875">
            <a:solidFill>
              <a:srgbClr val="3949AB"/>
            </a:solidFill>
            <a:prstDash val="solid"/>
          </a:ln>
        </p:spPr>
      </p:sp>
      <p:sp>
        <p:nvSpPr>
          <p:cNvPr id="18" name="Shape 16"/>
          <p:cNvSpPr/>
          <p:nvPr/>
        </p:nvSpPr>
        <p:spPr>
          <a:xfrm>
            <a:off x="6377940" y="3081528"/>
            <a:ext cx="640080" cy="640080"/>
          </a:xfrm>
          <a:prstGeom prst="ellipse">
            <a:avLst/>
          </a:prstGeom>
          <a:solidFill>
            <a:srgbClr val="3949AB"/>
          </a:solidFill>
          <a:ln w="12700">
            <a:solidFill>
              <a:srgbClr val="3949AB"/>
            </a:solidFill>
            <a:prstDash val="solid"/>
          </a:ln>
        </p:spPr>
      </p:sp>
      <p:sp>
        <p:nvSpPr>
          <p:cNvPr id="19" name="Text 17"/>
          <p:cNvSpPr/>
          <p:nvPr/>
        </p:nvSpPr>
        <p:spPr>
          <a:xfrm>
            <a:off x="6377940" y="3081528"/>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0" name="Text 18"/>
          <p:cNvSpPr/>
          <p:nvPr/>
        </p:nvSpPr>
        <p:spPr>
          <a:xfrm>
            <a:off x="7155180" y="2761488"/>
            <a:ext cx="4302252" cy="12801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La configuración externa hace que el mismo código sirva para varios entornos, sin credenciales ni endpoints fijos dentro del código.</a:t>
            </a:r>
            <a:endParaRPr lang="en-US" sz="1400" dirty="0"/>
          </a:p>
        </p:txBody>
      </p:sp>
      <p:sp>
        <p:nvSpPr>
          <p:cNvPr id="21" name="Shape 19"/>
          <p:cNvSpPr/>
          <p:nvPr/>
        </p:nvSpPr>
        <p:spPr>
          <a:xfrm>
            <a:off x="548640" y="4242816"/>
            <a:ext cx="5445252" cy="1280160"/>
          </a:xfrm>
          <a:prstGeom prst="roundRect">
            <a:avLst/>
          </a:prstGeom>
          <a:solidFill>
            <a:srgbClr val="E8EAF6"/>
          </a:solidFill>
          <a:ln w="15875">
            <a:solidFill>
              <a:srgbClr val="3949AB"/>
            </a:solidFill>
            <a:prstDash val="solid"/>
          </a:ln>
        </p:spPr>
      </p:sp>
      <p:sp>
        <p:nvSpPr>
          <p:cNvPr id="22" name="Shape 20"/>
          <p:cNvSpPr/>
          <p:nvPr/>
        </p:nvSpPr>
        <p:spPr>
          <a:xfrm>
            <a:off x="731520" y="4562856"/>
            <a:ext cx="640080" cy="640080"/>
          </a:xfrm>
          <a:prstGeom prst="ellipse">
            <a:avLst/>
          </a:prstGeom>
          <a:solidFill>
            <a:srgbClr val="3949AB"/>
          </a:solidFill>
          <a:ln w="12700">
            <a:solidFill>
              <a:srgbClr val="3949AB"/>
            </a:solidFill>
            <a:prstDash val="solid"/>
          </a:ln>
        </p:spPr>
      </p:sp>
      <p:sp>
        <p:nvSpPr>
          <p:cNvPr id="23" name="Text 21"/>
          <p:cNvSpPr/>
          <p:nvPr/>
        </p:nvSpPr>
        <p:spPr>
          <a:xfrm>
            <a:off x="731520" y="4562856"/>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4" name="Text 22"/>
          <p:cNvSpPr/>
          <p:nvPr/>
        </p:nvSpPr>
        <p:spPr>
          <a:xfrm>
            <a:off x="1508760" y="4242816"/>
            <a:ext cx="4302252" cy="12801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Las capas dependen unas de otras en un orden concreto — si una referencia se queda apuntando al sitio viejo, la capa que depende de ella falla aunque la otra esté sana.</a:t>
            </a:r>
            <a:endParaRPr lang="en-US" sz="1400" dirty="0"/>
          </a:p>
        </p:txBody>
      </p:sp>
      <p:sp>
        <p:nvSpPr>
          <p:cNvPr id="25" name="Shape 23"/>
          <p:cNvSpPr/>
          <p:nvPr/>
        </p:nvSpPr>
        <p:spPr>
          <a:xfrm>
            <a:off x="6195060" y="4242816"/>
            <a:ext cx="5445252" cy="1280160"/>
          </a:xfrm>
          <a:prstGeom prst="roundRect">
            <a:avLst/>
          </a:prstGeom>
          <a:solidFill>
            <a:srgbClr val="E8EAF6"/>
          </a:solidFill>
          <a:ln w="15875">
            <a:solidFill>
              <a:srgbClr val="3949AB"/>
            </a:solidFill>
            <a:prstDash val="solid"/>
          </a:ln>
        </p:spPr>
      </p:sp>
      <p:sp>
        <p:nvSpPr>
          <p:cNvPr id="26" name="Shape 24"/>
          <p:cNvSpPr/>
          <p:nvPr/>
        </p:nvSpPr>
        <p:spPr>
          <a:xfrm>
            <a:off x="6377940" y="4562856"/>
            <a:ext cx="640080" cy="640080"/>
          </a:xfrm>
          <a:prstGeom prst="ellipse">
            <a:avLst/>
          </a:prstGeom>
          <a:solidFill>
            <a:srgbClr val="3949AB"/>
          </a:solidFill>
          <a:ln w="12700">
            <a:solidFill>
              <a:srgbClr val="3949AB"/>
            </a:solidFill>
            <a:prstDash val="solid"/>
          </a:ln>
        </p:spPr>
      </p:sp>
      <p:sp>
        <p:nvSpPr>
          <p:cNvPr id="27" name="Text 25"/>
          <p:cNvSpPr/>
          <p:nvPr/>
        </p:nvSpPr>
        <p:spPr>
          <a:xfrm>
            <a:off x="6377940" y="4562856"/>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8" name="Text 26"/>
          <p:cNvSpPr/>
          <p:nvPr/>
        </p:nvSpPr>
        <p:spPr>
          <a:xfrm>
            <a:off x="7155180" y="4242816"/>
            <a:ext cx="4302252" cy="128016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Un punto único de fallo tumba el sistema entero si falla solo — hoy hay al menos tres; identificarlos es el primer paso para resolverlos en las próximas sesiones.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arquitectura cloud completa</dc:title>
  <dc:subject>PptxGenJS Presentation</dc:subject>
  <dc:creator>Introducción a la Nube Pública</dc:creator>
  <cp:lastModifiedBy>Introducción a la Nube Pública</cp:lastModifiedBy>
  <cp:revision>1</cp:revision>
  <dcterms:created xsi:type="dcterms:W3CDTF">2026-09-23T10:05:20Z</dcterms:created>
  <dcterms:modified xsi:type="dcterms:W3CDTF">2026-09-23T10:05:20Z</dcterms:modified>
</cp:coreProperties>
</file>