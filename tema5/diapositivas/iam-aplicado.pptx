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172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7E"/>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C5CAE9"/>
                </a:solidFill>
                <a:latin typeface="Arial" pitchFamily="34" charset="0"/>
                <a:ea typeface="Arial" pitchFamily="34" charset="-122"/>
                <a:cs typeface="Arial" pitchFamily="34" charset="-120"/>
              </a:rPr>
              <a:t>INTRODUCCIÓN A LA NUBE PÚBLICA  —  TEMA 5: GOBIERNO DE LA NUBE</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3800" b="1" dirty="0">
                <a:solidFill>
                  <a:srgbClr val="FFFFFF"/>
                </a:solidFill>
                <a:latin typeface="Arial" pitchFamily="34" charset="0"/>
                <a:ea typeface="Arial" pitchFamily="34" charset="-122"/>
                <a:cs typeface="Arial" pitchFamily="34" charset="-120"/>
              </a:rPr>
              <a:t>Identidad y gestión de accesos</a:t>
            </a:r>
            <a:endParaRPr lang="en-US" sz="3800" dirty="0"/>
          </a:p>
        </p:txBody>
      </p:sp>
      <p:sp>
        <p:nvSpPr>
          <p:cNvPr id="4" name="Shape 2"/>
          <p:cNvSpPr/>
          <p:nvPr/>
        </p:nvSpPr>
        <p:spPr>
          <a:xfrm>
            <a:off x="0" y="5120640"/>
            <a:ext cx="12188952" cy="914400"/>
          </a:xfrm>
          <a:prstGeom prst="rect">
            <a:avLst/>
          </a:prstGeom>
          <a:solidFill>
            <a:srgbClr val="FFA000"/>
          </a:solidFill>
          <a:ln w="12700">
            <a:solidFill>
              <a:srgbClr val="FFA000"/>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1900" i="1" dirty="0">
                <a:solidFill>
                  <a:srgbClr val="FFFFFF"/>
                </a:solidFill>
                <a:latin typeface="Arial" pitchFamily="34" charset="0"/>
                <a:ea typeface="Arial" pitchFamily="34" charset="-122"/>
                <a:cs typeface="Arial" pitchFamily="34" charset="-120"/>
              </a:rPr>
              <a:t>Tema 5 — Gobierno de la nube</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IAM deja de ser una caja negra</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5: Identidad y gestión de accesos</a:t>
            </a:r>
            <a:endParaRPr lang="en-US" sz="1100" dirty="0"/>
          </a:p>
        </p:txBody>
      </p:sp>
      <p:sp>
        <p:nvSpPr>
          <p:cNvPr id="5" name="Text 3"/>
          <p:cNvSpPr/>
          <p:nvPr/>
        </p:nvSpPr>
        <p:spPr>
          <a:xfrm>
            <a:off x="548640" y="1554480"/>
            <a:ext cx="11091672" cy="1005840"/>
          </a:xfrm>
          <a:prstGeom prst="rect">
            <a:avLst/>
          </a:prstGeom>
          <a:noFill/>
          <a:ln/>
        </p:spPr>
        <p:txBody>
          <a:bodyPr wrap="square" rtlCol="0" anchor="t"/>
          <a:lstStyle/>
          <a:p>
            <a:pPr marL="0" indent="0">
              <a:buNone/>
            </a:pPr>
            <a:r>
              <a:rPr lang="en-US" sz="2100" dirty="0">
                <a:solidFill>
                  <a:srgbClr val="212121"/>
                </a:solidFill>
                <a:latin typeface="Arial" pitchFamily="34" charset="0"/>
                <a:ea typeface="Arial" pitchFamily="34" charset="-122"/>
                <a:cs typeface="Arial" pitchFamily="34" charset="-120"/>
              </a:rPr>
              <a:t>Desde la primera sesión sabes que tu rol en el Learner Lab está preasignado, y que no puedes crear usuarios ni roles nuevos. Hoy no cambia esa regla.</a:t>
            </a:r>
            <a:endParaRPr lang="en-US" sz="2100" dirty="0"/>
          </a:p>
        </p:txBody>
      </p:sp>
      <p:sp>
        <p:nvSpPr>
          <p:cNvPr id="6" name="Shape 4"/>
          <p:cNvSpPr/>
          <p:nvPr/>
        </p:nvSpPr>
        <p:spPr>
          <a:xfrm>
            <a:off x="548640" y="2880360"/>
            <a:ext cx="11091672" cy="1554480"/>
          </a:xfrm>
          <a:prstGeom prst="roundRect">
            <a:avLst/>
          </a:prstGeom>
          <a:solidFill>
            <a:srgbClr val="FFF8E1"/>
          </a:solidFill>
          <a:ln w="19050">
            <a:solidFill>
              <a:srgbClr val="FFA000"/>
            </a:solidFill>
            <a:prstDash val="solid"/>
          </a:ln>
        </p:spPr>
        <p:txBody>
          <a:bodyPr/>
          <a:lstStyle/>
          <a:p>
            <a:endParaRPr lang="es-ES"/>
          </a:p>
        </p:txBody>
      </p:sp>
      <p:sp>
        <p:nvSpPr>
          <p:cNvPr id="7" name="Text 5"/>
          <p:cNvSpPr/>
          <p:nvPr/>
        </p:nvSpPr>
        <p:spPr>
          <a:xfrm>
            <a:off x="822960" y="2971800"/>
            <a:ext cx="10543032" cy="137160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Pero sí dejas de tratar IAM como una caja negra que «ya viene configurada» y empiezas a leerla, corregirla y usarla de verdad: aplicar un rol existente a una instancia sin credenciales, y detectar por qué una política está mal escrita antes de que cause un problema real.</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Usuarios, roles, políticas y credenciales temporales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5: Identidad y gestión de accesos</a:t>
            </a:r>
            <a:endParaRPr lang="en-US" sz="1100" dirty="0"/>
          </a:p>
        </p:txBody>
      </p:sp>
      <p:sp>
        <p:nvSpPr>
          <p:cNvPr id="5" name="Text 3"/>
          <p:cNvSpPr/>
          <p:nvPr/>
        </p:nvSpPr>
        <p:spPr>
          <a:xfrm>
            <a:off x="548640" y="1280160"/>
            <a:ext cx="11091672" cy="45720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IAM tiene varias piezas que conviene distinguir bien — ya llevas semanas usando una de ellas sin nombrarla:</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3886200"/>
        </p:xfrm>
        <a:graphic>
          <a:graphicData uri="http://schemas.openxmlformats.org/drawingml/2006/table">
            <a:tbl>
              <a:tblPr/>
              <a:tblGrid>
                <a:gridCol w="2440168">
                  <a:extLst>
                    <a:ext uri="{9D8B030D-6E8A-4147-A177-3AD203B41FA5}">
                      <a16:colId xmlns:a16="http://schemas.microsoft.com/office/drawing/2014/main" val="20000"/>
                    </a:ext>
                  </a:extLst>
                </a:gridCol>
                <a:gridCol w="4658502">
                  <a:extLst>
                    <a:ext uri="{9D8B030D-6E8A-4147-A177-3AD203B41FA5}">
                      <a16:colId xmlns:a16="http://schemas.microsoft.com/office/drawing/2014/main" val="20001"/>
                    </a:ext>
                  </a:extLst>
                </a:gridCol>
                <a:gridCol w="3993002">
                  <a:extLst>
                    <a:ext uri="{9D8B030D-6E8A-4147-A177-3AD203B41FA5}">
                      <a16:colId xmlns:a16="http://schemas.microsoft.com/office/drawing/2014/main" val="20002"/>
                    </a:ext>
                  </a:extLst>
                </a:gridCol>
              </a:tblGrid>
              <a:tr h="77724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Pieza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Qué es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En el Learner Lab</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extLst>
                  <a:ext uri="{0D108BD9-81ED-4DB2-BD59-A6C34878D82A}">
                    <a16:rowId xmlns:a16="http://schemas.microsoft.com/office/drawing/2014/main" val="10000"/>
                  </a:ext>
                </a:extLst>
              </a:tr>
              <a:tr h="777240">
                <a:tc>
                  <a:txBody>
                    <a:bodyPr/>
                    <a:lstStyle/>
                    <a:p>
                      <a:pPr marL="0" indent="0">
                        <a:buNone/>
                      </a:pPr>
                      <a:r>
                        <a:rPr lang="en-US" sz="1400" b="1" dirty="0">
                          <a:solidFill>
                            <a:srgbClr val="212121"/>
                          </a:solidFill>
                          <a:latin typeface="Arial" pitchFamily="34" charset="0"/>
                          <a:ea typeface="Arial" pitchFamily="34" charset="-122"/>
                          <a:cs typeface="Arial" pitchFamily="34" charset="-120"/>
                        </a:rPr>
                        <a:t>Usuario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Identidad fija, con credenciales de larga duración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No puedes crear ninguno — no lo necesitas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212121"/>
                          </a:solidFill>
                          <a:latin typeface="Arial" pitchFamily="34" charset="0"/>
                          <a:ea typeface="Arial" pitchFamily="34" charset="-122"/>
                          <a:cs typeface="Arial" pitchFamily="34" charset="-120"/>
                        </a:rPr>
                        <a:t>Rol</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Identidad que se «presta» temporalmente a quien la asume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Tienes uno preasignado (assumed-role)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777240">
                <a:tc>
                  <a:txBody>
                    <a:bodyPr/>
                    <a:lstStyle/>
                    <a:p>
                      <a:pPr marL="0" indent="0">
                        <a:buNone/>
                      </a:pPr>
                      <a:r>
                        <a:rPr lang="en-US" sz="1400" b="1" dirty="0">
                          <a:solidFill>
                            <a:srgbClr val="212121"/>
                          </a:solidFill>
                          <a:latin typeface="Arial" pitchFamily="34" charset="0"/>
                          <a:ea typeface="Arial" pitchFamily="34" charset="-122"/>
                          <a:cs typeface="Arial" pitchFamily="34" charset="-120"/>
                        </a:rPr>
                        <a:t>Política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Documento que dice qué acciones están permitidas o denegadas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Puedes leerlas y corregirlas — no crear roles nuevos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400" b="1" dirty="0">
                          <a:solidFill>
                            <a:srgbClr val="212121"/>
                          </a:solidFill>
                          <a:latin typeface="Arial" pitchFamily="34" charset="0"/>
                          <a:ea typeface="Arial" pitchFamily="34" charset="-122"/>
                          <a:cs typeface="Arial" pitchFamily="34" charset="-120"/>
                        </a:rPr>
                        <a:t>Credenciales temporales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Claves con caducidad, generadas al asumir un rol</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Es lo que usa tu sesión ahora mismo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De dónde sale la credencial de una instancia</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5: Identidad y gestión de accesos</a:t>
            </a:r>
            <a:endParaRPr lang="en-US" sz="1100" dirty="0"/>
          </a:p>
        </p:txBody>
      </p:sp>
      <p:sp>
        <p:nvSpPr>
          <p:cNvPr id="5" name="Text 3"/>
          <p:cNvSpPr/>
          <p:nvPr/>
        </p:nvSpPr>
        <p:spPr>
          <a:xfrm>
            <a:off x="548640" y="1188720"/>
            <a:ext cx="11091672" cy="137160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Toda llamada a la API de AWS va firmada con una credencial. Si una instancia necesitara las claves fijas de un usuario, esas claves tendrían que vivir guardadas dentro de ella — el mismo problema de «credenciales en el código» que ya evitaste en el Tema 3 con Secrets Manager.</a:t>
            </a:r>
            <a:endParaRPr lang="en-US" sz="1800" dirty="0"/>
          </a:p>
        </p:txBody>
      </p:sp>
      <p:sp>
        <p:nvSpPr>
          <p:cNvPr id="6" name="Shape 4"/>
          <p:cNvSpPr/>
          <p:nvPr/>
        </p:nvSpPr>
        <p:spPr>
          <a:xfrm>
            <a:off x="548640" y="2834640"/>
            <a:ext cx="11091672" cy="1463040"/>
          </a:xfrm>
          <a:prstGeom prst="roundRect">
            <a:avLst/>
          </a:prstGeom>
          <a:solidFill>
            <a:srgbClr val="FFF8E1"/>
          </a:solidFill>
          <a:ln w="19050">
            <a:solidFill>
              <a:srgbClr val="FFA000"/>
            </a:solidFill>
            <a:prstDash val="solid"/>
          </a:ln>
        </p:spPr>
        <p:txBody>
          <a:bodyPr/>
          <a:lstStyle/>
          <a:p>
            <a:endParaRPr lang="es-ES"/>
          </a:p>
        </p:txBody>
      </p:sp>
      <p:sp>
        <p:nvSpPr>
          <p:cNvPr id="7" name="Text 5"/>
          <p:cNvSpPr/>
          <p:nvPr/>
        </p:nvSpPr>
        <p:spPr>
          <a:xfrm>
            <a:off x="822960" y="2926080"/>
            <a:ext cx="10543032" cy="1280160"/>
          </a:xfrm>
          <a:prstGeom prst="rect">
            <a:avLst/>
          </a:prstGeom>
          <a:noFill/>
          <a:ln/>
        </p:spPr>
        <p:txBody>
          <a:bodyPr wrap="square" rtlCol="0" anchor="ctr"/>
          <a:lstStyle/>
          <a:p>
            <a:pPr marL="0" indent="0">
              <a:buNone/>
            </a:pPr>
            <a:r>
              <a:rPr lang="en-US" sz="1800" dirty="0">
                <a:solidFill>
                  <a:srgbClr val="212121"/>
                </a:solidFill>
                <a:latin typeface="Arial" pitchFamily="34" charset="0"/>
                <a:ea typeface="Arial" pitchFamily="34" charset="-122"/>
                <a:cs typeface="Arial" pitchFamily="34" charset="-120"/>
              </a:rPr>
              <a:t>Un rol asignado a la instancia lo evita de raíz: AWS publica credenciales temporales —caducan y se renuevan solas— en el servicio de metadatos de la instancia (169.254.169.254). El SDK ya sabe mirar ahí por defecto: tu código nunca necesita pedirlas.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Por qué S3Storage no tiene ninguna clave de acceso</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5: Identidad y gestión de accesos</a:t>
            </a:r>
            <a:endParaRPr lang="en-US" sz="1100" dirty="0"/>
          </a:p>
        </p:txBody>
      </p:sp>
      <p:sp>
        <p:nvSpPr>
          <p:cNvPr id="5" name="Shape 3"/>
          <p:cNvSpPr/>
          <p:nvPr/>
        </p:nvSpPr>
        <p:spPr>
          <a:xfrm>
            <a:off x="548640" y="1645920"/>
            <a:ext cx="11091672" cy="109728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645920"/>
            <a:ext cx="73152" cy="1097280"/>
          </a:xfrm>
          <a:prstGeom prst="rect">
            <a:avLst/>
          </a:prstGeom>
          <a:solidFill>
            <a:srgbClr val="FFA000"/>
          </a:solidFill>
          <a:ln w="12700">
            <a:solidFill>
              <a:srgbClr val="FFA000"/>
            </a:solidFill>
            <a:prstDash val="solid"/>
          </a:ln>
        </p:spPr>
        <p:txBody>
          <a:bodyPr/>
          <a:lstStyle/>
          <a:p>
            <a:endParaRPr lang="es-ES"/>
          </a:p>
        </p:txBody>
      </p:sp>
      <p:sp>
        <p:nvSpPr>
          <p:cNvPr id="7" name="Text 5"/>
          <p:cNvSpPr/>
          <p:nvPr/>
        </p:nvSpPr>
        <p:spPr>
          <a:xfrm>
            <a:off x="822960" y="1755648"/>
            <a:ext cx="10588752" cy="877824"/>
          </a:xfrm>
          <a:prstGeom prst="rect">
            <a:avLst/>
          </a:prstGeom>
          <a:noFill/>
          <a:ln/>
        </p:spPr>
        <p:txBody>
          <a:bodyPr wrap="square" rtlCol="0" anchor="t"/>
          <a:lstStyle/>
          <a:p>
            <a:pPr marL="0" indent="0">
              <a:buNone/>
            </a:pPr>
            <a:r>
              <a:rPr lang="en-US" sz="1800" dirty="0">
                <a:solidFill>
                  <a:srgbClr val="263238"/>
                </a:solidFill>
                <a:latin typeface="Courier New" pitchFamily="34" charset="0"/>
                <a:ea typeface="Courier New" pitchFamily="34" charset="-122"/>
                <a:cs typeface="Courier New" pitchFamily="34" charset="-120"/>
              </a:rPr>
              <a:t>S3Client.builder().build()</a:t>
            </a:r>
            <a:endParaRPr lang="en-US" sz="1800" dirty="0"/>
          </a:p>
          <a:p>
            <a:pPr marL="0" indent="0">
              <a:buNone/>
            </a:pPr>
            <a:r>
              <a:rPr lang="en-US" sz="1800" dirty="0">
                <a:solidFill>
                  <a:srgbClr val="263238"/>
                </a:solidFill>
                <a:latin typeface="Courier New" pitchFamily="34" charset="0"/>
                <a:ea typeface="Courier New" pitchFamily="34" charset="-122"/>
                <a:cs typeface="Courier New" pitchFamily="34" charset="-120"/>
              </a:rPr>
              <a:t>// sin pasarle ninguna credencial</a:t>
            </a:r>
            <a:endParaRPr lang="en-US" sz="1800" dirty="0"/>
          </a:p>
        </p:txBody>
      </p:sp>
      <p:sp>
        <p:nvSpPr>
          <p:cNvPr id="8" name="Shape 6"/>
          <p:cNvSpPr/>
          <p:nvPr/>
        </p:nvSpPr>
        <p:spPr>
          <a:xfrm>
            <a:off x="548640" y="3063240"/>
            <a:ext cx="11091672" cy="1554480"/>
          </a:xfrm>
          <a:prstGeom prst="roundRect">
            <a:avLst/>
          </a:prstGeom>
          <a:solidFill>
            <a:srgbClr val="FFF8E1"/>
          </a:solidFill>
          <a:ln w="19050">
            <a:solidFill>
              <a:srgbClr val="FFA000"/>
            </a:solidFill>
            <a:prstDash val="solid"/>
          </a:ln>
        </p:spPr>
        <p:txBody>
          <a:bodyPr/>
          <a:lstStyle/>
          <a:p>
            <a:endParaRPr lang="es-ES"/>
          </a:p>
        </p:txBody>
      </p:sp>
      <p:sp>
        <p:nvSpPr>
          <p:cNvPr id="9" name="Text 7"/>
          <p:cNvSpPr/>
          <p:nvPr/>
        </p:nvSpPr>
        <p:spPr>
          <a:xfrm>
            <a:off x="822960" y="3154680"/>
            <a:ext cx="10543032" cy="137160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El SDK, al no recibir ninguna clave explícita, pregunta al servicio de metadatos qué credenciales tiene la instancia ahora mismo, y las usa. Si esa instancia se termina y otra la sustituye, la nueva pregunta lo mismo y recibe las suyas — nadie ha copiado ni rotado nada a mano.</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Anatomía de una política</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5: Identidad y gestión de accesos</a:t>
            </a:r>
            <a:endParaRPr lang="en-US" sz="1100" dirty="0"/>
          </a:p>
        </p:txBody>
      </p:sp>
      <p:sp>
        <p:nvSpPr>
          <p:cNvPr id="5" name="Shape 3"/>
          <p:cNvSpPr/>
          <p:nvPr/>
        </p:nvSpPr>
        <p:spPr>
          <a:xfrm>
            <a:off x="548640" y="1097280"/>
            <a:ext cx="11091672" cy="228600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097280"/>
            <a:ext cx="73152" cy="2286000"/>
          </a:xfrm>
          <a:prstGeom prst="rect">
            <a:avLst/>
          </a:prstGeom>
          <a:solidFill>
            <a:srgbClr val="FFA000"/>
          </a:solidFill>
          <a:ln w="12700">
            <a:solidFill>
              <a:srgbClr val="FFA000"/>
            </a:solidFill>
            <a:prstDash val="solid"/>
          </a:ln>
        </p:spPr>
        <p:txBody>
          <a:bodyPr/>
          <a:lstStyle/>
          <a:p>
            <a:endParaRPr lang="es-ES"/>
          </a:p>
        </p:txBody>
      </p:sp>
      <p:sp>
        <p:nvSpPr>
          <p:cNvPr id="7" name="Text 5"/>
          <p:cNvSpPr/>
          <p:nvPr/>
        </p:nvSpPr>
        <p:spPr>
          <a:xfrm>
            <a:off x="822960" y="1207008"/>
            <a:ext cx="10588752" cy="2066544"/>
          </a:xfrm>
          <a:prstGeom prst="rect">
            <a:avLst/>
          </a:prstGeom>
          <a:noFill/>
          <a:ln/>
        </p:spPr>
        <p:txBody>
          <a:bodyPr wrap="square" rtlCol="0" anchor="t"/>
          <a:lstStyle/>
          <a:p>
            <a:pPr marL="0" indent="0">
              <a:buNone/>
            </a:pPr>
            <a:r>
              <a:rPr lang="en-US" sz="1500" dirty="0">
                <a:solidFill>
                  <a:srgbClr val="263238"/>
                </a:solidFill>
                <a:latin typeface="Courier New" pitchFamily="34" charset="0"/>
                <a:ea typeface="Courier New" pitchFamily="34" charset="-122"/>
                <a:cs typeface="Courier New" pitchFamily="34" charset="-120"/>
              </a:rPr>
              <a:t>{</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"Effect": "Allow",</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"Action": ["s3:GetObject", "s3:PutObject"],</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"Resource": "arn:aws:s3:::escaparate-imagenes-&lt;id&gt;/*",</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"Condition": {</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"Bool": { "aws:SecureTransport": "true" }</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611880"/>
          <a:ext cx="11091672" cy="1920240"/>
        </p:xfrm>
        <a:graphic>
          <a:graphicData uri="http://schemas.openxmlformats.org/drawingml/2006/table">
            <a:tbl>
              <a:tblPr/>
              <a:tblGrid>
                <a:gridCol w="2218334">
                  <a:extLst>
                    <a:ext uri="{9D8B030D-6E8A-4147-A177-3AD203B41FA5}">
                      <a16:colId xmlns:a16="http://schemas.microsoft.com/office/drawing/2014/main" val="20000"/>
                    </a:ext>
                  </a:extLst>
                </a:gridCol>
                <a:gridCol w="3993002">
                  <a:extLst>
                    <a:ext uri="{9D8B030D-6E8A-4147-A177-3AD203B41FA5}">
                      <a16:colId xmlns:a16="http://schemas.microsoft.com/office/drawing/2014/main" val="20001"/>
                    </a:ext>
                  </a:extLst>
                </a:gridCol>
                <a:gridCol w="4880336">
                  <a:extLst>
                    <a:ext uri="{9D8B030D-6E8A-4147-A177-3AD203B41FA5}">
                      <a16:colId xmlns:a16="http://schemas.microsoft.com/office/drawing/2014/main" val="20002"/>
                    </a:ext>
                  </a:extLst>
                </a:gridCol>
              </a:tblGrid>
              <a:tr h="384048">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Campo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Responde 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En el ejemplo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extLst>
                  <a:ext uri="{0D108BD9-81ED-4DB2-BD59-A6C34878D82A}">
                    <a16:rowId xmlns:a16="http://schemas.microsoft.com/office/drawing/2014/main" val="10000"/>
                  </a:ext>
                </a:extLst>
              </a:tr>
              <a:tr h="384048">
                <a:tc>
                  <a:txBody>
                    <a:bodyPr/>
                    <a:lstStyle/>
                    <a:p>
                      <a:pPr marL="0" indent="0">
                        <a:buNone/>
                      </a:pPr>
                      <a:r>
                        <a:rPr lang="en-US" sz="1200" b="1" dirty="0">
                          <a:solidFill>
                            <a:srgbClr val="212121"/>
                          </a:solidFill>
                          <a:latin typeface="Arial" pitchFamily="34" charset="0"/>
                          <a:ea typeface="Arial" pitchFamily="34" charset="-122"/>
                          <a:cs typeface="Arial" pitchFamily="34" charset="-120"/>
                        </a:rPr>
                        <a:t>Effect</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¿Permite o deniega?</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Allow</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00" b="1" dirty="0">
                          <a:solidFill>
                            <a:srgbClr val="212121"/>
                          </a:solidFill>
                          <a:latin typeface="Arial" pitchFamily="34" charset="0"/>
                          <a:ea typeface="Arial" pitchFamily="34" charset="-122"/>
                          <a:cs typeface="Arial" pitchFamily="34" charset="-120"/>
                        </a:rPr>
                        <a:t>Action</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¿Qué operación?</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Leer y escribir un objeto</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384048">
                <a:tc>
                  <a:txBody>
                    <a:bodyPr/>
                    <a:lstStyle/>
                    <a:p>
                      <a:pPr marL="0" indent="0">
                        <a:buNone/>
                      </a:pPr>
                      <a:r>
                        <a:rPr lang="en-US" sz="1200" b="1" dirty="0">
                          <a:solidFill>
                            <a:srgbClr val="212121"/>
                          </a:solidFill>
                          <a:latin typeface="Arial" pitchFamily="34" charset="0"/>
                          <a:ea typeface="Arial" pitchFamily="34" charset="-122"/>
                          <a:cs typeface="Arial" pitchFamily="34" charset="-120"/>
                        </a:rPr>
                        <a:t>Resource</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¿Sobre qué recurso?</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Objetos del bucket de imágenes</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200" b="1" dirty="0">
                          <a:solidFill>
                            <a:srgbClr val="212121"/>
                          </a:solidFill>
                          <a:latin typeface="Arial" pitchFamily="34" charset="0"/>
                          <a:ea typeface="Arial" pitchFamily="34" charset="-122"/>
                          <a:cs typeface="Arial" pitchFamily="34" charset="-120"/>
                        </a:rPr>
                        <a:t>Condition</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¿Bajo qué circunstancia?</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Solo si la conexión va cifrada</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Leer una política, frase por frase</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5: Identidad y gestión de accesos</a:t>
            </a:r>
            <a:endParaRPr lang="en-US" sz="1100" dirty="0"/>
          </a:p>
        </p:txBody>
      </p:sp>
      <p:sp>
        <p:nvSpPr>
          <p:cNvPr id="5" name="Shape 3"/>
          <p:cNvSpPr/>
          <p:nvPr/>
        </p:nvSpPr>
        <p:spPr>
          <a:xfrm>
            <a:off x="548640" y="1737360"/>
            <a:ext cx="11091672" cy="1737360"/>
          </a:xfrm>
          <a:prstGeom prst="roundRect">
            <a:avLst/>
          </a:prstGeom>
          <a:solidFill>
            <a:srgbClr val="FFF8E1"/>
          </a:solidFill>
          <a:ln w="19050">
            <a:solidFill>
              <a:srgbClr val="FFA000"/>
            </a:solidFill>
            <a:prstDash val="solid"/>
          </a:ln>
        </p:spPr>
        <p:txBody>
          <a:bodyPr/>
          <a:lstStyle/>
          <a:p>
            <a:endParaRPr lang="es-ES"/>
          </a:p>
        </p:txBody>
      </p:sp>
      <p:sp>
        <p:nvSpPr>
          <p:cNvPr id="6" name="Text 4"/>
          <p:cNvSpPr/>
          <p:nvPr/>
        </p:nvSpPr>
        <p:spPr>
          <a:xfrm>
            <a:off x="822960" y="1828800"/>
            <a:ext cx="10543032" cy="1554480"/>
          </a:xfrm>
          <a:prstGeom prst="rect">
            <a:avLst/>
          </a:prstGeom>
          <a:noFill/>
          <a:ln/>
        </p:spPr>
        <p:txBody>
          <a:bodyPr wrap="square" rtlCol="0" anchor="ctr"/>
          <a:lstStyle/>
          <a:p>
            <a:pPr marL="0" indent="0">
              <a:buNone/>
            </a:pPr>
            <a:r>
              <a:rPr lang="en-US" sz="2100" dirty="0">
                <a:solidFill>
                  <a:srgbClr val="212121"/>
                </a:solidFill>
                <a:latin typeface="Arial" pitchFamily="34" charset="0"/>
                <a:ea typeface="Arial" pitchFamily="34" charset="-122"/>
                <a:cs typeface="Arial" pitchFamily="34" charset="-120"/>
              </a:rPr>
              <a:t>«Permite leer y escribir objetos dentro del bucket de imágenes de Escaparate, pero solo si la conexión va cifrada.» Cuatro campos, una frase — cuando te enfrentes a la política real de tu rol en la Actividad 5.2, sigue leyéndola exactamente así, campo a campo.</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El simulador de políticas de IAM</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5: Identidad y gestión de accesos</a:t>
            </a:r>
            <a:endParaRPr lang="en-US" sz="1100" dirty="0"/>
          </a:p>
        </p:txBody>
      </p:sp>
      <p:sp>
        <p:nvSpPr>
          <p:cNvPr id="5" name="Text 3"/>
          <p:cNvSpPr/>
          <p:nvPr/>
        </p:nvSpPr>
        <p:spPr>
          <a:xfrm>
            <a:off x="548640" y="1188720"/>
            <a:ext cx="11091672" cy="146304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Leer una política te dice qué debería permitir sobre el papel, pero con varias líneas y comodines de por medio es fácil equivocarse. El simulador te deja elegir una política, una acción y un recurso, y responde directamente «permitido» o «denegado» — sin ejecutar nada de verdad contra tu cuenta.</a:t>
            </a:r>
            <a:endParaRPr lang="en-US" sz="1800" dirty="0"/>
          </a:p>
        </p:txBody>
      </p:sp>
      <p:sp>
        <p:nvSpPr>
          <p:cNvPr id="6" name="Shape 4"/>
          <p:cNvSpPr/>
          <p:nvPr/>
        </p:nvSpPr>
        <p:spPr>
          <a:xfrm>
            <a:off x="548640" y="2926080"/>
            <a:ext cx="11091672" cy="1463040"/>
          </a:xfrm>
          <a:prstGeom prst="roundRect">
            <a:avLst/>
          </a:prstGeom>
          <a:solidFill>
            <a:srgbClr val="FFF8E1"/>
          </a:solidFill>
          <a:ln w="19050">
            <a:solidFill>
              <a:srgbClr val="FFA000"/>
            </a:solidFill>
            <a:prstDash val="solid"/>
          </a:ln>
        </p:spPr>
        <p:txBody>
          <a:bodyPr/>
          <a:lstStyle/>
          <a:p>
            <a:endParaRPr lang="es-ES"/>
          </a:p>
        </p:txBody>
      </p:sp>
      <p:sp>
        <p:nvSpPr>
          <p:cNvPr id="7" name="Text 5"/>
          <p:cNvSpPr/>
          <p:nvPr/>
        </p:nvSpPr>
        <p:spPr>
          <a:xfrm>
            <a:off x="822960" y="3017520"/>
            <a:ext cx="10543032" cy="1280160"/>
          </a:xfrm>
          <a:prstGeom prst="rect">
            <a:avLst/>
          </a:prstGeom>
          <a:noFill/>
          <a:ln/>
        </p:spPr>
        <p:txBody>
          <a:bodyPr wrap="square" rtlCol="0" anchor="ctr"/>
          <a:lstStyle/>
          <a:p>
            <a:pPr marL="0" indent="0">
              <a:buNone/>
            </a:pPr>
            <a:r>
              <a:rPr lang="en-US" sz="1800" dirty="0">
                <a:solidFill>
                  <a:srgbClr val="212121"/>
                </a:solidFill>
                <a:latin typeface="Arial" pitchFamily="34" charset="0"/>
                <a:ea typeface="Arial" pitchFamily="34" charset="-122"/>
                <a:cs typeface="Arial" pitchFamily="34" charset="-120"/>
              </a:rPr>
              <a:t>Con la política del ejemplo: s3:GetObject sobre un objeto del bucket → Permitido. s3:DeleteObject sobre ese mismo objeto → Denegado, porque la política nunca menciona esa acción. Vas a hacer esta comprobación con la política real de tu rol en la Actividad 5.2.</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Cómo se evalúa una política: quién gana</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5: Identidad y gestión de accesos</a:t>
            </a:r>
            <a:endParaRPr lang="en-US" sz="1100" dirty="0"/>
          </a:p>
        </p:txBody>
      </p:sp>
      <p:sp>
        <p:nvSpPr>
          <p:cNvPr id="5" name="Text 3"/>
          <p:cNvSpPr/>
          <p:nvPr/>
        </p:nvSpPr>
        <p:spPr>
          <a:xfrm>
            <a:off x="548640" y="1097280"/>
            <a:ext cx="11091672" cy="640080"/>
          </a:xfrm>
          <a:prstGeom prst="rect">
            <a:avLst/>
          </a:prstGeom>
          <a:noFill/>
          <a:ln/>
        </p:spPr>
        <p:txBody>
          <a:bodyPr wrap="square" rtlCol="0" anchor="t"/>
          <a:lstStyle/>
          <a:p>
            <a:pPr marL="0" indent="0">
              <a:buNone/>
            </a:pPr>
            <a:r>
              <a:rPr lang="en-US" sz="1700" dirty="0">
                <a:solidFill>
                  <a:srgbClr val="212121"/>
                </a:solidFill>
                <a:latin typeface="Arial" pitchFamily="34" charset="0"/>
                <a:ea typeface="Arial" pitchFamily="34" charset="-122"/>
                <a:cs typeface="Arial" pitchFamily="34" charset="-120"/>
              </a:rPr>
              <a:t>Casi nunca hay una sola política de por medio. El resultado no se decide sumando políticas: se decide con un orden fijo, siempre el mismo.</a:t>
            </a:r>
            <a:endParaRPr lang="en-US" sz="1700" dirty="0"/>
          </a:p>
        </p:txBody>
      </p:sp>
      <p:pic>
        <p:nvPicPr>
          <p:cNvPr id="6" name="Image 0" descr="C:/Users/Aitor/docxgen/img/inu_t5_orden_evaluacion.png"/>
          <p:cNvPicPr>
            <a:picLocks noChangeAspect="1"/>
          </p:cNvPicPr>
          <p:nvPr/>
        </p:nvPicPr>
        <p:blipFill>
          <a:blip r:embed="rId3"/>
          <a:stretch>
            <a:fillRect/>
          </a:stretch>
        </p:blipFill>
        <p:spPr>
          <a:xfrm>
            <a:off x="2831479" y="1657395"/>
            <a:ext cx="7779688" cy="469675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Principio de mínimo privilegio</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5: Identidad y gestión de accesos</a:t>
            </a:r>
            <a:endParaRPr lang="en-US" sz="1100" dirty="0"/>
          </a:p>
        </p:txBody>
      </p:sp>
      <p:sp>
        <p:nvSpPr>
          <p:cNvPr id="5" name="Text 3"/>
          <p:cNvSpPr/>
          <p:nvPr/>
        </p:nvSpPr>
        <p:spPr>
          <a:xfrm>
            <a:off x="548640" y="1188720"/>
            <a:ext cx="11091672" cy="82296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Una identidad debe tener exactamente los permisos que necesita para su trabajo, ni uno más. No es una recomendación abstracta — tiene un coste medible cuando se ignora:</a:t>
            </a:r>
            <a:endParaRPr lang="en-US" sz="1800" dirty="0"/>
          </a:p>
        </p:txBody>
      </p:sp>
      <p:sp>
        <p:nvSpPr>
          <p:cNvPr id="6" name="Shape 4"/>
          <p:cNvSpPr/>
          <p:nvPr/>
        </p:nvSpPr>
        <p:spPr>
          <a:xfrm>
            <a:off x="548640" y="2331720"/>
            <a:ext cx="5340096" cy="1005840"/>
          </a:xfrm>
          <a:prstGeom prst="roundRect">
            <a:avLst/>
          </a:prstGeom>
          <a:solidFill>
            <a:srgbClr val="E8EAF6"/>
          </a:solidFill>
          <a:ln w="15875">
            <a:solidFill>
              <a:srgbClr val="3949AB"/>
            </a:solidFill>
            <a:prstDash val="solid"/>
          </a:ln>
        </p:spPr>
        <p:txBody>
          <a:bodyPr/>
          <a:lstStyle/>
          <a:p>
            <a:endParaRPr lang="es-ES"/>
          </a:p>
        </p:txBody>
      </p:sp>
      <p:sp>
        <p:nvSpPr>
          <p:cNvPr id="7" name="Text 5"/>
          <p:cNvSpPr/>
          <p:nvPr/>
        </p:nvSpPr>
        <p:spPr>
          <a:xfrm>
            <a:off x="594360" y="2377440"/>
            <a:ext cx="5248656" cy="914400"/>
          </a:xfrm>
          <a:prstGeom prst="rect">
            <a:avLst/>
          </a:prstGeom>
          <a:noFill/>
          <a:ln/>
        </p:spPr>
        <p:txBody>
          <a:bodyPr wrap="square" rtlCol="0" anchor="ctr"/>
          <a:lstStyle/>
          <a:p>
            <a:pPr marL="0" indent="0" algn="ctr">
              <a:buNone/>
            </a:pPr>
            <a:r>
              <a:rPr lang="en-US" sz="1600" dirty="0">
                <a:solidFill>
                  <a:srgbClr val="212121"/>
                </a:solidFill>
                <a:latin typeface="Arial" pitchFamily="34" charset="0"/>
                <a:ea typeface="Arial" pitchFamily="34" charset="-122"/>
                <a:cs typeface="Arial" pitchFamily="34" charset="-120"/>
              </a:rPr>
              <a:t>🔓 Permisos amplios</a:t>
            </a:r>
            <a:endParaRPr lang="en-US" sz="1600" dirty="0"/>
          </a:p>
          <a:p>
            <a:pPr marL="0" indent="0" algn="ctr">
              <a:buNone/>
            </a:pPr>
            <a:r>
              <a:rPr lang="en-US" sz="1600" dirty="0">
                <a:solidFill>
                  <a:srgbClr val="212121"/>
                </a:solidFill>
                <a:latin typeface="Arial" pitchFamily="34" charset="0"/>
                <a:ea typeface="Arial" pitchFamily="34" charset="-122"/>
                <a:cs typeface="Arial" pitchFamily="34" charset="-120"/>
              </a:rPr>
              <a:t>«por si acaso»</a:t>
            </a:r>
            <a:endParaRPr lang="en-US" sz="1600" dirty="0"/>
          </a:p>
        </p:txBody>
      </p:sp>
      <p:sp>
        <p:nvSpPr>
          <p:cNvPr id="8" name="Text 6"/>
          <p:cNvSpPr/>
          <p:nvPr/>
        </p:nvSpPr>
        <p:spPr>
          <a:xfrm>
            <a:off x="5843016" y="2331720"/>
            <a:ext cx="502920" cy="1005840"/>
          </a:xfrm>
          <a:prstGeom prst="rect">
            <a:avLst/>
          </a:prstGeom>
          <a:noFill/>
          <a:ln/>
        </p:spPr>
        <p:txBody>
          <a:bodyPr wrap="square" rtlCol="0" anchor="ctr"/>
          <a:lstStyle/>
          <a:p>
            <a:pPr marL="0" indent="0" algn="ctr">
              <a:buNone/>
            </a:pPr>
            <a:r>
              <a:rPr lang="en-US" sz="2200" b="1" dirty="0">
                <a:solidFill>
                  <a:srgbClr val="3949AB"/>
                </a:solidFill>
                <a:latin typeface="Arial" pitchFamily="34" charset="0"/>
                <a:ea typeface="Arial" pitchFamily="34" charset="-122"/>
                <a:cs typeface="Arial" pitchFamily="34" charset="-120"/>
              </a:rPr>
              <a:t>→</a:t>
            </a:r>
            <a:endParaRPr lang="en-US" sz="2200" dirty="0"/>
          </a:p>
        </p:txBody>
      </p:sp>
      <p:sp>
        <p:nvSpPr>
          <p:cNvPr id="9" name="Shape 7"/>
          <p:cNvSpPr/>
          <p:nvPr/>
        </p:nvSpPr>
        <p:spPr>
          <a:xfrm>
            <a:off x="6300216" y="2331720"/>
            <a:ext cx="5340096" cy="1005840"/>
          </a:xfrm>
          <a:prstGeom prst="roundRect">
            <a:avLst/>
          </a:prstGeom>
          <a:solidFill>
            <a:srgbClr val="E8EAF6"/>
          </a:solidFill>
          <a:ln w="15875">
            <a:solidFill>
              <a:srgbClr val="3949AB"/>
            </a:solidFill>
            <a:prstDash val="solid"/>
          </a:ln>
        </p:spPr>
        <p:txBody>
          <a:bodyPr/>
          <a:lstStyle/>
          <a:p>
            <a:endParaRPr lang="es-ES"/>
          </a:p>
        </p:txBody>
      </p:sp>
      <p:sp>
        <p:nvSpPr>
          <p:cNvPr id="10" name="Text 8"/>
          <p:cNvSpPr/>
          <p:nvPr/>
        </p:nvSpPr>
        <p:spPr>
          <a:xfrm>
            <a:off x="6345936" y="2377440"/>
            <a:ext cx="5248656" cy="914400"/>
          </a:xfrm>
          <a:prstGeom prst="rect">
            <a:avLst/>
          </a:prstGeom>
          <a:noFill/>
          <a:ln/>
        </p:spPr>
        <p:txBody>
          <a:bodyPr wrap="square" rtlCol="0" anchor="ctr"/>
          <a:lstStyle/>
          <a:p>
            <a:pPr marL="0" indent="0" algn="ctr">
              <a:buNone/>
            </a:pPr>
            <a:r>
              <a:rPr lang="en-US" sz="1600" dirty="0">
                <a:solidFill>
                  <a:srgbClr val="212121"/>
                </a:solidFill>
                <a:latin typeface="Arial" pitchFamily="34" charset="0"/>
                <a:ea typeface="Arial" pitchFamily="34" charset="-122"/>
                <a:cs typeface="Arial" pitchFamily="34" charset="-120"/>
              </a:rPr>
              <a:t>⚠️ Cualquier fallo o filtración</a:t>
            </a:r>
            <a:endParaRPr lang="en-US" sz="1600" dirty="0"/>
          </a:p>
          <a:p>
            <a:pPr marL="0" indent="0" algn="ctr">
              <a:buNone/>
            </a:pPr>
            <a:r>
              <a:rPr lang="en-US" sz="1600" dirty="0">
                <a:solidFill>
                  <a:srgbClr val="212121"/>
                </a:solidFill>
                <a:latin typeface="Arial" pitchFamily="34" charset="0"/>
                <a:ea typeface="Arial" pitchFamily="34" charset="-122"/>
                <a:cs typeface="Arial" pitchFamily="34" charset="-120"/>
              </a:rPr>
              <a:t>tiene alcance mucho mayor</a:t>
            </a:r>
            <a:endParaRPr lang="en-US" sz="1600" dirty="0"/>
          </a:p>
        </p:txBody>
      </p:sp>
      <p:sp>
        <p:nvSpPr>
          <p:cNvPr id="11" name="Shape 9"/>
          <p:cNvSpPr/>
          <p:nvPr/>
        </p:nvSpPr>
        <p:spPr>
          <a:xfrm>
            <a:off x="548640" y="3611880"/>
            <a:ext cx="5340096" cy="1005840"/>
          </a:xfrm>
          <a:prstGeom prst="roundRect">
            <a:avLst/>
          </a:prstGeom>
          <a:solidFill>
            <a:srgbClr val="E8EAF6"/>
          </a:solidFill>
          <a:ln w="15875">
            <a:solidFill>
              <a:srgbClr val="3949AB"/>
            </a:solidFill>
            <a:prstDash val="solid"/>
          </a:ln>
        </p:spPr>
        <p:txBody>
          <a:bodyPr/>
          <a:lstStyle/>
          <a:p>
            <a:endParaRPr lang="es-ES"/>
          </a:p>
        </p:txBody>
      </p:sp>
      <p:sp>
        <p:nvSpPr>
          <p:cNvPr id="12" name="Text 10"/>
          <p:cNvSpPr/>
          <p:nvPr/>
        </p:nvSpPr>
        <p:spPr>
          <a:xfrm>
            <a:off x="594360" y="3657600"/>
            <a:ext cx="5248656" cy="914400"/>
          </a:xfrm>
          <a:prstGeom prst="rect">
            <a:avLst/>
          </a:prstGeom>
          <a:noFill/>
          <a:ln/>
        </p:spPr>
        <p:txBody>
          <a:bodyPr wrap="square" rtlCol="0" anchor="ctr"/>
          <a:lstStyle/>
          <a:p>
            <a:pPr marL="0" indent="0" algn="ctr">
              <a:buNone/>
            </a:pPr>
            <a:r>
              <a:rPr lang="en-US" sz="1600" dirty="0">
                <a:solidFill>
                  <a:srgbClr val="212121"/>
                </a:solidFill>
                <a:latin typeface="Arial" pitchFamily="34" charset="0"/>
                <a:ea typeface="Arial" pitchFamily="34" charset="-122"/>
                <a:cs typeface="Arial" pitchFamily="34" charset="-120"/>
              </a:rPr>
              <a:t>🔒 Mínimo privilegio</a:t>
            </a:r>
            <a:endParaRPr lang="en-US" sz="1600" dirty="0"/>
          </a:p>
        </p:txBody>
      </p:sp>
      <p:sp>
        <p:nvSpPr>
          <p:cNvPr id="13" name="Text 11"/>
          <p:cNvSpPr/>
          <p:nvPr/>
        </p:nvSpPr>
        <p:spPr>
          <a:xfrm>
            <a:off x="5843016" y="3611880"/>
            <a:ext cx="502920" cy="1005840"/>
          </a:xfrm>
          <a:prstGeom prst="rect">
            <a:avLst/>
          </a:prstGeom>
          <a:noFill/>
          <a:ln/>
        </p:spPr>
        <p:txBody>
          <a:bodyPr wrap="square" rtlCol="0" anchor="ctr"/>
          <a:lstStyle/>
          <a:p>
            <a:pPr marL="0" indent="0" algn="ctr">
              <a:buNone/>
            </a:pPr>
            <a:r>
              <a:rPr lang="en-US" sz="2200" b="1" dirty="0">
                <a:solidFill>
                  <a:srgbClr val="3949AB"/>
                </a:solidFill>
                <a:latin typeface="Arial" pitchFamily="34" charset="0"/>
                <a:ea typeface="Arial" pitchFamily="34" charset="-122"/>
                <a:cs typeface="Arial" pitchFamily="34" charset="-120"/>
              </a:rPr>
              <a:t>→</a:t>
            </a:r>
            <a:endParaRPr lang="en-US" sz="2200" dirty="0"/>
          </a:p>
        </p:txBody>
      </p:sp>
      <p:sp>
        <p:nvSpPr>
          <p:cNvPr id="14" name="Shape 12"/>
          <p:cNvSpPr/>
          <p:nvPr/>
        </p:nvSpPr>
        <p:spPr>
          <a:xfrm>
            <a:off x="6300216" y="3611880"/>
            <a:ext cx="5340096" cy="1005840"/>
          </a:xfrm>
          <a:prstGeom prst="roundRect">
            <a:avLst/>
          </a:prstGeom>
          <a:solidFill>
            <a:srgbClr val="E8EAF6"/>
          </a:solidFill>
          <a:ln w="15875">
            <a:solidFill>
              <a:srgbClr val="3949AB"/>
            </a:solidFill>
            <a:prstDash val="solid"/>
          </a:ln>
        </p:spPr>
        <p:txBody>
          <a:bodyPr/>
          <a:lstStyle/>
          <a:p>
            <a:endParaRPr lang="es-ES"/>
          </a:p>
        </p:txBody>
      </p:sp>
      <p:sp>
        <p:nvSpPr>
          <p:cNvPr id="15" name="Text 13"/>
          <p:cNvSpPr/>
          <p:nvPr/>
        </p:nvSpPr>
        <p:spPr>
          <a:xfrm>
            <a:off x="6345936" y="3657600"/>
            <a:ext cx="5248656" cy="914400"/>
          </a:xfrm>
          <a:prstGeom prst="rect">
            <a:avLst/>
          </a:prstGeom>
          <a:noFill/>
          <a:ln/>
        </p:spPr>
        <p:txBody>
          <a:bodyPr wrap="square" rtlCol="0" anchor="ctr"/>
          <a:lstStyle/>
          <a:p>
            <a:pPr marL="0" indent="0" algn="ctr">
              <a:buNone/>
            </a:pPr>
            <a:r>
              <a:rPr lang="en-US" sz="1600" dirty="0">
                <a:solidFill>
                  <a:srgbClr val="212121"/>
                </a:solidFill>
                <a:latin typeface="Arial" pitchFamily="34" charset="0"/>
                <a:ea typeface="Arial" pitchFamily="34" charset="-122"/>
                <a:cs typeface="Arial" pitchFamily="34" charset="-120"/>
              </a:rPr>
              <a:t>✅ Un fallo queda contenido</a:t>
            </a:r>
            <a:endParaRPr lang="en-US" sz="1600" dirty="0"/>
          </a:p>
          <a:p>
            <a:pPr marL="0" indent="0" algn="ctr">
              <a:buNone/>
            </a:pPr>
            <a:r>
              <a:rPr lang="en-US" sz="1600" dirty="0">
                <a:solidFill>
                  <a:srgbClr val="212121"/>
                </a:solidFill>
                <a:latin typeface="Arial" pitchFamily="34" charset="0"/>
                <a:ea typeface="Arial" pitchFamily="34" charset="-122"/>
                <a:cs typeface="Arial" pitchFamily="34" charset="-120"/>
              </a:rPr>
              <a:t>al alcance estrictamente necesario</a:t>
            </a:r>
            <a:endParaRPr lang="en-US" sz="1600" dirty="0"/>
          </a:p>
        </p:txBody>
      </p:sp>
      <p:sp>
        <p:nvSpPr>
          <p:cNvPr id="16" name="Shape 14"/>
          <p:cNvSpPr/>
          <p:nvPr/>
        </p:nvSpPr>
        <p:spPr>
          <a:xfrm>
            <a:off x="548640" y="4846320"/>
            <a:ext cx="11091672" cy="1143000"/>
          </a:xfrm>
          <a:prstGeom prst="roundRect">
            <a:avLst/>
          </a:prstGeom>
          <a:solidFill>
            <a:srgbClr val="FFF8E1"/>
          </a:solidFill>
          <a:ln w="28575">
            <a:solidFill>
              <a:srgbClr val="FFA000"/>
            </a:solidFill>
            <a:prstDash val="solid"/>
          </a:ln>
        </p:spPr>
        <p:txBody>
          <a:bodyPr/>
          <a:lstStyle/>
          <a:p>
            <a:endParaRPr lang="es-ES"/>
          </a:p>
        </p:txBody>
      </p:sp>
      <p:sp>
        <p:nvSpPr>
          <p:cNvPr id="17" name="Text 15"/>
          <p:cNvSpPr/>
          <p:nvPr/>
        </p:nvSpPr>
        <p:spPr>
          <a:xfrm>
            <a:off x="822960" y="4956048"/>
            <a:ext cx="10543032" cy="923544"/>
          </a:xfrm>
          <a:prstGeom prst="rect">
            <a:avLst/>
          </a:prstGeom>
          <a:noFill/>
          <a:ln/>
        </p:spPr>
        <p:txBody>
          <a:bodyPr wrap="square" rtlCol="0" anchor="t"/>
          <a:lstStyle/>
          <a:p>
            <a:pPr marL="0" indent="0">
              <a:buNone/>
            </a:pPr>
            <a:r>
              <a:rPr lang="en-US" sz="1500" b="1" dirty="0">
                <a:solidFill>
                  <a:srgbClr val="1A237E"/>
                </a:solidFill>
                <a:latin typeface="Arial" pitchFamily="34" charset="0"/>
                <a:ea typeface="Arial" pitchFamily="34" charset="-122"/>
                <a:cs typeface="Arial" pitchFamily="34" charset="-120"/>
              </a:rPr>
              <a:t>⚠️ Un comodín de más es el error más común
</a:t>
            </a:r>
            <a:endParaRPr lang="en-US" sz="1500" dirty="0"/>
          </a:p>
          <a:p>
            <a:pPr marL="0" indent="0">
              <a:buNone/>
            </a:pPr>
            <a:r>
              <a:rPr lang="en-US" sz="1400" dirty="0">
                <a:solidFill>
                  <a:srgbClr val="212121"/>
                </a:solidFill>
                <a:latin typeface="Arial" pitchFamily="34" charset="0"/>
                <a:ea typeface="Arial" pitchFamily="34" charset="-122"/>
                <a:cs typeface="Arial" pitchFamily="34" charset="-120"/>
              </a:rPr>
              <a:t>"Action": "s3:*" en vez de "s3:GetObject" da permiso para borrar y sobrescribir todo el almacenamiento. Vas a encontrarte este error en las políticas que corrijas en la Actividad 5.2.</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MFA: una segunda prueba de identidad</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5: Identidad y gestión de accesos</a:t>
            </a:r>
            <a:endParaRPr lang="en-US" sz="1100" dirty="0"/>
          </a:p>
        </p:txBody>
      </p:sp>
      <p:sp>
        <p:nvSpPr>
          <p:cNvPr id="5" name="Shape 3"/>
          <p:cNvSpPr/>
          <p:nvPr/>
        </p:nvSpPr>
        <p:spPr>
          <a:xfrm>
            <a:off x="548640" y="1920240"/>
            <a:ext cx="11091672" cy="1828800"/>
          </a:xfrm>
          <a:prstGeom prst="roundRect">
            <a:avLst/>
          </a:prstGeom>
          <a:solidFill>
            <a:srgbClr val="FFF8E1"/>
          </a:solidFill>
          <a:ln w="19050">
            <a:solidFill>
              <a:srgbClr val="FFA000"/>
            </a:solidFill>
            <a:prstDash val="solid"/>
          </a:ln>
        </p:spPr>
        <p:txBody>
          <a:bodyPr/>
          <a:lstStyle/>
          <a:p>
            <a:endParaRPr lang="es-ES"/>
          </a:p>
        </p:txBody>
      </p:sp>
      <p:sp>
        <p:nvSpPr>
          <p:cNvPr id="6" name="Text 4"/>
          <p:cNvSpPr/>
          <p:nvPr/>
        </p:nvSpPr>
        <p:spPr>
          <a:xfrm>
            <a:off x="822960" y="2011680"/>
            <a:ext cx="10543032" cy="1645920"/>
          </a:xfrm>
          <a:prstGeom prst="rect">
            <a:avLst/>
          </a:prstGeom>
          <a:noFill/>
          <a:ln/>
        </p:spPr>
        <p:txBody>
          <a:bodyPr wrap="square" rtlCol="0" anchor="ctr"/>
          <a:lstStyle/>
          <a:p>
            <a:pPr marL="0" indent="0">
              <a:buNone/>
            </a:pPr>
            <a:r>
              <a:rPr lang="en-US" sz="2100" dirty="0">
                <a:solidFill>
                  <a:srgbClr val="212121"/>
                </a:solidFill>
                <a:latin typeface="Arial" pitchFamily="34" charset="0"/>
                <a:ea typeface="Arial" pitchFamily="34" charset="-122"/>
                <a:cs typeface="Arial" pitchFamily="34" charset="-120"/>
              </a:rPr>
              <a:t>El MFA (Multi-Factor Authentication) añade una segunda prueba de identidad —un código temporal, además de la contraseña— para las operaciones más sensibles. En el Learner Lab no lo configuras tú (la identidad ya viene resuelta por el rol asumido), pero en una cuenta real es la pieza que protege contra que una contraseña filtrada sea suficiente para entrar.</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Gestión de secretos: nunca en el código</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5: Identidad y gestión de accesos</a:t>
            </a:r>
            <a:endParaRPr lang="en-US" sz="1100" dirty="0"/>
          </a:p>
        </p:txBody>
      </p:sp>
      <p:sp>
        <p:nvSpPr>
          <p:cNvPr id="5" name="Text 3"/>
          <p:cNvSpPr/>
          <p:nvPr/>
        </p:nvSpPr>
        <p:spPr>
          <a:xfrm>
            <a:off x="548640" y="1188720"/>
            <a:ext cx="11091672" cy="82296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Ya aplicaste esta regla en el Tema 3 con la contraseña de la base de datos — hoy se generaliza a cualquier secreto: claves de API, tokens, certificados privados.</a:t>
            </a:r>
            <a:endParaRPr lang="en-US" sz="1800" dirty="0"/>
          </a:p>
        </p:txBody>
      </p:sp>
      <p:sp>
        <p:nvSpPr>
          <p:cNvPr id="6" name="Shape 4"/>
          <p:cNvSpPr/>
          <p:nvPr/>
        </p:nvSpPr>
        <p:spPr>
          <a:xfrm>
            <a:off x="2340407" y="2331720"/>
            <a:ext cx="7508138" cy="640080"/>
          </a:xfrm>
          <a:prstGeom prst="roundRect">
            <a:avLst/>
          </a:prstGeom>
          <a:solidFill>
            <a:srgbClr val="E8EAF6"/>
          </a:solidFill>
          <a:ln w="19050">
            <a:solidFill>
              <a:srgbClr val="3949AB"/>
            </a:solidFill>
            <a:prstDash val="solid"/>
          </a:ln>
        </p:spPr>
        <p:txBody>
          <a:bodyPr/>
          <a:lstStyle/>
          <a:p>
            <a:endParaRPr lang="es-ES"/>
          </a:p>
        </p:txBody>
      </p:sp>
      <p:sp>
        <p:nvSpPr>
          <p:cNvPr id="7" name="Text 5"/>
          <p:cNvSpPr/>
          <p:nvPr/>
        </p:nvSpPr>
        <p:spPr>
          <a:xfrm>
            <a:off x="2340407" y="2331720"/>
            <a:ext cx="7508138" cy="640080"/>
          </a:xfrm>
          <a:prstGeom prst="rect">
            <a:avLst/>
          </a:prstGeom>
          <a:noFill/>
          <a:ln/>
        </p:spPr>
        <p:txBody>
          <a:bodyPr wrap="square" rtlCol="0" anchor="ctr"/>
          <a:lstStyle/>
          <a:p>
            <a:pPr marL="0" indent="0" algn="ctr">
              <a:buNone/>
            </a:pPr>
            <a:r>
              <a:rPr lang="en-US" sz="1600" b="1" dirty="0">
                <a:solidFill>
                  <a:srgbClr val="212121"/>
                </a:solidFill>
                <a:latin typeface="Arial" pitchFamily="34" charset="0"/>
                <a:ea typeface="Arial" pitchFamily="34" charset="-122"/>
                <a:cs typeface="Arial" pitchFamily="34" charset="-120"/>
              </a:rPr>
              <a:t>🔑 Secreto</a:t>
            </a:r>
            <a:endParaRPr lang="en-US" sz="1600" dirty="0"/>
          </a:p>
        </p:txBody>
      </p:sp>
      <p:sp>
        <p:nvSpPr>
          <p:cNvPr id="8" name="Shape 6"/>
          <p:cNvSpPr/>
          <p:nvPr/>
        </p:nvSpPr>
        <p:spPr>
          <a:xfrm>
            <a:off x="6094476" y="2971800"/>
            <a:ext cx="914" cy="182880"/>
          </a:xfrm>
          <a:prstGeom prst="line">
            <a:avLst/>
          </a:prstGeom>
          <a:noFill/>
          <a:ln w="15875">
            <a:solidFill>
              <a:srgbClr val="3949AB"/>
            </a:solidFill>
            <a:prstDash val="solid"/>
          </a:ln>
        </p:spPr>
        <p:txBody>
          <a:bodyPr/>
          <a:lstStyle/>
          <a:p>
            <a:endParaRPr lang="es-ES"/>
          </a:p>
        </p:txBody>
      </p:sp>
      <p:sp>
        <p:nvSpPr>
          <p:cNvPr id="9" name="Shape 7"/>
          <p:cNvSpPr/>
          <p:nvPr/>
        </p:nvSpPr>
        <p:spPr>
          <a:xfrm>
            <a:off x="548640" y="3337560"/>
            <a:ext cx="5362956" cy="1005840"/>
          </a:xfrm>
          <a:prstGeom prst="roundRect">
            <a:avLst/>
          </a:prstGeom>
          <a:solidFill>
            <a:srgbClr val="E8EAF6"/>
          </a:solidFill>
          <a:ln w="15875">
            <a:solidFill>
              <a:srgbClr val="3949AB"/>
            </a:solidFill>
            <a:prstDash val="solid"/>
          </a:ln>
        </p:spPr>
        <p:txBody>
          <a:bodyPr/>
          <a:lstStyle/>
          <a:p>
            <a:endParaRPr lang="es-ES"/>
          </a:p>
        </p:txBody>
      </p:sp>
      <p:sp>
        <p:nvSpPr>
          <p:cNvPr id="10" name="Text 8"/>
          <p:cNvSpPr/>
          <p:nvPr/>
        </p:nvSpPr>
        <p:spPr>
          <a:xfrm>
            <a:off x="594360" y="3337560"/>
            <a:ext cx="5271516" cy="1005840"/>
          </a:xfrm>
          <a:prstGeom prst="rect">
            <a:avLst/>
          </a:prstGeom>
          <a:noFill/>
          <a:ln/>
        </p:spPr>
        <p:txBody>
          <a:bodyPr wrap="square" rtlCol="0" anchor="ctr"/>
          <a:lstStyle/>
          <a:p>
            <a:pPr marL="0" indent="0" algn="ctr">
              <a:buNone/>
            </a:pPr>
            <a:r>
              <a:rPr lang="en-US" sz="1500" dirty="0">
                <a:solidFill>
                  <a:srgbClr val="212121"/>
                </a:solidFill>
                <a:latin typeface="Arial" pitchFamily="34" charset="0"/>
                <a:ea typeface="Arial" pitchFamily="34" charset="-122"/>
                <a:cs typeface="Arial" pitchFamily="34" charset="-120"/>
              </a:rPr>
              <a:t>❌ Escrito en el código o en config versionada</a:t>
            </a:r>
            <a:endParaRPr lang="en-US" sz="1500" dirty="0"/>
          </a:p>
        </p:txBody>
      </p:sp>
      <p:sp>
        <p:nvSpPr>
          <p:cNvPr id="11" name="Shape 9"/>
          <p:cNvSpPr/>
          <p:nvPr/>
        </p:nvSpPr>
        <p:spPr>
          <a:xfrm>
            <a:off x="3230118" y="3154680"/>
            <a:ext cx="914" cy="182880"/>
          </a:xfrm>
          <a:prstGeom prst="line">
            <a:avLst/>
          </a:prstGeom>
          <a:noFill/>
          <a:ln w="15875">
            <a:solidFill>
              <a:srgbClr val="3949AB"/>
            </a:solidFill>
            <a:prstDash val="solid"/>
          </a:ln>
        </p:spPr>
        <p:txBody>
          <a:bodyPr/>
          <a:lstStyle/>
          <a:p>
            <a:endParaRPr lang="es-ES"/>
          </a:p>
        </p:txBody>
      </p:sp>
      <p:sp>
        <p:nvSpPr>
          <p:cNvPr id="12" name="Shape 10"/>
          <p:cNvSpPr/>
          <p:nvPr/>
        </p:nvSpPr>
        <p:spPr>
          <a:xfrm>
            <a:off x="6277356" y="3337560"/>
            <a:ext cx="5362956" cy="1005840"/>
          </a:xfrm>
          <a:prstGeom prst="roundRect">
            <a:avLst/>
          </a:prstGeom>
          <a:solidFill>
            <a:srgbClr val="E8EAF6"/>
          </a:solidFill>
          <a:ln w="15875">
            <a:solidFill>
              <a:srgbClr val="3949AB"/>
            </a:solidFill>
            <a:prstDash val="solid"/>
          </a:ln>
        </p:spPr>
        <p:txBody>
          <a:bodyPr/>
          <a:lstStyle/>
          <a:p>
            <a:endParaRPr lang="es-ES"/>
          </a:p>
        </p:txBody>
      </p:sp>
      <p:sp>
        <p:nvSpPr>
          <p:cNvPr id="13" name="Text 11"/>
          <p:cNvSpPr/>
          <p:nvPr/>
        </p:nvSpPr>
        <p:spPr>
          <a:xfrm>
            <a:off x="6323076" y="3337560"/>
            <a:ext cx="5271516" cy="1005840"/>
          </a:xfrm>
          <a:prstGeom prst="rect">
            <a:avLst/>
          </a:prstGeom>
          <a:noFill/>
          <a:ln/>
        </p:spPr>
        <p:txBody>
          <a:bodyPr wrap="square" rtlCol="0" anchor="ctr"/>
          <a:lstStyle/>
          <a:p>
            <a:pPr marL="0" indent="0" algn="ctr">
              <a:buNone/>
            </a:pPr>
            <a:r>
              <a:rPr lang="en-US" sz="1500" dirty="0">
                <a:solidFill>
                  <a:srgbClr val="212121"/>
                </a:solidFill>
                <a:latin typeface="Arial" pitchFamily="34" charset="0"/>
                <a:ea typeface="Arial" pitchFamily="34" charset="-122"/>
                <a:cs typeface="Arial" pitchFamily="34" charset="-120"/>
              </a:rPr>
              <a:t>✅ Secrets Manager / variable de entorno, en tiempo de ejecución</a:t>
            </a:r>
            <a:endParaRPr lang="en-US" sz="1500" dirty="0"/>
          </a:p>
        </p:txBody>
      </p:sp>
      <p:sp>
        <p:nvSpPr>
          <p:cNvPr id="14" name="Shape 12"/>
          <p:cNvSpPr/>
          <p:nvPr/>
        </p:nvSpPr>
        <p:spPr>
          <a:xfrm>
            <a:off x="8958834" y="3154680"/>
            <a:ext cx="914" cy="182880"/>
          </a:xfrm>
          <a:prstGeom prst="line">
            <a:avLst/>
          </a:prstGeom>
          <a:noFill/>
          <a:ln w="15875">
            <a:solidFill>
              <a:srgbClr val="3949AB"/>
            </a:solidFill>
            <a:prstDash val="solid"/>
          </a:ln>
        </p:spPr>
        <p:txBody>
          <a:bodyPr/>
          <a:lstStyle/>
          <a:p>
            <a:endParaRPr lang="es-ES"/>
          </a:p>
        </p:txBody>
      </p:sp>
      <p:sp>
        <p:nvSpPr>
          <p:cNvPr id="15" name="Shape 13"/>
          <p:cNvSpPr/>
          <p:nvPr/>
        </p:nvSpPr>
        <p:spPr>
          <a:xfrm>
            <a:off x="3230118" y="3154680"/>
            <a:ext cx="5728716" cy="914"/>
          </a:xfrm>
          <a:prstGeom prst="line">
            <a:avLst/>
          </a:prstGeom>
          <a:noFill/>
          <a:ln w="15875">
            <a:solidFill>
              <a:srgbClr val="3949AB"/>
            </a:solidFill>
            <a:prstDash val="solid"/>
          </a:ln>
        </p:spPr>
        <p:txBody>
          <a:bodyPr/>
          <a:lstStyle/>
          <a:p>
            <a:endParaRPr lang="es-E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Un secreto filtrado sigue expuesto aunque lo borres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5: Identidad y gestión de accesos</a:t>
            </a:r>
            <a:endParaRPr lang="en-US" sz="1100" dirty="0"/>
          </a:p>
        </p:txBody>
      </p:sp>
      <p:sp>
        <p:nvSpPr>
          <p:cNvPr id="5" name="Shape 3"/>
          <p:cNvSpPr/>
          <p:nvPr/>
        </p:nvSpPr>
        <p:spPr>
          <a:xfrm>
            <a:off x="548640" y="2011680"/>
            <a:ext cx="11091672" cy="2377440"/>
          </a:xfrm>
          <a:prstGeom prst="roundRect">
            <a:avLst/>
          </a:prstGeom>
          <a:solidFill>
            <a:srgbClr val="FFF8E1"/>
          </a:solidFill>
          <a:ln w="28575">
            <a:solidFill>
              <a:srgbClr val="FFA000"/>
            </a:solidFill>
            <a:prstDash val="solid"/>
          </a:ln>
        </p:spPr>
        <p:txBody>
          <a:bodyPr/>
          <a:lstStyle/>
          <a:p>
            <a:endParaRPr lang="es-ES"/>
          </a:p>
        </p:txBody>
      </p:sp>
      <p:sp>
        <p:nvSpPr>
          <p:cNvPr id="6" name="Text 4"/>
          <p:cNvSpPr/>
          <p:nvPr/>
        </p:nvSpPr>
        <p:spPr>
          <a:xfrm>
            <a:off x="822960" y="2121408"/>
            <a:ext cx="10543032" cy="2157984"/>
          </a:xfrm>
          <a:prstGeom prst="rect">
            <a:avLst/>
          </a:prstGeom>
          <a:noFill/>
          <a:ln/>
        </p:spPr>
        <p:txBody>
          <a:bodyPr wrap="square" rtlCol="0" anchor="t"/>
          <a:lstStyle/>
          <a:p>
            <a:pPr marL="0" indent="0">
              <a:buNone/>
            </a:pPr>
            <a:r>
              <a:rPr lang="en-US" sz="2200" b="1" dirty="0">
                <a:solidFill>
                  <a:srgbClr val="1A237E"/>
                </a:solidFill>
                <a:latin typeface="Arial" pitchFamily="34" charset="0"/>
                <a:ea typeface="Arial" pitchFamily="34" charset="-122"/>
                <a:cs typeface="Arial" pitchFamily="34" charset="-120"/>
              </a:rPr>
              <a:t>⚠️ El historial de Git no olvida
</a:t>
            </a:r>
            <a:endParaRPr lang="en-US" sz="2200" dirty="0"/>
          </a:p>
          <a:p>
            <a:pPr marL="0" indent="0">
              <a:buNone/>
            </a:pPr>
            <a:r>
              <a:rPr lang="en-US" sz="2100" dirty="0">
                <a:solidFill>
                  <a:srgbClr val="212121"/>
                </a:solidFill>
                <a:latin typeface="Arial" pitchFamily="34" charset="0"/>
                <a:ea typeface="Arial" pitchFamily="34" charset="-122"/>
                <a:cs typeface="Arial" pitchFamily="34" charset="-120"/>
              </a:rPr>
              <a:t>El historial conserva versiones anteriores de cualquier fichero — borrar un secreto en el commit siguiente no lo elimina del historial. La única solución correcta ante un secreto filtrado es rotarlo (generar uno nuevo e invalidar el antiguo), nunca solo «quitarlo» del código.</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Registro de auditoría</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5: Identidad y gestión de accesos</a:t>
            </a:r>
            <a:endParaRPr lang="en-US" sz="1100" dirty="0"/>
          </a:p>
        </p:txBody>
      </p:sp>
      <p:sp>
        <p:nvSpPr>
          <p:cNvPr id="5" name="Text 3"/>
          <p:cNvSpPr/>
          <p:nvPr/>
        </p:nvSpPr>
        <p:spPr>
          <a:xfrm>
            <a:off x="548640" y="1188720"/>
            <a:ext cx="11091672" cy="137160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El registro de auditoría (CloudTrail) guarda un histórico de quién ha hecho qué, cuándo y desde dónde — cada llamada a la API queda registrada. Ya lo mencionaste como una de las cinco señales de la sesión pasada; hoy lo usas para responder a «¿quién ha tocado esto, y cuándo?»</a:t>
            </a:r>
            <a:endParaRPr lang="en-US" sz="1800" dirty="0"/>
          </a:p>
        </p:txBody>
      </p:sp>
      <p:sp>
        <p:nvSpPr>
          <p:cNvPr id="6" name="Shape 4"/>
          <p:cNvSpPr/>
          <p:nvPr/>
        </p:nvSpPr>
        <p:spPr>
          <a:xfrm>
            <a:off x="548640" y="2834640"/>
            <a:ext cx="11091672" cy="1371600"/>
          </a:xfrm>
          <a:prstGeom prst="roundRect">
            <a:avLst/>
          </a:prstGeom>
          <a:solidFill>
            <a:srgbClr val="FFF8E1"/>
          </a:solidFill>
          <a:ln w="19050">
            <a:solidFill>
              <a:srgbClr val="FFA000"/>
            </a:solidFill>
            <a:prstDash val="solid"/>
          </a:ln>
        </p:spPr>
        <p:txBody>
          <a:bodyPr/>
          <a:lstStyle/>
          <a:p>
            <a:endParaRPr lang="es-ES"/>
          </a:p>
        </p:txBody>
      </p:sp>
      <p:sp>
        <p:nvSpPr>
          <p:cNvPr id="7" name="Text 5"/>
          <p:cNvSpPr/>
          <p:nvPr/>
        </p:nvSpPr>
        <p:spPr>
          <a:xfrm>
            <a:off x="822960" y="2926080"/>
            <a:ext cx="10543032" cy="1188720"/>
          </a:xfrm>
          <a:prstGeom prst="rect">
            <a:avLst/>
          </a:prstGeom>
          <a:noFill/>
          <a:ln/>
        </p:spPr>
        <p:txBody>
          <a:bodyPr wrap="square" rtlCol="0" anchor="ctr"/>
          <a:lstStyle/>
          <a:p>
            <a:pPr marL="0" indent="0">
              <a:buNone/>
            </a:pPr>
            <a:r>
              <a:rPr lang="en-US" sz="1800" dirty="0">
                <a:solidFill>
                  <a:srgbClr val="212121"/>
                </a:solidFill>
                <a:latin typeface="Arial" pitchFamily="34" charset="0"/>
                <a:ea typeface="Arial" pitchFamily="34" charset="-122"/>
                <a:cs typeface="Arial" pitchFamily="34" charset="-120"/>
              </a:rPr>
              <a:t>Si en la incidencia de la sesión pasada un grupo de seguridad tenía una regla que no debería estar ahí: las métricas y los registros te dijeron qué estaba fallando; el registro de auditoría te dice quién cambió esa regla y cuándo.</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Ideas clave</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5: Identidad y gestión de accesos</a:t>
            </a:r>
            <a:endParaRPr lang="en-US" sz="1100" dirty="0"/>
          </a:p>
        </p:txBody>
      </p:sp>
      <p:sp>
        <p:nvSpPr>
          <p:cNvPr id="5" name="Text 3"/>
          <p:cNvSpPr/>
          <p:nvPr/>
        </p:nvSpPr>
        <p:spPr>
          <a:xfrm>
            <a:off x="548640" y="1188720"/>
            <a:ext cx="11091672" cy="4389120"/>
          </a:xfrm>
          <a:prstGeom prst="rect">
            <a:avLst/>
          </a:prstGeom>
          <a:noFill/>
          <a:ln/>
        </p:spPr>
        <p:txBody>
          <a:bodyPr wrap="square" rtlCol="0" anchor="t"/>
          <a:lstStyle/>
          <a:p>
            <a:pPr marL="190500" indent="-190500">
              <a:spcAft>
                <a:spcPts val="1400"/>
              </a:spcAft>
              <a:buSzPct val="100000"/>
              <a:buChar char="•"/>
            </a:pPr>
            <a:r>
              <a:rPr lang="en-US" sz="1600" dirty="0">
                <a:solidFill>
                  <a:srgbClr val="212121"/>
                </a:solidFill>
                <a:latin typeface="Arial" pitchFamily="34" charset="0"/>
                <a:ea typeface="Arial" pitchFamily="34" charset="-122"/>
                <a:cs typeface="Arial" pitchFamily="34" charset="-120"/>
              </a:rPr>
              <a:t>Un rol se presta temporalmente (credenciales que caducan); un usuario tiene credenciales fijas — el Learner Lab usa un rol preasignado.</a:t>
            </a:r>
            <a:endParaRPr lang="en-US" sz="1600" dirty="0"/>
          </a:p>
          <a:p>
            <a:pPr marL="190500" indent="-190500">
              <a:spcAft>
                <a:spcPts val="1400"/>
              </a:spcAft>
              <a:buSzPct val="100000"/>
              <a:buChar char="•"/>
            </a:pPr>
            <a:r>
              <a:rPr lang="en-US" sz="1600" dirty="0">
                <a:solidFill>
                  <a:srgbClr val="212121"/>
                </a:solidFill>
                <a:latin typeface="Arial" pitchFamily="34" charset="0"/>
                <a:ea typeface="Arial" pitchFamily="34" charset="-122"/>
                <a:cs typeface="Arial" pitchFamily="34" charset="-120"/>
              </a:rPr>
              <a:t>Una política se lee en cuatro campos: efecto, acción, recurso y condición.</a:t>
            </a:r>
            <a:endParaRPr lang="en-US" sz="1600" dirty="0"/>
          </a:p>
          <a:p>
            <a:pPr marL="190500" indent="-190500">
              <a:spcAft>
                <a:spcPts val="1400"/>
              </a:spcAft>
              <a:buSzPct val="100000"/>
              <a:buChar char="•"/>
            </a:pPr>
            <a:r>
              <a:rPr lang="en-US" sz="1600" dirty="0">
                <a:solidFill>
                  <a:srgbClr val="212121"/>
                </a:solidFill>
                <a:latin typeface="Arial" pitchFamily="34" charset="0"/>
                <a:ea typeface="Arial" pitchFamily="34" charset="-122"/>
                <a:cs typeface="Arial" pitchFamily="34" charset="-120"/>
              </a:rPr>
              <a:t>Cuando hay varias políticas en juego: un Deny explícito gana siempre; si no, un Allow explícito permite; si ninguna dice nada, deniega por defecto.</a:t>
            </a:r>
            <a:endParaRPr lang="en-US" sz="1600" dirty="0"/>
          </a:p>
          <a:p>
            <a:pPr marL="190500" indent="-190500">
              <a:spcAft>
                <a:spcPts val="1400"/>
              </a:spcAft>
              <a:buSzPct val="100000"/>
              <a:buChar char="•"/>
            </a:pPr>
            <a:r>
              <a:rPr lang="en-US" sz="1600" dirty="0">
                <a:solidFill>
                  <a:srgbClr val="212121"/>
                </a:solidFill>
                <a:latin typeface="Arial" pitchFamily="34" charset="0"/>
                <a:ea typeface="Arial" pitchFamily="34" charset="-122"/>
                <a:cs typeface="Arial" pitchFamily="34" charset="-120"/>
              </a:rPr>
              <a:t>El principio de mínimo privilegio limita el alcance de cualquier fallo — un comodín de más es el error más común que lo rompe.</a:t>
            </a:r>
            <a:endParaRPr lang="en-US" sz="1600" dirty="0"/>
          </a:p>
          <a:p>
            <a:pPr marL="190500" indent="-190500">
              <a:spcAft>
                <a:spcPts val="1400"/>
              </a:spcAft>
              <a:buSzPct val="100000"/>
              <a:buChar char="•"/>
            </a:pPr>
            <a:r>
              <a:rPr lang="en-US" sz="1600" dirty="0">
                <a:solidFill>
                  <a:srgbClr val="212121"/>
                </a:solidFill>
                <a:latin typeface="Arial" pitchFamily="34" charset="0"/>
                <a:ea typeface="Arial" pitchFamily="34" charset="-122"/>
                <a:cs typeface="Arial" pitchFamily="34" charset="-120"/>
              </a:rPr>
              <a:t>Ningún secreto va nunca en texto plano en un fichero versionado — si uno llega a estarlo, la solución es rotarlo, no borrarlo.</a:t>
            </a:r>
            <a:endParaRPr lang="en-US" sz="1600" dirty="0"/>
          </a:p>
          <a:p>
            <a:pPr marL="190500" indent="-190500">
              <a:spcAft>
                <a:spcPts val="1400"/>
              </a:spcAft>
              <a:buSzPct val="100000"/>
              <a:buChar char="•"/>
            </a:pPr>
            <a:r>
              <a:rPr lang="en-US" sz="1600" dirty="0">
                <a:solidFill>
                  <a:srgbClr val="212121"/>
                </a:solidFill>
                <a:latin typeface="Arial" pitchFamily="34" charset="0"/>
                <a:ea typeface="Arial" pitchFamily="34" charset="-122"/>
                <a:cs typeface="Arial" pitchFamily="34" charset="-120"/>
              </a:rPr>
              <a:t>El registro de auditoría responde a quién ha hecho qué y cuándo — completa el diagnóstico más allá de métricas y registros.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1515</Words>
  <Application>Microsoft Office PowerPoint</Application>
  <PresentationFormat>Panorámica</PresentationFormat>
  <Paragraphs>123</Paragraphs>
  <Slides>15</Slides>
  <Notes>15</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15</vt:i4>
      </vt:variant>
    </vt:vector>
  </HeadingPairs>
  <TitlesOfParts>
    <vt:vector size="18" baseType="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Identidad y gestión de accesos</dc:title>
  <dc:subject>PptxGenJS Presentation</dc:subject>
  <dc:creator>Introducción a la Nube Pública</dc:creator>
  <cp:lastModifiedBy>VENTURA EDO, AITOR</cp:lastModifiedBy>
  <cp:revision>2</cp:revision>
  <dcterms:created xsi:type="dcterms:W3CDTF">2026-09-07T12:39:45Z</dcterms:created>
  <dcterms:modified xsi:type="dcterms:W3CDTF">2026-09-07T12:52:21Z</dcterms:modified>
</cp:coreProperties>
</file>