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3560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C5CAE9"/>
                </a:solidFill>
                <a:latin typeface="Arial" pitchFamily="34" charset="0"/>
                <a:ea typeface="Arial" pitchFamily="34" charset="-122"/>
                <a:cs typeface="Arial" pitchFamily="34" charset="-120"/>
              </a:rPr>
              <a:t>INTRODUCCIÓN A LA NUBE PÚBLICA  —  TEMA 2: REDES VIRTUALES Y SERVICIOS DE CÓMPUTO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marL="0" indent="0" algn="l">
              <a:buNone/>
            </a:pPr>
            <a:r>
              <a:rPr lang="en-US" sz="3800" b="1" dirty="0">
                <a:solidFill>
                  <a:srgbClr val="FFFFFF"/>
                </a:solidFill>
                <a:latin typeface="Arial" pitchFamily="34" charset="0"/>
                <a:ea typeface="Arial" pitchFamily="34" charset="-122"/>
                <a:cs typeface="Arial" pitchFamily="34" charset="-120"/>
              </a:rPr>
              <a:t>Diseño de la red virtual</a:t>
            </a:r>
            <a:endParaRPr lang="en-US" sz="38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1900" i="1" dirty="0">
                <a:solidFill>
                  <a:srgbClr val="FFFFFF"/>
                </a:solidFill>
                <a:latin typeface="Arial" pitchFamily="34" charset="0"/>
                <a:ea typeface="Arial" pitchFamily="34" charset="-122"/>
                <a:cs typeface="Arial" pitchFamily="34" charset="-120"/>
              </a:rPr>
              <a:t>Tema 2 — Redes virtuales y servicios de cómputo</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Hoy diseñas el espacio donde vive todo lo demás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737360"/>
            <a:ext cx="11091672" cy="182880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El front que publicaste la sesión pasada no necesitó ni una decisión de red: S3 ya viene con su propia conectividad puesta. Eso ha sido la excepción, no la norma. Casi todo lo demás que vas a construir en este módulo va a vivir dentro de un espacio con reglas propias.</a:t>
            </a:r>
            <a:endParaRPr lang="en-US" sz="2200" dirty="0"/>
          </a:p>
        </p:txBody>
      </p:sp>
      <p:sp>
        <p:nvSpPr>
          <p:cNvPr id="6" name="Shape 4"/>
          <p:cNvSpPr/>
          <p:nvPr/>
        </p:nvSpPr>
        <p:spPr>
          <a:xfrm>
            <a:off x="548640" y="3886200"/>
            <a:ext cx="11091672" cy="128016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3977640"/>
            <a:ext cx="10543032" cy="109728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Hoy diseñas ese espacio: primero en papel, después en consola, repartido en dos zonas de disponibilidad. En la Actividad 2.1 lo construyes tú mismo, siguiendo tu propio diseño.</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Red virtual privada (VPC)</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280160"/>
            <a:ext cx="11091672" cy="1737360"/>
          </a:xfrm>
          <a:prstGeom prst="rect">
            <a:avLst/>
          </a:prstGeom>
          <a:noFill/>
          <a:ln/>
        </p:spPr>
        <p:txBody>
          <a:bodyPr wrap="square" rtlCol="0" anchor="t"/>
          <a:lstStyle/>
          <a:p>
            <a:pPr marL="0" indent="0">
              <a:buNone/>
            </a:pPr>
            <a:r>
              <a:rPr lang="en-US" sz="2000" dirty="0">
                <a:solidFill>
                  <a:srgbClr val="212121"/>
                </a:solidFill>
                <a:latin typeface="Arial" pitchFamily="34" charset="0"/>
                <a:ea typeface="Arial" pitchFamily="34" charset="-122"/>
                <a:cs typeface="Arial" pitchFamily="34" charset="-120"/>
              </a:rPr>
              <a:t>Una VPC (Virtual Private Cloud) es tu propio trozo de red dentro de AWS, aislado del resto de clientes por defecto. Piensa en ella como en la parcela de un polígono industrial: dentro puedes levantar los edificios que quieras, pero nadie de fuera entra sin que tú abras una puerta expresamente.</a:t>
            </a:r>
            <a:endParaRPr lang="en-US" sz="2000" dirty="0"/>
          </a:p>
        </p:txBody>
      </p:sp>
      <p:sp>
        <p:nvSpPr>
          <p:cNvPr id="6" name="Shape 4"/>
          <p:cNvSpPr/>
          <p:nvPr/>
        </p:nvSpPr>
        <p:spPr>
          <a:xfrm>
            <a:off x="548640" y="3291840"/>
            <a:ext cx="11091672" cy="137160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3383280"/>
            <a:ext cx="10543032" cy="118872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Idea clave: una VPC no tiene nada dentro al crearla — ni servidores, ni bases de datos, ni salida a internet. Es solo el espacio de direcciones IP donde vas a construir todo lo demás.</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La instancia: lo que vive dentro de la VPC</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920240"/>
            <a:ext cx="11091672" cy="1828800"/>
          </a:xfrm>
          <a:prstGeom prst="rect">
            <a:avLst/>
          </a:prstGeom>
          <a:noFill/>
          <a:ln/>
        </p:spPr>
        <p:txBody>
          <a:bodyPr wrap="square" rtlCol="0" anchor="t"/>
          <a:lstStyle/>
          <a:p>
            <a:pPr marL="0" indent="0">
              <a:buNone/>
            </a:pPr>
            <a:r>
              <a:rPr lang="en-US" sz="2200" dirty="0">
                <a:solidFill>
                  <a:srgbClr val="212121"/>
                </a:solidFill>
                <a:latin typeface="Arial" pitchFamily="34" charset="0"/>
                <a:ea typeface="Arial" pitchFamily="34" charset="-122"/>
                <a:cs typeface="Arial" pitchFamily="34" charset="-120"/>
              </a:rPr>
              <a:t>La pieza que más vas a repetir dentro de una VPC es la instancia: una máquina virtual — un ordenador completo, con su propio sistema operativo, CPU, memoria y disco, pero que en realidad es una porción de un servidor físico de AWS que alquilas por horas, no una máquina que compras.</a:t>
            </a:r>
            <a:endParaRPr lang="en-US" sz="2200" dirty="0"/>
          </a:p>
        </p:txBody>
      </p:sp>
      <p:sp>
        <p:nvSpPr>
          <p:cNvPr id="6" name="Shape 4"/>
          <p:cNvSpPr/>
          <p:nvPr/>
        </p:nvSpPr>
        <p:spPr>
          <a:xfrm>
            <a:off x="548640" y="4069080"/>
            <a:ext cx="11091672" cy="109728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4160520"/>
            <a:ext cx="10543032" cy="91440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La vas a lanzar por primera vez en la Actividad 2.1; en «Máquinas virtuales» ves con detalle de qué plantilla exacta arranca y cómo la eliges.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CIDR: cómo se escribe un rango de direcciones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188720"/>
            <a:ext cx="11091672" cy="13716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rango de direcciones de una VPC se escribe en notación CIDR: una dirección IP seguida de una barra y un número, como 10.0.0.0/16. Ese número —el prefijo— indica cuántos de los 32 bits están fijos (la red) y cuántos quedan libres para repartir.</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11091672" cy="3108960"/>
        </p:xfrm>
        <a:graphic>
          <a:graphicData uri="http://schemas.openxmlformats.org/drawingml/2006/table">
            <a:tbl>
              <a:tblPr/>
              <a:tblGrid>
                <a:gridCol w="2218334">
                  <a:extLst>
                    <a:ext uri="{9D8B030D-6E8A-4147-A177-3AD203B41FA5}">
                      <a16:colId xmlns:a16="http://schemas.microsoft.com/office/drawing/2014/main" val="20000"/>
                    </a:ext>
                  </a:extLst>
                </a:gridCol>
                <a:gridCol w="3327502">
                  <a:extLst>
                    <a:ext uri="{9D8B030D-6E8A-4147-A177-3AD203B41FA5}">
                      <a16:colId xmlns:a16="http://schemas.microsoft.com/office/drawing/2014/main" val="20001"/>
                    </a:ext>
                  </a:extLst>
                </a:gridCol>
                <a:gridCol w="5545836">
                  <a:extLst>
                    <a:ext uri="{9D8B030D-6E8A-4147-A177-3AD203B41FA5}">
                      <a16:colId xmlns:a16="http://schemas.microsoft.com/office/drawing/2014/main" val="20002"/>
                    </a:ext>
                  </a:extLst>
                </a:gridCol>
              </a:tblGrid>
              <a:tr h="777240">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Prefijo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Direcciones totales</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800" b="1" dirty="0">
                          <a:solidFill>
                            <a:srgbClr val="FFFFFF"/>
                          </a:solidFill>
                          <a:latin typeface="Arial" pitchFamily="34" charset="0"/>
                          <a:ea typeface="Arial" pitchFamily="34" charset="-122"/>
                          <a:cs typeface="Arial" pitchFamily="34" charset="-120"/>
                        </a:rPr>
                        <a:t>Uso típico en este módulo</a:t>
                      </a:r>
                      <a:endParaRPr lang="en-US" sz="18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7772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/16</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65.536</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Rango completo de la VPC</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/24</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256</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Una subred individual dentro de la VPC</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700" b="1" dirty="0">
                          <a:solidFill>
                            <a:srgbClr val="212121"/>
                          </a:solidFill>
                          <a:latin typeface="Arial" pitchFamily="34" charset="0"/>
                          <a:ea typeface="Arial" pitchFamily="34" charset="-122"/>
                          <a:cs typeface="Arial" pitchFamily="34" charset="-120"/>
                        </a:rPr>
                        <a:t>/28</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16</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700" dirty="0">
                          <a:solidFill>
                            <a:srgbClr val="212121"/>
                          </a:solidFill>
                          <a:latin typeface="Arial" pitchFamily="34" charset="0"/>
                          <a:ea typeface="Arial" pitchFamily="34" charset="-122"/>
                          <a:cs typeface="Arial" pitchFamily="34" charset="-120"/>
                        </a:rPr>
                        <a:t>Subred muy pequeña, para casos puntuales</a:t>
                      </a:r>
                      <a:endParaRPr lang="en-US" sz="17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De la VPC a la subred, con números reales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Shape 3"/>
          <p:cNvSpPr/>
          <p:nvPr/>
        </p:nvSpPr>
        <p:spPr>
          <a:xfrm>
            <a:off x="548640" y="1554480"/>
            <a:ext cx="11091672" cy="1828800"/>
          </a:xfrm>
          <a:prstGeom prst="roundRect">
            <a:avLst/>
          </a:prstGeom>
          <a:solidFill>
            <a:srgbClr val="FFF8E1"/>
          </a:solidFill>
          <a:ln w="19050">
            <a:solidFill>
              <a:srgbClr val="FFA000"/>
            </a:solidFill>
            <a:prstDash val="solid"/>
          </a:ln>
        </p:spPr>
        <p:txBody>
          <a:bodyPr/>
          <a:lstStyle/>
          <a:p>
            <a:endParaRPr lang="es-ES"/>
          </a:p>
        </p:txBody>
      </p:sp>
      <p:sp>
        <p:nvSpPr>
          <p:cNvPr id="6" name="Text 4"/>
          <p:cNvSpPr/>
          <p:nvPr/>
        </p:nvSpPr>
        <p:spPr>
          <a:xfrm>
            <a:off x="822960" y="1645920"/>
            <a:ext cx="10543032" cy="1645920"/>
          </a:xfrm>
          <a:prstGeom prst="rect">
            <a:avLst/>
          </a:prstGeom>
          <a:noFill/>
          <a:ln/>
        </p:spPr>
        <p:txBody>
          <a:bodyPr wrap="square" rtlCol="0" anchor="ctr"/>
          <a:lstStyle/>
          <a:p>
            <a:pPr marL="0" indent="0">
              <a:buNone/>
            </a:pPr>
            <a:r>
              <a:rPr lang="en-US" sz="2000" dirty="0">
                <a:solidFill>
                  <a:srgbClr val="212121"/>
                </a:solidFill>
                <a:latin typeface="Arial" pitchFamily="34" charset="0"/>
                <a:ea typeface="Arial" pitchFamily="34" charset="-122"/>
                <a:cs typeface="Arial" pitchFamily="34" charset="-120"/>
              </a:rPr>
              <a:t>Si tu VPC es 10.0.0.0/16, tienes 65.536 direcciones para repartir. Si divides ese rango en subredes /24, obtienes 256 subredes de 256 direcciones cada una: 10.0.0.0/24, 10.0.1.0/24, 10.0.2.0/24... Con solo dos o tres de esas subredes ya te sobra espacio para todo lo que vas a construir en el módulo.</a:t>
            </a:r>
            <a:endParaRPr lang="en-US" sz="2000" dirty="0"/>
          </a:p>
        </p:txBody>
      </p:sp>
      <p:sp>
        <p:nvSpPr>
          <p:cNvPr id="7" name="Text 5"/>
          <p:cNvSpPr/>
          <p:nvPr/>
        </p:nvSpPr>
        <p:spPr>
          <a:xfrm>
            <a:off x="548640" y="3703320"/>
            <a:ext cx="11091672" cy="13716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No necesitas usar las 256 subredes posibles. El error típico es repetir sin darte cuenta el mismo rango en dos subredes — en la Actividad 2.1 vas a diseñar sobre papel qué subred es cuál antes de crear nada en consola.</a:t>
            </a:r>
            <a:endParaRPr lang="en-US" sz="1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Subredes públicas y privadas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pic>
        <p:nvPicPr>
          <p:cNvPr id="5" name="Image 0" descr="C:/Users/Aitor/docxgen/img/inu_vpc_pub_priv.png"/>
          <p:cNvPicPr>
            <a:picLocks noChangeAspect="1"/>
          </p:cNvPicPr>
          <p:nvPr/>
        </p:nvPicPr>
        <p:blipFill>
          <a:blip r:embed="rId3"/>
          <a:stretch>
            <a:fillRect/>
          </a:stretch>
        </p:blipFill>
        <p:spPr>
          <a:xfrm>
            <a:off x="6094476" y="898638"/>
            <a:ext cx="5251548" cy="5421639"/>
          </a:xfrm>
          <a:prstGeom prst="rect">
            <a:avLst/>
          </a:prstGeom>
        </p:spPr>
      </p:pic>
      <p:sp>
        <p:nvSpPr>
          <p:cNvPr id="6" name="Text 3"/>
          <p:cNvSpPr/>
          <p:nvPr/>
        </p:nvSpPr>
        <p:spPr>
          <a:xfrm>
            <a:off x="613954" y="2818778"/>
            <a:ext cx="4710106" cy="685800"/>
          </a:xfrm>
          <a:prstGeom prst="rect">
            <a:avLst/>
          </a:prstGeom>
          <a:noFill/>
          <a:ln/>
        </p:spPr>
        <p:txBody>
          <a:bodyPr wrap="square" rtlCol="0" anchor="t"/>
          <a:lstStyle/>
          <a:p>
            <a:pPr marL="0" indent="0" algn="ctr">
              <a:buNone/>
            </a:pPr>
            <a:r>
              <a:rPr lang="en-US" sz="1700" dirty="0">
                <a:solidFill>
                  <a:srgbClr val="212121"/>
                </a:solidFill>
                <a:latin typeface="Arial" pitchFamily="34" charset="0"/>
                <a:ea typeface="Arial" pitchFamily="34" charset="-122"/>
                <a:cs typeface="Arial" pitchFamily="34" charset="-120"/>
              </a:rPr>
              <a:t>La diferencia no es ningún interruptor especial: es simplemente si tienen puerta a internet o no. </a:t>
            </a:r>
          </a:p>
          <a:p>
            <a:pPr marL="0" indent="0" algn="ctr">
              <a:buNone/>
            </a:pPr>
            <a:r>
              <a:rPr lang="en-US" sz="1700" dirty="0" err="1">
                <a:solidFill>
                  <a:srgbClr val="212121"/>
                </a:solidFill>
                <a:latin typeface="Arial" pitchFamily="34" charset="0"/>
                <a:ea typeface="Arial" pitchFamily="34" charset="-122"/>
                <a:cs typeface="Arial" pitchFamily="34" charset="-120"/>
              </a:rPr>
              <a:t>Fíjate</a:t>
            </a:r>
            <a:r>
              <a:rPr lang="en-US" sz="1700" dirty="0">
                <a:solidFill>
                  <a:srgbClr val="212121"/>
                </a:solidFill>
                <a:latin typeface="Arial" pitchFamily="34" charset="0"/>
                <a:ea typeface="Arial" pitchFamily="34" charset="-122"/>
                <a:cs typeface="Arial" pitchFamily="34" charset="-120"/>
              </a:rPr>
              <a:t> en la flecha tachada: internet nunca llega directamente a la subred privada.</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mismo patrón, repetido en dos zonas</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188720"/>
            <a:ext cx="2278536" cy="91440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El diagrama anterior solo dibuja una subred de cada tipo para no complicarlo, pero en la Actividad 2.1 vas a repartir pública y privada en dos zonas de disponibilidad distintas — el mismo patrón, repetido dos veces:</a:t>
            </a:r>
            <a:endParaRPr lang="en-US" sz="1800" dirty="0"/>
          </a:p>
        </p:txBody>
      </p:sp>
      <p:pic>
        <p:nvPicPr>
          <p:cNvPr id="6" name="Image 0" descr="C:/Users/Aitor/Documents/apuntes-profe/introduccion-nube/docs/tema2/img/diagrama_vpc_dos_zonas.png"/>
          <p:cNvPicPr>
            <a:picLocks noChangeAspect="1"/>
          </p:cNvPicPr>
          <p:nvPr/>
        </p:nvPicPr>
        <p:blipFill>
          <a:blip r:embed="rId3"/>
          <a:stretch>
            <a:fillRect/>
          </a:stretch>
        </p:blipFill>
        <p:spPr>
          <a:xfrm>
            <a:off x="3750624" y="1113547"/>
            <a:ext cx="7119537" cy="4746358"/>
          </a:xfrm>
          <a:prstGeom prst="rect">
            <a:avLst/>
          </a:prstGeom>
        </p:spPr>
      </p:pic>
      <p:sp>
        <p:nvSpPr>
          <p:cNvPr id="7" name="Text 4"/>
          <p:cNvSpPr/>
          <p:nvPr/>
        </p:nvSpPr>
        <p:spPr>
          <a:xfrm>
            <a:off x="623285" y="5967612"/>
            <a:ext cx="11091672" cy="457200"/>
          </a:xfrm>
          <a:prstGeom prst="rect">
            <a:avLst/>
          </a:prstGeom>
          <a:noFill/>
          <a:ln/>
        </p:spPr>
        <p:txBody>
          <a:bodyPr wrap="square" rtlCol="0" anchor="t"/>
          <a:lstStyle/>
          <a:p>
            <a:pPr marL="0" indent="0" algn="ctr">
              <a:buNone/>
            </a:pPr>
            <a:r>
              <a:rPr lang="en-US" sz="1500" i="1" dirty="0">
                <a:solidFill>
                  <a:srgbClr val="757575"/>
                </a:solidFill>
                <a:latin typeface="Arial" pitchFamily="34" charset="0"/>
                <a:ea typeface="Arial" pitchFamily="34" charset="-122"/>
                <a:cs typeface="Arial" pitchFamily="34" charset="-120"/>
              </a:rPr>
              <a:t>Diseñar pensando en dos zonas desde el primer día sale mucho más barato que añadir la segunda cuando ya tengas media aplicación construida.</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Tabla de rutas y pasarela de internet</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188720"/>
            <a:ext cx="11091672" cy="1188720"/>
          </a:xfrm>
          <a:prstGeom prst="rect">
            <a:avLst/>
          </a:prstGeom>
          <a:noFill/>
          <a:ln/>
        </p:spPr>
        <p:txBody>
          <a:bodyPr wrap="square" rtlCol="0" anchor="t"/>
          <a:lstStyle/>
          <a:p>
            <a:pPr marL="0" indent="0">
              <a:buNone/>
            </a:pPr>
            <a:r>
              <a:rPr lang="en-US" sz="1800" dirty="0">
                <a:solidFill>
                  <a:srgbClr val="212121"/>
                </a:solidFill>
                <a:latin typeface="Arial" pitchFamily="34" charset="0"/>
                <a:ea typeface="Arial" pitchFamily="34" charset="-122"/>
                <a:cs typeface="Arial" pitchFamily="34" charset="-120"/>
              </a:rPr>
              <a:t>Lo que convierte a una subred en pública es una combinación de dos piezas: una pasarela de internet (IGW) conectada a la VPC, y una entrada en la tabla de rutas que dice «todo el tráfico que no sea interno, mándalo por la pasarela» (0.0.0.0/0).</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60320"/>
          <a:ext cx="11091671" cy="3108960"/>
        </p:xfrm>
        <a:graphic>
          <a:graphicData uri="http://schemas.openxmlformats.org/drawingml/2006/table">
            <a:tbl>
              <a:tblPr/>
              <a:tblGrid>
                <a:gridCol w="2662001">
                  <a:extLst>
                    <a:ext uri="{9D8B030D-6E8A-4147-A177-3AD203B41FA5}">
                      <a16:colId xmlns:a16="http://schemas.microsoft.com/office/drawing/2014/main" val="20000"/>
                    </a:ext>
                  </a:extLst>
                </a:gridCol>
                <a:gridCol w="4214835">
                  <a:extLst>
                    <a:ext uri="{9D8B030D-6E8A-4147-A177-3AD203B41FA5}">
                      <a16:colId xmlns:a16="http://schemas.microsoft.com/office/drawing/2014/main" val="20001"/>
                    </a:ext>
                  </a:extLst>
                </a:gridCol>
                <a:gridCol w="4214835">
                  <a:extLst>
                    <a:ext uri="{9D8B030D-6E8A-4147-A177-3AD203B41FA5}">
                      <a16:colId xmlns:a16="http://schemas.microsoft.com/office/drawing/2014/main" val="20002"/>
                    </a:ext>
                  </a:extLst>
                </a:gridCol>
              </a:tblGrid>
              <a:tr h="7772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Elemento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hace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Sin él, ¿qué pasa?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extLst>
                  <a:ext uri="{0D108BD9-81ED-4DB2-BD59-A6C34878D82A}">
                    <a16:rowId xmlns:a16="http://schemas.microsoft.com/office/drawing/2014/main" val="10000"/>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Pasarela de internet (IGW)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Puerta de entrada/salida entre la VPC e internet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Ninguna subred llega a internet, por muy pública que la creas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Ruta 0.0.0.0/0 → IGW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Le dice a la subred «el tráfico externo sale por aquí»</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subred queda aislada aunque la VPC tenga IGW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777240">
                <a:tc>
                  <a:txBody>
                    <a:bodyPr/>
                    <a:lstStyle/>
                    <a:p>
                      <a:pPr marL="0" indent="0">
                        <a:buNone/>
                      </a:pPr>
                      <a:r>
                        <a:rPr lang="en-US" sz="1400" b="1" dirty="0">
                          <a:solidFill>
                            <a:srgbClr val="212121"/>
                          </a:solidFill>
                          <a:latin typeface="Arial" pitchFamily="34" charset="0"/>
                          <a:ea typeface="Arial" pitchFamily="34" charset="-122"/>
                          <a:cs typeface="Arial" pitchFamily="34" charset="-120"/>
                        </a:rPr>
                        <a:t>Tabla sin esa entrada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tráfico externo no tiene adónde ir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Así se define exactamente una subred privada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El error más común de la sesión de hoy</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Shape 3"/>
          <p:cNvSpPr/>
          <p:nvPr/>
        </p:nvSpPr>
        <p:spPr>
          <a:xfrm>
            <a:off x="548640" y="2103120"/>
            <a:ext cx="11091672" cy="3108960"/>
          </a:xfrm>
          <a:prstGeom prst="roundRect">
            <a:avLst/>
          </a:prstGeom>
          <a:solidFill>
            <a:srgbClr val="FFF8E1"/>
          </a:solidFill>
          <a:ln w="28575">
            <a:solidFill>
              <a:srgbClr val="FFA000"/>
            </a:solidFill>
            <a:prstDash val="solid"/>
          </a:ln>
        </p:spPr>
        <p:txBody>
          <a:bodyPr/>
          <a:lstStyle/>
          <a:p>
            <a:endParaRPr lang="es-ES"/>
          </a:p>
        </p:txBody>
      </p:sp>
      <p:sp>
        <p:nvSpPr>
          <p:cNvPr id="6" name="Text 4"/>
          <p:cNvSpPr/>
          <p:nvPr/>
        </p:nvSpPr>
        <p:spPr>
          <a:xfrm>
            <a:off x="822960" y="2212848"/>
            <a:ext cx="10543032" cy="2889504"/>
          </a:xfrm>
          <a:prstGeom prst="rect">
            <a:avLst/>
          </a:prstGeom>
          <a:noFill/>
          <a:ln/>
        </p:spPr>
        <p:txBody>
          <a:bodyPr wrap="square" rtlCol="0" anchor="t"/>
          <a:lstStyle/>
          <a:p>
            <a:pPr marL="0" indent="0">
              <a:buNone/>
            </a:pPr>
            <a:r>
              <a:rPr lang="en-US" sz="2300" b="1" dirty="0">
                <a:solidFill>
                  <a:srgbClr val="1A237E"/>
                </a:solidFill>
                <a:latin typeface="Arial" pitchFamily="34" charset="0"/>
                <a:ea typeface="Arial" pitchFamily="34" charset="-122"/>
                <a:cs typeface="Arial" pitchFamily="34" charset="-120"/>
              </a:rPr>
              <a:t>⚠️ No es pública «porque tú la llamaste así»
</a:t>
            </a:r>
            <a:endParaRPr lang="en-US" sz="2300" dirty="0"/>
          </a:p>
          <a:p>
            <a:pPr marL="0" indent="0">
              <a:buNone/>
            </a:pPr>
            <a:r>
              <a:rPr lang="en-US" sz="2200" dirty="0">
                <a:solidFill>
                  <a:srgbClr val="212121"/>
                </a:solidFill>
                <a:latin typeface="Arial" pitchFamily="34" charset="0"/>
                <a:ea typeface="Arial" pitchFamily="34" charset="-122"/>
                <a:cs typeface="Arial" pitchFamily="34" charset="-120"/>
              </a:rPr>
              <a:t>Es habitual crear una instancia, asignarle una IP pública y esperar que funcione, y que no responda porque la subred donde vive sigue apuntando a ninguna parte. Una subred es pública porque su tabla de rutas apunta a la pasarela — vas a diagnosticar justo este fallo en la Actividad 2.2 de la próxima sesión.</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Por qué la base de datos nunca vive en una subred pública</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371600"/>
            <a:ext cx="11091672" cy="1371600"/>
          </a:xfrm>
          <a:prstGeom prst="rect">
            <a:avLst/>
          </a:prstGeom>
          <a:noFill/>
          <a:ln/>
        </p:spPr>
        <p:txBody>
          <a:bodyPr wrap="square" rtlCol="0" anchor="t"/>
          <a:lstStyle/>
          <a:p>
            <a:pPr marL="0" indent="0">
              <a:buNone/>
            </a:pPr>
            <a:r>
              <a:rPr lang="en-US" sz="1900" dirty="0">
                <a:solidFill>
                  <a:srgbClr val="212121"/>
                </a:solidFill>
                <a:latin typeface="Arial" pitchFamily="34" charset="0"/>
                <a:ea typeface="Arial" pitchFamily="34" charset="-122"/>
                <a:cs typeface="Arial" pitchFamily="34" charset="-120"/>
              </a:rPr>
              <a:t>La configuración de acceso a tus datos es responsabilidad tuya, no de AWS. Poner la base de datos en una subred privada traduce ese principio en una regla de red: si algo no necesita que internet lo alcance directamente, no le des un camino para que internet lo alcance.</a:t>
            </a:r>
            <a:endParaRPr lang="en-US" sz="1900" dirty="0"/>
          </a:p>
        </p:txBody>
      </p:sp>
      <p:sp>
        <p:nvSpPr>
          <p:cNvPr id="6" name="Shape 4"/>
          <p:cNvSpPr/>
          <p:nvPr/>
        </p:nvSpPr>
        <p:spPr>
          <a:xfrm>
            <a:off x="548640" y="3063240"/>
            <a:ext cx="2464308" cy="1371600"/>
          </a:xfrm>
          <a:prstGeom prst="roundRect">
            <a:avLst/>
          </a:prstGeom>
          <a:solidFill>
            <a:srgbClr val="E8EAF6"/>
          </a:solidFill>
          <a:ln w="15875">
            <a:solidFill>
              <a:srgbClr val="3949AB"/>
            </a:solidFill>
            <a:prstDash val="solid"/>
          </a:ln>
        </p:spPr>
        <p:txBody>
          <a:bodyPr/>
          <a:lstStyle/>
          <a:p>
            <a:endParaRPr lang="es-ES"/>
          </a:p>
        </p:txBody>
      </p:sp>
      <p:sp>
        <p:nvSpPr>
          <p:cNvPr id="7" name="Text 5"/>
          <p:cNvSpPr/>
          <p:nvPr/>
        </p:nvSpPr>
        <p:spPr>
          <a:xfrm>
            <a:off x="594360" y="3108960"/>
            <a:ext cx="2372868" cy="12801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Internet</a:t>
            </a:r>
            <a:endParaRPr lang="en-US" sz="1500" dirty="0"/>
          </a:p>
        </p:txBody>
      </p:sp>
      <p:sp>
        <p:nvSpPr>
          <p:cNvPr id="8" name="Text 6"/>
          <p:cNvSpPr/>
          <p:nvPr/>
        </p:nvSpPr>
        <p:spPr>
          <a:xfrm>
            <a:off x="2967228" y="3063240"/>
            <a:ext cx="502920" cy="1371600"/>
          </a:xfrm>
          <a:prstGeom prst="rect">
            <a:avLst/>
          </a:prstGeom>
          <a:noFill/>
          <a:ln/>
        </p:spPr>
        <p:txBody>
          <a:bodyPr wrap="square" rtlCol="0" anchor="ctr"/>
          <a:lstStyle/>
          <a:p>
            <a:pPr marL="0" indent="0" algn="ctr">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9" name="Shape 7"/>
          <p:cNvSpPr/>
          <p:nvPr/>
        </p:nvSpPr>
        <p:spPr>
          <a:xfrm>
            <a:off x="3424428" y="3063240"/>
            <a:ext cx="2464308" cy="1371600"/>
          </a:xfrm>
          <a:prstGeom prst="roundRect">
            <a:avLst/>
          </a:prstGeom>
          <a:solidFill>
            <a:srgbClr val="E8EAF6"/>
          </a:solidFill>
          <a:ln w="15875">
            <a:solidFill>
              <a:srgbClr val="3949AB"/>
            </a:solidFill>
            <a:prstDash val="solid"/>
          </a:ln>
        </p:spPr>
        <p:txBody>
          <a:bodyPr/>
          <a:lstStyle/>
          <a:p>
            <a:endParaRPr lang="es-ES"/>
          </a:p>
        </p:txBody>
      </p:sp>
      <p:sp>
        <p:nvSpPr>
          <p:cNvPr id="10" name="Text 8"/>
          <p:cNvSpPr/>
          <p:nvPr/>
        </p:nvSpPr>
        <p:spPr>
          <a:xfrm>
            <a:off x="3470148" y="3108960"/>
            <a:ext cx="2372868" cy="12801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Front</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subred pública</a:t>
            </a:r>
            <a:endParaRPr lang="en-US" sz="1500" dirty="0"/>
          </a:p>
        </p:txBody>
      </p:sp>
      <p:sp>
        <p:nvSpPr>
          <p:cNvPr id="11" name="Text 9"/>
          <p:cNvSpPr/>
          <p:nvPr/>
        </p:nvSpPr>
        <p:spPr>
          <a:xfrm>
            <a:off x="5843016" y="3063240"/>
            <a:ext cx="502920" cy="1371600"/>
          </a:xfrm>
          <a:prstGeom prst="rect">
            <a:avLst/>
          </a:prstGeom>
          <a:noFill/>
          <a:ln/>
        </p:spPr>
        <p:txBody>
          <a:bodyPr wrap="square" rtlCol="0" anchor="ctr"/>
          <a:lstStyle/>
          <a:p>
            <a:pPr marL="0" indent="0" algn="ctr">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6300216" y="3063240"/>
            <a:ext cx="2464308" cy="1371600"/>
          </a:xfrm>
          <a:prstGeom prst="roundRect">
            <a:avLst/>
          </a:prstGeom>
          <a:solidFill>
            <a:srgbClr val="E8EAF6"/>
          </a:solidFill>
          <a:ln w="15875">
            <a:solidFill>
              <a:srgbClr val="3949AB"/>
            </a:solidFill>
            <a:prstDash val="solid"/>
          </a:ln>
        </p:spPr>
        <p:txBody>
          <a:bodyPr/>
          <a:lstStyle/>
          <a:p>
            <a:endParaRPr lang="es-ES"/>
          </a:p>
        </p:txBody>
      </p:sp>
      <p:sp>
        <p:nvSpPr>
          <p:cNvPr id="13" name="Text 11"/>
          <p:cNvSpPr/>
          <p:nvPr/>
        </p:nvSpPr>
        <p:spPr>
          <a:xfrm>
            <a:off x="6345936" y="3108960"/>
            <a:ext cx="2372868" cy="12801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Aplicación</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subred pública o privada según sesión</a:t>
            </a:r>
            <a:endParaRPr lang="en-US" sz="1500" dirty="0"/>
          </a:p>
        </p:txBody>
      </p:sp>
      <p:sp>
        <p:nvSpPr>
          <p:cNvPr id="14" name="Text 12"/>
          <p:cNvSpPr/>
          <p:nvPr/>
        </p:nvSpPr>
        <p:spPr>
          <a:xfrm>
            <a:off x="8718804" y="3063240"/>
            <a:ext cx="502920" cy="1371600"/>
          </a:xfrm>
          <a:prstGeom prst="rect">
            <a:avLst/>
          </a:prstGeom>
          <a:noFill/>
          <a:ln/>
        </p:spPr>
        <p:txBody>
          <a:bodyPr wrap="square" rtlCol="0" anchor="ctr"/>
          <a:lstStyle/>
          <a:p>
            <a:pPr marL="0" indent="0" algn="ctr">
              <a:buNone/>
            </a:pPr>
            <a:r>
              <a:rPr lang="en-US" sz="2200" b="1" dirty="0">
                <a:solidFill>
                  <a:srgbClr val="3949AB"/>
                </a:solidFill>
                <a:latin typeface="Arial" pitchFamily="34" charset="0"/>
                <a:ea typeface="Arial" pitchFamily="34" charset="-122"/>
                <a:cs typeface="Arial" pitchFamily="34" charset="-120"/>
              </a:rPr>
              <a:t>→</a:t>
            </a:r>
            <a:endParaRPr lang="en-US" sz="2200" dirty="0"/>
          </a:p>
        </p:txBody>
      </p:sp>
      <p:sp>
        <p:nvSpPr>
          <p:cNvPr id="15" name="Shape 13"/>
          <p:cNvSpPr/>
          <p:nvPr/>
        </p:nvSpPr>
        <p:spPr>
          <a:xfrm>
            <a:off x="9176004" y="3063240"/>
            <a:ext cx="2464308" cy="1371600"/>
          </a:xfrm>
          <a:prstGeom prst="roundRect">
            <a:avLst/>
          </a:prstGeom>
          <a:solidFill>
            <a:srgbClr val="E8EAF6"/>
          </a:solidFill>
          <a:ln w="15875">
            <a:solidFill>
              <a:srgbClr val="3949AB"/>
            </a:solidFill>
            <a:prstDash val="solid"/>
          </a:ln>
        </p:spPr>
        <p:txBody>
          <a:bodyPr/>
          <a:lstStyle/>
          <a:p>
            <a:endParaRPr lang="es-ES"/>
          </a:p>
        </p:txBody>
      </p:sp>
      <p:sp>
        <p:nvSpPr>
          <p:cNvPr id="16" name="Text 14"/>
          <p:cNvSpPr/>
          <p:nvPr/>
        </p:nvSpPr>
        <p:spPr>
          <a:xfrm>
            <a:off x="9221724" y="3108960"/>
            <a:ext cx="2372868" cy="1280160"/>
          </a:xfrm>
          <a:prstGeom prst="rect">
            <a:avLst/>
          </a:prstGeom>
          <a:noFill/>
          <a:ln/>
        </p:spPr>
        <p:txBody>
          <a:bodyPr wrap="square" rtlCol="0" anchor="ctr"/>
          <a:lstStyle/>
          <a:p>
            <a:pPr marL="0" indent="0" algn="ctr">
              <a:buNone/>
            </a:pPr>
            <a:r>
              <a:rPr lang="en-US" sz="1500" dirty="0">
                <a:solidFill>
                  <a:srgbClr val="212121"/>
                </a:solidFill>
                <a:latin typeface="Arial" pitchFamily="34" charset="0"/>
                <a:ea typeface="Arial" pitchFamily="34" charset="-122"/>
                <a:cs typeface="Arial" pitchFamily="34" charset="-120"/>
              </a:rPr>
              <a:t>Base de datos</a:t>
            </a:r>
            <a:endParaRPr lang="en-US" sz="1500" dirty="0"/>
          </a:p>
          <a:p>
            <a:pPr marL="0" indent="0" algn="ctr">
              <a:buNone/>
            </a:pPr>
            <a:r>
              <a:rPr lang="en-US" sz="1500" dirty="0">
                <a:solidFill>
                  <a:srgbClr val="212121"/>
                </a:solidFill>
                <a:latin typeface="Arial" pitchFamily="34" charset="0"/>
                <a:ea typeface="Arial" pitchFamily="34" charset="-122"/>
                <a:cs typeface="Arial" pitchFamily="34" charset="-120"/>
              </a:rPr>
              <a:t>subred privada, siempre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Diagramar antes de construir</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874520"/>
            <a:ext cx="11091672" cy="1920240"/>
          </a:xfrm>
          <a:prstGeom prst="rect">
            <a:avLst/>
          </a:prstGeom>
          <a:noFill/>
          <a:ln/>
        </p:spPr>
        <p:txBody>
          <a:bodyPr wrap="square" rtlCol="0" anchor="t"/>
          <a:lstStyle/>
          <a:p>
            <a:pPr marL="0" indent="0">
              <a:buNone/>
            </a:pPr>
            <a:r>
              <a:rPr lang="en-US" sz="2100" dirty="0">
                <a:solidFill>
                  <a:srgbClr val="212121"/>
                </a:solidFill>
                <a:latin typeface="Arial" pitchFamily="34" charset="0"/>
                <a:ea typeface="Arial" pitchFamily="34" charset="-122"/>
                <a:cs typeface="Arial" pitchFamily="34" charset="-120"/>
              </a:rPr>
              <a:t>Antes de crear una sola subred en consola, dibuja el reparto en papel: cuántas subredes, en qué zonas, qué rango CIDR tiene cada una, cuáles son públicas y cuáles privadas. No es burocracia — es la única forma de detectar un solapamiento antes de que cueste deshacerlo en consola.</a:t>
            </a:r>
            <a:endParaRPr lang="en-US" sz="2100" dirty="0"/>
          </a:p>
        </p:txBody>
      </p:sp>
      <p:sp>
        <p:nvSpPr>
          <p:cNvPr id="6" name="Shape 4"/>
          <p:cNvSpPr/>
          <p:nvPr/>
        </p:nvSpPr>
        <p:spPr>
          <a:xfrm>
            <a:off x="548640" y="4160520"/>
            <a:ext cx="11091672" cy="1463040"/>
          </a:xfrm>
          <a:prstGeom prst="roundRect">
            <a:avLst/>
          </a:prstGeom>
          <a:solidFill>
            <a:srgbClr val="FFF8E1"/>
          </a:solidFill>
          <a:ln w="19050">
            <a:solidFill>
              <a:srgbClr val="FFA000"/>
            </a:solidFill>
            <a:prstDash val="solid"/>
          </a:ln>
        </p:spPr>
        <p:txBody>
          <a:bodyPr/>
          <a:lstStyle/>
          <a:p>
            <a:endParaRPr lang="es-ES"/>
          </a:p>
        </p:txBody>
      </p:sp>
      <p:sp>
        <p:nvSpPr>
          <p:cNvPr id="7" name="Text 5"/>
          <p:cNvSpPr/>
          <p:nvPr/>
        </p:nvSpPr>
        <p:spPr>
          <a:xfrm>
            <a:off x="822960" y="4251960"/>
            <a:ext cx="10543032" cy="1280160"/>
          </a:xfrm>
          <a:prstGeom prst="rect">
            <a:avLst/>
          </a:prstGeom>
          <a:noFill/>
          <a:ln/>
        </p:spPr>
        <p:txBody>
          <a:bodyPr wrap="square" rtlCol="0" anchor="ctr"/>
          <a:lstStyle/>
          <a:p>
            <a:pPr marL="0" indent="0">
              <a:buNone/>
            </a:pPr>
            <a:r>
              <a:rPr lang="en-US" sz="2100" dirty="0">
                <a:solidFill>
                  <a:srgbClr val="212121"/>
                </a:solidFill>
                <a:latin typeface="Arial" pitchFamily="34" charset="0"/>
                <a:ea typeface="Arial" pitchFamily="34" charset="-122"/>
                <a:cs typeface="Arial" pitchFamily="34" charset="-120"/>
              </a:rPr>
              <a:t>La plantilla que vas a rellenar en la actividad necesita cuatro columnas: nombre de la subred, rango CIDR, zona de disponibilidad, y si es pública o privada.</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400" b="1" dirty="0">
                <a:solidFill>
                  <a:srgbClr val="FFFFFF"/>
                </a:solidFill>
                <a:latin typeface="Arial" pitchFamily="34" charset="0"/>
                <a:ea typeface="Arial" pitchFamily="34" charset="-122"/>
                <a:cs typeface="Arial" pitchFamily="34" charset="-120"/>
              </a:rPr>
              <a:t>Ideas clave</a:t>
            </a:r>
            <a:endParaRPr lang="en-US" sz="24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Introducción a la Nube Pública — Tema 2: Diseño de la red virtual</a:t>
            </a:r>
            <a:endParaRPr lang="en-US" sz="1100" dirty="0"/>
          </a:p>
        </p:txBody>
      </p:sp>
      <p:sp>
        <p:nvSpPr>
          <p:cNvPr id="5" name="Text 3"/>
          <p:cNvSpPr/>
          <p:nvPr/>
        </p:nvSpPr>
        <p:spPr>
          <a:xfrm>
            <a:off x="548640" y="1234440"/>
            <a:ext cx="11091672" cy="4297680"/>
          </a:xfrm>
          <a:prstGeom prst="rect">
            <a:avLst/>
          </a:prstGeom>
          <a:noFill/>
          <a:ln/>
        </p:spPr>
        <p:txBody>
          <a:bodyPr wrap="square" rtlCol="0" anchor="t"/>
          <a:lstStyle/>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Una VPC es tu propio espacio de red aislado dentro de AWS — vacío al crearla, con todo por construir dentro.</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CIDR expresa un rango de direcciones con un prefijo (/16, /24...): cuanto más pequeño el número, más direcciones caben.</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Una subred es pública o privada según su tabla de rutas, no según ningún atributo especial.</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Pasarela de internet (IGW) + entrada 0.0.0.0/0 en la tabla de rutas = subred pública.</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La base de datos va siempre en subred privada — traducción práctica del modelo de responsabilidad compartida a una regla de red.</a:t>
            </a:r>
            <a:endParaRPr lang="en-US" sz="1800" dirty="0"/>
          </a:p>
          <a:p>
            <a:pPr marL="190500" indent="-190500">
              <a:spcAft>
                <a:spcPts val="1800"/>
              </a:spcAft>
              <a:buSzPct val="100000"/>
              <a:buChar char="•"/>
            </a:pPr>
            <a:r>
              <a:rPr lang="en-US" sz="1800" dirty="0">
                <a:solidFill>
                  <a:srgbClr val="212121"/>
                </a:solidFill>
                <a:latin typeface="Arial" pitchFamily="34" charset="0"/>
                <a:ea typeface="Arial" pitchFamily="34" charset="-122"/>
                <a:cs typeface="Arial" pitchFamily="34" charset="-120"/>
              </a:rPr>
              <a:t>Diagramar el reparto de subredes en papel antes de construir evita solapamientos y subredes olvidadas.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1357</Words>
  <Application>Microsoft Office PowerPoint</Application>
  <PresentationFormat>Panorámica</PresentationFormat>
  <Paragraphs>99</Paragraphs>
  <Slides>13</Slides>
  <Notes>13</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de la red virtual</dc:title>
  <dc:subject>PptxGenJS Presentation</dc:subject>
  <dc:creator>Introducción a la Nube Pública</dc:creator>
  <cp:lastModifiedBy>VENTURA EDO, AITOR</cp:lastModifiedBy>
  <cp:revision>2</cp:revision>
  <dcterms:created xsi:type="dcterms:W3CDTF">2026-09-06T16:01:38Z</dcterms:created>
  <dcterms:modified xsi:type="dcterms:W3CDTF">2026-09-06T16:09:57Z</dcterms:modified>
</cp:coreProperties>
</file>