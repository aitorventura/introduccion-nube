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4143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 —  TEMA 2: REDES VIRTUALES Y SERVICIOS DE CÓMPUTO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Máquinas virtuales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2 — Redes virtuales y servicios de cómputo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Máquinas virtuales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Máquinas virtuales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6916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1261872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sabes que una instancia es una máquina virtual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810512"/>
            <a:ext cx="10725912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las dos sesiones anteriores has lanzado instancias sueltas, una a una, repitiendo a mano los mismos parámetros. Funciona para dos instancias de prueba, pero no escala.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1091672" cy="155448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22960" y="3310128"/>
            <a:ext cx="10543032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dejas de repetir el proceso a mano
</a:t>
            </a:r>
            <a:endParaRPr lang="en-US" sz="1900" dirty="0"/>
          </a:p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Entiendes qué decide el rendimiento y el precio de una instancia, cómo se empaqueta en una imagen reutilizable, y cómo se guarda esa receta en una plantilla que lanzas tantas veces como haga falta.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48640" y="50292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base de la Actividad 2.3 — De instancia a plantilla.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Familias y tamaños de instancia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Máquinas virtuales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10515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543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tipo como t3.micro tiene tres partes: la letra es la familia (para qué está optimizada), el número es la generación (más alto, más reciente), y la palabra final es el tamaño — el que de verdad decide cuánto pagas.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91672" cy="2651760"/>
        </p:xfrm>
        <a:graphic>
          <a:graphicData uri="http://schemas.openxmlformats.org/drawingml/2006/table">
            <a:tbl>
              <a:tblPr/>
              <a:tblGrid>
                <a:gridCol w="3105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6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9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Familia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Optimizada para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 de uso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 (general, ráfaga)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Cargas variables, con picos ocasionales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Aplicación en desarrollo o pruebas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(general, equilibrada)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 y memoria en proporción estándar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Aplicación en producción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(cómputo)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Mucha CPU, poca memoria relativa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Procesamiento intensivo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 (memoria)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Mucha memoria, poca CPU relativa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Bases de datos en memoria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255931"/>
            <a:ext cx="11091672" cy="91440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822960" y="5365659"/>
            <a:ext cx="1054303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error frecuente: la letra no decide solo la CPU
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dos números (vCPU y memoria) dependen de la combinación de las dos partes del nombre, no de una por separado.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familia t3, con números reales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Máquinas virtuales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2688336"/>
        </p:xfrm>
        <a:graphic>
          <a:graphicData uri="http://schemas.openxmlformats.org/drawingml/2006/table">
            <a:tbl>
              <a:tblPr/>
              <a:tblGrid>
                <a:gridCol w="3771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7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3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vCPU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Memoria RAM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t3.nano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 GiB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t3.micro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GiB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t3.small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GiB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t3.medium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GiB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t3.large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GiB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t3.xlarge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 GiB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206240"/>
            <a:ext cx="11091672" cy="8686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731520" y="4279392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nano a large, la memoria se multiplica por 16 y la CPU no sube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4645152"/>
            <a:ext cx="10725912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a partir de xlarge empieza a subir también la CPU. El tamaño no es «solo memoria».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5166360"/>
            <a:ext cx="11091672" cy="109728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822960" y="5276088"/>
            <a:ext cx="10543032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coste de sobredimensionar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t3.micro cuesta una fracción de una t3.large (ocho veces más memoria) — sobra para el front de una clase de 30 alumnos. Lo compararás en la 2.3.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Imágenes de máquina (AMI)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Máquinas virtuales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5087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1261872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 (Amazon Machine Image)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810512"/>
            <a:ext cx="10725912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fotografía completa de un disco de arranque: sistema operativo, paquetes instalados, configuración — todo para que una instancia nueva arranque ya lista, sin reinstalar desde cero.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2464308" cy="11887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94360" y="3017520"/>
            <a:ext cx="23728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 pública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(punto de partida)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67228" y="297180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24428" y="2971800"/>
            <a:ext cx="2464308" cy="11887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470148" y="3017520"/>
            <a:ext cx="23728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Instalas 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43016" y="297180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300216" y="2971800"/>
            <a:ext cx="2464308" cy="11887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345936" y="3017520"/>
            <a:ext cx="23728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Creas tu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propia AMI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718804" y="297180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176004" y="2971800"/>
            <a:ext cx="2464308" cy="11887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9221724" y="3017520"/>
            <a:ext cx="23728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Lanzas N instancias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idénticas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11091672" cy="128016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822960" y="4544568"/>
            <a:ext cx="10543032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secuencia exacta de la Actividad 2.3
</a:t>
            </a:r>
            <a:endParaRPr lang="en-US" sz="1700" dirty="0"/>
          </a:p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Arrancar de una imagen pública, instalar lo necesario para servir una pequeña aplicación web, y capturar el resultado como tu propia imagen.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Almacenamiento asociado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Máquinas virtuales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19202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1353312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EBS (Elastic Block Store)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901952"/>
            <a:ext cx="10725912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instancia lleva al menos un volumen de disco, que existe como recurso independiente de la instancia, aunque normalmente vaya pegado a ella.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11091672" cy="169164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22960" y="3630168"/>
            <a:ext cx="10543032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 independencia importa
</a:t>
            </a:r>
            <a:endParaRPr lang="en-US" sz="1900" dirty="0"/>
          </a:p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defecto, si terminas la instancia, el volumen raíz se borra con ella — pero puedes configurarlo para que sobreviva. El disco no es «parte» indivisible de la instancia, es una pieza aparte que se conecta.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Verás la familia de almacenamiento en bloque con más detalle en el Tema 3.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vida: parar no es terminar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Máquinas virtuales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7315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Confundir parar (stop) y terminar (terminate) es el error de facturación más común entre quien empieza con AWS.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1673" cy="2121408"/>
        </p:xfrm>
        <a:graphic>
          <a:graphicData uri="http://schemas.openxmlformats.org/drawingml/2006/table">
            <a:tbl>
              <a:tblPr/>
              <a:tblGrid>
                <a:gridCol w="1774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7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7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20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pasa con la instancia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pasa con el disco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¿Factura cómputo?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marcha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Activa, consumiendo recursos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Apagada, pero sigue existiendo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Sigue existiendo y facturándose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el cómputo, sí el disco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Terminada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Eliminada por completo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borra (salvo que persista)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No, nada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548640" y="4206240"/>
            <a:ext cx="11091672" cy="160020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822960" y="4315968"/>
            <a:ext cx="10543032" cy="1380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Parar no vacía tu factura, solo la reduce
</a:t>
            </a:r>
            <a:endParaRPr lang="en-US" sz="1800" dirty="0"/>
          </a:p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volumen de disco asociado sigue existiendo y teniendo coste. El ritual de apagado significa parar lo que quieras conservar, y terminar de verdad lo que ya no necesitas.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data y plantillas de lanzamiento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Máquinas virtuales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1672" cy="10515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543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data (ya lo usaste) automatiza el arranque de una instancia. Hoy subes un escalón: una plantilla de lanzamiento empaqueta todos los parámetros —imagen, tipo, subred, SG, user data— en un recurso reutilizable.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291840" cy="20116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31520" y="249631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Plantilla de lanzamiento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044952"/>
            <a:ext cx="292608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 + tipo + red + user data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06240" y="2423160"/>
            <a:ext cx="2325624" cy="20116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206240" y="2423160"/>
            <a:ext cx="23256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Instancia 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760464" y="2423160"/>
            <a:ext cx="2325624" cy="20116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760464" y="2423160"/>
            <a:ext cx="23256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Instancia 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314688" y="2423160"/>
            <a:ext cx="2325624" cy="20116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9314688" y="2423160"/>
            <a:ext cx="23256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Instancia N...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91672" cy="128016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822960" y="4818888"/>
            <a:ext cx="10543032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plantilla no crea infraestructura, solo la reutiliza
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los ID de tu subred y tu SG, válidos solo en tu cuenta y región. Para replicar toda una infraestructura hace falta otra herramienta: infraestructura como código (Tema 6).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2: Máquinas virtuales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08676" cy="15087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31520" y="180594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31520" y="18059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371600"/>
            <a:ext cx="426567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tipo combina familia (para qué está optimizada) y tamaño (cuánta CPU/memoria) — más grande no siempre es mejor.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231636" y="1371600"/>
            <a:ext cx="5408676" cy="15087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6414516" y="180594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414516" y="18059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91756" y="1371600"/>
            <a:ext cx="426567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AMI es la fotografía completa de un disco de arranque, lista para lanzar instancias idénticas.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5408676" cy="15087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731520" y="358902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31520" y="35890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08760" y="3154680"/>
            <a:ext cx="426567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almacenamiento (EBS) es un recurso independiente conectado a la instancia, no una parte indivisible.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231636" y="3154680"/>
            <a:ext cx="5408676" cy="15087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6414516" y="358902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414516" y="35890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191756" y="3154680"/>
            <a:ext cx="426567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Parar conserva la instancia y el disco sin facturar cómputo; terminar la elimina por completo.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548640" y="4937760"/>
            <a:ext cx="5408676" cy="15087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731520" y="537210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731520" y="53721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508760" y="4937760"/>
            <a:ext cx="4265676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data automatiza una instancia; una plantilla de lanzamiento empaqueta todo para lanzar muchas — base del escalado del Tema 4.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1049</Words>
  <Application>Microsoft Office PowerPoint</Application>
  <PresentationFormat>Panorámica</PresentationFormat>
  <Paragraphs>133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Máquinas virtuales</dc:title>
  <dc:subject>PptxGenJS Presentation</dc:subject>
  <dc:creator>Introducción a la Nube Pública</dc:creator>
  <cp:lastModifiedBy>VENTURA EDO, AITOR</cp:lastModifiedBy>
  <cp:revision>2</cp:revision>
  <dcterms:created xsi:type="dcterms:W3CDTF">2026-09-22T17:59:56Z</dcterms:created>
  <dcterms:modified xsi:type="dcterms:W3CDTF">2026-09-23T09:31:58Z</dcterms:modified>
</cp:coreProperties>
</file>